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0"/>
  </p:notesMasterIdLst>
  <p:sldIdLst>
    <p:sldId id="256" r:id="rId2"/>
    <p:sldId id="289" r:id="rId3"/>
    <p:sldId id="373" r:id="rId4"/>
    <p:sldId id="374" r:id="rId5"/>
    <p:sldId id="392" r:id="rId6"/>
    <p:sldId id="393" r:id="rId7"/>
    <p:sldId id="394" r:id="rId8"/>
    <p:sldId id="395" r:id="rId9"/>
    <p:sldId id="396" r:id="rId10"/>
    <p:sldId id="397" r:id="rId11"/>
    <p:sldId id="391" r:id="rId12"/>
    <p:sldId id="375" r:id="rId13"/>
    <p:sldId id="390" r:id="rId14"/>
    <p:sldId id="376" r:id="rId15"/>
    <p:sldId id="377" r:id="rId16"/>
    <p:sldId id="378" r:id="rId17"/>
    <p:sldId id="379" r:id="rId18"/>
    <p:sldId id="380" r:id="rId19"/>
    <p:sldId id="381" r:id="rId20"/>
    <p:sldId id="382" r:id="rId21"/>
    <p:sldId id="383" r:id="rId22"/>
    <p:sldId id="384" r:id="rId23"/>
    <p:sldId id="385" r:id="rId24"/>
    <p:sldId id="386" r:id="rId25"/>
    <p:sldId id="387" r:id="rId26"/>
    <p:sldId id="388" r:id="rId27"/>
    <p:sldId id="389" r:id="rId28"/>
    <p:sldId id="288" r:id="rId29"/>
  </p:sldIdLst>
  <p:sldSz cx="12192000" cy="6858000"/>
  <p:notesSz cx="6858000" cy="9144000"/>
  <p:custDataLst>
    <p:tags r:id="rId3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lena Saleh" initials="SS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8200"/>
    <a:srgbClr val="7216AA"/>
    <a:srgbClr val="007DDA"/>
    <a:srgbClr val="F8F9F8"/>
    <a:srgbClr val="4A4A4A"/>
    <a:srgbClr val="3833F7"/>
    <a:srgbClr val="4E4E4E"/>
    <a:srgbClr val="779012"/>
    <a:srgbClr val="FF9900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9ACCD2-A0B3-4A6E-AFC2-991321B74541}" v="10" dt="2018-09-28T07:05:02.5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9" autoAdjust="0"/>
    <p:restoredTop sz="93875" autoAdjust="0"/>
  </p:normalViewPr>
  <p:slideViewPr>
    <p:cSldViewPr snapToGrid="0">
      <p:cViewPr varScale="1">
        <p:scale>
          <a:sx n="107" d="100"/>
          <a:sy n="107" d="100"/>
        </p:scale>
        <p:origin x="104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m Su Yi" userId="43bb02ba-2a64-4c57-886a-7f9577835f3c" providerId="ADAL" clId="{AD9ACCD2-A0B3-4A6E-AFC2-991321B74541}"/>
    <pc:docChg chg="modMainMaster">
      <pc:chgData name="Lam Su Yi" userId="43bb02ba-2a64-4c57-886a-7f9577835f3c" providerId="ADAL" clId="{AD9ACCD2-A0B3-4A6E-AFC2-991321B74541}" dt="2018-09-28T07:05:02.512" v="9" actId="20577"/>
      <pc:docMkLst>
        <pc:docMk/>
      </pc:docMkLst>
      <pc:sldMasterChg chg="modSldLayout">
        <pc:chgData name="Lam Su Yi" userId="43bb02ba-2a64-4c57-886a-7f9577835f3c" providerId="ADAL" clId="{AD9ACCD2-A0B3-4A6E-AFC2-991321B74541}" dt="2018-09-28T07:05:02.512" v="9" actId="20577"/>
        <pc:sldMasterMkLst>
          <pc:docMk/>
          <pc:sldMasterMk cId="758345117" sldId="2147483672"/>
        </pc:sldMasterMkLst>
        <pc:sldLayoutChg chg="modSp">
          <pc:chgData name="Lam Su Yi" userId="43bb02ba-2a64-4c57-886a-7f9577835f3c" providerId="ADAL" clId="{AD9ACCD2-A0B3-4A6E-AFC2-991321B74541}" dt="2018-09-28T07:05:02.512" v="9" actId="20577"/>
          <pc:sldLayoutMkLst>
            <pc:docMk/>
            <pc:sldMasterMk cId="758345117" sldId="2147483672"/>
            <pc:sldLayoutMk cId="1526603819" sldId="2147483673"/>
          </pc:sldLayoutMkLst>
          <pc:spChg chg="mod">
            <ac:chgData name="Lam Su Yi" userId="43bb02ba-2a64-4c57-886a-7f9577835f3c" providerId="ADAL" clId="{AD9ACCD2-A0B3-4A6E-AFC2-991321B74541}" dt="2018-09-27T08:25:53.625" v="4" actId="20577"/>
            <ac:spMkLst>
              <pc:docMk/>
              <pc:sldMasterMk cId="758345117" sldId="2147483672"/>
              <pc:sldLayoutMk cId="1526603819" sldId="2147483673"/>
              <ac:spMk id="12" creationId="{00000000-0000-0000-0000-000000000000}"/>
            </ac:spMkLst>
          </pc:spChg>
          <pc:spChg chg="mod">
            <ac:chgData name="Lam Su Yi" userId="43bb02ba-2a64-4c57-886a-7f9577835f3c" providerId="ADAL" clId="{AD9ACCD2-A0B3-4A6E-AFC2-991321B74541}" dt="2018-09-28T07:05:02.512" v="9" actId="20577"/>
            <ac:spMkLst>
              <pc:docMk/>
              <pc:sldMasterMk cId="758345117" sldId="2147483672"/>
              <pc:sldLayoutMk cId="1526603819" sldId="2147483673"/>
              <ac:spMk id="16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7268A-7AE4-432A-9318-AFE0CD5AF515}" type="datetimeFigureOut">
              <a:rPr lang="en-SG" smtClean="0"/>
              <a:t>21/9/2021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443D8-64E2-477C-8585-14786302454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1762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83370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443D8-64E2-477C-8585-147863024541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25760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uk-UA" smtClean="0"/>
              <a:t>18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0939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uk-UA" smtClean="0"/>
              <a:t>19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33558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9269729" cy="609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349740" y="2"/>
            <a:ext cx="2845841" cy="6096000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9119" y="1445341"/>
            <a:ext cx="6770539" cy="2195327"/>
          </a:xfrm>
        </p:spPr>
        <p:txBody>
          <a:bodyPr anchor="b">
            <a:normAutofit/>
          </a:bodyPr>
          <a:lstStyle>
            <a:lvl1pPr algn="l">
              <a:defRPr sz="4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9119" y="3732744"/>
            <a:ext cx="6735463" cy="165576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1857" y="6356350"/>
            <a:ext cx="1692869" cy="365125"/>
          </a:xfrm>
        </p:spPr>
        <p:txBody>
          <a:bodyPr/>
          <a:lstStyle>
            <a:lvl1pPr algn="ctr">
              <a:defRPr/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12" y="593958"/>
            <a:ext cx="4324551" cy="533504"/>
          </a:xfrm>
          <a:prstGeom prst="rect">
            <a:avLst/>
          </a:prstGeom>
          <a:effectLst>
            <a:outerShdw blurRad="50800" dist="25400" dir="2700000" algn="tl" rotWithShape="0">
              <a:prstClr val="black">
                <a:alpha val="33000"/>
              </a:prstClr>
            </a:outerShdw>
          </a:effectLst>
        </p:spPr>
      </p:pic>
      <p:sp>
        <p:nvSpPr>
          <p:cNvPr id="16" name="Rectangle 15"/>
          <p:cNvSpPr/>
          <p:nvPr userDrawn="1"/>
        </p:nvSpPr>
        <p:spPr>
          <a:xfrm>
            <a:off x="9352667" y="291179"/>
            <a:ext cx="2782059" cy="1569660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</p:spPr>
        <p:txBody>
          <a:bodyPr wrap="square">
            <a:spAutoFit/>
          </a:bodyPr>
          <a:lstStyle/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CDEV</a:t>
            </a:r>
          </a:p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DBAV</a:t>
            </a:r>
            <a:endParaRPr lang="en-SG" sz="4800" spc="80" dirty="0">
              <a:solidFill>
                <a:schemeClr val="bg1"/>
              </a:solidFill>
              <a:effectLst>
                <a:reflection blurRad="6350" stA="60000" endA="900" endPos="60000" dist="25400" dir="5400000" sy="-100000" algn="bl" rotWithShape="0"/>
              </a:effectLst>
              <a:latin typeface="Roboto light" pitchFamily="2" charset="0"/>
              <a:ea typeface="Roboto light" pitchFamily="2" charset="0"/>
              <a:cs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483724" y="6166170"/>
            <a:ext cx="886601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SG" sz="14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SOFTWARE</a:t>
            </a:r>
            <a:r>
              <a:rPr lang="en-SG" sz="14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CLUSTER</a:t>
            </a: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 CDEV • Coding and Development Project ] [ DBAV • Database Application Development ]</a:t>
            </a:r>
            <a:endParaRPr lang="en-US" sz="1200" spc="8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7464598" y="2544224"/>
            <a:ext cx="4648963" cy="3765492"/>
            <a:chOff x="7464598" y="2544224"/>
            <a:chExt cx="4648963" cy="3765492"/>
          </a:xfrm>
          <a:effectLst>
            <a:outerShdw blurRad="38100" dist="25400" dir="2700000" algn="tl" rotWithShape="0">
              <a:prstClr val="black">
                <a:alpha val="28000"/>
              </a:prstClr>
            </a:outerShdw>
          </a:effectLst>
        </p:grpSpPr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1551" y="4482380"/>
              <a:ext cx="1032010" cy="850475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4598" y="2544224"/>
              <a:ext cx="3896323" cy="3765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6603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85431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774" y="3917739"/>
            <a:ext cx="10336161" cy="819784"/>
          </a:xfrm>
        </p:spPr>
        <p:txBody>
          <a:bodyPr>
            <a:normAutofit/>
          </a:bodyPr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Rectangle 4"/>
          <p:cNvSpPr/>
          <p:nvPr userDrawn="1"/>
        </p:nvSpPr>
        <p:spPr>
          <a:xfrm>
            <a:off x="0" y="5011843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73476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1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/>
          <a:lstStyle/>
          <a:p>
            <a:fld id="{891C7E22-6E98-4526-9603-6C236BCF4D5A}" type="datetime1">
              <a:rPr lang="en-US" smtClean="0"/>
              <a:t>9/21/2021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323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Arial Unicode MS" charset="0"/>
                <a:ea typeface="Arial Unicode MS" charset="0"/>
                <a:cs typeface="Arial Unicode MS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7D079-FE2D-4AD2-B732-6D0E9769D0E8}" type="datetime1">
              <a:rPr lang="en-US" smtClean="0"/>
              <a:t>9/21/2021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908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0D7A1-A10F-4102-AF4A-CBF2554FA72A}" type="datetime1">
              <a:rPr lang="en-US" smtClean="0"/>
              <a:t>9/21/2021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1849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184910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270263" y="1184910"/>
            <a:ext cx="2921737" cy="13843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b="0" i="0" u="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7638" y="1631314"/>
            <a:ext cx="10336162" cy="4586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358" y="6357456"/>
            <a:ext cx="465217" cy="307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81" y="0"/>
            <a:ext cx="1269849" cy="10464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978524" y="6388432"/>
            <a:ext cx="105878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TEMASEK POLYTECHNIC I </a:t>
            </a:r>
            <a:r>
              <a:rPr lang="en-US" sz="12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Informatics &amp; IT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-3077" y="130629"/>
            <a:ext cx="652384" cy="786947"/>
            <a:chOff x="-3077" y="130629"/>
            <a:chExt cx="652384" cy="786947"/>
          </a:xfrm>
        </p:grpSpPr>
        <p:sp>
          <p:nvSpPr>
            <p:cNvPr id="4" name="Rectangle 3"/>
            <p:cNvSpPr/>
            <p:nvPr userDrawn="1"/>
          </p:nvSpPr>
          <p:spPr>
            <a:xfrm>
              <a:off x="255037" y="130629"/>
              <a:ext cx="130628" cy="130628"/>
            </a:xfrm>
            <a:prstGeom prst="rect">
              <a:avLst/>
            </a:prstGeom>
            <a:solidFill>
              <a:srgbClr val="007DDA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27551" y="523239"/>
              <a:ext cx="130628" cy="130628"/>
            </a:xfrm>
            <a:prstGeom prst="rect">
              <a:avLst/>
            </a:prstGeom>
            <a:solidFill>
              <a:srgbClr val="007DDA">
                <a:alpha val="8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-3077" y="261257"/>
              <a:ext cx="130628" cy="130628"/>
            </a:xfrm>
            <a:prstGeom prst="rect">
              <a:avLst/>
            </a:prstGeom>
            <a:solidFill>
              <a:srgbClr val="007D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518679" y="261257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388195" y="393884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387783" y="786948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75834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4" r:id="rId3"/>
    <p:sldLayoutId id="2147483675" r:id="rId4"/>
    <p:sldLayoutId id="2147483685" r:id="rId5"/>
    <p:sldLayoutId id="2147483686" r:id="rId6"/>
    <p:sldLayoutId id="2147483687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u="none" kern="1200">
          <a:solidFill>
            <a:srgbClr val="0070C0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mozilla.org/en-US/docs/Web/JavaScript" TargetMode="External"/><Relationship Id="rId2" Type="http://schemas.openxmlformats.org/officeDocument/2006/relationships/hyperlink" Target="http://www.w3schools.com/js/default.asp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getfirebug.com/wiki" TargetMode="External"/><Relationship Id="rId4" Type="http://schemas.openxmlformats.org/officeDocument/2006/relationships/hyperlink" Target="http://developers.google.com/chrome-developer-tools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hanacademy.org/computing/computer-programming/html-css-js/html-js-dom-access/a/summary-dom-access-methods" TargetMode="External"/><Relationship Id="rId2" Type="http://schemas.openxmlformats.org/officeDocument/2006/relationships/hyperlink" Target="http://www.girldevelopit.com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863672" y="3954162"/>
            <a:ext cx="6499654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83462" y="1410689"/>
            <a:ext cx="7928404" cy="2387600"/>
          </a:xfrm>
        </p:spPr>
        <p:txBody>
          <a:bodyPr/>
          <a:lstStyle/>
          <a:p>
            <a:r>
              <a:rPr lang="en-US" dirty="0">
                <a:ea typeface="Calisto MT" charset="0"/>
                <a:cs typeface="Calisto MT" charset="0"/>
              </a:rPr>
              <a:t>Introduction to JavaScript: DOM</a:t>
            </a:r>
            <a:endParaRPr lang="en-SG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815546" y="4106778"/>
            <a:ext cx="7928404" cy="1151021"/>
          </a:xfrm>
        </p:spPr>
        <p:txBody>
          <a:bodyPr/>
          <a:lstStyle/>
          <a:p>
            <a:r>
              <a:rPr lang="en-SG" dirty="0"/>
              <a:t>Week 03.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F056B3-4CEB-4FFD-BE48-F055B70D0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pPr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0979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Describe the basic structure of the Document Object Model (DOM);</a:t>
            </a:r>
          </a:p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Describe the way HTML elements can be accessed from the DOM using JavaScript;</a:t>
            </a:r>
          </a:p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Demonstrate how to write scripts in web page using JavaScript to create and control </a:t>
            </a:r>
            <a:r>
              <a:rPr lang="en-US" dirty="0" err="1">
                <a:ea typeface="ＭＳ Ｐゴシック" charset="0"/>
              </a:rPr>
              <a:t>behaviours</a:t>
            </a:r>
            <a:r>
              <a:rPr lang="en-US" dirty="0">
                <a:ea typeface="ＭＳ Ｐゴシック" charset="0"/>
              </a:rPr>
              <a:t> of the web page.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2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dirty="0"/>
              <a:t>Visual Studio Code</a:t>
            </a:r>
          </a:p>
          <a:p>
            <a:pPr>
              <a:lnSpc>
                <a:spcPct val="100000"/>
              </a:lnSpc>
            </a:pPr>
            <a:r>
              <a:rPr lang="en-GB" dirty="0"/>
              <a:t>Browser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Google Chrome (recommended) 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Mozilla Firefox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125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Client Side </a:t>
            </a:r>
            <a:r>
              <a:rPr lang="en-GB" dirty="0" err="1"/>
              <a:t>Javascript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86612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Browsers + JavaScript Consoles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GB" b="1" dirty="0"/>
              <a:t>Google Chrome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Console</a:t>
            </a:r>
          </a:p>
          <a:p>
            <a:pPr>
              <a:lnSpc>
                <a:spcPct val="110000"/>
              </a:lnSpc>
            </a:pPr>
            <a:r>
              <a:rPr lang="en-GB" b="1" dirty="0"/>
              <a:t>Chrome Canary</a:t>
            </a:r>
            <a:r>
              <a:rPr lang="en-GB" dirty="0"/>
              <a:t>: Developer version of Chrome</a:t>
            </a:r>
          </a:p>
          <a:p>
            <a:pPr>
              <a:lnSpc>
                <a:spcPct val="110000"/>
              </a:lnSpc>
            </a:pPr>
            <a:r>
              <a:rPr lang="en-GB" b="1" dirty="0"/>
              <a:t>Firefox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Firebug (Add-on)</a:t>
            </a:r>
          </a:p>
          <a:p>
            <a:pPr>
              <a:lnSpc>
                <a:spcPct val="110000"/>
              </a:lnSpc>
            </a:pPr>
            <a:r>
              <a:rPr lang="en-GB" b="1" dirty="0"/>
              <a:t>Safari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Console: Web Inspector (need to enable Developer mode in Preferences -&gt; Advanced)</a:t>
            </a:r>
          </a:p>
          <a:p>
            <a:pPr lvl="1">
              <a:lnSpc>
                <a:spcPct val="110000"/>
              </a:lnSpc>
            </a:pPr>
            <a:r>
              <a:rPr lang="en-GB" dirty="0" err="1"/>
              <a:t>Webkit</a:t>
            </a:r>
            <a:r>
              <a:rPr lang="en-GB" dirty="0"/>
              <a:t> Nightly: Developer version</a:t>
            </a:r>
          </a:p>
          <a:p>
            <a:pPr>
              <a:lnSpc>
                <a:spcPct val="110000"/>
              </a:lnSpc>
            </a:pPr>
            <a:r>
              <a:rPr lang="en-GB" b="1" dirty="0"/>
              <a:t>Internet Explorer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F12 Developer Tools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10174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JavaScript Console (Chrome)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104900" y="1868555"/>
            <a:ext cx="4919472" cy="823912"/>
          </a:xfrm>
        </p:spPr>
        <p:txBody>
          <a:bodyPr/>
          <a:lstStyle/>
          <a:p>
            <a:r>
              <a:rPr lang="en-GB" dirty="0"/>
              <a:t>Mac OS X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3498911"/>
            <a:ext cx="4919663" cy="2135200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>
          <a:xfrm>
            <a:off x="6166110" y="1868555"/>
            <a:ext cx="4919472" cy="823912"/>
          </a:xfrm>
        </p:spPr>
        <p:txBody>
          <a:bodyPr/>
          <a:lstStyle/>
          <a:p>
            <a:r>
              <a:rPr lang="en-GB" dirty="0"/>
              <a:t>Windows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184786"/>
            <a:ext cx="4919663" cy="2763450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6</a:t>
            </a:fld>
            <a:endParaRPr lang="uk-UA"/>
          </a:p>
        </p:txBody>
      </p:sp>
      <p:sp>
        <p:nvSpPr>
          <p:cNvPr id="12" name="TextBox 11"/>
          <p:cNvSpPr txBox="1"/>
          <p:nvPr/>
        </p:nvSpPr>
        <p:spPr>
          <a:xfrm>
            <a:off x="1274763" y="1629384"/>
            <a:ext cx="9640956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Arial Unicode MS" charset="0"/>
                <a:ea typeface="Arial Unicode MS" charset="0"/>
                <a:cs typeface="Arial Unicode MS" charset="0"/>
              </a:rPr>
              <a:t>You will </a:t>
            </a:r>
            <a:r>
              <a:rPr lang="en-GB">
                <a:latin typeface="Arial Unicode MS" charset="0"/>
                <a:ea typeface="Arial Unicode MS" charset="0"/>
                <a:cs typeface="Arial Unicode MS" charset="0"/>
              </a:rPr>
              <a:t>use a browser built-in </a:t>
            </a:r>
            <a:r>
              <a:rPr lang="en-GB" dirty="0">
                <a:latin typeface="Arial Unicode MS" charset="0"/>
                <a:ea typeface="Arial Unicode MS" charset="0"/>
                <a:cs typeface="Arial Unicode MS" charset="0"/>
              </a:rPr>
              <a:t>tool called JavaScript Console to help you </a:t>
            </a:r>
            <a:r>
              <a:rPr lang="en-GB">
                <a:latin typeface="Arial Unicode MS" charset="0"/>
                <a:ea typeface="Arial Unicode MS" charset="0"/>
                <a:cs typeface="Arial Unicode MS" charset="0"/>
              </a:rPr>
              <a:t>learn JavaScript.</a:t>
            </a:r>
          </a:p>
        </p:txBody>
      </p:sp>
    </p:spTree>
    <p:extLst>
      <p:ext uri="{BB962C8B-B14F-4D97-AF65-F5344CB8AC3E}">
        <p14:creationId xmlns:p14="http://schemas.microsoft.com/office/powerpoint/2010/main" val="307184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JavaScript Console (Chrome)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7</a:t>
            </a:fld>
            <a:endParaRPr lang="uk-UA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150" y="1752600"/>
            <a:ext cx="8775700" cy="4267200"/>
          </a:xfrm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3729032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JavaScript Console (Chrome)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067364"/>
            <a:ext cx="4914900" cy="3637672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You can also write functions in the console.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8</a:t>
            </a:fld>
            <a:endParaRPr lang="uk-UA"/>
          </a:p>
        </p:txBody>
      </p:sp>
      <p:sp>
        <p:nvSpPr>
          <p:cNvPr id="9" name="Rectangular Callout 8"/>
          <p:cNvSpPr/>
          <p:nvPr/>
        </p:nvSpPr>
        <p:spPr>
          <a:xfrm>
            <a:off x="6440556" y="2556981"/>
            <a:ext cx="1918252" cy="653358"/>
          </a:xfrm>
          <a:prstGeom prst="wedgeRectCallout">
            <a:avLst>
              <a:gd name="adj1" fmla="val -186424"/>
              <a:gd name="adj2" fmla="val -23939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 Unicode MS" charset="0"/>
                <a:ea typeface="Arial Unicode MS" charset="0"/>
                <a:cs typeface="Arial Unicode MS" charset="0"/>
              </a:rPr>
              <a:t>Type </a:t>
            </a:r>
            <a:r>
              <a:rPr lang="en-US" sz="1600" dirty="0">
                <a:solidFill>
                  <a:srgbClr val="FFFF00"/>
                </a:solidFill>
                <a:latin typeface="Arial Unicode MS" charset="0"/>
                <a:ea typeface="Arial Unicode MS" charset="0"/>
                <a:cs typeface="Arial Unicode MS" charset="0"/>
              </a:rPr>
              <a:t>Shift-Enter</a:t>
            </a:r>
            <a:r>
              <a:rPr lang="en-US" sz="1600" dirty="0">
                <a:latin typeface="Arial Unicode MS" charset="0"/>
                <a:ea typeface="Arial Unicode MS" charset="0"/>
                <a:cs typeface="Arial Unicode MS" charset="0"/>
              </a:rPr>
              <a:t> to go </a:t>
            </a:r>
            <a:r>
              <a:rPr lang="en-US" sz="1600">
                <a:latin typeface="Arial Unicode MS" charset="0"/>
                <a:ea typeface="Arial Unicode MS" charset="0"/>
                <a:cs typeface="Arial Unicode MS" charset="0"/>
              </a:rPr>
              <a:t>to new line</a:t>
            </a:r>
            <a:r>
              <a:rPr lang="en-US" sz="1600" dirty="0">
                <a:latin typeface="Arial Unicode MS" charset="0"/>
                <a:ea typeface="Arial Unicode MS" charset="0"/>
                <a:cs typeface="Arial Unicode MS" charset="0"/>
              </a:rPr>
              <a:t>.</a:t>
            </a:r>
            <a:endParaRPr lang="en-GB" sz="1600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275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Use JavaScript in HTML?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1104900" y="1341786"/>
            <a:ext cx="4919472" cy="823912"/>
          </a:xfrm>
        </p:spPr>
        <p:txBody>
          <a:bodyPr/>
          <a:lstStyle/>
          <a:p>
            <a:r>
              <a:rPr lang="en-US" dirty="0"/>
              <a:t>In Script Tag Within </a:t>
            </a:r>
          </a:p>
          <a:p>
            <a:r>
              <a:rPr lang="en-US" dirty="0"/>
              <a:t>Head/Body Tag</a:t>
            </a:r>
          </a:p>
        </p:txBody>
      </p:sp>
      <p:pic>
        <p:nvPicPr>
          <p:cNvPr id="14" name="Content Placeholder 13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1" y="2165699"/>
            <a:ext cx="4057380" cy="4078698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12" name="Text Placeholder 11"/>
          <p:cNvSpPr>
            <a:spLocks noGrp="1"/>
          </p:cNvSpPr>
          <p:nvPr>
            <p:ph type="body" sz="quarter" idx="3"/>
          </p:nvPr>
        </p:nvSpPr>
        <p:spPr>
          <a:xfrm>
            <a:off x="6166110" y="1341786"/>
            <a:ext cx="4919472" cy="823912"/>
          </a:xfrm>
        </p:spPr>
        <p:txBody>
          <a:bodyPr/>
          <a:lstStyle/>
          <a:p>
            <a:r>
              <a:rPr lang="en-US" dirty="0"/>
              <a:t>Link to External File</a:t>
            </a:r>
          </a:p>
        </p:txBody>
      </p:sp>
      <p:pic>
        <p:nvPicPr>
          <p:cNvPr id="15" name="Content Placeholder 14"/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224273"/>
            <a:ext cx="4919663" cy="1630241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pPr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330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JavaScript References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b="1" dirty="0"/>
              <a:t>W3Schools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hlinkClick r:id="rId2"/>
              </a:rPr>
              <a:t>http://www.w3schools.com/js/default.asp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GB" dirty="0"/>
              <a:t>Mozilla Developer Network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hlinkClick r:id="rId3"/>
              </a:rPr>
              <a:t>http://developer.mozilla.org/en-US/docs/Web/JavaScript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GB" b="1" i="1" dirty="0"/>
              <a:t>JavaScript: The Good Parts</a:t>
            </a:r>
            <a:r>
              <a:rPr lang="en-GB" dirty="0"/>
              <a:t> by Douglas </a:t>
            </a:r>
            <a:r>
              <a:rPr lang="en-GB" dirty="0" err="1"/>
              <a:t>Crockford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GB" dirty="0"/>
              <a:t>Google: Chrome Developer Tools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hlinkClick r:id="rId4"/>
              </a:rPr>
              <a:t>http://developers.google.com/chrome-developer-tools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GB" dirty="0"/>
              <a:t>Firefox: Firebug Wiki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hlinkClick r:id="rId5"/>
              </a:rPr>
              <a:t>http://getfirebug.com/wiki</a:t>
            </a:r>
            <a:endParaRPr lang="en-GB" dirty="0"/>
          </a:p>
          <a:p>
            <a:pPr lvl="1">
              <a:lnSpc>
                <a:spcPct val="100000"/>
              </a:lnSpc>
            </a:pPr>
            <a:endParaRPr lang="en-GB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86921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document object model (DOM)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74714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DOM?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The HTML DOM (Document Object Model) describes the elements and their hierarchy in a web page.</a:t>
            </a:r>
          </a:p>
          <a:p>
            <a:pPr>
              <a:lnSpc>
                <a:spcPct val="100000"/>
              </a:lnSpc>
            </a:pPr>
            <a:r>
              <a:rPr lang="en-GB" dirty="0"/>
              <a:t>Using JavaScript, we can access the properties of individual elements in a HTML page with the DOM.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96209"/>
            <a:ext cx="4914900" cy="2979981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pPr/>
              <a:t>12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278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C84909-F6F3-4E35-95B4-E787C2ADC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Site Navigation Map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8D15A5-8EB0-4810-9AF1-01FD3C280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a website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B2D8E0-F55A-499B-903B-0C2EF40C3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17">
            <a:extLst>
              <a:ext uri="{FF2B5EF4-FFF2-40B4-BE49-F238E27FC236}">
                <a16:creationId xmlns:a16="http://schemas.microsoft.com/office/drawing/2014/main" id="{DDF81ED8-DFEC-4864-A71E-D56E56D82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688" y="2285544"/>
            <a:ext cx="6518882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3133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DOM Hierarchy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0" y="2133600"/>
            <a:ext cx="7620000" cy="35052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8950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DOM Hierarchy Example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1577051"/>
            <a:ext cx="2325641" cy="4572000"/>
          </a:xfr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438" y="2147978"/>
            <a:ext cx="6437144" cy="3199526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15</a:t>
            </a:fld>
            <a:endParaRPr lang="uk-UA"/>
          </a:p>
        </p:txBody>
      </p:sp>
      <p:sp>
        <p:nvSpPr>
          <p:cNvPr id="10" name="Right Arrow 9"/>
          <p:cNvSpPr/>
          <p:nvPr/>
        </p:nvSpPr>
        <p:spPr>
          <a:xfrm>
            <a:off x="3703900" y="3669175"/>
            <a:ext cx="659757" cy="46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904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DOM Access: By </a:t>
            </a:r>
            <a:r>
              <a:rPr lang="en-GB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id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a HTML has:</a:t>
            </a:r>
            <a:br>
              <a:rPr lang="en-GB" dirty="0"/>
            </a:br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We can access the image source using JavaScript by writing: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16</a:t>
            </a:fld>
            <a:endParaRPr lang="uk-UA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689" y="2410167"/>
            <a:ext cx="7531100" cy="4572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289" y="4303883"/>
            <a:ext cx="7556500" cy="4318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52DA0B4-6C8C-4A20-9D68-E29FEC8099BF}"/>
              </a:ext>
            </a:extLst>
          </p:cNvPr>
          <p:cNvSpPr/>
          <p:nvPr/>
        </p:nvSpPr>
        <p:spPr>
          <a:xfrm>
            <a:off x="5048364" y="2486745"/>
            <a:ext cx="4500824" cy="293094"/>
          </a:xfrm>
          <a:prstGeom prst="rect">
            <a:avLst/>
          </a:prstGeom>
          <a:solidFill>
            <a:srgbClr val="F8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>
                <a:solidFill>
                  <a:srgbClr val="779012"/>
                </a:solidFill>
                <a:latin typeface="Courier"/>
              </a:rPr>
              <a:t>src</a:t>
            </a:r>
            <a:r>
              <a:rPr lang="en-GB" sz="1600" b="1" dirty="0">
                <a:solidFill>
                  <a:srgbClr val="4E4E4E"/>
                </a:solidFill>
                <a:latin typeface="Courier"/>
              </a:rPr>
              <a:t>=</a:t>
            </a:r>
            <a:r>
              <a:rPr lang="en-GB" sz="1600" b="1" dirty="0">
                <a:solidFill>
                  <a:srgbClr val="E98200"/>
                </a:solidFill>
                <a:latin typeface="Courier"/>
              </a:rPr>
              <a:t>“https://picsum.photos/200/300”</a:t>
            </a:r>
          </a:p>
        </p:txBody>
      </p:sp>
    </p:spTree>
    <p:extLst>
      <p:ext uri="{BB962C8B-B14F-4D97-AF65-F5344CB8AC3E}">
        <p14:creationId xmlns:p14="http://schemas.microsoft.com/office/powerpoint/2010/main" val="788037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DOM Access: By Tag Name</a:t>
            </a:r>
            <a:endParaRPr lang="en-GB" dirty="0">
              <a:solidFill>
                <a:srgbClr val="FF0000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a HTML has:</a:t>
            </a:r>
            <a:br>
              <a:rPr lang="en-GB" dirty="0"/>
            </a:br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We can access individual cat names using JavaScript by writing: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17</a:t>
            </a:fld>
            <a:endParaRPr lang="uk-UA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190" y="2132716"/>
            <a:ext cx="4356100" cy="7112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140" y="4087631"/>
            <a:ext cx="6680200" cy="18415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1110916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DOM Access: JavaScript Console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can use the browser’s JavaScript Console to help you to access the elements and their properties correctly.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18</a:t>
            </a:fld>
            <a:endParaRPr lang="uk-UA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459" y="2949575"/>
            <a:ext cx="6311900" cy="22098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11" name="Rectangular Callout 10"/>
          <p:cNvSpPr/>
          <p:nvPr/>
        </p:nvSpPr>
        <p:spPr>
          <a:xfrm>
            <a:off x="815533" y="3461440"/>
            <a:ext cx="1829559" cy="2059684"/>
          </a:xfrm>
          <a:prstGeom prst="wedgeRectCallout">
            <a:avLst>
              <a:gd name="adj1" fmla="val 68914"/>
              <a:gd name="adj2" fmla="val -30492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 Unicode MS" charset="0"/>
                <a:ea typeface="Arial Unicode MS" charset="0"/>
                <a:cs typeface="Arial Unicode MS" charset="0"/>
              </a:rPr>
              <a:t>Type the JavaScript to access a particular element or its properties in a web page and press enter to see the result.</a:t>
            </a:r>
            <a:endParaRPr lang="en-GB" sz="1600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36BA8C-168B-47D3-9371-128EA062741B}"/>
              </a:ext>
            </a:extLst>
          </p:cNvPr>
          <p:cNvSpPr/>
          <p:nvPr/>
        </p:nvSpPr>
        <p:spPr>
          <a:xfrm>
            <a:off x="5710895" y="3919141"/>
            <a:ext cx="2507754" cy="1752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rgbClr val="3833F7"/>
                </a:solidFill>
              </a:rPr>
              <a:t>https://picsum.photos/200/300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FAE68E-54D4-4208-8EB4-619431289384}"/>
              </a:ext>
            </a:extLst>
          </p:cNvPr>
          <p:cNvSpPr/>
          <p:nvPr/>
        </p:nvSpPr>
        <p:spPr>
          <a:xfrm>
            <a:off x="3334499" y="4388181"/>
            <a:ext cx="2518754" cy="1752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rgbClr val="4A4A4A"/>
                </a:solidFill>
              </a:rPr>
              <a:t>https://picsum.photos/200/300</a:t>
            </a:r>
          </a:p>
        </p:txBody>
      </p:sp>
    </p:spTree>
    <p:extLst>
      <p:ext uri="{BB962C8B-B14F-4D97-AF65-F5344CB8AC3E}">
        <p14:creationId xmlns:p14="http://schemas.microsoft.com/office/powerpoint/2010/main" val="77930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DOM Access: JavaScript Console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As you type the DOM nodes followed by a dot, a list of child nodes will be displayed for you to select.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116" y="1600200"/>
            <a:ext cx="3883068" cy="45720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19</a:t>
            </a:fld>
            <a:endParaRPr lang="uk-U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EFF19D-D588-4EFA-8E87-73F4DD8DBB02}"/>
              </a:ext>
            </a:extLst>
          </p:cNvPr>
          <p:cNvSpPr/>
          <p:nvPr/>
        </p:nvSpPr>
        <p:spPr>
          <a:xfrm>
            <a:off x="8388393" y="2201130"/>
            <a:ext cx="1555023" cy="93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800" dirty="0">
                <a:solidFill>
                  <a:srgbClr val="3833F7"/>
                </a:solidFill>
              </a:rPr>
              <a:t>https://picsum.photos/200/300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956B3C-6ED4-4684-A86E-C1E0FA15F854}"/>
              </a:ext>
            </a:extLst>
          </p:cNvPr>
          <p:cNvSpPr/>
          <p:nvPr/>
        </p:nvSpPr>
        <p:spPr>
          <a:xfrm>
            <a:off x="6926443" y="2469428"/>
            <a:ext cx="1555027" cy="1149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800" dirty="0">
                <a:solidFill>
                  <a:srgbClr val="4A4A4A"/>
                </a:solidFill>
              </a:rPr>
              <a:t>https://picsum.photos/200/300</a:t>
            </a:r>
          </a:p>
        </p:txBody>
      </p:sp>
    </p:spTree>
    <p:extLst>
      <p:ext uri="{BB962C8B-B14F-4D97-AF65-F5344CB8AC3E}">
        <p14:creationId xmlns:p14="http://schemas.microsoft.com/office/powerpoint/2010/main" val="118057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Try It Out!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20</a:t>
            </a:fld>
            <a:endParaRPr lang="uk-U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Open up </a:t>
            </a:r>
            <a:r>
              <a:rPr lang="en-US" dirty="0">
                <a:hlinkClick r:id="rId2"/>
              </a:rPr>
              <a:t>girldevelopit.com</a:t>
            </a:r>
            <a:r>
              <a:rPr lang="en-US" dirty="0"/>
              <a:t> in Chrome or Firefox, and open up the console (CMD-Option-I on Macs).</a:t>
            </a:r>
          </a:p>
          <a:p>
            <a:pPr>
              <a:lnSpc>
                <a:spcPct val="110000"/>
              </a:lnSpc>
            </a:pPr>
            <a:r>
              <a:rPr lang="en-US" dirty="0"/>
              <a:t>Use </a:t>
            </a:r>
            <a:r>
              <a:rPr lang="en-US" dirty="0">
                <a:hlinkClick r:id="rId3"/>
              </a:rPr>
              <a:t>DOM access methods</a:t>
            </a:r>
            <a:r>
              <a:rPr lang="en-US" dirty="0"/>
              <a:t> to explore the following parts of the page. You can use Inspect Element to figure out what their tag names, classes, or IDs are.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Every image on the page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 navigation area in the upper right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 </a:t>
            </a:r>
            <a:r>
              <a:rPr lang="en-US" dirty="0" err="1"/>
              <a:t>MailChimp</a:t>
            </a:r>
            <a:r>
              <a:rPr lang="en-US" dirty="0"/>
              <a:t> sign-up form in the bottom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 upper left-hand logo that says GDI (Hint: use CSS descendant selectors)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 logos of the media sources that featured </a:t>
            </a:r>
            <a:r>
              <a:rPr lang="en-US" dirty="0" err="1"/>
              <a:t>GirlDevelopIt</a:t>
            </a:r>
            <a:r>
              <a:rPr lang="en-US" dirty="0"/>
              <a:t> (</a:t>
            </a:r>
            <a:r>
              <a:rPr lang="en-US" dirty="0" err="1"/>
              <a:t>lifeHacker</a:t>
            </a:r>
            <a:r>
              <a:rPr lang="en-US" dirty="0"/>
              <a:t>, TED, etc., at the bottom of the page)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 big heading that says "DON'T BE SHY DEVELOP IT"</a:t>
            </a:r>
          </a:p>
          <a:p>
            <a:pPr>
              <a:lnSpc>
                <a:spcPct val="11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0814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DOM PROPERTIES</a:t>
            </a:r>
            <a:endParaRPr lang="en-GB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14064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DOM Nodes: Attributes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017638" y="1631314"/>
            <a:ext cx="10336162" cy="435680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You can access and change attributes of DOM nodes.</a:t>
            </a:r>
          </a:p>
          <a:p>
            <a:pPr>
              <a:lnSpc>
                <a:spcPct val="100000"/>
              </a:lnSpc>
            </a:pPr>
            <a:r>
              <a:rPr lang="en-GB" dirty="0"/>
              <a:t>If a HTML has:</a:t>
            </a:r>
          </a:p>
          <a:p>
            <a:pPr>
              <a:lnSpc>
                <a:spcPct val="100000"/>
              </a:lnSpc>
            </a:pPr>
            <a:endParaRPr lang="en-GB" dirty="0"/>
          </a:p>
          <a:p>
            <a:pPr>
              <a:lnSpc>
                <a:spcPct val="100000"/>
              </a:lnSpc>
            </a:pPr>
            <a:endParaRPr lang="en-GB" dirty="0"/>
          </a:p>
          <a:p>
            <a:pPr>
              <a:lnSpc>
                <a:spcPct val="100000"/>
              </a:lnSpc>
            </a:pPr>
            <a:r>
              <a:rPr lang="en-GB" dirty="0"/>
              <a:t>We can create a variable named </a:t>
            </a:r>
            <a:r>
              <a:rPr lang="en-GB" b="1" dirty="0">
                <a:solidFill>
                  <a:srgbClr val="FF0000"/>
                </a:solidFill>
                <a:latin typeface="Courier"/>
              </a:rPr>
              <a:t>image</a:t>
            </a:r>
            <a:r>
              <a:rPr lang="en-GB" dirty="0"/>
              <a:t> and assign the </a:t>
            </a:r>
            <a:r>
              <a:rPr lang="en-GB" b="1" dirty="0" err="1">
                <a:solidFill>
                  <a:srgbClr val="FF0000"/>
                </a:solidFill>
                <a:latin typeface="Courier"/>
              </a:rPr>
              <a:t>img</a:t>
            </a:r>
            <a:r>
              <a:rPr lang="en-GB" dirty="0"/>
              <a:t> element to it: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 </a:t>
            </a:r>
          </a:p>
          <a:p>
            <a:pPr>
              <a:lnSpc>
                <a:spcPct val="100000"/>
              </a:lnSpc>
            </a:pPr>
            <a:r>
              <a:rPr lang="en-GB" dirty="0"/>
              <a:t>We can change the </a:t>
            </a:r>
            <a:r>
              <a:rPr lang="en-GB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src</a:t>
            </a:r>
            <a:r>
              <a:rPr lang="en-GB" dirty="0"/>
              <a:t> attribute in this way:</a:t>
            </a:r>
          </a:p>
          <a:p>
            <a:pPr marL="0" indent="0">
              <a:lnSpc>
                <a:spcPct val="100000"/>
              </a:lnSpc>
              <a:buNone/>
            </a:pPr>
            <a:endParaRPr lang="en-GB" dirty="0"/>
          </a:p>
          <a:p>
            <a:pPr>
              <a:lnSpc>
                <a:spcPct val="100000"/>
              </a:lnSpc>
            </a:pPr>
            <a:r>
              <a:rPr lang="en-GB" dirty="0"/>
              <a:t>We can set a CSS class using the property </a:t>
            </a:r>
            <a:r>
              <a:rPr lang="en-GB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className</a:t>
            </a:r>
            <a:r>
              <a:rPr lang="en-GB" dirty="0"/>
              <a:t>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22</a:t>
            </a:fld>
            <a:endParaRPr lang="uk-UA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691" y="2706972"/>
            <a:ext cx="7531100" cy="4572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2B96DE1-C0C4-4253-A5C3-7CF85349F031}"/>
              </a:ext>
            </a:extLst>
          </p:cNvPr>
          <p:cNvSpPr/>
          <p:nvPr/>
        </p:nvSpPr>
        <p:spPr>
          <a:xfrm>
            <a:off x="5073502" y="2789025"/>
            <a:ext cx="4500824" cy="293094"/>
          </a:xfrm>
          <a:prstGeom prst="rect">
            <a:avLst/>
          </a:prstGeom>
          <a:solidFill>
            <a:srgbClr val="F8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>
                <a:solidFill>
                  <a:srgbClr val="779012"/>
                </a:solidFill>
                <a:latin typeface="Courier"/>
              </a:rPr>
              <a:t>src</a:t>
            </a:r>
            <a:r>
              <a:rPr lang="en-GB" sz="1600" b="1" dirty="0">
                <a:solidFill>
                  <a:srgbClr val="4E4E4E"/>
                </a:solidFill>
                <a:latin typeface="Courier"/>
              </a:rPr>
              <a:t>=</a:t>
            </a:r>
            <a:r>
              <a:rPr lang="en-GB" sz="1600" b="1" dirty="0">
                <a:solidFill>
                  <a:srgbClr val="E98200"/>
                </a:solidFill>
                <a:latin typeface="Courier"/>
              </a:rPr>
              <a:t>“https://picsum.photos/200/300”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94805" y="4036983"/>
            <a:ext cx="7215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 err="1">
                <a:solidFill>
                  <a:srgbClr val="007DDA"/>
                </a:solidFill>
                <a:latin typeface="Courier"/>
              </a:rPr>
              <a:t>var</a:t>
            </a:r>
            <a:r>
              <a:rPr lang="en-SG" b="1" dirty="0">
                <a:latin typeface="Courier"/>
              </a:rPr>
              <a:t> image = </a:t>
            </a:r>
            <a:r>
              <a:rPr lang="en-SG" b="1" dirty="0" err="1">
                <a:latin typeface="Courier"/>
              </a:rPr>
              <a:t>document.</a:t>
            </a:r>
            <a:r>
              <a:rPr lang="en-SG" b="1" dirty="0" err="1">
                <a:solidFill>
                  <a:srgbClr val="7216AA"/>
                </a:solidFill>
                <a:latin typeface="Courier"/>
              </a:rPr>
              <a:t>getElementById</a:t>
            </a:r>
            <a:r>
              <a:rPr lang="en-SG" b="1" dirty="0">
                <a:latin typeface="Courier"/>
              </a:rPr>
              <a:t>(</a:t>
            </a:r>
            <a:r>
              <a:rPr lang="en-SG" b="1" dirty="0">
                <a:solidFill>
                  <a:srgbClr val="E98200"/>
                </a:solidFill>
                <a:latin typeface="Courier"/>
              </a:rPr>
              <a:t>“</a:t>
            </a:r>
            <a:r>
              <a:rPr lang="en-SG" b="1" dirty="0" err="1">
                <a:solidFill>
                  <a:srgbClr val="E98200"/>
                </a:solidFill>
                <a:latin typeface="Courier"/>
              </a:rPr>
              <a:t>mainpicture</a:t>
            </a:r>
            <a:r>
              <a:rPr lang="en-SG" b="1" dirty="0">
                <a:solidFill>
                  <a:srgbClr val="E98200"/>
                </a:solidFill>
                <a:latin typeface="Courier"/>
              </a:rPr>
              <a:t>”</a:t>
            </a:r>
            <a:r>
              <a:rPr lang="en-SG" b="1" dirty="0">
                <a:latin typeface="Courier"/>
              </a:rPr>
              <a:t>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9691" y="5046376"/>
            <a:ext cx="6250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 err="1">
                <a:latin typeface="Courier"/>
              </a:rPr>
              <a:t>image.</a:t>
            </a:r>
            <a:r>
              <a:rPr lang="en-SG" b="1" dirty="0" err="1">
                <a:solidFill>
                  <a:srgbClr val="7216AA"/>
                </a:solidFill>
                <a:latin typeface="Courier"/>
              </a:rPr>
              <a:t>src</a:t>
            </a:r>
            <a:r>
              <a:rPr lang="en-SG" b="1" dirty="0">
                <a:latin typeface="Courier"/>
              </a:rPr>
              <a:t> = </a:t>
            </a:r>
            <a:r>
              <a:rPr lang="en-SG" b="1" dirty="0">
                <a:solidFill>
                  <a:srgbClr val="E98200"/>
                </a:solidFill>
                <a:latin typeface="Courier"/>
              </a:rPr>
              <a:t>“https://picsum.photos/100/500”</a:t>
            </a:r>
            <a:r>
              <a:rPr lang="en-SG" b="1" dirty="0">
                <a:latin typeface="Courier"/>
              </a:rPr>
              <a:t>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0174" y="5935385"/>
            <a:ext cx="4044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 err="1">
                <a:latin typeface="Courier"/>
              </a:rPr>
              <a:t>image.</a:t>
            </a:r>
            <a:r>
              <a:rPr lang="en-SG" b="1" dirty="0" err="1">
                <a:solidFill>
                  <a:srgbClr val="7216AA"/>
                </a:solidFill>
                <a:latin typeface="Courier"/>
              </a:rPr>
              <a:t>className</a:t>
            </a:r>
            <a:r>
              <a:rPr lang="en-SG" b="1" dirty="0">
                <a:latin typeface="Courier"/>
              </a:rPr>
              <a:t> = </a:t>
            </a:r>
            <a:r>
              <a:rPr lang="en-SG" b="1" dirty="0">
                <a:solidFill>
                  <a:srgbClr val="E98200"/>
                </a:solidFill>
                <a:latin typeface="Courier"/>
              </a:rPr>
              <a:t>“picture”</a:t>
            </a:r>
            <a:r>
              <a:rPr lang="en-SG" b="1" dirty="0">
                <a:latin typeface="Courier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51987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DOM Nodes: CSS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can change CSS styles via the </a:t>
            </a:r>
            <a:r>
              <a:rPr lang="en-GB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style</a:t>
            </a:r>
            <a:r>
              <a:rPr lang="en-GB" dirty="0"/>
              <a:t> property.</a:t>
            </a:r>
          </a:p>
          <a:p>
            <a:r>
              <a:rPr lang="en-GB" dirty="0"/>
              <a:t>If a CSS has: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You can change it in JavaScript in this way: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23</a:t>
            </a:fld>
            <a:endParaRPr lang="uk-UA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791" y="2577859"/>
            <a:ext cx="2120900" cy="10287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91" y="4812135"/>
            <a:ext cx="7226300" cy="6985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37564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DOM Nodes: CSS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a CSS has: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You can change it in JavaScript in this way: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24</a:t>
            </a:fld>
            <a:endParaRPr lang="uk-UA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141" y="2018959"/>
            <a:ext cx="3632200" cy="11938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441" y="4375703"/>
            <a:ext cx="5435600" cy="7493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212963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DOM </a:t>
            </a:r>
            <a:r>
              <a:rPr lang="en-GB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innerHTML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can change the HTML content of an element using the </a:t>
            </a:r>
            <a:r>
              <a:rPr lang="en-GB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innerHTML</a:t>
            </a:r>
            <a:r>
              <a:rPr lang="en-GB" dirty="0"/>
              <a:t> property.</a:t>
            </a:r>
          </a:p>
          <a:p>
            <a:r>
              <a:rPr lang="en-GB" dirty="0"/>
              <a:t>If a HTML has: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You can change the content of </a:t>
            </a:r>
            <a:r>
              <a:rPr lang="en-GB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&lt;p&gt;</a:t>
            </a:r>
            <a:r>
              <a:rPr lang="en-GB" dirty="0"/>
              <a:t> in this way:</a:t>
            </a: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25</a:t>
            </a:fld>
            <a:endParaRPr lang="uk-UA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091" y="3165354"/>
            <a:ext cx="2908300" cy="9271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691" y="5341769"/>
            <a:ext cx="8293100" cy="4826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357866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DOM </a:t>
            </a:r>
            <a:r>
              <a:rPr lang="en-GB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innerHTML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can also add HTML codes to elements such as the body tag: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Or you can append the content in this way:</a:t>
            </a: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26</a:t>
            </a:fld>
            <a:endParaRPr lang="uk-UA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291466"/>
            <a:ext cx="9969500" cy="11049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350" y="4860483"/>
            <a:ext cx="9118600" cy="4826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134889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Modifying 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045834" cy="457199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The </a:t>
            </a:r>
            <a:r>
              <a:rPr lang="en-US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document</a:t>
            </a:r>
            <a:r>
              <a:rPr lang="en-US" dirty="0"/>
              <a:t> object also provides ways to create nodes from scratch using JavaScript.</a:t>
            </a:r>
          </a:p>
          <a:p>
            <a:pPr>
              <a:lnSpc>
                <a:spcPct val="100000"/>
              </a:lnSpc>
            </a:pPr>
            <a:r>
              <a:rPr lang="en-US" dirty="0"/>
              <a:t>Type the source codes here in a new HTML file and load the file in a browser to see what happens.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5929" y="1881274"/>
            <a:ext cx="5749653" cy="371596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27</a:t>
            </a:fld>
            <a:endParaRPr lang="uk-U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9A5F28-C414-4427-8391-04FF13716681}"/>
              </a:ext>
            </a:extLst>
          </p:cNvPr>
          <p:cNvSpPr/>
          <p:nvPr/>
        </p:nvSpPr>
        <p:spPr>
          <a:xfrm>
            <a:off x="7780613" y="3159333"/>
            <a:ext cx="2699396" cy="195427"/>
          </a:xfrm>
          <a:prstGeom prst="rect">
            <a:avLst/>
          </a:prstGeom>
          <a:solidFill>
            <a:srgbClr val="F8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b="1" dirty="0">
                <a:solidFill>
                  <a:srgbClr val="E98200"/>
                </a:solidFill>
                <a:latin typeface="Courier"/>
              </a:rPr>
              <a:t>‘https://picsum.photos/400/300’</a:t>
            </a:r>
            <a:r>
              <a:rPr lang="en-GB" sz="1000" b="1" dirty="0">
                <a:solidFill>
                  <a:schemeClr val="tx1"/>
                </a:solidFill>
                <a:latin typeface="Courier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859438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The End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60D1F0-3F78-4F63-8353-5B213B578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pPr/>
              <a:t>28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54758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Introduction to JavaScript: DOM&amp;quot;&quot;/&gt;&lt;property id=&quot;20307&quot; value=&quot;256&quot;/&gt;&lt;/object&gt;&lt;object type=&quot;3&quot; unique_id=&quot;13467&quot;&gt;&lt;property id=&quot;20148&quot; value=&quot;5&quot;/&gt;&lt;property id=&quot;20300&quot; value=&quot;Slide 21 - &amp;quot;The End&amp;quot;&quot;/&gt;&lt;property id=&quot;20307&quot; value=&quot;288&quot;/&gt;&lt;/object&gt;&lt;object type=&quot;3&quot; unique_id=&quot;17361&quot;&gt;&lt;property id=&quot;20148&quot; value=&quot;5&quot;/&gt;&lt;property id=&quot;20300&quot; value=&quot;Slide 2 - &amp;quot;Objectives&amp;quot;&quot;/&gt;&lt;property id=&quot;20307&quot; value=&quot;289&quot;/&gt;&lt;/object&gt;&lt;object type=&quot;3&quot; unique_id=&quot;17380&quot;&gt;&lt;property id=&quot;20148&quot; value=&quot;5&quot;/&gt;&lt;property id=&quot;20300&quot; value=&quot;Slide 3 - &amp;quot;Tools Required&amp;quot;&quot;/&gt;&lt;property id=&quot;20307&quot; value=&quot;373&quot;/&gt;&lt;/object&gt;&lt;object type=&quot;3&quot; unique_id=&quot;17381&quot;&gt;&lt;property id=&quot;20148&quot; value=&quot;5&quot;/&gt;&lt;property id=&quot;20300&quot; value=&quot;Slide 4 - &amp;quot;The document object model (DOM)&amp;quot;&quot;/&gt;&lt;property id=&quot;20307&quot; value=&quot;374&quot;/&gt;&lt;/object&gt;&lt;object type=&quot;3&quot; unique_id=&quot;17382&quot;&gt;&lt;property id=&quot;20148&quot; value=&quot;5&quot;/&gt;&lt;property id=&quot;20300&quot; value=&quot;Slide 5 - &amp;quot;What is DOM?&amp;quot;&quot;/&gt;&lt;property id=&quot;20307&quot; value=&quot;375&quot;/&gt;&lt;/object&gt;&lt;object type=&quot;3&quot; unique_id=&quot;17383&quot;&gt;&lt;property id=&quot;20148&quot; value=&quot;5&quot;/&gt;&lt;property id=&quot;20300&quot; value=&quot;Slide 6&quot;/&gt;&lt;property id=&quot;20307&quot; value=&quot;390&quot;/&gt;&lt;/object&gt;&lt;object type=&quot;3&quot; unique_id=&quot;17384&quot;&gt;&lt;property id=&quot;20148&quot; value=&quot;5&quot;/&gt;&lt;property id=&quot;20300&quot; value=&quot;Slide 7 - &amp;quot;DOM Hierarchy&amp;quot;&quot;/&gt;&lt;property id=&quot;20307&quot; value=&quot;376&quot;/&gt;&lt;/object&gt;&lt;object type=&quot;3&quot; unique_id=&quot;17385&quot;&gt;&lt;property id=&quot;20148&quot; value=&quot;5&quot;/&gt;&lt;property id=&quot;20300&quot; value=&quot;Slide 8 - &amp;quot;DOM Hierarchy Example&amp;quot;&quot;/&gt;&lt;property id=&quot;20307&quot; value=&quot;377&quot;/&gt;&lt;/object&gt;&lt;object type=&quot;3&quot; unique_id=&quot;17386&quot;&gt;&lt;property id=&quot;20148&quot; value=&quot;5&quot;/&gt;&lt;property id=&quot;20300&quot; value=&quot;Slide 9 - &amp;quot;DOM Access: By id&amp;quot;&quot;/&gt;&lt;property id=&quot;20307&quot; value=&quot;378&quot;/&gt;&lt;/object&gt;&lt;object type=&quot;3&quot; unique_id=&quot;17387&quot;&gt;&lt;property id=&quot;20148&quot; value=&quot;5&quot;/&gt;&lt;property id=&quot;20300&quot; value=&quot;Slide 10 - &amp;quot;DOM Access: By Tag Name&amp;quot;&quot;/&gt;&lt;property id=&quot;20307&quot; value=&quot;379&quot;/&gt;&lt;/object&gt;&lt;object type=&quot;3&quot; unique_id=&quot;17388&quot;&gt;&lt;property id=&quot;20148&quot; value=&quot;5&quot;/&gt;&lt;property id=&quot;20300&quot; value=&quot;Slide 11 - &amp;quot;DOM Access: JavaScript Console&amp;quot;&quot;/&gt;&lt;property id=&quot;20307&quot; value=&quot;380&quot;/&gt;&lt;/object&gt;&lt;object type=&quot;3&quot; unique_id=&quot;17389&quot;&gt;&lt;property id=&quot;20148&quot; value=&quot;5&quot;/&gt;&lt;property id=&quot;20300&quot; value=&quot;Slide 12 - &amp;quot;DOM Access: JavaScript Console&amp;quot;&quot;/&gt;&lt;property id=&quot;20307&quot; value=&quot;381&quot;/&gt;&lt;/object&gt;&lt;object type=&quot;3&quot; unique_id=&quot;17390&quot;&gt;&lt;property id=&quot;20148&quot; value=&quot;5&quot;/&gt;&lt;property id=&quot;20300&quot; value=&quot;Slide 13 - &amp;quot;Try It Out!&amp;quot;&quot;/&gt;&lt;property id=&quot;20307&quot; value=&quot;382&quot;/&gt;&lt;/object&gt;&lt;object type=&quot;3&quot; unique_id=&quot;17391&quot;&gt;&lt;property id=&quot;20148&quot; value=&quot;5&quot;/&gt;&lt;property id=&quot;20300&quot; value=&quot;Slide 14 - &amp;quot;Changing DOM PROPERTIES&amp;quot;&quot;/&gt;&lt;property id=&quot;20307&quot; value=&quot;383&quot;/&gt;&lt;/object&gt;&lt;object type=&quot;3&quot; unique_id=&quot;17392&quot;&gt;&lt;property id=&quot;20148&quot; value=&quot;5&quot;/&gt;&lt;property id=&quot;20300&quot; value=&quot;Slide 15 - &amp;quot;DOM Nodes: Attributes&amp;quot;&quot;/&gt;&lt;property id=&quot;20307&quot; value=&quot;384&quot;/&gt;&lt;/object&gt;&lt;object type=&quot;3&quot; unique_id=&quot;17393&quot;&gt;&lt;property id=&quot;20148&quot; value=&quot;5&quot;/&gt;&lt;property id=&quot;20300&quot; value=&quot;Slide 16 - &amp;quot;DOM Nodes: CSS Styles&amp;quot;&quot;/&gt;&lt;property id=&quot;20307&quot; value=&quot;385&quot;/&gt;&lt;/object&gt;&lt;object type=&quot;3&quot; unique_id=&quot;17394&quot;&gt;&lt;property id=&quot;20148&quot; value=&quot;5&quot;/&gt;&lt;property id=&quot;20300&quot; value=&quot;Slide 17 - &amp;quot;DOM Nodes: CSS Styles&amp;quot;&quot;/&gt;&lt;property id=&quot;20307&quot; value=&quot;386&quot;/&gt;&lt;/object&gt;&lt;object type=&quot;3&quot; unique_id=&quot;17395&quot;&gt;&lt;property id=&quot;20148&quot; value=&quot;5&quot;/&gt;&lt;property id=&quot;20300&quot; value=&quot;Slide 18 - &amp;quot;DOM innerHTML&amp;quot;&quot;/&gt;&lt;property id=&quot;20307&quot; value=&quot;387&quot;/&gt;&lt;/object&gt;&lt;object type=&quot;3&quot; unique_id=&quot;17396&quot;&gt;&lt;property id=&quot;20148&quot; value=&quot;5&quot;/&gt;&lt;property id=&quot;20300&quot; value=&quot;Slide 19 - &amp;quot;DOM innerHTML&amp;quot;&quot;/&gt;&lt;property id=&quot;20307&quot; value=&quot;388&quot;/&gt;&lt;/object&gt;&lt;object type=&quot;3&quot; unique_id=&quot;17397&quot;&gt;&lt;property id=&quot;20148&quot; value=&quot;5&quot;/&gt;&lt;property id=&quot;20300&quot; value=&quot;Slide 20 - &amp;quot;Modifying DOM&amp;quot;&quot;/&gt;&lt;property id=&quot;20307&quot; value=&quot;389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9803</TotalTime>
  <Words>888</Words>
  <Application>Microsoft Office PowerPoint</Application>
  <PresentationFormat>Widescreen</PresentationFormat>
  <Paragraphs>163</Paragraphs>
  <Slides>28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Arial Unicode MS</vt:lpstr>
      <vt:lpstr>Calibri</vt:lpstr>
      <vt:lpstr>Courier</vt:lpstr>
      <vt:lpstr>Roboto</vt:lpstr>
      <vt:lpstr>Roboto light</vt:lpstr>
      <vt:lpstr>Verdana</vt:lpstr>
      <vt:lpstr>Office Theme</vt:lpstr>
      <vt:lpstr>Introduction to JavaScript: DOM</vt:lpstr>
      <vt:lpstr>Objectives</vt:lpstr>
      <vt:lpstr>Tools Required</vt:lpstr>
      <vt:lpstr>Writing Client Side Javascript</vt:lpstr>
      <vt:lpstr>Browsers + JavaScript Consoles</vt:lpstr>
      <vt:lpstr>JavaScript Console (Chrome)</vt:lpstr>
      <vt:lpstr>JavaScript Console (Chrome)</vt:lpstr>
      <vt:lpstr>JavaScript Console (Chrome)</vt:lpstr>
      <vt:lpstr>How to Use JavaScript in HTML?</vt:lpstr>
      <vt:lpstr>JavaScript References</vt:lpstr>
      <vt:lpstr>The document object model (DOM)</vt:lpstr>
      <vt:lpstr>What is DOM?</vt:lpstr>
      <vt:lpstr>Site Navigation Map</vt:lpstr>
      <vt:lpstr>DOM Hierarchy</vt:lpstr>
      <vt:lpstr>DOM Hierarchy Example</vt:lpstr>
      <vt:lpstr>DOM Access: By id</vt:lpstr>
      <vt:lpstr>DOM Access: By Tag Name</vt:lpstr>
      <vt:lpstr>DOM Access: JavaScript Console</vt:lpstr>
      <vt:lpstr>DOM Access: JavaScript Console</vt:lpstr>
      <vt:lpstr>Try It Out!</vt:lpstr>
      <vt:lpstr>Changing DOM PROPERTIES</vt:lpstr>
      <vt:lpstr>DOM Nodes: Attributes</vt:lpstr>
      <vt:lpstr>DOM Nodes: CSS Styles</vt:lpstr>
      <vt:lpstr>DOM Nodes: CSS Styles</vt:lpstr>
      <vt:lpstr>DOM innerHTML</vt:lpstr>
      <vt:lpstr>DOM innerHTML</vt:lpstr>
      <vt:lpstr>Modifying DOM</vt:lpstr>
      <vt:lpstr>The End</vt:lpstr>
    </vt:vector>
  </TitlesOfParts>
  <Manager/>
  <Company>Temasek Polytechnic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JavaScript: DOM</dc:title>
  <dc:subject>Web UI/UX</dc:subject>
  <dc:creator>Tan Sio Poh</dc:creator>
  <cp:keywords>CODT, CIT1C16, ADEV, CIT1C17, Introduction to JavaScript I</cp:keywords>
  <dc:description/>
  <cp:lastModifiedBy>temasek poly</cp:lastModifiedBy>
  <cp:revision>258</cp:revision>
  <dcterms:created xsi:type="dcterms:W3CDTF">2016-03-04T00:57:19Z</dcterms:created>
  <dcterms:modified xsi:type="dcterms:W3CDTF">2021-09-21T09:48:18Z</dcterms:modified>
  <cp:category>Software Cluster</cp:category>
</cp:coreProperties>
</file>