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89" r:id="rId3"/>
    <p:sldId id="373" r:id="rId4"/>
    <p:sldId id="37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7" r:id="rId28"/>
    <p:sldId id="398" r:id="rId29"/>
    <p:sldId id="399" r:id="rId30"/>
    <p:sldId id="400" r:id="rId31"/>
    <p:sldId id="288" r:id="rId32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7DDA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9" autoAdjust="0"/>
    <p:restoredTop sz="93875" autoAdjust="0"/>
  </p:normalViewPr>
  <p:slideViewPr>
    <p:cSldViewPr snapToGrid="0">
      <p:cViewPr varScale="1">
        <p:scale>
          <a:sx n="107" d="100"/>
          <a:sy n="107" d="100"/>
        </p:scale>
        <p:origin x="104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C0D8334B-281D-44CD-807D-2C5F4D5488E3}"/>
    <pc:docChg chg="modSld">
      <pc:chgData name="Lam Su Yi" userId="43bb02ba-2a64-4c57-886a-7f9577835f3c" providerId="ADAL" clId="{C0D8334B-281D-44CD-807D-2C5F4D5488E3}" dt="2020-11-02T05:49:39.503" v="4" actId="729"/>
      <pc:docMkLst>
        <pc:docMk/>
      </pc:docMkLst>
      <pc:sldChg chg="mod modShow">
        <pc:chgData name="Lam Su Yi" userId="43bb02ba-2a64-4c57-886a-7f9577835f3c" providerId="ADAL" clId="{C0D8334B-281D-44CD-807D-2C5F4D5488E3}" dt="2020-11-02T05:49:12.050" v="1" actId="729"/>
        <pc:sldMkLst>
          <pc:docMk/>
          <pc:sldMk cId="521257304" sldId="373"/>
        </pc:sldMkLst>
      </pc:sldChg>
      <pc:sldChg chg="mod modShow">
        <pc:chgData name="Lam Su Yi" userId="43bb02ba-2a64-4c57-886a-7f9577835f3c" providerId="ADAL" clId="{C0D8334B-281D-44CD-807D-2C5F4D5488E3}" dt="2020-11-02T05:49:28.974" v="2" actId="729"/>
        <pc:sldMkLst>
          <pc:docMk/>
          <pc:sldMk cId="82785310" sldId="375"/>
        </pc:sldMkLst>
      </pc:sldChg>
      <pc:sldChg chg="mod modShow">
        <pc:chgData name="Lam Su Yi" userId="43bb02ba-2a64-4c57-886a-7f9577835f3c" providerId="ADAL" clId="{C0D8334B-281D-44CD-807D-2C5F4D5488E3}" dt="2020-11-02T05:49:31.254" v="3" actId="729"/>
        <pc:sldMkLst>
          <pc:docMk/>
          <pc:sldMk cId="889509165" sldId="376"/>
        </pc:sldMkLst>
      </pc:sldChg>
      <pc:sldChg chg="mod modShow">
        <pc:chgData name="Lam Su Yi" userId="43bb02ba-2a64-4c57-886a-7f9577835f3c" providerId="ADAL" clId="{C0D8334B-281D-44CD-807D-2C5F4D5488E3}" dt="2020-11-02T05:49:39.503" v="4" actId="729"/>
        <pc:sldMkLst>
          <pc:docMk/>
          <pc:sldMk cId="1846904963" sldId="377"/>
        </pc:sldMkLst>
      </pc:sldChg>
      <pc:sldChg chg="mod modShow">
        <pc:chgData name="Lam Su Yi" userId="43bb02ba-2a64-4c57-886a-7f9577835f3c" providerId="ADAL" clId="{C0D8334B-281D-44CD-807D-2C5F4D5488E3}" dt="2020-11-02T02:34:18.272" v="0" actId="729"/>
        <pc:sldMkLst>
          <pc:docMk/>
          <pc:sldMk cId="686921505" sldId="382"/>
        </pc:sldMkLst>
      </pc:sldChg>
    </pc:docChg>
  </pc:docChgLst>
  <pc:docChgLst>
    <pc:chgData name="Lam Su Yi" userId="43bb02ba-2a64-4c57-886a-7f9577835f3c" providerId="ADAL" clId="{32B3FA7D-7E10-4523-9FA3-BC9753A6A55D}"/>
    <pc:docChg chg="modMainMaster">
      <pc:chgData name="Lam Su Yi" userId="43bb02ba-2a64-4c57-886a-7f9577835f3c" providerId="ADAL" clId="{32B3FA7D-7E10-4523-9FA3-BC9753A6A55D}" dt="2018-09-28T07:04:13.745" v="9" actId="20577"/>
      <pc:docMkLst>
        <pc:docMk/>
      </pc:docMkLst>
      <pc:sldMasterChg chg="modSldLayout">
        <pc:chgData name="Lam Su Yi" userId="43bb02ba-2a64-4c57-886a-7f9577835f3c" providerId="ADAL" clId="{32B3FA7D-7E10-4523-9FA3-BC9753A6A55D}" dt="2018-09-28T07:04:13.745" v="9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32B3FA7D-7E10-4523-9FA3-BC9753A6A55D}" dt="2018-09-28T07:04:13.745" v="9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32B3FA7D-7E10-4523-9FA3-BC9753A6A55D}" dt="2018-09-27T08:25:07.408" v="4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32B3FA7D-7E10-4523-9FA3-BC9753A6A55D}" dt="2018-09-28T07:04:13.745" v="9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21/9/2021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32958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radius = 3; 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circumference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Math.PI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* 2*radius; </a:t>
            </a:r>
          </a:p>
          <a:p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console.log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("The circumference is " + circumference);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var area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Math.PI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* radius*radius; </a:t>
            </a:r>
          </a:p>
          <a:p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console.log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("The area is " + area);</a:t>
            </a:r>
          </a:p>
          <a:p>
            <a:endParaRPr lang="en-GB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9237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0330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0605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function </a:t>
            </a:r>
            <a:r>
              <a:rPr lang="en-US" dirty="0" err="1"/>
              <a:t>calcCircumference</a:t>
            </a:r>
            <a:r>
              <a:rPr lang="en-US" dirty="0"/>
              <a:t>(radius)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{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var circumference = </a:t>
            </a:r>
            <a:r>
              <a:rPr lang="en-US" dirty="0" err="1"/>
              <a:t>Math.PI</a:t>
            </a:r>
            <a:r>
              <a:rPr lang="en-US" dirty="0"/>
              <a:t> * 2*radius;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</a:t>
            </a:r>
            <a:r>
              <a:rPr lang="en-US" dirty="0" err="1"/>
              <a:t>console.log</a:t>
            </a:r>
            <a:r>
              <a:rPr lang="en-US" dirty="0"/>
              <a:t>("The circumference is " + circumference);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}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function </a:t>
            </a:r>
            <a:r>
              <a:rPr lang="en-US" dirty="0" err="1"/>
              <a:t>calcArea</a:t>
            </a:r>
            <a:r>
              <a:rPr lang="en-US" dirty="0"/>
              <a:t>(radius)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{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var area = </a:t>
            </a:r>
            <a:r>
              <a:rPr lang="en-US" dirty="0" err="1"/>
              <a:t>Math.PI</a:t>
            </a:r>
            <a:r>
              <a:rPr lang="en-US" dirty="0"/>
              <a:t> * radius*radius;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</a:t>
            </a:r>
            <a:r>
              <a:rPr lang="en-US" dirty="0" err="1"/>
              <a:t>console.log</a:t>
            </a:r>
            <a:r>
              <a:rPr lang="en-US" dirty="0"/>
              <a:t>("The area is " + area);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} </a:t>
            </a:r>
            <a:br>
              <a:rPr lang="en-US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3010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Example of prototyping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994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Example of prototyping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810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9/21/2021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9/21/2021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0D7A1-A10F-4102-AF4A-CBF2554FA72A}" type="datetime1">
              <a:rPr lang="en-US" smtClean="0"/>
              <a:t>9/21/2021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04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  <p:sldLayoutId id="214748368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groovemp3.com/" TargetMode="External"/><Relationship Id="rId2" Type="http://schemas.openxmlformats.org/officeDocument/2006/relationships/hyperlink" Target="http://lokeshdhakar.com/projects/lightbox2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mozilla.org/en-US/docs/Web/JavaScript" TargetMode="External"/><Relationship Id="rId2" Type="http://schemas.openxmlformats.org/officeDocument/2006/relationships/hyperlink" Target="http://www.w3schools.com/js/default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getfirebug.com/wiki" TargetMode="External"/><Relationship Id="rId4" Type="http://schemas.openxmlformats.org/officeDocument/2006/relationships/hyperlink" Target="http://developers.google.com/chrome-developer-tools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Introduction to JavaScript I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03.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Describe the basic syntax of JavaScript;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Describe the data types, conditional statements, and loops in JavaScript;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write scripts in web page using JavaScript.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Javascript</a:t>
            </a:r>
            <a:r>
              <a:rPr lang="en-GB" dirty="0"/>
              <a:t> (JS)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661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Brief History of JavaScript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1995:</a:t>
            </a:r>
            <a:r>
              <a:rPr lang="en-US" dirty="0"/>
              <a:t> At Netscape, Brendan </a:t>
            </a:r>
            <a:r>
              <a:rPr lang="en-US" dirty="0" err="1"/>
              <a:t>Eich</a:t>
            </a:r>
            <a:r>
              <a:rPr lang="en-US" dirty="0"/>
              <a:t> created "</a:t>
            </a:r>
            <a:r>
              <a:rPr lang="en-US" dirty="0" err="1"/>
              <a:t>LiveScript</a:t>
            </a:r>
            <a:r>
              <a:rPr lang="en-US" dirty="0"/>
              <a:t>", which gets renamed to "JavaScript".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1996:</a:t>
            </a:r>
            <a:r>
              <a:rPr lang="en-US" dirty="0"/>
              <a:t> Microsoft releases "JScript", a port, for IE3.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1997:</a:t>
            </a:r>
            <a:r>
              <a:rPr lang="en-US" dirty="0"/>
              <a:t> JavaScript was standardized in the "ECMAScript" spec.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2005:</a:t>
            </a:r>
            <a:r>
              <a:rPr lang="en-US" dirty="0"/>
              <a:t> "AJAX" was coined, and the web 2.0 age begins.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2006:</a:t>
            </a:r>
            <a:r>
              <a:rPr lang="en-US" dirty="0"/>
              <a:t> jQuery 1.0 was released.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2010:</a:t>
            </a:r>
            <a:r>
              <a:rPr lang="en-US" dirty="0"/>
              <a:t> </a:t>
            </a:r>
            <a:r>
              <a:rPr lang="en-US" dirty="0" err="1"/>
              <a:t>Node.JS</a:t>
            </a:r>
            <a:r>
              <a:rPr lang="en-US" dirty="0"/>
              <a:t> was released.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2012:</a:t>
            </a:r>
            <a:r>
              <a:rPr lang="en-US" dirty="0"/>
              <a:t> ECMAScript Harmony spec nearly finalized.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pPr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JavaScript do?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Image switchers and </a:t>
            </a:r>
            <a:r>
              <a:rPr lang="en-US" dirty="0">
                <a:hlinkClick r:id="rId2"/>
              </a:rPr>
              <a:t>lightboxes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Full featured </a:t>
            </a:r>
            <a:r>
              <a:rPr lang="en-US" dirty="0">
                <a:hlinkClick r:id="rId3"/>
              </a:rPr>
              <a:t>web applications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Keep track of users with cookies</a:t>
            </a:r>
          </a:p>
          <a:p>
            <a:pPr>
              <a:lnSpc>
                <a:spcPct val="110000"/>
              </a:lnSpc>
            </a:pPr>
            <a:r>
              <a:rPr lang="en-US" dirty="0"/>
              <a:t>Interactive elements like tabs, sliders and accordions</a:t>
            </a:r>
          </a:p>
          <a:p>
            <a:pPr>
              <a:lnSpc>
                <a:spcPct val="110000"/>
              </a:lnSpc>
            </a:pPr>
            <a:r>
              <a:rPr lang="en-US" dirty="0"/>
              <a:t>Drawing and animation</a:t>
            </a:r>
          </a:p>
          <a:p>
            <a:pPr>
              <a:lnSpc>
                <a:spcPct val="110000"/>
              </a:lnSpc>
            </a:pPr>
            <a:r>
              <a:rPr lang="en-US" dirty="0"/>
              <a:t>Mind blowing awesomeness like this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701698" y="1600200"/>
            <a:ext cx="3855903" cy="4572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  <p:sp>
        <p:nvSpPr>
          <p:cNvPr id="9" name="Right Arrow 8"/>
          <p:cNvSpPr/>
          <p:nvPr/>
        </p:nvSpPr>
        <p:spPr>
          <a:xfrm>
            <a:off x="5842818" y="5365122"/>
            <a:ext cx="6858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50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Browsers + JavaScript Consoles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GB" b="1" dirty="0"/>
              <a:t>Google Chrome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Console</a:t>
            </a:r>
          </a:p>
          <a:p>
            <a:pPr>
              <a:lnSpc>
                <a:spcPct val="110000"/>
              </a:lnSpc>
            </a:pPr>
            <a:r>
              <a:rPr lang="en-GB" b="1" dirty="0"/>
              <a:t>Chrome Canary</a:t>
            </a:r>
            <a:r>
              <a:rPr lang="en-GB" dirty="0"/>
              <a:t>: Developer version of Chrome</a:t>
            </a:r>
          </a:p>
          <a:p>
            <a:pPr>
              <a:lnSpc>
                <a:spcPct val="110000"/>
              </a:lnSpc>
            </a:pPr>
            <a:r>
              <a:rPr lang="en-GB" b="1" dirty="0"/>
              <a:t>Firefox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Firebug (Add-on)</a:t>
            </a:r>
          </a:p>
          <a:p>
            <a:pPr>
              <a:lnSpc>
                <a:spcPct val="110000"/>
              </a:lnSpc>
            </a:pPr>
            <a:r>
              <a:rPr lang="en-GB" b="1" dirty="0"/>
              <a:t>Safari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Console: Web Inspector (need to enable Developer mode in Preferences -&gt; Advanced)</a:t>
            </a:r>
          </a:p>
          <a:p>
            <a:pPr lvl="1">
              <a:lnSpc>
                <a:spcPct val="110000"/>
              </a:lnSpc>
            </a:pPr>
            <a:r>
              <a:rPr lang="en-GB" dirty="0" err="1"/>
              <a:t>Webkit</a:t>
            </a:r>
            <a:r>
              <a:rPr lang="en-GB" dirty="0"/>
              <a:t> Nightly: Developer version</a:t>
            </a:r>
          </a:p>
          <a:p>
            <a:pPr>
              <a:lnSpc>
                <a:spcPct val="110000"/>
              </a:lnSpc>
            </a:pPr>
            <a:r>
              <a:rPr lang="en-GB" b="1" dirty="0"/>
              <a:t>Internet Explorer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F12 Developer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90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Console (Chrome)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104900" y="1868555"/>
            <a:ext cx="4919472" cy="823912"/>
          </a:xfrm>
        </p:spPr>
        <p:txBody>
          <a:bodyPr/>
          <a:lstStyle/>
          <a:p>
            <a:r>
              <a:rPr lang="en-GB" dirty="0"/>
              <a:t>Mac OS X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3498911"/>
            <a:ext cx="4919663" cy="21352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6166110" y="1868555"/>
            <a:ext cx="4919472" cy="823912"/>
          </a:xfrm>
        </p:spPr>
        <p:txBody>
          <a:bodyPr/>
          <a:lstStyle/>
          <a:p>
            <a:r>
              <a:rPr lang="en-GB" dirty="0"/>
              <a:t>Windows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184786"/>
            <a:ext cx="4919663" cy="276345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1274763" y="1629384"/>
            <a:ext cx="964095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You will </a:t>
            </a:r>
            <a:r>
              <a:rPr lang="en-GB">
                <a:latin typeface="Arial Unicode MS" charset="0"/>
                <a:ea typeface="Arial Unicode MS" charset="0"/>
                <a:cs typeface="Arial Unicode MS" charset="0"/>
              </a:rPr>
              <a:t>use a browser built-in </a:t>
            </a:r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tool called JavaScript Console to help you </a:t>
            </a:r>
            <a:r>
              <a:rPr lang="en-GB">
                <a:latin typeface="Arial Unicode MS" charset="0"/>
                <a:ea typeface="Arial Unicode MS" charset="0"/>
                <a:cs typeface="Arial Unicode MS" charset="0"/>
              </a:rPr>
              <a:t>learn JavaScript.</a:t>
            </a:r>
          </a:p>
        </p:txBody>
      </p:sp>
    </p:spTree>
    <p:extLst>
      <p:ext uri="{BB962C8B-B14F-4D97-AF65-F5344CB8AC3E}">
        <p14:creationId xmlns:p14="http://schemas.microsoft.com/office/powerpoint/2010/main" val="78803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Console (Chrome)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150" y="1752600"/>
            <a:ext cx="8775700" cy="4267200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04081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Console (Chrome)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67364"/>
            <a:ext cx="4914900" cy="3637672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You can also write functions in the console.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  <p:sp>
        <p:nvSpPr>
          <p:cNvPr id="9" name="Rectangular Callout 8"/>
          <p:cNvSpPr/>
          <p:nvPr/>
        </p:nvSpPr>
        <p:spPr>
          <a:xfrm>
            <a:off x="6440556" y="2556981"/>
            <a:ext cx="1918252" cy="653358"/>
          </a:xfrm>
          <a:prstGeom prst="wedgeRectCallout">
            <a:avLst>
              <a:gd name="adj1" fmla="val -186424"/>
              <a:gd name="adj2" fmla="val -23939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Type </a:t>
            </a:r>
            <a:r>
              <a:rPr lang="en-US" sz="16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Shift-Enter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 to go </a:t>
            </a:r>
            <a:r>
              <a:rPr lang="en-US" sz="1600">
                <a:latin typeface="Arial Unicode MS" charset="0"/>
                <a:ea typeface="Arial Unicode MS" charset="0"/>
                <a:cs typeface="Arial Unicode MS" charset="0"/>
              </a:rPr>
              <a:t>to new line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0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to Use JavaScript?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1104900" y="1341786"/>
            <a:ext cx="4919472" cy="823912"/>
          </a:xfrm>
        </p:spPr>
        <p:txBody>
          <a:bodyPr/>
          <a:lstStyle/>
          <a:p>
            <a:r>
              <a:rPr lang="en-US" dirty="0"/>
              <a:t>In Script Tag Within </a:t>
            </a:r>
          </a:p>
          <a:p>
            <a:r>
              <a:rPr lang="en-US" dirty="0"/>
              <a:t>Head/Body Tag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1" y="2165699"/>
            <a:ext cx="4057380" cy="4078698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>
          <a:xfrm>
            <a:off x="6166110" y="1341786"/>
            <a:ext cx="4919472" cy="823912"/>
          </a:xfrm>
        </p:spPr>
        <p:txBody>
          <a:bodyPr/>
          <a:lstStyle/>
          <a:p>
            <a:r>
              <a:rPr lang="en-US" dirty="0"/>
              <a:t>Link to External File</a:t>
            </a: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224273"/>
            <a:ext cx="4919663" cy="1630241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pPr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330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References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/>
              <a:t>W3Schools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2"/>
              </a:rPr>
              <a:t>http://www.w3schools.com/js/default.asp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Mozilla Developer Network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3"/>
              </a:rPr>
              <a:t>http://developer.mozilla.org/en-US/docs/Web/JavaScript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b="1" i="1" dirty="0"/>
              <a:t>JavaScript: The Good Parts</a:t>
            </a:r>
            <a:r>
              <a:rPr lang="en-GB" dirty="0"/>
              <a:t> by Douglas </a:t>
            </a:r>
            <a:r>
              <a:rPr lang="en-GB" dirty="0" err="1"/>
              <a:t>Crockford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Google: Chrome Developer Tools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4"/>
              </a:rPr>
              <a:t>http://developers.google.com/chrome-developer-tools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Firefox: Firebug Wiki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5"/>
              </a:rPr>
              <a:t>http://getfirebug.com/wiki</a:t>
            </a: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692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</a:t>
            </a:r>
            <a:r>
              <a:rPr lang="en-US" dirty="0" err="1"/>
              <a:t>funcTions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406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82" y="2293363"/>
            <a:ext cx="4914900" cy="1452626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JavaScript is similar to Java in syntax</a:t>
            </a:r>
          </a:p>
          <a:p>
            <a:pPr>
              <a:lnSpc>
                <a:spcPct val="100000"/>
              </a:lnSpc>
            </a:pPr>
            <a:r>
              <a:rPr lang="en-GB" dirty="0"/>
              <a:t>JavaScript is loosely typed i.e. no need to declare variable type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  <p:sp>
        <p:nvSpPr>
          <p:cNvPr id="22" name="Rectangular Callout 21"/>
          <p:cNvSpPr/>
          <p:nvPr/>
        </p:nvSpPr>
        <p:spPr>
          <a:xfrm>
            <a:off x="2077366" y="4218816"/>
            <a:ext cx="2164177" cy="1186069"/>
          </a:xfrm>
          <a:prstGeom prst="wedgeRectCallout">
            <a:avLst>
              <a:gd name="adj1" fmla="val 167401"/>
              <a:gd name="adj2" fmla="val -13399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Use “</a:t>
            </a:r>
            <a:r>
              <a:rPr lang="en-US" sz="16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var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” to create and declare variables.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25" name="Rectangular Callout 24"/>
          <p:cNvSpPr/>
          <p:nvPr/>
        </p:nvSpPr>
        <p:spPr>
          <a:xfrm>
            <a:off x="6508474" y="4485172"/>
            <a:ext cx="2854188" cy="653358"/>
          </a:xfrm>
          <a:prstGeom prst="wedgeRectCallout">
            <a:avLst>
              <a:gd name="adj1" fmla="val -18158"/>
              <a:gd name="adj2" fmla="val -15476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Use “</a:t>
            </a:r>
            <a:r>
              <a:rPr lang="en-US" sz="16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console.log</a:t>
            </a:r>
            <a:r>
              <a:rPr lang="en-US" sz="16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” to output to the console.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8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Primitive Data Types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GB" b="1" dirty="0"/>
              <a:t>string: </a:t>
            </a:r>
            <a:r>
              <a:rPr lang="en-GB" dirty="0"/>
              <a:t>an immutable string of characters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r>
              <a:rPr lang="en-GB" b="1" dirty="0"/>
              <a:t>number: </a:t>
            </a:r>
            <a:r>
              <a:rPr lang="en-GB" dirty="0"/>
              <a:t>whole or decimal point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>
              <a:lnSpc>
                <a:spcPct val="120000"/>
              </a:lnSpc>
            </a:pPr>
            <a:r>
              <a:rPr lang="en-GB" b="1" dirty="0"/>
              <a:t>boolean: </a:t>
            </a:r>
            <a:r>
              <a:rPr lang="en-GB" dirty="0"/>
              <a:t>represents logical values true or false</a:t>
            </a:r>
          </a:p>
          <a:p>
            <a:pPr>
              <a:lnSpc>
                <a:spcPct val="120000"/>
              </a:lnSpc>
            </a:pPr>
            <a:endParaRPr lang="en-GB" b="1" dirty="0"/>
          </a:p>
          <a:p>
            <a:pPr>
              <a:lnSpc>
                <a:spcPct val="120000"/>
              </a:lnSpc>
            </a:pPr>
            <a:r>
              <a:rPr lang="en-GB" b="1" dirty="0"/>
              <a:t>undefined: </a:t>
            </a:r>
            <a:r>
              <a:rPr lang="en-GB" dirty="0"/>
              <a:t>represents a value that has not been defined</a:t>
            </a:r>
          </a:p>
          <a:p>
            <a:pPr>
              <a:lnSpc>
                <a:spcPct val="120000"/>
              </a:lnSpc>
            </a:pPr>
            <a:endParaRPr lang="en-GB" b="1" dirty="0"/>
          </a:p>
          <a:p>
            <a:pPr>
              <a:lnSpc>
                <a:spcPct val="120000"/>
              </a:lnSpc>
            </a:pPr>
            <a:r>
              <a:rPr lang="en-GB" b="1" dirty="0"/>
              <a:t>null: </a:t>
            </a:r>
            <a:r>
              <a:rPr lang="en-GB" dirty="0"/>
              <a:t>represents an explicitly empty value</a:t>
            </a:r>
            <a:endParaRPr lang="en-GB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40565"/>
            <a:ext cx="4584700" cy="635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76881"/>
            <a:ext cx="2730500" cy="6604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87" y="3441148"/>
            <a:ext cx="3340100" cy="6731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759708"/>
            <a:ext cx="2781300" cy="4064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5772790"/>
            <a:ext cx="3721100" cy="4572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756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Data Types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b="1" dirty="0"/>
              <a:t>array: </a:t>
            </a:r>
            <a:r>
              <a:rPr lang="en-GB" dirty="0"/>
              <a:t>a collection of items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b="1" dirty="0"/>
              <a:t>object: </a:t>
            </a:r>
            <a:r>
              <a:rPr lang="en-GB" dirty="0"/>
              <a:t>represents custom built objects or built-in objects such as windows, document, </a:t>
            </a:r>
            <a:r>
              <a:rPr lang="en-GB" dirty="0" err="1"/>
              <a:t>etc</a:t>
            </a:r>
            <a:r>
              <a:rPr lang="is-IS" dirty="0"/>
              <a:t>…</a:t>
            </a: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16</a:t>
            </a:fld>
            <a:endParaRPr lang="uk-U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243" y="2272788"/>
            <a:ext cx="7983995" cy="1342532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718" y="3947609"/>
            <a:ext cx="4660900" cy="18923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5786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It Out! (Part 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17</a:t>
            </a:fld>
            <a:endParaRPr lang="uk-U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GB" dirty="0"/>
                  <a:t>Create a new HTML file in Visual Studio Code or any other editor.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/>
                  <a:t>Write a small script in the HTML file to calculate the circumference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𝑐</m:t>
                    </m:r>
                    <m:r>
                      <a:rPr lang="en-US" i="1">
                        <a:latin typeface="Cambria Math" charset="0"/>
                      </a:rPr>
                      <m:t>=2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𝑟</m:t>
                    </m:r>
                  </m:oMath>
                </a14:m>
                <a:r>
                  <a:rPr lang="en-GB" dirty="0"/>
                  <a:t>) and area (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charset="0"/>
                      </a:rPr>
                      <m:t>𝐴</m:t>
                    </m:r>
                    <m:r>
                      <a:rPr lang="el-GR" i="1" smtClean="0">
                        <a:latin typeface="Cambria Math" charset="0"/>
                      </a:rPr>
                      <m:t>=</m:t>
                    </m:r>
                    <m:r>
                      <a:rPr lang="el-GR" i="1" smtClean="0">
                        <a:latin typeface="Cambria Math" charset="0"/>
                      </a:rPr>
                      <m:t>𝜋</m:t>
                    </m:r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smtClean="0"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l-GR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) of a circle.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dirty="0"/>
                  <a:t>Create a variable to store the radius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dirty="0"/>
                  <a:t>Calculate the circumference based on the radius and output “The circumference is ??”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dirty="0"/>
                  <a:t>Calculate the area based on the radius and output “The area is ??”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b="1" dirty="0"/>
                  <a:t>Hint</a:t>
                </a:r>
                <a:r>
                  <a:rPr lang="en-GB" dirty="0"/>
                  <a:t>: You can use a built-in JavaScript constant </a:t>
                </a:r>
                <a:r>
                  <a:rPr lang="en-GB" dirty="0" err="1">
                    <a:solidFill>
                      <a:srgbClr val="FF0000"/>
                    </a:solidFill>
                    <a:latin typeface="Courier" charset="0"/>
                    <a:ea typeface="Courier" charset="0"/>
                    <a:cs typeface="Courier" charset="0"/>
                  </a:rPr>
                  <a:t>Math.PI</a:t>
                </a:r>
                <a:r>
                  <a:rPr lang="en-GB" dirty="0"/>
                  <a:t> to get the value of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/>
                  <a:t>Load the HTML file and see your output in the JavaScript Console.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1" t="-1330" r="-825" b="-19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43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It Out! (Part 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18</a:t>
            </a:fld>
            <a:endParaRPr lang="uk-U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Create a new JavaScript file in Visual Studio Code or any other editor. The file must end with “</a:t>
            </a:r>
            <a:r>
              <a:rPr lang="en-GB" dirty="0">
                <a:solidFill>
                  <a:srgbClr val="FF0000"/>
                </a:solidFill>
              </a:rPr>
              <a:t>.</a:t>
            </a:r>
            <a:r>
              <a:rPr lang="en-GB" dirty="0" err="1">
                <a:solidFill>
                  <a:srgbClr val="FF0000"/>
                </a:solidFill>
              </a:rPr>
              <a:t>js</a:t>
            </a:r>
            <a:r>
              <a:rPr lang="en-GB" dirty="0"/>
              <a:t>” extension. E.g. </a:t>
            </a:r>
            <a:r>
              <a:rPr lang="en-GB" dirty="0" err="1"/>
              <a:t>myscript.js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US" dirty="0"/>
              <a:t>Copy the script that you wrote previously to your JavaScript file.</a:t>
            </a:r>
          </a:p>
          <a:p>
            <a:pPr>
              <a:lnSpc>
                <a:spcPct val="100000"/>
              </a:lnSpc>
            </a:pPr>
            <a:r>
              <a:rPr lang="en-US" dirty="0"/>
              <a:t>In the previous HTML file, remove the JavaScript source codes and replace with a link to your JavaScript file in the script tag.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Load the HTML file in the browser and see your output in the JavaScript Console.</a:t>
            </a:r>
          </a:p>
        </p:txBody>
      </p:sp>
    </p:spTree>
    <p:extLst>
      <p:ext uri="{BB962C8B-B14F-4D97-AF65-F5344CB8AC3E}">
        <p14:creationId xmlns:p14="http://schemas.microsoft.com/office/powerpoint/2010/main" val="187175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19</a:t>
            </a:fld>
            <a:endParaRPr lang="uk-UA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441" y="2221395"/>
            <a:ext cx="9753600" cy="2057400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8063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Methods are called Functions in JavaScript.</a:t>
            </a:r>
          </a:p>
          <a:p>
            <a:r>
              <a:rPr lang="en-GB" dirty="0"/>
              <a:t>A function is created using the keyword “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function</a:t>
            </a:r>
            <a:r>
              <a:rPr lang="en-GB" dirty="0"/>
              <a:t>”.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After the function is created, you use it by calling its name.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82" y="1775116"/>
            <a:ext cx="4775200" cy="12954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20</a:t>
            </a:fld>
            <a:endParaRPr lang="uk-UA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82" y="4405020"/>
            <a:ext cx="3771900" cy="6223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30521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Functions: Arguments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Functions can accept any number of named arguments.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82" y="1495507"/>
            <a:ext cx="4914900" cy="1918915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21</a:t>
            </a:fld>
            <a:endParaRPr lang="uk-U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682" y="3659836"/>
            <a:ext cx="5041900" cy="24511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20558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Functions: Variable Passing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You can also pass variables into functions.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82" y="1825625"/>
            <a:ext cx="4876800" cy="29591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116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Functions: Return Values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en-GB" dirty="0"/>
              <a:t> keyword returns a value of the function (and exits the function).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r>
              <a:rPr lang="en-GB" dirty="0"/>
              <a:t>You can use function calls in expressions.</a:t>
            </a:r>
          </a:p>
          <a:p>
            <a:pPr>
              <a:lnSpc>
                <a:spcPct val="120000"/>
              </a:lnSpc>
            </a:pPr>
            <a:r>
              <a:rPr lang="en-GB" dirty="0"/>
              <a:t>You can even call functions inside function calls.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82" y="1512094"/>
            <a:ext cx="4914900" cy="2252662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23</a:t>
            </a:fld>
            <a:endParaRPr lang="uk-UA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425" y="4445552"/>
            <a:ext cx="5612157" cy="32434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425" y="5271293"/>
            <a:ext cx="5612157" cy="223113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70130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JS Variables have "function scope". They are visible in the function where they're defined.</a:t>
            </a:r>
          </a:p>
          <a:p>
            <a:r>
              <a:rPr lang="en-US" dirty="0"/>
              <a:t>A variable with </a:t>
            </a:r>
            <a:r>
              <a:rPr lang="en-US" b="1" dirty="0"/>
              <a:t>local</a:t>
            </a:r>
            <a:r>
              <a:rPr lang="en-US" dirty="0"/>
              <a:t> scope.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variable with </a:t>
            </a:r>
            <a:r>
              <a:rPr lang="en-US" b="1" dirty="0"/>
              <a:t>global</a:t>
            </a:r>
            <a:r>
              <a:rPr lang="en-US" dirty="0"/>
              <a:t> scope.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24</a:t>
            </a:fld>
            <a:endParaRPr lang="uk-UA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451198"/>
            <a:ext cx="5318671" cy="1721001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592" y="2558860"/>
            <a:ext cx="5318207" cy="1327339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7904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It Out!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25</a:t>
            </a:fld>
            <a:endParaRPr lang="uk-UA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JavaScript file that you created previously, write two functions: </a:t>
            </a:r>
          </a:p>
          <a:p>
            <a:pPr lvl="1"/>
            <a:r>
              <a:rPr lang="en-GB" dirty="0"/>
              <a:t>one to calculate the circumference of a circle; </a:t>
            </a:r>
          </a:p>
          <a:p>
            <a:pPr lvl="1"/>
            <a:r>
              <a:rPr lang="en-GB" dirty="0"/>
              <a:t>and another to calculate the area of a circle.</a:t>
            </a:r>
          </a:p>
          <a:p>
            <a:r>
              <a:rPr lang="en-GB" dirty="0"/>
              <a:t>Each of your functions should output the result to the console in a proper sentence.</a:t>
            </a:r>
          </a:p>
          <a:p>
            <a:r>
              <a:rPr lang="en-GB" dirty="0"/>
              <a:t>Reload your HTML file to see the result.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16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Statements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188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Conditions: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en-GB" dirty="0"/>
              <a:t>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27</a:t>
            </a:fld>
            <a:endParaRPr lang="uk-UA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472" y="1600200"/>
            <a:ext cx="8449056" cy="4572000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76066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Conditions: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switch</a:t>
            </a:r>
            <a:r>
              <a:rPr lang="en-GB" dirty="0"/>
              <a:t> Block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746250"/>
            <a:ext cx="6858000" cy="42799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28</a:t>
            </a:fld>
            <a:endParaRPr lang="uk-UA"/>
          </a:p>
        </p:txBody>
      </p:sp>
      <p:sp>
        <p:nvSpPr>
          <p:cNvPr id="7" name="Rectangular Callout 6"/>
          <p:cNvSpPr/>
          <p:nvPr/>
        </p:nvSpPr>
        <p:spPr>
          <a:xfrm>
            <a:off x="7234031" y="1898374"/>
            <a:ext cx="1929848" cy="1302025"/>
          </a:xfrm>
          <a:prstGeom prst="wedgeRectCallout">
            <a:avLst>
              <a:gd name="adj1" fmla="val -162560"/>
              <a:gd name="adj2" fmla="val 58399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The “</a:t>
            </a:r>
            <a:r>
              <a:rPr lang="en-US" sz="16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default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” case does not have to be the last case in a </a:t>
            </a:r>
            <a:r>
              <a:rPr lang="en-US" sz="16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switch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 block.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38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Loops: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while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29</a:t>
            </a:fld>
            <a:endParaRPr lang="uk-UA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541" y="2498863"/>
            <a:ext cx="3327400" cy="2019300"/>
          </a:xfr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61410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Loops: </a:t>
            </a:r>
            <a:r>
              <a:rPr lang="en-GB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en-GB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30</a:t>
            </a:fld>
            <a:endParaRPr lang="uk-UA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541" y="2234924"/>
            <a:ext cx="6883400" cy="25273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0" name="Rectangular Callout 9"/>
          <p:cNvSpPr/>
          <p:nvPr/>
        </p:nvSpPr>
        <p:spPr>
          <a:xfrm>
            <a:off x="3735457" y="4982129"/>
            <a:ext cx="2854188" cy="414819"/>
          </a:xfrm>
          <a:prstGeom prst="wedgeRectCallout">
            <a:avLst>
              <a:gd name="adj1" fmla="val -19899"/>
              <a:gd name="adj2" fmla="val -224249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Use “</a:t>
            </a:r>
            <a:r>
              <a:rPr lang="en-US" sz="16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break</a:t>
            </a:r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” </a:t>
            </a:r>
            <a:r>
              <a:rPr lang="en-US" sz="1600">
                <a:latin typeface="Arial Unicode MS" charset="0"/>
                <a:ea typeface="Arial Unicode MS" charset="0"/>
                <a:cs typeface="Arial Unicode MS" charset="0"/>
              </a:rPr>
              <a:t>to exit a loop.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5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31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6562</TotalTime>
  <Words>1070</Words>
  <Application>Microsoft Office PowerPoint</Application>
  <PresentationFormat>Widescreen</PresentationFormat>
  <Paragraphs>191</Paragraphs>
  <Slides>31</Slides>
  <Notes>7</Notes>
  <HiddenSlides>5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Unicode MS</vt:lpstr>
      <vt:lpstr>Calibri</vt:lpstr>
      <vt:lpstr>Cambria Math</vt:lpstr>
      <vt:lpstr>Courier</vt:lpstr>
      <vt:lpstr>Roboto</vt:lpstr>
      <vt:lpstr>Roboto light</vt:lpstr>
      <vt:lpstr>Verdana</vt:lpstr>
      <vt:lpstr>Office Theme</vt:lpstr>
      <vt:lpstr>Introduction to JavaScript I</vt:lpstr>
      <vt:lpstr>Objectives</vt:lpstr>
      <vt:lpstr>Tools Required</vt:lpstr>
      <vt:lpstr>Javascript (JS)</vt:lpstr>
      <vt:lpstr>A Brief History of JavaScript</vt:lpstr>
      <vt:lpstr>What can JavaScript do?</vt:lpstr>
      <vt:lpstr>Browsers + JavaScript Consoles</vt:lpstr>
      <vt:lpstr>JavaScript Console (Chrome)</vt:lpstr>
      <vt:lpstr>JavaScript Console (Chrome)</vt:lpstr>
      <vt:lpstr>JavaScript Console (Chrome)</vt:lpstr>
      <vt:lpstr>How to Use JavaScript?</vt:lpstr>
      <vt:lpstr>JavaScript References</vt:lpstr>
      <vt:lpstr>Variables and funcTions</vt:lpstr>
      <vt:lpstr>Variables</vt:lpstr>
      <vt:lpstr>Primitive Data Types</vt:lpstr>
      <vt:lpstr>Other Data Types</vt:lpstr>
      <vt:lpstr>Try It Out! (Part 1)</vt:lpstr>
      <vt:lpstr>Try It Out! (Part 2)</vt:lpstr>
      <vt:lpstr>Comments</vt:lpstr>
      <vt:lpstr>Functions</vt:lpstr>
      <vt:lpstr>Functions: Arguments</vt:lpstr>
      <vt:lpstr>Functions: Variable Passing</vt:lpstr>
      <vt:lpstr>Functions: Return Values</vt:lpstr>
      <vt:lpstr>Variable Scope</vt:lpstr>
      <vt:lpstr>Try It Out!</vt:lpstr>
      <vt:lpstr>Control Statements</vt:lpstr>
      <vt:lpstr>Conditions: if Statement</vt:lpstr>
      <vt:lpstr>Conditions: switch Block</vt:lpstr>
      <vt:lpstr>Loops: while</vt:lpstr>
      <vt:lpstr>Loops: for 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 I</dc:title>
  <dc:subject>Web UI/UX</dc:subject>
  <dc:creator>Tan Sio Poh</dc:creator>
  <cp:keywords>CODT, CIT1C16, ADEV, CIT1C17, Introduction to JavaScript I</cp:keywords>
  <dc:description/>
  <cp:lastModifiedBy>temasek poly</cp:lastModifiedBy>
  <cp:revision>223</cp:revision>
  <dcterms:created xsi:type="dcterms:W3CDTF">2016-03-04T00:57:19Z</dcterms:created>
  <dcterms:modified xsi:type="dcterms:W3CDTF">2021-09-21T09:43:51Z</dcterms:modified>
  <cp:category>Software Cluster</cp:category>
</cp:coreProperties>
</file>