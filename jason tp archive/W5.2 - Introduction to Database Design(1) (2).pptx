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 r:id="rId2"/>
    <p:sldId id="289" r:id="rId3"/>
    <p:sldId id="373" r:id="rId4"/>
    <p:sldId id="402" r:id="rId5"/>
    <p:sldId id="426" r:id="rId6"/>
    <p:sldId id="377" r:id="rId7"/>
    <p:sldId id="445" r:id="rId8"/>
    <p:sldId id="477" r:id="rId9"/>
    <p:sldId id="478" r:id="rId10"/>
    <p:sldId id="479" r:id="rId11"/>
    <p:sldId id="458" r:id="rId12"/>
    <p:sldId id="447" r:id="rId13"/>
    <p:sldId id="442" r:id="rId14"/>
    <p:sldId id="440" r:id="rId15"/>
    <p:sldId id="441" r:id="rId16"/>
    <p:sldId id="459" r:id="rId17"/>
    <p:sldId id="446" r:id="rId18"/>
    <p:sldId id="448" r:id="rId19"/>
    <p:sldId id="406" r:id="rId20"/>
    <p:sldId id="452" r:id="rId21"/>
    <p:sldId id="453" r:id="rId22"/>
    <p:sldId id="480" r:id="rId23"/>
    <p:sldId id="460" r:id="rId24"/>
    <p:sldId id="454" r:id="rId25"/>
    <p:sldId id="455" r:id="rId26"/>
    <p:sldId id="431" r:id="rId27"/>
    <p:sldId id="449" r:id="rId28"/>
    <p:sldId id="433" r:id="rId29"/>
    <p:sldId id="434" r:id="rId30"/>
    <p:sldId id="451" r:id="rId31"/>
    <p:sldId id="456" r:id="rId32"/>
    <p:sldId id="481" r:id="rId33"/>
    <p:sldId id="423" r:id="rId34"/>
    <p:sldId id="288" r:id="rId35"/>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1CADE4"/>
    <a:srgbClr val="007DDA"/>
    <a:srgbClr val="FAD22C"/>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F6EB7C-AB4B-4311-9367-22CD89F113D4}" v="15" dt="2018-09-28T07:06:14.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86" autoAdjust="0"/>
    <p:restoredTop sz="93927" autoAdjust="0"/>
  </p:normalViewPr>
  <p:slideViewPr>
    <p:cSldViewPr snapToGrid="0">
      <p:cViewPr>
        <p:scale>
          <a:sx n="125" d="100"/>
          <a:sy n="125" d="100"/>
        </p:scale>
        <p:origin x="222" y="-3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m Su Yi" userId="43bb02ba-2a64-4c57-886a-7f9577835f3c" providerId="ADAL" clId="{C4F6EB7C-AB4B-4311-9367-22CD89F113D4}"/>
    <pc:docChg chg="modMainMaster">
      <pc:chgData name="Lam Su Yi" userId="43bb02ba-2a64-4c57-886a-7f9577835f3c" providerId="ADAL" clId="{C4F6EB7C-AB4B-4311-9367-22CD89F113D4}" dt="2018-09-28T07:06:14.962" v="14" actId="20577"/>
      <pc:docMkLst>
        <pc:docMk/>
      </pc:docMkLst>
      <pc:sldMasterChg chg="modSldLayout">
        <pc:chgData name="Lam Su Yi" userId="43bb02ba-2a64-4c57-886a-7f9577835f3c" providerId="ADAL" clId="{C4F6EB7C-AB4B-4311-9367-22CD89F113D4}" dt="2018-09-28T07:06:14.962" v="14" actId="20577"/>
        <pc:sldMasterMkLst>
          <pc:docMk/>
          <pc:sldMasterMk cId="758345117" sldId="2147483672"/>
        </pc:sldMasterMkLst>
        <pc:sldLayoutChg chg="modSp">
          <pc:chgData name="Lam Su Yi" userId="43bb02ba-2a64-4c57-886a-7f9577835f3c" providerId="ADAL" clId="{C4F6EB7C-AB4B-4311-9367-22CD89F113D4}" dt="2018-09-28T07:06:14.962" v="14" actId="20577"/>
          <pc:sldLayoutMkLst>
            <pc:docMk/>
            <pc:sldMasterMk cId="758345117" sldId="2147483672"/>
            <pc:sldLayoutMk cId="1526603819" sldId="2147483673"/>
          </pc:sldLayoutMkLst>
          <pc:spChg chg="mod">
            <ac:chgData name="Lam Su Yi" userId="43bb02ba-2a64-4c57-886a-7f9577835f3c" providerId="ADAL" clId="{C4F6EB7C-AB4B-4311-9367-22CD89F113D4}" dt="2018-09-27T08:27:33.721" v="9" actId="20577"/>
            <ac:spMkLst>
              <pc:docMk/>
              <pc:sldMasterMk cId="758345117" sldId="2147483672"/>
              <pc:sldLayoutMk cId="1526603819" sldId="2147483673"/>
              <ac:spMk id="12" creationId="{00000000-0000-0000-0000-000000000000}"/>
            </ac:spMkLst>
          </pc:spChg>
          <pc:spChg chg="mod">
            <ac:chgData name="Lam Su Yi" userId="43bb02ba-2a64-4c57-886a-7f9577835f3c" providerId="ADAL" clId="{C4F6EB7C-AB4B-4311-9367-22CD89F113D4}" dt="2018-09-28T07:06:14.962" v="14" actId="20577"/>
            <ac:spMkLst>
              <pc:docMk/>
              <pc:sldMasterMk cId="758345117" sldId="2147483672"/>
              <pc:sldLayoutMk cId="1526603819" sldId="2147483673"/>
              <ac:spMk id="1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22/9/2021</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1"/>
            <a:ext cx="9269729" cy="6096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userDrawn="1"/>
        </p:nvSpPr>
        <p:spPr>
          <a:xfrm>
            <a:off x="9349740" y="2"/>
            <a:ext cx="2845841" cy="6096000"/>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79119" y="1445341"/>
            <a:ext cx="6770539" cy="2195327"/>
          </a:xfrm>
        </p:spPr>
        <p:txBody>
          <a:bodyPr anchor="b">
            <a:normAutofit/>
          </a:bodyPr>
          <a:lstStyle>
            <a:lvl1pPr algn="l">
              <a:defRPr sz="4000" b="0">
                <a:solidFill>
                  <a:schemeClr val="bg1"/>
                </a:solidFill>
                <a:latin typeface="+mn-lt"/>
              </a:defRPr>
            </a:lvl1pPr>
          </a:lstStyle>
          <a:p>
            <a:r>
              <a:rPr lang="en-US" dirty="0"/>
              <a:t>Click to edit Master title style</a:t>
            </a:r>
            <a:endParaRPr lang="en-SG" dirty="0"/>
          </a:p>
        </p:txBody>
      </p:sp>
      <p:sp>
        <p:nvSpPr>
          <p:cNvPr id="3" name="Subtitle 2"/>
          <p:cNvSpPr>
            <a:spLocks noGrp="1"/>
          </p:cNvSpPr>
          <p:nvPr>
            <p:ph type="subTitle" idx="1"/>
          </p:nvPr>
        </p:nvSpPr>
        <p:spPr>
          <a:xfrm>
            <a:off x="579119" y="3732744"/>
            <a:ext cx="6735463" cy="1655762"/>
          </a:xfrm>
        </p:spPr>
        <p:txBody>
          <a:bodyPr>
            <a:normAutofit/>
          </a:bodyPr>
          <a:lstStyle>
            <a:lvl1pPr marL="0" indent="0" algn="l">
              <a:buNone/>
              <a:defRPr sz="22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SG" dirty="0"/>
          </a:p>
        </p:txBody>
      </p:sp>
      <p:sp>
        <p:nvSpPr>
          <p:cNvPr id="6" name="Slide Number Placeholder 5"/>
          <p:cNvSpPr>
            <a:spLocks noGrp="1"/>
          </p:cNvSpPr>
          <p:nvPr>
            <p:ph type="sldNum" sz="quarter" idx="12"/>
          </p:nvPr>
        </p:nvSpPr>
        <p:spPr>
          <a:xfrm>
            <a:off x="10441857" y="6356350"/>
            <a:ext cx="1692869" cy="365125"/>
          </a:xfrm>
        </p:spPr>
        <p:txBody>
          <a:bodyPr/>
          <a:lstStyle>
            <a:lvl1pPr algn="ctr">
              <a:defRPr/>
            </a:lvl1pPr>
          </a:lstStyle>
          <a:p>
            <a:fld id="{8E9E4023-6F3A-457B-B0BB-8C1F114B424F}" type="slidenum">
              <a:rPr lang="en-SG" smtClean="0"/>
              <a:pPr/>
              <a:t>‹#›</a:t>
            </a:fld>
            <a:endParaRPr lang="en-SG"/>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3912" y="593958"/>
            <a:ext cx="4324551" cy="533504"/>
          </a:xfrm>
          <a:prstGeom prst="rect">
            <a:avLst/>
          </a:prstGeom>
          <a:effectLst>
            <a:outerShdw blurRad="50800" dist="25400" dir="2700000" algn="tl" rotWithShape="0">
              <a:prstClr val="black">
                <a:alpha val="33000"/>
              </a:prstClr>
            </a:outerShdw>
          </a:effectLst>
        </p:spPr>
      </p:pic>
      <p:sp>
        <p:nvSpPr>
          <p:cNvPr id="16" name="Rectangle 15"/>
          <p:cNvSpPr/>
          <p:nvPr userDrawn="1"/>
        </p:nvSpPr>
        <p:spPr>
          <a:xfrm>
            <a:off x="9352667" y="291179"/>
            <a:ext cx="2782059" cy="1569660"/>
          </a:xfrm>
          <a:prstGeom prst="rect">
            <a:avLst/>
          </a:prstGeom>
          <a:effectLst>
            <a:reflection blurRad="6350" stA="50000" endA="300" endPos="55500" dist="50800" dir="5400000" sy="-100000" algn="bl" rotWithShape="0"/>
          </a:effectLst>
        </p:spPr>
        <p:txBody>
          <a:bodyPr wrap="square">
            <a:spAutoFit/>
          </a:bodyPr>
          <a:lstStyle/>
          <a:p>
            <a:pPr algn="ctr"/>
            <a:r>
              <a:rPr lang="en-SG" sz="4800" b="1" spc="80" dirty="0">
                <a:solidFill>
                  <a:schemeClr val="bg1"/>
                </a:solidFill>
                <a:effectLst>
                  <a:reflection blurRad="6350" stA="60000" endA="900" endPos="60000" dist="25400" dir="5400000" sy="-100000" algn="bl" rotWithShape="0"/>
                </a:effectLst>
                <a:latin typeface="Roboto" pitchFamily="2" charset="0"/>
                <a:ea typeface="Roboto" pitchFamily="2" charset="0"/>
                <a:cs typeface="Calibri" panose="020F0502020204030204" pitchFamily="34" charset="0"/>
              </a:rPr>
              <a:t>CDEV</a:t>
            </a:r>
          </a:p>
          <a:p>
            <a:pPr algn="ctr"/>
            <a:r>
              <a:rPr lang="en-SG" sz="4800" b="1" spc="80" dirty="0">
                <a:solidFill>
                  <a:schemeClr val="bg1"/>
                </a:solidFill>
                <a:effectLst>
                  <a:reflection blurRad="6350" stA="60000" endA="900" endPos="60000" dist="25400" dir="5400000" sy="-100000" algn="bl" rotWithShape="0"/>
                </a:effectLst>
                <a:latin typeface="Roboto" pitchFamily="2" charset="0"/>
                <a:ea typeface="Roboto" pitchFamily="2" charset="0"/>
                <a:cs typeface="Calibri" panose="020F0502020204030204" pitchFamily="34" charset="0"/>
              </a:rPr>
              <a:t>DBAV</a:t>
            </a:r>
            <a:endParaRPr lang="en-SG" sz="4800" spc="80" dirty="0">
              <a:solidFill>
                <a:schemeClr val="bg1"/>
              </a:solidFill>
              <a:effectLst>
                <a:reflection blurRad="6350" stA="60000" endA="900" endPos="60000" dist="25400" dir="5400000" sy="-100000" algn="bl" rotWithShape="0"/>
              </a:effectLst>
              <a:latin typeface="Roboto light" pitchFamily="2" charset="0"/>
              <a:ea typeface="Roboto light" pitchFamily="2" charset="0"/>
              <a:cs typeface="Calibri" panose="020F0502020204030204" pitchFamily="34" charset="0"/>
            </a:endParaRPr>
          </a:p>
        </p:txBody>
      </p:sp>
      <p:sp>
        <p:nvSpPr>
          <p:cNvPr id="12" name="Rectangle 11"/>
          <p:cNvSpPr/>
          <p:nvPr userDrawn="1"/>
        </p:nvSpPr>
        <p:spPr>
          <a:xfrm>
            <a:off x="483724" y="6166170"/>
            <a:ext cx="8866016" cy="507831"/>
          </a:xfrm>
          <a:prstGeom prst="rect">
            <a:avLst/>
          </a:prstGeom>
        </p:spPr>
        <p:txBody>
          <a:bodyPr wrap="square">
            <a:spAutoFit/>
          </a:bodyPr>
          <a:lstStyle/>
          <a:p>
            <a:pPr algn="r"/>
            <a:r>
              <a:rPr lang="en-SG" sz="1400" b="1" spc="80" dirty="0">
                <a:solidFill>
                  <a:schemeClr val="bg2">
                    <a:lumMod val="50000"/>
                  </a:schemeClr>
                </a:solidFill>
                <a:latin typeface="Calibri" panose="020F0502020204030204" pitchFamily="34" charset="0"/>
                <a:cs typeface="Calibri" panose="020F0502020204030204" pitchFamily="34" charset="0"/>
              </a:rPr>
              <a:t>SOFTWARE</a:t>
            </a:r>
            <a:r>
              <a:rPr lang="en-SG" sz="1400" spc="80" dirty="0">
                <a:solidFill>
                  <a:schemeClr val="bg2">
                    <a:lumMod val="50000"/>
                  </a:schemeClr>
                </a:solidFill>
                <a:latin typeface="Calibri" panose="020F0502020204030204" pitchFamily="34" charset="0"/>
                <a:cs typeface="Calibri" panose="020F0502020204030204" pitchFamily="34" charset="0"/>
              </a:rPr>
              <a:t> CLUSTER</a:t>
            </a:r>
            <a:r>
              <a:rPr lang="en-SG" sz="1200" spc="80" dirty="0">
                <a:solidFill>
                  <a:srgbClr val="0070C0"/>
                </a:solidFill>
                <a:latin typeface="Calibri" panose="020F0502020204030204" pitchFamily="34" charset="0"/>
                <a:cs typeface="Calibri" panose="020F0502020204030204" pitchFamily="34" charset="0"/>
              </a:rPr>
              <a:t> </a:t>
            </a:r>
            <a:br>
              <a:rPr lang="en-SG" sz="1200" spc="80" dirty="0">
                <a:solidFill>
                  <a:srgbClr val="0070C0"/>
                </a:solidFill>
                <a:latin typeface="Calibri" panose="020F0502020204030204" pitchFamily="34" charset="0"/>
                <a:cs typeface="Calibri" panose="020F0502020204030204" pitchFamily="34" charset="0"/>
              </a:rPr>
            </a:br>
            <a:r>
              <a:rPr lang="en-SG" sz="1200" spc="80" dirty="0">
                <a:solidFill>
                  <a:srgbClr val="0070C0"/>
                </a:solidFill>
                <a:latin typeface="Calibri" panose="020F0502020204030204" pitchFamily="34" charset="0"/>
                <a:cs typeface="Calibri" panose="020F0502020204030204" pitchFamily="34" charset="0"/>
              </a:rPr>
              <a:t>[ CDEV • Coding and Development Project ] [ DBAV • Database Application Development ]</a:t>
            </a:r>
            <a:endParaRPr lang="en-US" sz="1200" spc="80" dirty="0">
              <a:solidFill>
                <a:srgbClr val="0070C0"/>
              </a:solidFill>
              <a:latin typeface="Calibri" panose="020F0502020204030204" pitchFamily="34" charset="0"/>
              <a:cs typeface="Calibri" panose="020F0502020204030204" pitchFamily="34" charset="0"/>
            </a:endParaRPr>
          </a:p>
        </p:txBody>
      </p:sp>
      <p:grpSp>
        <p:nvGrpSpPr>
          <p:cNvPr id="13" name="Group 12"/>
          <p:cNvGrpSpPr/>
          <p:nvPr userDrawn="1"/>
        </p:nvGrpSpPr>
        <p:grpSpPr>
          <a:xfrm>
            <a:off x="7464598" y="2544224"/>
            <a:ext cx="4648963" cy="3765492"/>
            <a:chOff x="7464598" y="2544224"/>
            <a:chExt cx="4648963" cy="3765492"/>
          </a:xfrm>
          <a:effectLst>
            <a:outerShdw blurRad="38100" dist="25400" dir="2700000" algn="tl" rotWithShape="0">
              <a:prstClr val="black">
                <a:alpha val="28000"/>
              </a:prstClr>
            </a:outerShdw>
          </a:effectLst>
        </p:grpSpPr>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81551" y="4482380"/>
              <a:ext cx="1032010" cy="850475"/>
            </a:xfrm>
            <a:prstGeom prst="rect">
              <a:avLst/>
            </a:prstGeom>
          </p:spPr>
        </p:pic>
        <p:pic>
          <p:nvPicPr>
            <p:cNvPr id="17" name="Picture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464598" y="2544224"/>
              <a:ext cx="3896323" cy="3765492"/>
            </a:xfrm>
            <a:prstGeom prst="rect">
              <a:avLst/>
            </a:prstGeom>
          </p:spPr>
        </p:pic>
      </p:grpSp>
    </p:spTree>
    <p:extLst>
      <p:ext uri="{BB962C8B-B14F-4D97-AF65-F5344CB8AC3E}">
        <p14:creationId xmlns:p14="http://schemas.microsoft.com/office/powerpoint/2010/main" val="152660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defRPr>
            </a:lvl1pPr>
          </a:lstStyle>
          <a:p>
            <a:r>
              <a:rPr lang="en-US" dirty="0"/>
              <a:t>Click to edit Master title style</a:t>
            </a:r>
            <a:endParaRPr lang="en-SG"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6" name="Slide Number Placeholder 5"/>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48543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2774" y="3917739"/>
            <a:ext cx="10336161" cy="819784"/>
          </a:xfrm>
        </p:spPr>
        <p:txBody>
          <a:bodyPr>
            <a:normAutofit/>
          </a:bodyPr>
          <a:lstStyle>
            <a:lvl1pPr algn="ctr">
              <a:defRPr sz="4800" b="1">
                <a:solidFill>
                  <a:schemeClr val="bg1"/>
                </a:solidFill>
              </a:defRPr>
            </a:lvl1pPr>
          </a:lstStyle>
          <a:p>
            <a:r>
              <a:rPr lang="en-US" dirty="0"/>
              <a:t>Click to edit Master title style</a:t>
            </a:r>
            <a:endParaRPr lang="en-SG"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8E9E4023-6F3A-457B-B0BB-8C1F114B424F}" type="slidenum">
              <a:rPr lang="en-SG" smtClean="0"/>
              <a:pPr/>
              <a:t>‹#›</a:t>
            </a:fld>
            <a:endParaRPr lang="en-SG"/>
          </a:p>
        </p:txBody>
      </p:sp>
      <p:sp>
        <p:nvSpPr>
          <p:cNvPr id="5" name="Rectangle 4"/>
          <p:cNvSpPr/>
          <p:nvPr userDrawn="1"/>
        </p:nvSpPr>
        <p:spPr>
          <a:xfrm>
            <a:off x="0" y="5011843"/>
            <a:ext cx="9141619" cy="14973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7347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1pPr>
              <a:defRPr>
                <a:latin typeface="Arial Unicode MS" charset="0"/>
                <a:ea typeface="Arial Unicode MS" charset="0"/>
                <a:cs typeface="Arial Unicode MS" charset="0"/>
              </a:defRPr>
            </a:lvl1pPr>
            <a:lvl2pPr>
              <a:defRPr>
                <a:latin typeface="Arial Unicode MS" charset="0"/>
                <a:ea typeface="Arial Unicode MS" charset="0"/>
                <a:cs typeface="Arial Unicode MS" charset="0"/>
              </a:defRPr>
            </a:lvl2pPr>
            <a:lvl3pPr>
              <a:defRPr>
                <a:latin typeface="Arial Unicode MS" charset="0"/>
                <a:ea typeface="Arial Unicode MS" charset="0"/>
                <a:cs typeface="Arial Unicode MS" charset="0"/>
              </a:defRPr>
            </a:lvl3pPr>
            <a:lvl4pPr>
              <a:defRPr>
                <a:latin typeface="Arial Unicode MS" charset="0"/>
                <a:ea typeface="Arial Unicode MS" charset="0"/>
                <a:cs typeface="Arial Unicode MS" charset="0"/>
              </a:defRPr>
            </a:lvl4pPr>
            <a:lvl5pPr>
              <a:defRPr>
                <a:latin typeface="Arial Unicode MS" charset="0"/>
                <a:ea typeface="Arial Unicode MS" charset="0"/>
                <a:cs typeface="Arial Unicode MS" charset="0"/>
              </a:defRPr>
            </a:lvl5pPr>
            <a:lvl6pPr>
              <a:defRPr/>
            </a:lvl6pPr>
            <a:lvl7pPr>
              <a:defRPr/>
            </a:lvl7pPr>
            <a:lvl8pPr>
              <a:defRPr/>
            </a:lvl8pPr>
            <a:lvl9pPr>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172200" y="1600200"/>
            <a:ext cx="4914900" cy="4571999"/>
          </a:xfrm>
        </p:spPr>
        <p:txBody>
          <a:bodyPr/>
          <a:lstStyle>
            <a:lvl1pPr>
              <a:defRPr>
                <a:latin typeface="Arial Unicode MS" charset="0"/>
                <a:ea typeface="Arial Unicode MS" charset="0"/>
                <a:cs typeface="Arial Unicode MS" charset="0"/>
              </a:defRPr>
            </a:lvl1pPr>
            <a:lvl2pPr>
              <a:defRPr>
                <a:latin typeface="Arial Unicode MS" charset="0"/>
                <a:ea typeface="Arial Unicode MS" charset="0"/>
                <a:cs typeface="Arial Unicode MS" charset="0"/>
              </a:defRPr>
            </a:lvl2pPr>
            <a:lvl3pPr>
              <a:defRPr>
                <a:latin typeface="Arial Unicode MS" charset="0"/>
                <a:ea typeface="Arial Unicode MS" charset="0"/>
                <a:cs typeface="Arial Unicode MS" charset="0"/>
              </a:defRPr>
            </a:lvl3pPr>
            <a:lvl4pPr>
              <a:defRPr>
                <a:latin typeface="Arial Unicode MS" charset="0"/>
                <a:ea typeface="Arial Unicode MS" charset="0"/>
                <a:cs typeface="Arial Unicode MS" charset="0"/>
              </a:defRPr>
            </a:lvl4pPr>
            <a:lvl5pPr>
              <a:defRPr>
                <a:latin typeface="Arial Unicode MS" charset="0"/>
                <a:ea typeface="Arial Unicode MS" charset="0"/>
                <a:cs typeface="Arial Unicode MS" charset="0"/>
              </a:defRPr>
            </a:lvl5pPr>
            <a:lvl6pPr>
              <a:defRPr/>
            </a:lvl6pPr>
            <a:lvl7pPr>
              <a:defRPr/>
            </a:lvl7pPr>
            <a:lvl8pPr>
              <a:defRPr/>
            </a:lvl8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a:xfrm>
            <a:off x="1104899" y="6356351"/>
            <a:ext cx="1829559" cy="365125"/>
          </a:xfrm>
          <a:prstGeom prst="rect">
            <a:avLst/>
          </a:prstGeom>
        </p:spPr>
        <p:txBody>
          <a:bodyPr/>
          <a:lstStyle/>
          <a:p>
            <a:fld id="{B1F42F74-75E5-42CB-8590-502DC3F95CF0}" type="datetime1">
              <a:rPr lang="en-US" smtClean="0"/>
              <a:t>9/22/2021</a:t>
            </a:fld>
            <a:endParaRPr/>
          </a:p>
        </p:txBody>
      </p:sp>
      <p:sp>
        <p:nvSpPr>
          <p:cNvPr id="6" name="Footer Placeholder 5"/>
          <p:cNvSpPr>
            <a:spLocks noGrp="1"/>
          </p:cNvSpPr>
          <p:nvPr>
            <p:ph type="ftr" sz="quarter" idx="11"/>
          </p:nvPr>
        </p:nvSpPr>
        <p:spPr>
          <a:xfrm>
            <a:off x="2934459" y="6356350"/>
            <a:ext cx="6323082" cy="365126"/>
          </a:xfrm>
          <a:prstGeom prst="rect">
            <a:avLst/>
          </a:prstGeom>
        </p:spPr>
        <p:txBody>
          <a:bodyPr/>
          <a:lstStyle>
            <a:lvl1pPr>
              <a:defRPr>
                <a:latin typeface="Verdana" charset="0"/>
                <a:ea typeface="Verdana" charset="0"/>
                <a:cs typeface="Verdana" charset="0"/>
              </a:defRPr>
            </a:lvl1pPr>
          </a:lstStyle>
          <a:p>
            <a:r>
              <a:rPr lang="en-US" dirty="0" err="1"/>
              <a:t>Temasek</a:t>
            </a:r>
            <a:r>
              <a:rPr lang="en-US" dirty="0"/>
              <a:t> Polytechnic  •  School of Informatics &amp; IT</a:t>
            </a: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83323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cSld name="1_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dirty="0"/>
              <a:t>Click to edit Master title style</a:t>
            </a:r>
            <a:endParaRPr dirty="0"/>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latin typeface="Arial Unicode MS" charset="0"/>
                <a:ea typeface="Arial Unicode MS" charset="0"/>
                <a:cs typeface="Arial Unicode MS"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72D5DC50-FC28-472D-98A7-6638A1527CA2}" type="datetime1">
              <a:rPr lang="en-US" smtClean="0"/>
              <a:t>9/22/2021</a:t>
            </a:fld>
            <a:endParaRPr/>
          </a:p>
        </p:txBody>
      </p:sp>
      <p:sp>
        <p:nvSpPr>
          <p:cNvPr id="5" name="Footer Placeholder 4"/>
          <p:cNvSpPr>
            <a:spLocks noGrp="1"/>
          </p:cNvSpPr>
          <p:nvPr>
            <p:ph type="ftr" sz="quarter" idx="11"/>
          </p:nvPr>
        </p:nvSpPr>
        <p:spPr/>
        <p:txBody>
          <a:bodyPr/>
          <a:lstStyle>
            <a:lvl1pPr>
              <a:defRPr>
                <a:latin typeface="Verdana" charset="0"/>
                <a:ea typeface="Verdana" charset="0"/>
                <a:cs typeface="Verdana" charset="0"/>
              </a:defRPr>
            </a:lvl1pPr>
          </a:lstStyle>
          <a:p>
            <a:r>
              <a:rPr lang="en-US" dirty="0" err="1"/>
              <a:t>Temasek</a:t>
            </a:r>
            <a:r>
              <a:rPr lang="en-US" dirty="0"/>
              <a:t> Polytechnic  •  School of Informatics &amp; IT</a:t>
            </a: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81367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1184910"/>
            <a:ext cx="9141619" cy="14973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userDrawn="1"/>
        </p:nvSpPr>
        <p:spPr>
          <a:xfrm>
            <a:off x="9270263" y="1184910"/>
            <a:ext cx="2921737" cy="13843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b="0" i="0" u="none"/>
          </a:p>
        </p:txBody>
      </p:sp>
      <p:sp>
        <p:nvSpPr>
          <p:cNvPr id="3" name="Text Placeholder 2"/>
          <p:cNvSpPr>
            <a:spLocks noGrp="1"/>
          </p:cNvSpPr>
          <p:nvPr>
            <p:ph type="body" idx="1"/>
          </p:nvPr>
        </p:nvSpPr>
        <p:spPr>
          <a:xfrm>
            <a:off x="1017638" y="1631314"/>
            <a:ext cx="10336162" cy="458660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6" name="Slide Number Placeholder 5"/>
          <p:cNvSpPr>
            <a:spLocks noGrp="1"/>
          </p:cNvSpPr>
          <p:nvPr>
            <p:ph type="sldNum" sz="quarter" idx="4"/>
          </p:nvPr>
        </p:nvSpPr>
        <p:spPr>
          <a:xfrm>
            <a:off x="11566358" y="6357456"/>
            <a:ext cx="465217" cy="307975"/>
          </a:xfrm>
          <a:prstGeom prst="rect">
            <a:avLst/>
          </a:prstGeom>
        </p:spPr>
        <p:txBody>
          <a:bodyPr vert="horz" lIns="91440" tIns="45720" rIns="91440" bIns="45720" rtlCol="0" anchor="ctr"/>
          <a:lstStyle>
            <a:lvl1pPr algn="r">
              <a:defRPr sz="1100">
                <a:solidFill>
                  <a:schemeClr val="tx1">
                    <a:tint val="75000"/>
                  </a:schemeClr>
                </a:solidFill>
              </a:defRPr>
            </a:lvl1pPr>
          </a:lstStyle>
          <a:p>
            <a:fld id="{8E9E4023-6F3A-457B-B0BB-8C1F114B424F}" type="slidenum">
              <a:rPr lang="en-SG" smtClean="0"/>
              <a:pPr/>
              <a:t>‹#›</a:t>
            </a:fld>
            <a:endParaRPr lang="en-SG"/>
          </a:p>
        </p:txBody>
      </p:sp>
      <p:pic>
        <p:nvPicPr>
          <p:cNvPr id="10" name="Picture 9"/>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581" y="0"/>
            <a:ext cx="1269849" cy="1046478"/>
          </a:xfrm>
          <a:prstGeom prst="rect">
            <a:avLst/>
          </a:prstGeom>
        </p:spPr>
      </p:pic>
      <p:sp>
        <p:nvSpPr>
          <p:cNvPr id="2" name="Title Placeholder 1"/>
          <p:cNvSpPr>
            <a:spLocks noGrp="1"/>
          </p:cNvSpPr>
          <p:nvPr>
            <p:ph type="title"/>
          </p:nvPr>
        </p:nvSpPr>
        <p:spPr>
          <a:xfrm>
            <a:off x="1017638" y="365126"/>
            <a:ext cx="10336161" cy="819784"/>
          </a:xfrm>
          <a:prstGeom prst="rect">
            <a:avLst/>
          </a:prstGeom>
        </p:spPr>
        <p:txBody>
          <a:bodyPr vert="horz" lIns="91440" tIns="45720" rIns="91440" bIns="45720" rtlCol="0" anchor="ctr">
            <a:normAutofit/>
          </a:bodyPr>
          <a:lstStyle/>
          <a:p>
            <a:r>
              <a:rPr lang="en-US" dirty="0"/>
              <a:t>Click to edit Master title style</a:t>
            </a:r>
            <a:endParaRPr lang="en-SG" dirty="0"/>
          </a:p>
        </p:txBody>
      </p:sp>
      <p:sp>
        <p:nvSpPr>
          <p:cNvPr id="12" name="Rectangle 11"/>
          <p:cNvSpPr/>
          <p:nvPr userDrawn="1"/>
        </p:nvSpPr>
        <p:spPr>
          <a:xfrm>
            <a:off x="978524" y="6388432"/>
            <a:ext cx="1058783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grpSp>
        <p:nvGrpSpPr>
          <p:cNvPr id="5" name="Group 4"/>
          <p:cNvGrpSpPr/>
          <p:nvPr userDrawn="1"/>
        </p:nvGrpSpPr>
        <p:grpSpPr>
          <a:xfrm>
            <a:off x="-3077" y="130629"/>
            <a:ext cx="652384" cy="786947"/>
            <a:chOff x="-3077" y="130629"/>
            <a:chExt cx="652384" cy="786947"/>
          </a:xfrm>
        </p:grpSpPr>
        <p:sp>
          <p:nvSpPr>
            <p:cNvPr id="4" name="Rectangle 3"/>
            <p:cNvSpPr/>
            <p:nvPr userDrawn="1"/>
          </p:nvSpPr>
          <p:spPr>
            <a:xfrm>
              <a:off x="255037" y="130629"/>
              <a:ext cx="130628" cy="130628"/>
            </a:xfrm>
            <a:prstGeom prst="rect">
              <a:avLst/>
            </a:prstGeom>
            <a:solidFill>
              <a:srgbClr val="007DDA">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p:cNvSpPr/>
            <p:nvPr userDrawn="1"/>
          </p:nvSpPr>
          <p:spPr>
            <a:xfrm>
              <a:off x="127551" y="523239"/>
              <a:ext cx="130628" cy="130628"/>
            </a:xfrm>
            <a:prstGeom prst="rect">
              <a:avLst/>
            </a:prstGeom>
            <a:solidFill>
              <a:srgbClr val="007DDA">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p:cNvSpPr/>
            <p:nvPr userDrawn="1"/>
          </p:nvSpPr>
          <p:spPr>
            <a:xfrm>
              <a:off x="-3077" y="261257"/>
              <a:ext cx="130628" cy="130628"/>
            </a:xfrm>
            <a:prstGeom prst="rect">
              <a:avLst/>
            </a:prstGeom>
            <a:solidFill>
              <a:srgbClr val="007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p:cNvSpPr/>
            <p:nvPr userDrawn="1"/>
          </p:nvSpPr>
          <p:spPr>
            <a:xfrm>
              <a:off x="518679" y="261257"/>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p:cNvSpPr/>
            <p:nvPr userDrawn="1"/>
          </p:nvSpPr>
          <p:spPr>
            <a:xfrm>
              <a:off x="388195" y="393884"/>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p:cNvSpPr/>
            <p:nvPr userDrawn="1"/>
          </p:nvSpPr>
          <p:spPr>
            <a:xfrm>
              <a:off x="387783" y="786948"/>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7583451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85" r:id="rId5"/>
    <p:sldLayoutId id="2147483686" r:id="rId6"/>
  </p:sldLayoutIdLst>
  <p:hf hdr="0" ftr="0" dt="0"/>
  <p:txStyles>
    <p:title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pDfxv6X_tNQ"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w3schools.com/sql/sql_foreignkey.asp" TargetMode="External"/><Relationship Id="rId2" Type="http://schemas.openxmlformats.org/officeDocument/2006/relationships/hyperlink" Target="https://www.tutorialspoint.com/mysql/index.ht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863672" y="3954162"/>
            <a:ext cx="649965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ctrTitle"/>
          </p:nvPr>
        </p:nvSpPr>
        <p:spPr>
          <a:xfrm>
            <a:off x="783462" y="1410689"/>
            <a:ext cx="7928404" cy="2387600"/>
          </a:xfrm>
        </p:spPr>
        <p:txBody>
          <a:bodyPr/>
          <a:lstStyle/>
          <a:p>
            <a:r>
              <a:rPr lang="en-US" dirty="0">
                <a:ea typeface="Calisto MT" charset="0"/>
                <a:cs typeface="Calisto MT" charset="0"/>
              </a:rPr>
              <a:t>Introduction to Database Design</a:t>
            </a:r>
            <a:endParaRPr lang="en-SG" dirty="0"/>
          </a:p>
        </p:txBody>
      </p:sp>
      <p:sp>
        <p:nvSpPr>
          <p:cNvPr id="9" name="Subtitle 8"/>
          <p:cNvSpPr>
            <a:spLocks noGrp="1"/>
          </p:cNvSpPr>
          <p:nvPr>
            <p:ph type="subTitle" idx="1"/>
          </p:nvPr>
        </p:nvSpPr>
        <p:spPr>
          <a:xfrm>
            <a:off x="815546" y="4106778"/>
            <a:ext cx="7928404" cy="1151021"/>
          </a:xfrm>
        </p:spPr>
        <p:txBody>
          <a:bodyPr/>
          <a:lstStyle/>
          <a:p>
            <a:r>
              <a:rPr lang="en-SG" dirty="0"/>
              <a:t>Week 05.</a:t>
            </a:r>
          </a:p>
        </p:txBody>
      </p:sp>
      <p:sp>
        <p:nvSpPr>
          <p:cNvPr id="2" name="Slide Number Placeholder 1">
            <a:extLst>
              <a:ext uri="{FF2B5EF4-FFF2-40B4-BE49-F238E27FC236}">
                <a16:creationId xmlns:a16="http://schemas.microsoft.com/office/drawing/2014/main" id="{18F056B3-4CEB-4FFD-BE48-F055B70D029C}"/>
              </a:ext>
            </a:extLst>
          </p:cNvPr>
          <p:cNvSpPr>
            <a:spLocks noGrp="1"/>
          </p:cNvSpPr>
          <p:nvPr>
            <p:ph type="sldNum" sz="quarter" idx="12"/>
          </p:nvPr>
        </p:nvSpPr>
        <p:spPr/>
        <p:txBody>
          <a:bodyPr/>
          <a:lstStyle/>
          <a:p>
            <a:fld id="{8E9E4023-6F3A-457B-B0BB-8C1F114B424F}" type="slidenum">
              <a:rPr lang="en-SG" smtClean="0"/>
              <a:pPr/>
              <a:t>1</a:t>
            </a:fld>
            <a:endParaRPr lang="en-SG"/>
          </a:p>
        </p:txBody>
      </p:sp>
    </p:spTree>
    <p:extLst>
      <p:ext uri="{BB962C8B-B14F-4D97-AF65-F5344CB8AC3E}">
        <p14:creationId xmlns:p14="http://schemas.microsoft.com/office/powerpoint/2010/main" val="520979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Objectives</a:t>
            </a:r>
          </a:p>
        </p:txBody>
      </p:sp>
      <p:sp>
        <p:nvSpPr>
          <p:cNvPr id="14" name="Content Placeholder 13"/>
          <p:cNvSpPr>
            <a:spLocks noGrp="1"/>
          </p:cNvSpPr>
          <p:nvPr>
            <p:ph idx="1"/>
          </p:nvPr>
        </p:nvSpPr>
        <p:spPr/>
        <p:txBody>
          <a:bodyPr/>
          <a:lstStyle/>
          <a:p>
            <a:pPr>
              <a:lnSpc>
                <a:spcPct val="100000"/>
              </a:lnSpc>
              <a:defRPr/>
            </a:pPr>
            <a:r>
              <a:rPr lang="en-US" dirty="0">
                <a:ea typeface="ＭＳ Ｐゴシック" charset="0"/>
              </a:rPr>
              <a:t>Describe the concept of Entity-Relationship model;</a:t>
            </a:r>
          </a:p>
          <a:p>
            <a:pPr>
              <a:lnSpc>
                <a:spcPct val="100000"/>
              </a:lnSpc>
              <a:defRPr/>
            </a:pPr>
            <a:r>
              <a:rPr lang="en-US" dirty="0">
                <a:ea typeface="ＭＳ Ｐゴシック" charset="0"/>
              </a:rPr>
              <a:t>Describe the roles of Primary Key and Foreign Key in Entity Relationship;</a:t>
            </a:r>
          </a:p>
          <a:p>
            <a:pPr>
              <a:lnSpc>
                <a:spcPct val="100000"/>
              </a:lnSpc>
              <a:defRPr/>
            </a:pPr>
            <a:r>
              <a:rPr lang="en-US" dirty="0">
                <a:ea typeface="ＭＳ Ｐゴシック" charset="0"/>
              </a:rPr>
              <a:t>Demonstrate how to create Entity Relationship Diagram.</a:t>
            </a:r>
          </a:p>
          <a:p>
            <a:pPr>
              <a:lnSpc>
                <a:spcPct val="100000"/>
              </a:lnSpc>
            </a:pPr>
            <a:endParaRPr lang="en-US" dirty="0"/>
          </a:p>
        </p:txBody>
      </p:sp>
      <p:sp>
        <p:nvSpPr>
          <p:cNvPr id="3" name="Slide Number Placeholder 2"/>
          <p:cNvSpPr>
            <a:spLocks noGrp="1"/>
          </p:cNvSpPr>
          <p:nvPr>
            <p:ph type="sldNum" sz="quarter" idx="12"/>
          </p:nvPr>
        </p:nvSpPr>
        <p:spPr/>
        <p:txBody>
          <a:bodyPr/>
          <a:lstStyle/>
          <a:p>
            <a:fld id="{0FF54DE5-C571-48E8-A5BC-B369434E2F44}" type="slidenum">
              <a:rPr lang="en-US" smtClean="0"/>
              <a:t>2</a:t>
            </a:fld>
            <a:endParaRPr lang="en-US"/>
          </a:p>
        </p:txBody>
      </p:sp>
    </p:spTree>
    <p:extLst>
      <p:ext uri="{BB962C8B-B14F-4D97-AF65-F5344CB8AC3E}">
        <p14:creationId xmlns:p14="http://schemas.microsoft.com/office/powerpoint/2010/main" val="115652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Tools Required</a:t>
            </a:r>
          </a:p>
        </p:txBody>
      </p:sp>
      <p:sp>
        <p:nvSpPr>
          <p:cNvPr id="3" name="Content Placeholder 2"/>
          <p:cNvSpPr>
            <a:spLocks noGrp="1"/>
          </p:cNvSpPr>
          <p:nvPr>
            <p:ph sz="half" idx="1"/>
          </p:nvPr>
        </p:nvSpPr>
        <p:spPr/>
        <p:txBody>
          <a:bodyPr>
            <a:normAutofit/>
          </a:bodyPr>
          <a:lstStyle/>
          <a:p>
            <a:pPr>
              <a:lnSpc>
                <a:spcPct val="100000"/>
              </a:lnSpc>
            </a:pPr>
            <a:r>
              <a:rPr lang="en-GB" dirty="0"/>
              <a:t>MySQL DB</a:t>
            </a:r>
          </a:p>
          <a:p>
            <a:pPr>
              <a:lnSpc>
                <a:spcPct val="100000"/>
              </a:lnSpc>
            </a:pPr>
            <a:r>
              <a:rPr lang="en-GB" dirty="0"/>
              <a:t>MySQL Workbench</a:t>
            </a:r>
          </a:p>
        </p:txBody>
      </p:sp>
      <p:sp>
        <p:nvSpPr>
          <p:cNvPr id="6" name="Content Placeholder 5"/>
          <p:cNvSpPr>
            <a:spLocks noGrp="1"/>
          </p:cNvSpPr>
          <p:nvPr>
            <p:ph sz="half" idx="2"/>
          </p:nvPr>
        </p:nvSpPr>
        <p:spPr/>
        <p:txBody>
          <a:bodyPr>
            <a:normAutofit/>
          </a:bodyPr>
          <a:lstStyle/>
          <a:p>
            <a:endParaRPr lang="en-GB" dirty="0"/>
          </a:p>
        </p:txBody>
      </p:sp>
      <p:sp>
        <p:nvSpPr>
          <p:cNvPr id="5" name="Slide Number Placeholder 4"/>
          <p:cNvSpPr>
            <a:spLocks noGrp="1"/>
          </p:cNvSpPr>
          <p:nvPr>
            <p:ph type="sldNum" sz="quarter" idx="12"/>
          </p:nvPr>
        </p:nvSpPr>
        <p:spPr/>
        <p:txBody>
          <a:bodyPr/>
          <a:lstStyle/>
          <a:p>
            <a:fld id="{0FF54DE5-C571-48E8-A5BC-B369434E2F44}" type="slidenum">
              <a:rPr lang="uk-UA" smtClean="0"/>
              <a:t>3</a:t>
            </a:fld>
            <a:endParaRPr lang="uk-UA"/>
          </a:p>
        </p:txBody>
      </p:sp>
    </p:spTree>
    <p:extLst>
      <p:ext uri="{BB962C8B-B14F-4D97-AF65-F5344CB8AC3E}">
        <p14:creationId xmlns:p14="http://schemas.microsoft.com/office/powerpoint/2010/main" val="52125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TO Entity-Relationship Model</a:t>
            </a:r>
          </a:p>
        </p:txBody>
      </p:sp>
      <p:sp>
        <p:nvSpPr>
          <p:cNvPr id="3" name="Text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2"/>
          </p:nvPr>
        </p:nvSpPr>
        <p:spPr/>
        <p:txBody>
          <a:bodyPr/>
          <a:lstStyle/>
          <a:p>
            <a:fld id="{0FF54DE5-C571-48E8-A5BC-B369434E2F44}" type="slidenum">
              <a:rPr lang="uk-UA" smtClean="0"/>
              <a:t>4</a:t>
            </a:fld>
            <a:endParaRPr lang="uk-UA"/>
          </a:p>
        </p:txBody>
      </p:sp>
    </p:spTree>
    <p:extLst>
      <p:ext uri="{BB962C8B-B14F-4D97-AF65-F5344CB8AC3E}">
        <p14:creationId xmlns:p14="http://schemas.microsoft.com/office/powerpoint/2010/main" val="78372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B587-5537-4A24-9A2F-86E2E5E64A1A}"/>
              </a:ext>
            </a:extLst>
          </p:cNvPr>
          <p:cNvSpPr>
            <a:spLocks noGrp="1"/>
          </p:cNvSpPr>
          <p:nvPr>
            <p:ph type="title"/>
          </p:nvPr>
        </p:nvSpPr>
        <p:spPr/>
        <p:txBody>
          <a:bodyPr/>
          <a:lstStyle/>
          <a:p>
            <a:r>
              <a:rPr lang="en-GB" dirty="0"/>
              <a:t>Entity-Relationship Model</a:t>
            </a:r>
          </a:p>
        </p:txBody>
      </p:sp>
      <p:sp>
        <p:nvSpPr>
          <p:cNvPr id="3" name="Content Placeholder 2">
            <a:extLst>
              <a:ext uri="{FF2B5EF4-FFF2-40B4-BE49-F238E27FC236}">
                <a16:creationId xmlns:a16="http://schemas.microsoft.com/office/drawing/2014/main" id="{9D946B33-CCED-427A-9E46-ACF8C78BEBE7}"/>
              </a:ext>
            </a:extLst>
          </p:cNvPr>
          <p:cNvSpPr>
            <a:spLocks noGrp="1"/>
          </p:cNvSpPr>
          <p:nvPr>
            <p:ph idx="1"/>
          </p:nvPr>
        </p:nvSpPr>
        <p:spPr/>
        <p:txBody>
          <a:bodyPr/>
          <a:lstStyle/>
          <a:p>
            <a:pPr>
              <a:lnSpc>
                <a:spcPct val="100000"/>
              </a:lnSpc>
            </a:pPr>
            <a:r>
              <a:rPr lang="en-US" dirty="0"/>
              <a:t>Entity-Relationship (ER) Model is based on the notion of real-world entities and relationships among them. </a:t>
            </a:r>
          </a:p>
          <a:p>
            <a:pPr>
              <a:lnSpc>
                <a:spcPct val="100000"/>
              </a:lnSpc>
            </a:pPr>
            <a:r>
              <a:rPr lang="en-US" dirty="0"/>
              <a:t>While formulating real-world scenario into the database model, the ER Model creates entity set, relationship set, general attributes and constraints</a:t>
            </a:r>
            <a:r>
              <a:rPr lang="en-GB" dirty="0"/>
              <a:t>.</a:t>
            </a:r>
          </a:p>
          <a:p>
            <a:pPr>
              <a:lnSpc>
                <a:spcPct val="100000"/>
              </a:lnSpc>
            </a:pPr>
            <a:r>
              <a:rPr lang="en-US" dirty="0"/>
              <a:t>ER Model is best used for the conceptual design of a database.</a:t>
            </a:r>
            <a:endParaRPr lang="en-GB" dirty="0"/>
          </a:p>
        </p:txBody>
      </p:sp>
      <p:sp>
        <p:nvSpPr>
          <p:cNvPr id="4" name="Slide Number Placeholder 3">
            <a:extLst>
              <a:ext uri="{FF2B5EF4-FFF2-40B4-BE49-F238E27FC236}">
                <a16:creationId xmlns:a16="http://schemas.microsoft.com/office/drawing/2014/main" id="{17D314B9-4530-4237-976C-22BFDB172FE0}"/>
              </a:ext>
            </a:extLst>
          </p:cNvPr>
          <p:cNvSpPr>
            <a:spLocks noGrp="1"/>
          </p:cNvSpPr>
          <p:nvPr>
            <p:ph type="sldNum" sz="quarter" idx="12"/>
          </p:nvPr>
        </p:nvSpPr>
        <p:spPr/>
        <p:txBody>
          <a:bodyPr/>
          <a:lstStyle/>
          <a:p>
            <a:fld id="{8E9E4023-6F3A-457B-B0BB-8C1F114B424F}" type="slidenum">
              <a:rPr lang="en-SG" smtClean="0"/>
              <a:t>5</a:t>
            </a:fld>
            <a:endParaRPr lang="en-SG"/>
          </a:p>
        </p:txBody>
      </p:sp>
    </p:spTree>
    <p:extLst>
      <p:ext uri="{BB962C8B-B14F-4D97-AF65-F5344CB8AC3E}">
        <p14:creationId xmlns:p14="http://schemas.microsoft.com/office/powerpoint/2010/main" val="4181905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Entity</a:t>
            </a:r>
          </a:p>
        </p:txBody>
      </p:sp>
      <p:sp>
        <p:nvSpPr>
          <p:cNvPr id="7" name="Content Placeholder 6"/>
          <p:cNvSpPr>
            <a:spLocks noGrp="1"/>
          </p:cNvSpPr>
          <p:nvPr>
            <p:ph idx="1"/>
          </p:nvPr>
        </p:nvSpPr>
        <p:spPr/>
        <p:txBody>
          <a:bodyPr>
            <a:normAutofit/>
          </a:bodyPr>
          <a:lstStyle/>
          <a:p>
            <a:pPr>
              <a:lnSpc>
                <a:spcPct val="100000"/>
              </a:lnSpc>
            </a:pPr>
            <a:r>
              <a:rPr lang="en-GB" dirty="0"/>
              <a:t>An entity </a:t>
            </a:r>
            <a:r>
              <a:rPr lang="en-US" dirty="0"/>
              <a:t>can be a real-world object, either animate or inanimate, that can be easily identifiable. </a:t>
            </a:r>
          </a:p>
          <a:p>
            <a:pPr>
              <a:lnSpc>
                <a:spcPct val="100000"/>
              </a:lnSpc>
            </a:pPr>
            <a:r>
              <a:rPr lang="en-US" dirty="0"/>
              <a:t>For example, in a school database, students, teachers, classes, and courses offered can be considered as entities. </a:t>
            </a:r>
          </a:p>
          <a:p>
            <a:pPr>
              <a:lnSpc>
                <a:spcPct val="100000"/>
              </a:lnSpc>
            </a:pPr>
            <a:r>
              <a:rPr lang="en-US" dirty="0"/>
              <a:t>All these entities have some attributes or properties that give them their identity.</a:t>
            </a:r>
            <a:endParaRPr lang="en-GB" dirty="0"/>
          </a:p>
          <a:p>
            <a:pPr>
              <a:lnSpc>
                <a:spcPct val="100000"/>
              </a:lnSpc>
            </a:pPr>
            <a:endParaRPr lang="en-US" dirty="0"/>
          </a:p>
          <a:p>
            <a:pPr>
              <a:lnSpc>
                <a:spcPct val="100000"/>
              </a:lnSpc>
            </a:pPr>
            <a:endParaRPr lang="en-GB" dirty="0"/>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6</a:t>
            </a:fld>
            <a:endParaRPr lang="uk-UA"/>
          </a:p>
        </p:txBody>
      </p:sp>
    </p:spTree>
    <p:extLst>
      <p:ext uri="{BB962C8B-B14F-4D97-AF65-F5344CB8AC3E}">
        <p14:creationId xmlns:p14="http://schemas.microsoft.com/office/powerpoint/2010/main" val="1846904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Attributes</a:t>
            </a:r>
          </a:p>
        </p:txBody>
      </p:sp>
      <p:sp>
        <p:nvSpPr>
          <p:cNvPr id="7" name="Content Placeholder 6"/>
          <p:cNvSpPr>
            <a:spLocks noGrp="1"/>
          </p:cNvSpPr>
          <p:nvPr>
            <p:ph idx="1"/>
          </p:nvPr>
        </p:nvSpPr>
        <p:spPr/>
        <p:txBody>
          <a:bodyPr>
            <a:normAutofit/>
          </a:bodyPr>
          <a:lstStyle/>
          <a:p>
            <a:pPr>
              <a:lnSpc>
                <a:spcPct val="100000"/>
              </a:lnSpc>
            </a:pPr>
            <a:r>
              <a:rPr lang="en-US" dirty="0"/>
              <a:t>Entities are represented by means of their properties, called attributes. </a:t>
            </a:r>
          </a:p>
          <a:p>
            <a:pPr>
              <a:lnSpc>
                <a:spcPct val="100000"/>
              </a:lnSpc>
            </a:pPr>
            <a:r>
              <a:rPr lang="en-US" dirty="0"/>
              <a:t>All attributes have values. For example, a student entity may have name, class, and age as attributes.</a:t>
            </a:r>
          </a:p>
          <a:p>
            <a:pPr>
              <a:lnSpc>
                <a:spcPct val="100000"/>
              </a:lnSpc>
            </a:pPr>
            <a:r>
              <a:rPr lang="en-US" dirty="0"/>
              <a:t>The </a:t>
            </a:r>
            <a:r>
              <a:rPr lang="en-US" b="1" dirty="0"/>
              <a:t>domain</a:t>
            </a:r>
            <a:r>
              <a:rPr lang="en-US" dirty="0"/>
              <a:t> of an attribute defines the range of values that can be assigned to the attribute.</a:t>
            </a:r>
          </a:p>
          <a:p>
            <a:pPr>
              <a:lnSpc>
                <a:spcPct val="100000"/>
              </a:lnSpc>
            </a:pPr>
            <a:r>
              <a:rPr lang="en-US" dirty="0"/>
              <a:t>For example, a student's name cannot be a numeric value. It has to be alphabetic. A student's age cannot be negative, etc.</a:t>
            </a:r>
            <a:endParaRPr lang="en-GB" dirty="0"/>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7</a:t>
            </a:fld>
            <a:endParaRPr lang="uk-UA"/>
          </a:p>
        </p:txBody>
      </p:sp>
    </p:spTree>
    <p:extLst>
      <p:ext uri="{BB962C8B-B14F-4D97-AF65-F5344CB8AC3E}">
        <p14:creationId xmlns:p14="http://schemas.microsoft.com/office/powerpoint/2010/main" val="410679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54707-94EE-4C43-9267-ECE0327A6BCA}"/>
              </a:ext>
            </a:extLst>
          </p:cNvPr>
          <p:cNvSpPr>
            <a:spLocks noGrp="1"/>
          </p:cNvSpPr>
          <p:nvPr>
            <p:ph type="title"/>
          </p:nvPr>
        </p:nvSpPr>
        <p:spPr/>
        <p:txBody>
          <a:bodyPr/>
          <a:lstStyle/>
          <a:p>
            <a:r>
              <a:rPr lang="en-GB" dirty="0"/>
              <a:t>Example of ER Diagram</a:t>
            </a:r>
          </a:p>
        </p:txBody>
      </p:sp>
      <p:pic>
        <p:nvPicPr>
          <p:cNvPr id="5" name="Content Placeholder 4">
            <a:extLst>
              <a:ext uri="{FF2B5EF4-FFF2-40B4-BE49-F238E27FC236}">
                <a16:creationId xmlns:a16="http://schemas.microsoft.com/office/drawing/2014/main" id="{5F410406-4F7F-4DFC-9AE8-3BFEEE9C20E9}"/>
              </a:ext>
            </a:extLst>
          </p:cNvPr>
          <p:cNvPicPr>
            <a:picLocks noGrp="1" noChangeAspect="1"/>
          </p:cNvPicPr>
          <p:nvPr>
            <p:ph idx="1"/>
          </p:nvPr>
        </p:nvPicPr>
        <p:blipFill>
          <a:blip r:embed="rId2"/>
          <a:stretch>
            <a:fillRect/>
          </a:stretch>
        </p:blipFill>
        <p:spPr>
          <a:xfrm>
            <a:off x="1647031" y="1681956"/>
            <a:ext cx="9077325" cy="4486275"/>
          </a:xfrm>
          <a:prstGeom prst="rect">
            <a:avLst/>
          </a:prstGeo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5D097EF5-C304-4BF4-AADB-2D0FD906215C}"/>
              </a:ext>
            </a:extLst>
          </p:cNvPr>
          <p:cNvSpPr>
            <a:spLocks noGrp="1"/>
          </p:cNvSpPr>
          <p:nvPr>
            <p:ph type="sldNum" sz="quarter" idx="12"/>
          </p:nvPr>
        </p:nvSpPr>
        <p:spPr/>
        <p:txBody>
          <a:bodyPr/>
          <a:lstStyle/>
          <a:p>
            <a:fld id="{8E9E4023-6F3A-457B-B0BB-8C1F114B424F}" type="slidenum">
              <a:rPr lang="en-SG" smtClean="0"/>
              <a:t>8</a:t>
            </a:fld>
            <a:endParaRPr lang="en-SG"/>
          </a:p>
        </p:txBody>
      </p:sp>
    </p:spTree>
    <p:extLst>
      <p:ext uri="{BB962C8B-B14F-4D97-AF65-F5344CB8AC3E}">
        <p14:creationId xmlns:p14="http://schemas.microsoft.com/office/powerpoint/2010/main" val="1743957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75042-7230-4850-AD78-1E92393F5800}"/>
              </a:ext>
            </a:extLst>
          </p:cNvPr>
          <p:cNvSpPr>
            <a:spLocks noGrp="1"/>
          </p:cNvSpPr>
          <p:nvPr>
            <p:ph type="title"/>
          </p:nvPr>
        </p:nvSpPr>
        <p:spPr/>
        <p:txBody>
          <a:bodyPr/>
          <a:lstStyle/>
          <a:p>
            <a:r>
              <a:rPr lang="en-GB" dirty="0"/>
              <a:t>Example of ER Diagram</a:t>
            </a:r>
          </a:p>
        </p:txBody>
      </p:sp>
      <p:pic>
        <p:nvPicPr>
          <p:cNvPr id="5" name="Content Placeholder 4">
            <a:extLst>
              <a:ext uri="{FF2B5EF4-FFF2-40B4-BE49-F238E27FC236}">
                <a16:creationId xmlns:a16="http://schemas.microsoft.com/office/drawing/2014/main" id="{B7E89567-9EB7-4FDF-86A2-D53FBEA1D930}"/>
              </a:ext>
            </a:extLst>
          </p:cNvPr>
          <p:cNvPicPr>
            <a:picLocks noGrp="1" noChangeAspect="1"/>
          </p:cNvPicPr>
          <p:nvPr>
            <p:ph idx="1"/>
          </p:nvPr>
        </p:nvPicPr>
        <p:blipFill>
          <a:blip r:embed="rId2"/>
          <a:stretch>
            <a:fillRect/>
          </a:stretch>
        </p:blipFill>
        <p:spPr>
          <a:xfrm>
            <a:off x="2566194" y="1843881"/>
            <a:ext cx="7239000" cy="4162425"/>
          </a:xfrm>
          <a:prstGeom prst="rect">
            <a:avLst/>
          </a:prstGeo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8CE37489-FD01-4C46-A676-A0EEEE1902C3}"/>
              </a:ext>
            </a:extLst>
          </p:cNvPr>
          <p:cNvSpPr>
            <a:spLocks noGrp="1"/>
          </p:cNvSpPr>
          <p:nvPr>
            <p:ph type="sldNum" sz="quarter" idx="12"/>
          </p:nvPr>
        </p:nvSpPr>
        <p:spPr/>
        <p:txBody>
          <a:bodyPr/>
          <a:lstStyle/>
          <a:p>
            <a:fld id="{8E9E4023-6F3A-457B-B0BB-8C1F114B424F}" type="slidenum">
              <a:rPr lang="en-SG" smtClean="0"/>
              <a:t>9</a:t>
            </a:fld>
            <a:endParaRPr lang="en-SG"/>
          </a:p>
        </p:txBody>
      </p:sp>
    </p:spTree>
    <p:extLst>
      <p:ext uri="{BB962C8B-B14F-4D97-AF65-F5344CB8AC3E}">
        <p14:creationId xmlns:p14="http://schemas.microsoft.com/office/powerpoint/2010/main" val="381389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Designing Database For Movie Review Website</a:t>
            </a:r>
          </a:p>
        </p:txBody>
      </p:sp>
      <p:sp>
        <p:nvSpPr>
          <p:cNvPr id="3" name="Text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2"/>
          </p:nvPr>
        </p:nvSpPr>
        <p:spPr/>
        <p:txBody>
          <a:bodyPr/>
          <a:lstStyle/>
          <a:p>
            <a:fld id="{0FF54DE5-C571-48E8-A5BC-B369434E2F44}" type="slidenum">
              <a:rPr lang="uk-UA" smtClean="0"/>
              <a:t>10</a:t>
            </a:fld>
            <a:endParaRPr lang="uk-UA"/>
          </a:p>
        </p:txBody>
      </p:sp>
    </p:spTree>
    <p:extLst>
      <p:ext uri="{BB962C8B-B14F-4D97-AF65-F5344CB8AC3E}">
        <p14:creationId xmlns:p14="http://schemas.microsoft.com/office/powerpoint/2010/main" val="180717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3E970-A3D3-41A0-8E73-4FBA5327C6EF}"/>
              </a:ext>
            </a:extLst>
          </p:cNvPr>
          <p:cNvSpPr>
            <a:spLocks noGrp="1"/>
          </p:cNvSpPr>
          <p:nvPr>
            <p:ph type="title"/>
          </p:nvPr>
        </p:nvSpPr>
        <p:spPr/>
        <p:txBody>
          <a:bodyPr/>
          <a:lstStyle/>
          <a:p>
            <a:r>
              <a:rPr lang="en-GB" dirty="0"/>
              <a:t>Identify the Tables</a:t>
            </a:r>
          </a:p>
        </p:txBody>
      </p:sp>
      <p:sp>
        <p:nvSpPr>
          <p:cNvPr id="3" name="Content Placeholder 2">
            <a:extLst>
              <a:ext uri="{FF2B5EF4-FFF2-40B4-BE49-F238E27FC236}">
                <a16:creationId xmlns:a16="http://schemas.microsoft.com/office/drawing/2014/main" id="{D0759970-AAC5-4DDF-964F-0CACBE6B3784}"/>
              </a:ext>
            </a:extLst>
          </p:cNvPr>
          <p:cNvSpPr>
            <a:spLocks noGrp="1"/>
          </p:cNvSpPr>
          <p:nvPr>
            <p:ph idx="1"/>
          </p:nvPr>
        </p:nvSpPr>
        <p:spPr/>
        <p:txBody>
          <a:bodyPr>
            <a:normAutofit/>
          </a:bodyPr>
          <a:lstStyle/>
          <a:p>
            <a:pPr>
              <a:lnSpc>
                <a:spcPct val="100000"/>
              </a:lnSpc>
            </a:pPr>
            <a:r>
              <a:rPr lang="en-GB" sz="1800" dirty="0"/>
              <a:t>The Movie Review website consists of the following two tables:</a:t>
            </a:r>
          </a:p>
        </p:txBody>
      </p:sp>
      <p:sp>
        <p:nvSpPr>
          <p:cNvPr id="4" name="Slide Number Placeholder 3">
            <a:extLst>
              <a:ext uri="{FF2B5EF4-FFF2-40B4-BE49-F238E27FC236}">
                <a16:creationId xmlns:a16="http://schemas.microsoft.com/office/drawing/2014/main" id="{C8D8F7FC-D8D6-4111-9EC8-3D91BD50E4D7}"/>
              </a:ext>
            </a:extLst>
          </p:cNvPr>
          <p:cNvSpPr>
            <a:spLocks noGrp="1"/>
          </p:cNvSpPr>
          <p:nvPr>
            <p:ph type="sldNum" sz="quarter" idx="12"/>
          </p:nvPr>
        </p:nvSpPr>
        <p:spPr/>
        <p:txBody>
          <a:bodyPr/>
          <a:lstStyle/>
          <a:p>
            <a:fld id="{8E9E4023-6F3A-457B-B0BB-8C1F114B424F}" type="slidenum">
              <a:rPr lang="en-SG" smtClean="0"/>
              <a:t>11</a:t>
            </a:fld>
            <a:endParaRPr lang="en-SG"/>
          </a:p>
        </p:txBody>
      </p:sp>
      <p:graphicFrame>
        <p:nvGraphicFramePr>
          <p:cNvPr id="5" name="Table 4">
            <a:extLst>
              <a:ext uri="{FF2B5EF4-FFF2-40B4-BE49-F238E27FC236}">
                <a16:creationId xmlns:a16="http://schemas.microsoft.com/office/drawing/2014/main" id="{AAD2DDEB-9ED8-4817-B1AA-C4C3F0B6084A}"/>
              </a:ext>
            </a:extLst>
          </p:cNvPr>
          <p:cNvGraphicFramePr>
            <a:graphicFrameLocks noGrp="1"/>
          </p:cNvGraphicFramePr>
          <p:nvPr>
            <p:extLst>
              <p:ext uri="{D42A27DB-BD31-4B8C-83A1-F6EECF244321}">
                <p14:modId xmlns:p14="http://schemas.microsoft.com/office/powerpoint/2010/main" val="197929666"/>
              </p:ext>
            </p:extLst>
          </p:nvPr>
        </p:nvGraphicFramePr>
        <p:xfrm>
          <a:off x="1880235" y="1968336"/>
          <a:ext cx="3509010" cy="4389120"/>
        </p:xfrm>
        <a:graphic>
          <a:graphicData uri="http://schemas.openxmlformats.org/drawingml/2006/table">
            <a:tbl>
              <a:tblPr firstRow="1" bandRow="1">
                <a:tableStyleId>{5C22544A-7EE6-4342-B048-85BDC9FD1C3A}</a:tableStyleId>
              </a:tblPr>
              <a:tblGrid>
                <a:gridCol w="994410">
                  <a:extLst>
                    <a:ext uri="{9D8B030D-6E8A-4147-A177-3AD203B41FA5}">
                      <a16:colId xmlns:a16="http://schemas.microsoft.com/office/drawing/2014/main" val="601481135"/>
                    </a:ext>
                  </a:extLst>
                </a:gridCol>
                <a:gridCol w="760095">
                  <a:extLst>
                    <a:ext uri="{9D8B030D-6E8A-4147-A177-3AD203B41FA5}">
                      <a16:colId xmlns:a16="http://schemas.microsoft.com/office/drawing/2014/main" val="2504634139"/>
                    </a:ext>
                  </a:extLst>
                </a:gridCol>
                <a:gridCol w="417195">
                  <a:extLst>
                    <a:ext uri="{9D8B030D-6E8A-4147-A177-3AD203B41FA5}">
                      <a16:colId xmlns:a16="http://schemas.microsoft.com/office/drawing/2014/main" val="863803515"/>
                    </a:ext>
                  </a:extLst>
                </a:gridCol>
                <a:gridCol w="1337310">
                  <a:extLst>
                    <a:ext uri="{9D8B030D-6E8A-4147-A177-3AD203B41FA5}">
                      <a16:colId xmlns:a16="http://schemas.microsoft.com/office/drawing/2014/main" val="608322728"/>
                    </a:ext>
                  </a:extLst>
                </a:gridCol>
              </a:tblGrid>
              <a:tr h="257681">
                <a:tc gridSpan="3">
                  <a:txBody>
                    <a:bodyPr/>
                    <a:lstStyle/>
                    <a:p>
                      <a:pPr algn="ctr"/>
                      <a:r>
                        <a:rPr lang="en-GB" sz="1200" dirty="0"/>
                        <a:t>Movie</a:t>
                      </a:r>
                    </a:p>
                  </a:txBody>
                  <a:tcPr/>
                </a:tc>
                <a:tc hMerge="1">
                  <a:txBody>
                    <a:bodyPr/>
                    <a:lstStyle/>
                    <a:p>
                      <a:endParaRPr lang="en-GB" dirty="0"/>
                    </a:p>
                  </a:txBody>
                  <a:tcPr/>
                </a:tc>
                <a:tc hMerge="1">
                  <a:txBody>
                    <a:bodyPr/>
                    <a:lstStyle/>
                    <a:p>
                      <a:pPr algn="ctr"/>
                      <a:endParaRPr lang="en-GB" sz="1200" dirty="0"/>
                    </a:p>
                  </a:txBody>
                  <a:tcPr/>
                </a:tc>
                <a:tc>
                  <a:txBody>
                    <a:bodyPr/>
                    <a:lstStyle/>
                    <a:p>
                      <a:pPr algn="ctr"/>
                      <a:r>
                        <a:rPr lang="en-GB" sz="1200" dirty="0"/>
                        <a:t>Remark</a:t>
                      </a:r>
                    </a:p>
                  </a:txBody>
                  <a:tcPr/>
                </a:tc>
                <a:extLst>
                  <a:ext uri="{0D108BD9-81ED-4DB2-BD59-A6C34878D82A}">
                    <a16:rowId xmlns:a16="http://schemas.microsoft.com/office/drawing/2014/main" val="3355177984"/>
                  </a:ext>
                </a:extLst>
              </a:tr>
              <a:tr h="257681">
                <a:tc>
                  <a:txBody>
                    <a:bodyPr/>
                    <a:lstStyle/>
                    <a:p>
                      <a:r>
                        <a:rPr lang="en-GB" sz="1200" b="1" dirty="0"/>
                        <a:t>_id</a:t>
                      </a:r>
                    </a:p>
                  </a:txBody>
                  <a:tcPr/>
                </a:tc>
                <a:tc gridSpan="2">
                  <a:txBody>
                    <a:bodyPr/>
                    <a:lstStyle/>
                    <a:p>
                      <a:r>
                        <a:rPr lang="en-GB" sz="1200" dirty="0"/>
                        <a:t>INT</a:t>
                      </a:r>
                    </a:p>
                  </a:txBody>
                  <a:tcPr/>
                </a:tc>
                <a:tc hMerge="1">
                  <a:txBody>
                    <a:bodyPr/>
                    <a:lstStyle/>
                    <a:p>
                      <a:endParaRPr lang="en-GB"/>
                    </a:p>
                  </a:txBody>
                  <a:tcPr/>
                </a:tc>
                <a:tc>
                  <a:txBody>
                    <a:bodyPr/>
                    <a:lstStyle/>
                    <a:p>
                      <a:r>
                        <a:rPr lang="en-GB" sz="1200" dirty="0"/>
                        <a:t>PK, NN, AI</a:t>
                      </a:r>
                    </a:p>
                  </a:txBody>
                  <a:tcPr/>
                </a:tc>
                <a:extLst>
                  <a:ext uri="{0D108BD9-81ED-4DB2-BD59-A6C34878D82A}">
                    <a16:rowId xmlns:a16="http://schemas.microsoft.com/office/drawing/2014/main" val="424907760"/>
                  </a:ext>
                </a:extLst>
              </a:tr>
              <a:tr h="257681">
                <a:tc>
                  <a:txBody>
                    <a:bodyPr/>
                    <a:lstStyle/>
                    <a:p>
                      <a:r>
                        <a:rPr lang="en-GB" sz="1200" b="1" dirty="0"/>
                        <a:t>title</a:t>
                      </a:r>
                    </a:p>
                  </a:txBody>
                  <a:tcPr/>
                </a:tc>
                <a:tc gridSpan="2">
                  <a:txBody>
                    <a:bodyPr/>
                    <a:lstStyle/>
                    <a:p>
                      <a:r>
                        <a:rPr lang="en-GB" sz="1200" dirty="0"/>
                        <a:t>VARCHAR(255)</a:t>
                      </a:r>
                    </a:p>
                  </a:txBody>
                  <a:tcPr/>
                </a:tc>
                <a:tc hMerge="1">
                  <a:txBody>
                    <a:bodyPr/>
                    <a:lstStyle/>
                    <a:p>
                      <a:endParaRPr lang="en-GB"/>
                    </a:p>
                  </a:txBody>
                  <a:tcPr/>
                </a:tc>
                <a:tc>
                  <a:txBody>
                    <a:bodyPr/>
                    <a:lstStyle/>
                    <a:p>
                      <a:r>
                        <a:rPr lang="en-GB" sz="1200" dirty="0"/>
                        <a:t>NN</a:t>
                      </a:r>
                    </a:p>
                  </a:txBody>
                  <a:tcPr/>
                </a:tc>
                <a:extLst>
                  <a:ext uri="{0D108BD9-81ED-4DB2-BD59-A6C34878D82A}">
                    <a16:rowId xmlns:a16="http://schemas.microsoft.com/office/drawing/2014/main" val="1064195677"/>
                  </a:ext>
                </a:extLst>
              </a:tr>
              <a:tr h="257681">
                <a:tc>
                  <a:txBody>
                    <a:bodyPr/>
                    <a:lstStyle/>
                    <a:p>
                      <a:r>
                        <a:rPr lang="en-GB" sz="1200" b="1" dirty="0"/>
                        <a:t>availability</a:t>
                      </a:r>
                    </a:p>
                  </a:txBody>
                  <a:tcPr/>
                </a:tc>
                <a:tc gridSpan="2">
                  <a:txBody>
                    <a:bodyPr/>
                    <a:lstStyle/>
                    <a:p>
                      <a:r>
                        <a:rPr lang="en-GB" sz="1200" dirty="0"/>
                        <a:t>VARCHAR(15)</a:t>
                      </a:r>
                    </a:p>
                  </a:txBody>
                  <a:tcPr/>
                </a:tc>
                <a:tc hMerge="1">
                  <a:txBody>
                    <a:bodyPr/>
                    <a:lstStyle/>
                    <a:p>
                      <a:endParaRPr lang="en-GB"/>
                    </a:p>
                  </a:txBody>
                  <a:tcPr/>
                </a:tc>
                <a:tc>
                  <a:txBody>
                    <a:bodyPr/>
                    <a:lstStyle/>
                    <a:p>
                      <a:r>
                        <a:rPr lang="en-GB" sz="1200" dirty="0"/>
                        <a:t>NN</a:t>
                      </a:r>
                    </a:p>
                  </a:txBody>
                  <a:tcPr/>
                </a:tc>
                <a:extLst>
                  <a:ext uri="{0D108BD9-81ED-4DB2-BD59-A6C34878D82A}">
                    <a16:rowId xmlns:a16="http://schemas.microsoft.com/office/drawing/2014/main" val="2127360611"/>
                  </a:ext>
                </a:extLst>
              </a:tr>
              <a:tr h="257681">
                <a:tc>
                  <a:txBody>
                    <a:bodyPr/>
                    <a:lstStyle/>
                    <a:p>
                      <a:r>
                        <a:rPr lang="en-GB" sz="1200" b="1" dirty="0"/>
                        <a:t>story</a:t>
                      </a:r>
                    </a:p>
                  </a:txBody>
                  <a:tcPr/>
                </a:tc>
                <a:tc gridSpan="2">
                  <a:txBody>
                    <a:bodyPr/>
                    <a:lstStyle/>
                    <a:p>
                      <a:r>
                        <a:rPr lang="en-GB" sz="1200" dirty="0"/>
                        <a:t>TEXT(1024)</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1954371793"/>
                  </a:ext>
                </a:extLst>
              </a:tr>
              <a:tr h="257681">
                <a:tc>
                  <a:txBody>
                    <a:bodyPr/>
                    <a:lstStyle/>
                    <a:p>
                      <a:r>
                        <a:rPr lang="en-GB" sz="1200" b="1" dirty="0"/>
                        <a:t>buy</a:t>
                      </a:r>
                    </a:p>
                  </a:txBody>
                  <a:tcPr/>
                </a:tc>
                <a:tc gridSpan="2">
                  <a:txBody>
                    <a:bodyPr/>
                    <a:lstStyle/>
                    <a:p>
                      <a:r>
                        <a:rPr lang="en-GB" sz="1200" dirty="0"/>
                        <a:t>TEXT(1024)</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725344841"/>
                  </a:ext>
                </a:extLst>
              </a:tr>
              <a:tr h="257681">
                <a:tc>
                  <a:txBody>
                    <a:bodyPr/>
                    <a:lstStyle/>
                    <a:p>
                      <a:r>
                        <a:rPr lang="en-GB" sz="1200" b="1" dirty="0"/>
                        <a:t>thumb</a:t>
                      </a:r>
                    </a:p>
                  </a:txBody>
                  <a:tcPr/>
                </a:tc>
                <a:tc gridSpan="2">
                  <a:txBody>
                    <a:bodyPr/>
                    <a:lstStyle/>
                    <a:p>
                      <a:r>
                        <a:rPr lang="en-GB" sz="1200" dirty="0"/>
                        <a:t>VARCHAR(255)</a:t>
                      </a:r>
                    </a:p>
                  </a:txBody>
                  <a:tcPr/>
                </a:tc>
                <a:tc hMerge="1">
                  <a:txBody>
                    <a:bodyPr/>
                    <a:lstStyle/>
                    <a:p>
                      <a:endParaRPr lang="en-GB"/>
                    </a:p>
                  </a:txBody>
                  <a:tcPr/>
                </a:tc>
                <a:tc>
                  <a:txBody>
                    <a:bodyPr/>
                    <a:lstStyle/>
                    <a:p>
                      <a:r>
                        <a:rPr lang="en-GB" sz="1200" dirty="0"/>
                        <a:t>NN</a:t>
                      </a:r>
                    </a:p>
                  </a:txBody>
                  <a:tcPr/>
                </a:tc>
                <a:extLst>
                  <a:ext uri="{0D108BD9-81ED-4DB2-BD59-A6C34878D82A}">
                    <a16:rowId xmlns:a16="http://schemas.microsoft.com/office/drawing/2014/main" val="3471902516"/>
                  </a:ext>
                </a:extLst>
              </a:tr>
              <a:tr h="257681">
                <a:tc>
                  <a:txBody>
                    <a:bodyPr/>
                    <a:lstStyle/>
                    <a:p>
                      <a:r>
                        <a:rPr lang="en-GB" sz="1200" b="1" dirty="0"/>
                        <a:t>video1</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VARCHAR(255)</a:t>
                      </a:r>
                    </a:p>
                  </a:txBody>
                  <a:tcPr/>
                </a:tc>
                <a:tc h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3682634000"/>
                  </a:ext>
                </a:extLst>
              </a:tr>
              <a:tr h="257681">
                <a:tc>
                  <a:txBody>
                    <a:bodyPr/>
                    <a:lstStyle/>
                    <a:p>
                      <a:r>
                        <a:rPr lang="en-GB" sz="1200" b="1" dirty="0"/>
                        <a:t>video2</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VARCHAR(255)</a:t>
                      </a:r>
                    </a:p>
                  </a:txBody>
                  <a:tcPr/>
                </a:tc>
                <a:tc h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1678298878"/>
                  </a:ext>
                </a:extLst>
              </a:tr>
              <a:tr h="257681">
                <a:tc>
                  <a:txBody>
                    <a:bodyPr/>
                    <a:lstStyle/>
                    <a:p>
                      <a:r>
                        <a:rPr lang="en-GB" sz="1200" b="1" dirty="0"/>
                        <a:t>poster</a:t>
                      </a:r>
                    </a:p>
                  </a:txBody>
                  <a:tcPr/>
                </a:tc>
                <a:tc gridSpan="2">
                  <a:txBody>
                    <a:bodyPr/>
                    <a:lstStyle/>
                    <a:p>
                      <a:r>
                        <a:rPr lang="en-GB" sz="1200" dirty="0"/>
                        <a:t>VARCHAR(255)</a:t>
                      </a:r>
                    </a:p>
                  </a:txBody>
                  <a:tcPr/>
                </a:tc>
                <a:tc hMerge="1">
                  <a:txBody>
                    <a:bodyPr/>
                    <a:lstStyle/>
                    <a:p>
                      <a:endParaRPr lang="en-GB"/>
                    </a:p>
                  </a:txBody>
                  <a:tcPr/>
                </a:tc>
                <a:tc>
                  <a:txBody>
                    <a:bodyPr/>
                    <a:lstStyle/>
                    <a:p>
                      <a:r>
                        <a:rPr lang="en-GB" sz="1200" dirty="0"/>
                        <a:t>NN</a:t>
                      </a:r>
                    </a:p>
                  </a:txBody>
                  <a:tcPr/>
                </a:tc>
                <a:extLst>
                  <a:ext uri="{0D108BD9-81ED-4DB2-BD59-A6C34878D82A}">
                    <a16:rowId xmlns:a16="http://schemas.microsoft.com/office/drawing/2014/main" val="3601245985"/>
                  </a:ext>
                </a:extLst>
              </a:tr>
              <a:tr h="257681">
                <a:tc>
                  <a:txBody>
                    <a:bodyPr/>
                    <a:lstStyle/>
                    <a:p>
                      <a:r>
                        <a:rPr lang="en-GB" sz="1200" b="1" dirty="0"/>
                        <a:t>advice</a:t>
                      </a:r>
                    </a:p>
                  </a:txBody>
                  <a:tcPr/>
                </a:tc>
                <a:tc gridSpan="2">
                  <a:txBody>
                    <a:bodyPr/>
                    <a:lstStyle/>
                    <a:p>
                      <a:r>
                        <a:rPr lang="en-GB" sz="1200" dirty="0"/>
                        <a:t>VARCHAR(255)</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1719117517"/>
                  </a:ext>
                </a:extLst>
              </a:tr>
              <a:tr h="257681">
                <a:tc>
                  <a:txBody>
                    <a:bodyPr/>
                    <a:lstStyle/>
                    <a:p>
                      <a:r>
                        <a:rPr lang="en-GB" sz="1200" b="1" dirty="0"/>
                        <a:t>cast</a:t>
                      </a:r>
                    </a:p>
                  </a:txBody>
                  <a:tcPr/>
                </a:tc>
                <a:tc gridSpan="2">
                  <a:txBody>
                    <a:bodyPr/>
                    <a:lstStyle/>
                    <a:p>
                      <a:r>
                        <a:rPr lang="en-GB" sz="1200" dirty="0"/>
                        <a:t>TEXT(1024)</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1696639319"/>
                  </a:ext>
                </a:extLst>
              </a:tr>
              <a:tr h="257681">
                <a:tc>
                  <a:txBody>
                    <a:bodyPr/>
                    <a:lstStyle/>
                    <a:p>
                      <a:r>
                        <a:rPr lang="en-GB" sz="1200" b="1" dirty="0"/>
                        <a:t>director</a:t>
                      </a:r>
                    </a:p>
                  </a:txBody>
                  <a:tcPr/>
                </a:tc>
                <a:tc gridSpan="2">
                  <a:txBody>
                    <a:bodyPr/>
                    <a:lstStyle/>
                    <a:p>
                      <a:r>
                        <a:rPr lang="en-GB" sz="1200" dirty="0"/>
                        <a:t>VARCHAR(60)</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1384990006"/>
                  </a:ext>
                </a:extLst>
              </a:tr>
              <a:tr h="257681">
                <a:tc>
                  <a:txBody>
                    <a:bodyPr/>
                    <a:lstStyle/>
                    <a:p>
                      <a:r>
                        <a:rPr lang="en-GB" sz="1200" b="1" dirty="0"/>
                        <a:t>genre</a:t>
                      </a:r>
                    </a:p>
                  </a:txBody>
                  <a:tcPr/>
                </a:tc>
                <a:tc gridSpan="2">
                  <a:txBody>
                    <a:bodyPr/>
                    <a:lstStyle/>
                    <a:p>
                      <a:r>
                        <a:rPr lang="en-GB" sz="1200" dirty="0"/>
                        <a:t>VARCHAR(50)</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3160850414"/>
                  </a:ext>
                </a:extLst>
              </a:tr>
              <a:tr h="257681">
                <a:tc>
                  <a:txBody>
                    <a:bodyPr/>
                    <a:lstStyle/>
                    <a:p>
                      <a:r>
                        <a:rPr lang="en-GB" sz="1200" b="1" dirty="0"/>
                        <a:t>duration</a:t>
                      </a:r>
                    </a:p>
                  </a:txBody>
                  <a:tcPr/>
                </a:tc>
                <a:tc gridSpan="2">
                  <a:txBody>
                    <a:bodyPr/>
                    <a:lstStyle/>
                    <a:p>
                      <a:r>
                        <a:rPr lang="en-GB" sz="1200" dirty="0"/>
                        <a:t>VARCHAR(20)</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3016816000"/>
                  </a:ext>
                </a:extLst>
              </a:tr>
              <a:tr h="257681">
                <a:tc>
                  <a:txBody>
                    <a:bodyPr/>
                    <a:lstStyle/>
                    <a:p>
                      <a:r>
                        <a:rPr lang="en-GB" sz="1200" b="1" dirty="0"/>
                        <a:t>release</a:t>
                      </a:r>
                    </a:p>
                  </a:txBody>
                  <a:tcPr/>
                </a:tc>
                <a:tc gridSpan="2">
                  <a:txBody>
                    <a:bodyPr/>
                    <a:lstStyle/>
                    <a:p>
                      <a:r>
                        <a:rPr lang="en-GB" sz="1200" dirty="0"/>
                        <a:t>VARCHAR(30)</a:t>
                      </a:r>
                    </a:p>
                  </a:txBody>
                  <a:tcPr/>
                </a:tc>
                <a:tc hMerge="1">
                  <a:txBody>
                    <a:bodyPr/>
                    <a:lstStyle/>
                    <a:p>
                      <a:endParaRPr lang="en-GB"/>
                    </a:p>
                  </a:txBody>
                  <a:tcPr/>
                </a:tc>
                <a:tc>
                  <a:txBody>
                    <a:bodyPr/>
                    <a:lstStyle/>
                    <a:p>
                      <a:endParaRPr lang="en-GB" sz="1200" dirty="0"/>
                    </a:p>
                  </a:txBody>
                  <a:tcPr/>
                </a:tc>
                <a:extLst>
                  <a:ext uri="{0D108BD9-81ED-4DB2-BD59-A6C34878D82A}">
                    <a16:rowId xmlns:a16="http://schemas.microsoft.com/office/drawing/2014/main" val="3656817573"/>
                  </a:ext>
                </a:extLst>
              </a:tr>
            </a:tbl>
          </a:graphicData>
        </a:graphic>
      </p:graphicFrame>
      <p:graphicFrame>
        <p:nvGraphicFramePr>
          <p:cNvPr id="6" name="Table 5">
            <a:extLst>
              <a:ext uri="{FF2B5EF4-FFF2-40B4-BE49-F238E27FC236}">
                <a16:creationId xmlns:a16="http://schemas.microsoft.com/office/drawing/2014/main" id="{04983D0C-EE20-4BAB-918F-743D29F8A511}"/>
              </a:ext>
            </a:extLst>
          </p:cNvPr>
          <p:cNvGraphicFramePr>
            <a:graphicFrameLocks noGrp="1"/>
          </p:cNvGraphicFramePr>
          <p:nvPr>
            <p:extLst>
              <p:ext uri="{D42A27DB-BD31-4B8C-83A1-F6EECF244321}">
                <p14:modId xmlns:p14="http://schemas.microsoft.com/office/powerpoint/2010/main" val="2742478232"/>
              </p:ext>
            </p:extLst>
          </p:nvPr>
        </p:nvGraphicFramePr>
        <p:xfrm>
          <a:off x="6443260" y="1968336"/>
          <a:ext cx="3380826" cy="2194560"/>
        </p:xfrm>
        <a:graphic>
          <a:graphicData uri="http://schemas.openxmlformats.org/drawingml/2006/table">
            <a:tbl>
              <a:tblPr firstRow="1" bandRow="1">
                <a:tableStyleId>{5C22544A-7EE6-4342-B048-85BDC9FD1C3A}</a:tableStyleId>
              </a:tblPr>
              <a:tblGrid>
                <a:gridCol w="991955">
                  <a:extLst>
                    <a:ext uri="{9D8B030D-6E8A-4147-A177-3AD203B41FA5}">
                      <a16:colId xmlns:a16="http://schemas.microsoft.com/office/drawing/2014/main" val="601481135"/>
                    </a:ext>
                  </a:extLst>
                </a:gridCol>
                <a:gridCol w="1131571">
                  <a:extLst>
                    <a:ext uri="{9D8B030D-6E8A-4147-A177-3AD203B41FA5}">
                      <a16:colId xmlns:a16="http://schemas.microsoft.com/office/drawing/2014/main" val="2504634139"/>
                    </a:ext>
                  </a:extLst>
                </a:gridCol>
                <a:gridCol w="1257300">
                  <a:extLst>
                    <a:ext uri="{9D8B030D-6E8A-4147-A177-3AD203B41FA5}">
                      <a16:colId xmlns:a16="http://schemas.microsoft.com/office/drawing/2014/main" val="1030050960"/>
                    </a:ext>
                  </a:extLst>
                </a:gridCol>
              </a:tblGrid>
              <a:tr h="230359">
                <a:tc gridSpan="2">
                  <a:txBody>
                    <a:bodyPr/>
                    <a:lstStyle/>
                    <a:p>
                      <a:pPr algn="ctr"/>
                      <a:r>
                        <a:rPr lang="en-GB" sz="1200" dirty="0"/>
                        <a:t>Comment</a:t>
                      </a:r>
                    </a:p>
                  </a:txBody>
                  <a:tcPr/>
                </a:tc>
                <a:tc hMerge="1">
                  <a:txBody>
                    <a:bodyPr/>
                    <a:lstStyle/>
                    <a:p>
                      <a:endParaRPr lang="en-GB" dirty="0"/>
                    </a:p>
                  </a:txBody>
                  <a:tcPr/>
                </a:tc>
                <a:tc>
                  <a:txBody>
                    <a:bodyPr/>
                    <a:lstStyle/>
                    <a:p>
                      <a:pPr algn="ctr"/>
                      <a:r>
                        <a:rPr lang="en-GB" sz="1200" dirty="0"/>
                        <a:t>Remark</a:t>
                      </a:r>
                    </a:p>
                  </a:txBody>
                  <a:tcPr/>
                </a:tc>
                <a:extLst>
                  <a:ext uri="{0D108BD9-81ED-4DB2-BD59-A6C34878D82A}">
                    <a16:rowId xmlns:a16="http://schemas.microsoft.com/office/drawing/2014/main" val="3355177984"/>
                  </a:ext>
                </a:extLst>
              </a:tr>
              <a:tr h="230359">
                <a:tc>
                  <a:txBody>
                    <a:bodyPr/>
                    <a:lstStyle/>
                    <a:p>
                      <a:r>
                        <a:rPr lang="en-GB" sz="1200" b="1" dirty="0"/>
                        <a:t>_id</a:t>
                      </a:r>
                    </a:p>
                  </a:txBody>
                  <a:tcPr/>
                </a:tc>
                <a:tc>
                  <a:txBody>
                    <a:bodyPr/>
                    <a:lstStyle/>
                    <a:p>
                      <a:r>
                        <a:rPr lang="en-GB" sz="1200" dirty="0"/>
                        <a:t>INT</a:t>
                      </a:r>
                    </a:p>
                  </a:txBody>
                  <a:tcPr/>
                </a:tc>
                <a:tc>
                  <a:txBody>
                    <a:bodyPr/>
                    <a:lstStyle/>
                    <a:p>
                      <a:r>
                        <a:rPr lang="en-GB" sz="1200" dirty="0"/>
                        <a:t>PK, NN, AI</a:t>
                      </a:r>
                    </a:p>
                  </a:txBody>
                  <a:tcPr/>
                </a:tc>
                <a:extLst>
                  <a:ext uri="{0D108BD9-81ED-4DB2-BD59-A6C34878D82A}">
                    <a16:rowId xmlns:a16="http://schemas.microsoft.com/office/drawing/2014/main" val="424907760"/>
                  </a:ext>
                </a:extLst>
              </a:tr>
              <a:tr h="230359">
                <a:tc>
                  <a:txBody>
                    <a:bodyPr/>
                    <a:lstStyle/>
                    <a:p>
                      <a:r>
                        <a:rPr lang="en-GB" sz="1200" b="1" dirty="0" err="1"/>
                        <a:t>movieId</a:t>
                      </a:r>
                      <a:endParaRPr lang="en-GB" sz="1200" b="1" dirty="0"/>
                    </a:p>
                  </a:txBody>
                  <a:tcPr/>
                </a:tc>
                <a:tc>
                  <a:txBody>
                    <a:bodyPr/>
                    <a:lstStyle/>
                    <a:p>
                      <a:r>
                        <a:rPr lang="en-GB" sz="1200" dirty="0"/>
                        <a:t>INT</a:t>
                      </a:r>
                    </a:p>
                  </a:txBody>
                  <a:tcPr/>
                </a:tc>
                <a:tc>
                  <a:txBody>
                    <a:bodyPr/>
                    <a:lstStyle/>
                    <a:p>
                      <a:r>
                        <a:rPr lang="en-GB" sz="1200" dirty="0"/>
                        <a:t>FK, NN</a:t>
                      </a:r>
                    </a:p>
                  </a:txBody>
                  <a:tcPr/>
                </a:tc>
                <a:extLst>
                  <a:ext uri="{0D108BD9-81ED-4DB2-BD59-A6C34878D82A}">
                    <a16:rowId xmlns:a16="http://schemas.microsoft.com/office/drawing/2014/main" val="1954371793"/>
                  </a:ext>
                </a:extLst>
              </a:tr>
              <a:tr h="230359">
                <a:tc>
                  <a:txBody>
                    <a:bodyPr/>
                    <a:lstStyle/>
                    <a:p>
                      <a:r>
                        <a:rPr lang="en-GB" sz="1200" b="1" dirty="0"/>
                        <a:t>movie</a:t>
                      </a:r>
                    </a:p>
                  </a:txBody>
                  <a:tcPr/>
                </a:tc>
                <a:tc>
                  <a:txBody>
                    <a:bodyPr/>
                    <a:lstStyle/>
                    <a:p>
                      <a:r>
                        <a:rPr lang="en-GB" sz="1200" dirty="0"/>
                        <a:t>VARCHAR(255)</a:t>
                      </a:r>
                    </a:p>
                  </a:txBody>
                  <a:tcPr/>
                </a:tc>
                <a:tc>
                  <a:txBody>
                    <a:bodyPr/>
                    <a:lstStyle/>
                    <a:p>
                      <a:r>
                        <a:rPr lang="en-GB" sz="1200" dirty="0"/>
                        <a:t>NN</a:t>
                      </a:r>
                    </a:p>
                  </a:txBody>
                  <a:tcPr/>
                </a:tc>
                <a:extLst>
                  <a:ext uri="{0D108BD9-81ED-4DB2-BD59-A6C34878D82A}">
                    <a16:rowId xmlns:a16="http://schemas.microsoft.com/office/drawing/2014/main" val="725344841"/>
                  </a:ext>
                </a:extLst>
              </a:tr>
              <a:tr h="230359">
                <a:tc>
                  <a:txBody>
                    <a:bodyPr/>
                    <a:lstStyle/>
                    <a:p>
                      <a:r>
                        <a:rPr lang="en-GB" sz="1200" b="1" dirty="0"/>
                        <a:t>username</a:t>
                      </a:r>
                    </a:p>
                  </a:txBody>
                  <a:tcPr/>
                </a:tc>
                <a:tc>
                  <a:txBody>
                    <a:bodyPr/>
                    <a:lstStyle/>
                    <a:p>
                      <a:r>
                        <a:rPr lang="en-GB" sz="1200" dirty="0"/>
                        <a:t>VARCHAR(20)</a:t>
                      </a:r>
                    </a:p>
                  </a:txBody>
                  <a:tcPr/>
                </a:tc>
                <a:tc>
                  <a:txBody>
                    <a:bodyPr/>
                    <a:lstStyle/>
                    <a:p>
                      <a:r>
                        <a:rPr lang="en-GB" sz="1200" dirty="0"/>
                        <a:t>NN</a:t>
                      </a:r>
                    </a:p>
                  </a:txBody>
                  <a:tcPr/>
                </a:tc>
                <a:extLst>
                  <a:ext uri="{0D108BD9-81ED-4DB2-BD59-A6C34878D82A}">
                    <a16:rowId xmlns:a16="http://schemas.microsoft.com/office/drawing/2014/main" val="3471902516"/>
                  </a:ext>
                </a:extLst>
              </a:tr>
              <a:tr h="230359">
                <a:tc>
                  <a:txBody>
                    <a:bodyPr/>
                    <a:lstStyle/>
                    <a:p>
                      <a:r>
                        <a:rPr lang="en-GB" sz="1200" b="1" dirty="0"/>
                        <a:t>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TEXT(1024)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3682634000"/>
                  </a:ext>
                </a:extLst>
              </a:tr>
              <a:tr h="230359">
                <a:tc>
                  <a:txBody>
                    <a:bodyPr/>
                    <a:lstStyle/>
                    <a:p>
                      <a:r>
                        <a:rPr lang="en-GB" sz="1200" b="1" dirty="0" err="1"/>
                        <a:t>datePosted</a:t>
                      </a:r>
                      <a:endParaRPr lang="en-GB" sz="12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VARCHAR(100)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1678298878"/>
                  </a:ext>
                </a:extLst>
              </a:tr>
              <a:tr h="230359">
                <a:tc>
                  <a:txBody>
                    <a:bodyPr/>
                    <a:lstStyle/>
                    <a:p>
                      <a:r>
                        <a:rPr lang="en-GB" sz="1200" b="1" dirty="0"/>
                        <a:t>rating</a:t>
                      </a:r>
                    </a:p>
                  </a:txBody>
                  <a:tcPr/>
                </a:tc>
                <a:tc>
                  <a:txBody>
                    <a:bodyPr/>
                    <a:lstStyle/>
                    <a:p>
                      <a:r>
                        <a:rPr lang="en-GB" sz="1200" dirty="0"/>
                        <a:t>INT</a:t>
                      </a:r>
                    </a:p>
                  </a:txBody>
                  <a:tcPr/>
                </a:tc>
                <a:tc>
                  <a:txBody>
                    <a:bodyPr/>
                    <a:lstStyle/>
                    <a:p>
                      <a:endParaRPr lang="en-GB" sz="1200" dirty="0"/>
                    </a:p>
                  </a:txBody>
                  <a:tcPr/>
                </a:tc>
                <a:extLst>
                  <a:ext uri="{0D108BD9-81ED-4DB2-BD59-A6C34878D82A}">
                    <a16:rowId xmlns:a16="http://schemas.microsoft.com/office/drawing/2014/main" val="3601245985"/>
                  </a:ext>
                </a:extLst>
              </a:tr>
            </a:tbl>
          </a:graphicData>
        </a:graphic>
      </p:graphicFrame>
      <p:sp>
        <p:nvSpPr>
          <p:cNvPr id="7" name="Rectangular Callout 21">
            <a:extLst>
              <a:ext uri="{FF2B5EF4-FFF2-40B4-BE49-F238E27FC236}">
                <a16:creationId xmlns:a16="http://schemas.microsoft.com/office/drawing/2014/main" id="{AB46F8A5-7AAA-46AB-90A6-E1DF4E75567B}"/>
              </a:ext>
            </a:extLst>
          </p:cNvPr>
          <p:cNvSpPr/>
          <p:nvPr/>
        </p:nvSpPr>
        <p:spPr>
          <a:xfrm>
            <a:off x="9977196" y="2207518"/>
            <a:ext cx="1223493" cy="1627247"/>
          </a:xfrm>
          <a:prstGeom prst="wedgeRectCallout">
            <a:avLst>
              <a:gd name="adj1" fmla="val -64080"/>
              <a:gd name="adj2" fmla="val -23033"/>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Arial Unicode MS" charset="0"/>
                <a:ea typeface="Arial Unicode MS" charset="0"/>
                <a:cs typeface="Arial Unicode MS" charset="0"/>
              </a:rPr>
              <a:t>The </a:t>
            </a:r>
            <a:r>
              <a:rPr lang="en-GB" sz="1200" dirty="0" err="1">
                <a:solidFill>
                  <a:srgbClr val="FFFF00"/>
                </a:solidFill>
                <a:latin typeface="Arial Unicode MS" charset="0"/>
                <a:ea typeface="Arial Unicode MS" charset="0"/>
                <a:cs typeface="Arial Unicode MS" charset="0"/>
              </a:rPr>
              <a:t>movieId</a:t>
            </a:r>
            <a:r>
              <a:rPr lang="en-GB" sz="1200" dirty="0">
                <a:latin typeface="Arial Unicode MS" charset="0"/>
                <a:ea typeface="Arial Unicode MS" charset="0"/>
                <a:cs typeface="Arial Unicode MS" charset="0"/>
              </a:rPr>
              <a:t> attribute is also a Foreign Key (FK) and is linked to the Primary Key of the </a:t>
            </a:r>
            <a:r>
              <a:rPr lang="en-GB" sz="1200" dirty="0">
                <a:solidFill>
                  <a:srgbClr val="FFFF00"/>
                </a:solidFill>
                <a:latin typeface="Arial Unicode MS" charset="0"/>
                <a:ea typeface="Arial Unicode MS" charset="0"/>
                <a:cs typeface="Arial Unicode MS" charset="0"/>
              </a:rPr>
              <a:t>movie</a:t>
            </a:r>
            <a:r>
              <a:rPr lang="en-GB" sz="1200" dirty="0">
                <a:latin typeface="Arial Unicode MS" charset="0"/>
                <a:ea typeface="Arial Unicode MS" charset="0"/>
                <a:cs typeface="Arial Unicode MS" charset="0"/>
              </a:rPr>
              <a:t> table.</a:t>
            </a:r>
          </a:p>
        </p:txBody>
      </p:sp>
      <p:sp>
        <p:nvSpPr>
          <p:cNvPr id="8" name="Rectangular Callout 21">
            <a:extLst>
              <a:ext uri="{FF2B5EF4-FFF2-40B4-BE49-F238E27FC236}">
                <a16:creationId xmlns:a16="http://schemas.microsoft.com/office/drawing/2014/main" id="{588A5125-A5B2-4159-84AF-83B4691AF172}"/>
              </a:ext>
            </a:extLst>
          </p:cNvPr>
          <p:cNvSpPr/>
          <p:nvPr/>
        </p:nvSpPr>
        <p:spPr>
          <a:xfrm>
            <a:off x="5767154" y="4540849"/>
            <a:ext cx="5014971" cy="1615251"/>
          </a:xfrm>
          <a:prstGeom prst="wedgeRectCallout">
            <a:avLst>
              <a:gd name="adj1" fmla="val -49699"/>
              <a:gd name="adj2" fmla="val -23033"/>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latin typeface="Arial Unicode MS" charset="0"/>
                <a:ea typeface="Arial Unicode MS" charset="0"/>
                <a:cs typeface="Arial Unicode MS" charset="0"/>
              </a:rPr>
              <a:t>The field names in both tables are taken from the attributes that we retrieved using the APIs. Because the JavaScript codes used the attribute names, it is better to use them in the tables so that no modifications of the codes are required.</a:t>
            </a:r>
          </a:p>
          <a:p>
            <a:endParaRPr lang="en-GB" sz="1200" dirty="0">
              <a:latin typeface="Arial Unicode MS" charset="0"/>
              <a:ea typeface="Arial Unicode MS" charset="0"/>
              <a:cs typeface="Arial Unicode MS" charset="0"/>
            </a:endParaRPr>
          </a:p>
          <a:p>
            <a:r>
              <a:rPr lang="en-GB" sz="1200" dirty="0">
                <a:latin typeface="Arial Unicode MS" charset="0"/>
                <a:ea typeface="Arial Unicode MS" charset="0"/>
                <a:cs typeface="Arial Unicode MS" charset="0"/>
              </a:rPr>
              <a:t>The data type of each field are selected based on observing the value of each attribute.</a:t>
            </a:r>
          </a:p>
        </p:txBody>
      </p:sp>
    </p:spTree>
    <p:extLst>
      <p:ext uri="{BB962C8B-B14F-4D97-AF65-F5344CB8AC3E}">
        <p14:creationId xmlns:p14="http://schemas.microsoft.com/office/powerpoint/2010/main" val="2450493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Schema Design</a:t>
            </a:r>
          </a:p>
        </p:txBody>
      </p:sp>
      <p:sp>
        <p:nvSpPr>
          <p:cNvPr id="7" name="Content Placeholder 6"/>
          <p:cNvSpPr>
            <a:spLocks noGrp="1"/>
          </p:cNvSpPr>
          <p:nvPr>
            <p:ph idx="1"/>
          </p:nvPr>
        </p:nvSpPr>
        <p:spPr>
          <a:xfrm>
            <a:off x="1017638" y="1631314"/>
            <a:ext cx="10336162" cy="4726142"/>
          </a:xfrm>
        </p:spPr>
        <p:txBody>
          <a:bodyPr>
            <a:normAutofit/>
          </a:bodyPr>
          <a:lstStyle/>
          <a:p>
            <a:pPr>
              <a:lnSpc>
                <a:spcPct val="100000"/>
              </a:lnSpc>
            </a:pPr>
            <a:r>
              <a:rPr lang="en-US" dirty="0"/>
              <a:t>You will now learn how to design the schema of the Movie Review website using Entity-Relationship Model, and then use MySQL Workbench to create the schema automatically.</a:t>
            </a:r>
          </a:p>
          <a:p>
            <a:pPr>
              <a:lnSpc>
                <a:spcPct val="100000"/>
              </a:lnSpc>
            </a:pPr>
            <a:r>
              <a:rPr lang="en-US" dirty="0"/>
              <a:t>Move to the next slide to start a new Model in MySQL Workbench.</a:t>
            </a:r>
          </a:p>
          <a:p>
            <a:pPr>
              <a:lnSpc>
                <a:spcPct val="100000"/>
              </a:lnSpc>
            </a:pPr>
            <a:r>
              <a:rPr lang="en-US" dirty="0"/>
              <a:t>You can watch the demo </a:t>
            </a:r>
            <a:r>
              <a:rPr lang="en-US" dirty="0">
                <a:hlinkClick r:id="rId2"/>
              </a:rPr>
              <a:t>here</a:t>
            </a:r>
            <a:endParaRPr lang="en-GB" dirty="0"/>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12</a:t>
            </a:fld>
            <a:endParaRPr lang="uk-UA"/>
          </a:p>
        </p:txBody>
      </p:sp>
    </p:spTree>
    <p:extLst>
      <p:ext uri="{BB962C8B-B14F-4D97-AF65-F5344CB8AC3E}">
        <p14:creationId xmlns:p14="http://schemas.microsoft.com/office/powerpoint/2010/main" val="269569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New Model</a:t>
            </a:r>
          </a:p>
        </p:txBody>
      </p:sp>
      <p:sp>
        <p:nvSpPr>
          <p:cNvPr id="7" name="Content Placeholder 6"/>
          <p:cNvSpPr>
            <a:spLocks noGrp="1"/>
          </p:cNvSpPr>
          <p:nvPr>
            <p:ph idx="1"/>
          </p:nvPr>
        </p:nvSpPr>
        <p:spPr>
          <a:xfrm>
            <a:off x="1017637" y="1631315"/>
            <a:ext cx="10058193" cy="1156962"/>
          </a:xfrm>
        </p:spPr>
        <p:txBody>
          <a:bodyPr>
            <a:normAutofit/>
          </a:bodyPr>
          <a:lstStyle/>
          <a:p>
            <a:pPr>
              <a:lnSpc>
                <a:spcPct val="110000"/>
              </a:lnSpc>
            </a:pPr>
            <a:r>
              <a:rPr lang="en-GB" dirty="0"/>
              <a:t>In MySQL Workbench, go to File menu and select New Model as shown here.</a:t>
            </a:r>
          </a:p>
          <a:p>
            <a:pPr>
              <a:lnSpc>
                <a:spcPct val="110000"/>
              </a:lnSpc>
            </a:pPr>
            <a:endParaRPr lang="en-GB" dirty="0"/>
          </a:p>
          <a:p>
            <a:pPr>
              <a:lnSpc>
                <a:spcPct val="110000"/>
              </a:lnSpc>
            </a:pPr>
            <a:endParaRPr lang="en-US" dirty="0"/>
          </a:p>
          <a:p>
            <a:pPr>
              <a:lnSpc>
                <a:spcPct val="110000"/>
              </a:lnSpc>
            </a:pPr>
            <a:endParaRPr lang="en-GB" dirty="0"/>
          </a:p>
          <a:p>
            <a:pPr>
              <a:lnSpc>
                <a:spcPct val="11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13</a:t>
            </a:fld>
            <a:endParaRPr lang="uk-UA"/>
          </a:p>
        </p:txBody>
      </p:sp>
      <p:pic>
        <p:nvPicPr>
          <p:cNvPr id="5" name="Picture 4">
            <a:extLst>
              <a:ext uri="{FF2B5EF4-FFF2-40B4-BE49-F238E27FC236}">
                <a16:creationId xmlns:a16="http://schemas.microsoft.com/office/drawing/2014/main" id="{7626F393-CEC6-45B7-A2BC-2CBFB477DB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621" y="2957786"/>
            <a:ext cx="7360106" cy="279403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30700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New Model</a:t>
            </a:r>
          </a:p>
        </p:txBody>
      </p:sp>
      <p:sp>
        <p:nvSpPr>
          <p:cNvPr id="7" name="Content Placeholder 6"/>
          <p:cNvSpPr>
            <a:spLocks noGrp="1"/>
          </p:cNvSpPr>
          <p:nvPr>
            <p:ph idx="1"/>
          </p:nvPr>
        </p:nvSpPr>
        <p:spPr>
          <a:xfrm>
            <a:off x="1017638" y="1631313"/>
            <a:ext cx="10096830" cy="872999"/>
          </a:xfrm>
        </p:spPr>
        <p:txBody>
          <a:bodyPr>
            <a:normAutofit fontScale="92500" lnSpcReduction="20000"/>
          </a:bodyPr>
          <a:lstStyle/>
          <a:p>
            <a:pPr>
              <a:lnSpc>
                <a:spcPct val="100000"/>
              </a:lnSpc>
            </a:pPr>
            <a:r>
              <a:rPr lang="en-GB" dirty="0"/>
              <a:t>A window will appear as shown here.</a:t>
            </a:r>
          </a:p>
          <a:p>
            <a:pPr>
              <a:lnSpc>
                <a:spcPct val="100000"/>
              </a:lnSpc>
            </a:pPr>
            <a:r>
              <a:rPr lang="en-GB" dirty="0"/>
              <a:t>Click on the “</a:t>
            </a:r>
            <a:r>
              <a:rPr lang="en-GB" dirty="0">
                <a:solidFill>
                  <a:srgbClr val="FF0000"/>
                </a:solidFill>
              </a:rPr>
              <a:t>+</a:t>
            </a:r>
            <a:r>
              <a:rPr lang="en-GB" dirty="0"/>
              <a:t>” sign as highlighted to create a new schema.</a:t>
            </a:r>
          </a:p>
          <a:p>
            <a:pPr>
              <a:lnSpc>
                <a:spcPct val="100000"/>
              </a:lnSpc>
            </a:pPr>
            <a:endParaRPr lang="en-US" dirty="0"/>
          </a:p>
          <a:p>
            <a:pPr>
              <a:lnSpc>
                <a:spcPct val="100000"/>
              </a:lnSpc>
            </a:pPr>
            <a:endParaRPr lang="en-GB" dirty="0"/>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14</a:t>
            </a:fld>
            <a:endParaRPr lang="uk-UA"/>
          </a:p>
        </p:txBody>
      </p:sp>
      <p:pic>
        <p:nvPicPr>
          <p:cNvPr id="10" name="Picture 9">
            <a:extLst>
              <a:ext uri="{FF2B5EF4-FFF2-40B4-BE49-F238E27FC236}">
                <a16:creationId xmlns:a16="http://schemas.microsoft.com/office/drawing/2014/main" id="{7A3AF4F9-1B7B-4CA8-9078-B2FC2C258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972" y="2607342"/>
            <a:ext cx="5480161" cy="3635287"/>
          </a:xfrm>
          <a:prstGeom prst="rect">
            <a:avLst/>
          </a:prstGeom>
          <a:effectLst>
            <a:outerShdw blurRad="50800" dist="38100" dir="5400000" algn="t" rotWithShape="0">
              <a:prstClr val="black">
                <a:alpha val="40000"/>
              </a:prstClr>
            </a:outerShdw>
          </a:effectLst>
        </p:spPr>
      </p:pic>
      <p:sp>
        <p:nvSpPr>
          <p:cNvPr id="12" name="Rectangle 11">
            <a:extLst>
              <a:ext uri="{FF2B5EF4-FFF2-40B4-BE49-F238E27FC236}">
                <a16:creationId xmlns:a16="http://schemas.microsoft.com/office/drawing/2014/main" id="{33DD1439-EF8B-46DF-AA60-80DFA0989592}"/>
              </a:ext>
            </a:extLst>
          </p:cNvPr>
          <p:cNvSpPr/>
          <p:nvPr/>
        </p:nvSpPr>
        <p:spPr>
          <a:xfrm>
            <a:off x="8371267" y="3928054"/>
            <a:ext cx="206063" cy="212503"/>
          </a:xfrm>
          <a:prstGeom prst="rect">
            <a:avLst/>
          </a:prstGeom>
          <a:noFill/>
          <a:ln>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57599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New Model</a:t>
            </a:r>
          </a:p>
        </p:txBody>
      </p:sp>
      <p:sp>
        <p:nvSpPr>
          <p:cNvPr id="7" name="Content Placeholder 6"/>
          <p:cNvSpPr>
            <a:spLocks noGrp="1"/>
          </p:cNvSpPr>
          <p:nvPr>
            <p:ph sz="half" idx="1"/>
          </p:nvPr>
        </p:nvSpPr>
        <p:spPr>
          <a:xfrm>
            <a:off x="1104901" y="1600200"/>
            <a:ext cx="4651956" cy="4757256"/>
          </a:xfrm>
        </p:spPr>
        <p:txBody>
          <a:bodyPr>
            <a:normAutofit/>
          </a:bodyPr>
          <a:lstStyle/>
          <a:p>
            <a:pPr>
              <a:lnSpc>
                <a:spcPct val="100000"/>
              </a:lnSpc>
            </a:pPr>
            <a:r>
              <a:rPr lang="en-GB" sz="1600" dirty="0"/>
              <a:t>Enter the following information in the schema section:</a:t>
            </a:r>
          </a:p>
          <a:p>
            <a:pPr>
              <a:lnSpc>
                <a:spcPct val="100000"/>
              </a:lnSpc>
            </a:pPr>
            <a:r>
              <a:rPr lang="en-US" sz="1600" dirty="0"/>
              <a:t>For </a:t>
            </a:r>
            <a:r>
              <a:rPr lang="en-US" sz="1600" b="1" dirty="0"/>
              <a:t>Schema Name</a:t>
            </a:r>
            <a:r>
              <a:rPr lang="en-US" sz="1600" dirty="0"/>
              <a:t>, enter </a:t>
            </a:r>
            <a:r>
              <a:rPr lang="en-US" sz="1600" dirty="0" err="1">
                <a:solidFill>
                  <a:srgbClr val="FF0000"/>
                </a:solidFill>
                <a:latin typeface="Arial Unicode MS"/>
              </a:rPr>
              <a:t>movie_review</a:t>
            </a:r>
            <a:r>
              <a:rPr lang="en-US" sz="1600" dirty="0"/>
              <a:t>.</a:t>
            </a:r>
          </a:p>
          <a:p>
            <a:pPr>
              <a:lnSpc>
                <a:spcPct val="100000"/>
              </a:lnSpc>
            </a:pPr>
            <a:r>
              <a:rPr lang="en-US" sz="1600" dirty="0"/>
              <a:t>For </a:t>
            </a:r>
            <a:r>
              <a:rPr lang="en-US" sz="1600" b="1" dirty="0"/>
              <a:t>Default Collation</a:t>
            </a:r>
            <a:r>
              <a:rPr lang="en-US" sz="1600" dirty="0"/>
              <a:t>, select </a:t>
            </a:r>
            <a:r>
              <a:rPr lang="en-US" sz="1600" dirty="0">
                <a:solidFill>
                  <a:srgbClr val="FF0000"/>
                </a:solidFill>
              </a:rPr>
              <a:t>utf8mb4 – utf8mb4_unicode_ci</a:t>
            </a:r>
            <a:r>
              <a:rPr lang="en-US" sz="1600" dirty="0"/>
              <a:t>.</a:t>
            </a:r>
          </a:p>
          <a:p>
            <a:pPr>
              <a:lnSpc>
                <a:spcPct val="100000"/>
              </a:lnSpc>
            </a:pPr>
            <a:r>
              <a:rPr lang="en-US" sz="1600" dirty="0"/>
              <a:t>Next, double click on the </a:t>
            </a:r>
            <a:r>
              <a:rPr lang="en-US" sz="1600" b="1" dirty="0"/>
              <a:t>Add Diagram</a:t>
            </a:r>
            <a:r>
              <a:rPr lang="en-US" sz="1600" dirty="0"/>
              <a:t> icon to add a new ER Model diagram to the </a:t>
            </a:r>
            <a:r>
              <a:rPr lang="en-US" sz="1600" dirty="0" err="1">
                <a:solidFill>
                  <a:srgbClr val="FF0000"/>
                </a:solidFill>
              </a:rPr>
              <a:t>movie_review</a:t>
            </a:r>
            <a:r>
              <a:rPr lang="en-US" sz="1600" dirty="0"/>
              <a:t> schema.</a:t>
            </a:r>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15</a:t>
            </a:fld>
            <a:endParaRPr lang="uk-UA"/>
          </a:p>
        </p:txBody>
      </p:sp>
      <p:pic>
        <p:nvPicPr>
          <p:cNvPr id="9" name="Content Placeholder 8">
            <a:extLst>
              <a:ext uri="{FF2B5EF4-FFF2-40B4-BE49-F238E27FC236}">
                <a16:creationId xmlns:a16="http://schemas.microsoft.com/office/drawing/2014/main" id="{EC137816-A4DD-429F-A29E-78E6E12A8A4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58692" y="1600200"/>
            <a:ext cx="4341915" cy="4572000"/>
          </a:xfrm>
          <a:effectLst>
            <a:outerShdw blurRad="50800" dist="38100" dir="5400000" algn="t" rotWithShape="0">
              <a:prstClr val="black">
                <a:alpha val="40000"/>
              </a:prstClr>
            </a:outerShdw>
          </a:effectLst>
        </p:spPr>
      </p:pic>
      <p:cxnSp>
        <p:nvCxnSpPr>
          <p:cNvPr id="12" name="Straight Arrow Connector 11">
            <a:extLst>
              <a:ext uri="{FF2B5EF4-FFF2-40B4-BE49-F238E27FC236}">
                <a16:creationId xmlns:a16="http://schemas.microsoft.com/office/drawing/2014/main" id="{8871E585-9A49-4B03-A184-4BF77AD865A9}"/>
              </a:ext>
            </a:extLst>
          </p:cNvPr>
          <p:cNvCxnSpPr>
            <a:cxnSpLocks/>
          </p:cNvCxnSpPr>
          <p:nvPr/>
        </p:nvCxnSpPr>
        <p:spPr>
          <a:xfrm>
            <a:off x="5422006" y="2009104"/>
            <a:ext cx="985233" cy="2569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51902F-F7E8-4450-A321-5CA5089632FA}"/>
              </a:ext>
            </a:extLst>
          </p:cNvPr>
          <p:cNvCxnSpPr/>
          <p:nvPr/>
        </p:nvCxnSpPr>
        <p:spPr>
          <a:xfrm flipV="1">
            <a:off x="4797380" y="2131454"/>
            <a:ext cx="1777285" cy="1107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97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New Model</a:t>
            </a:r>
          </a:p>
        </p:txBody>
      </p:sp>
      <p:sp>
        <p:nvSpPr>
          <p:cNvPr id="7" name="Content Placeholder 6"/>
          <p:cNvSpPr>
            <a:spLocks noGrp="1"/>
          </p:cNvSpPr>
          <p:nvPr>
            <p:ph sz="half" idx="1"/>
          </p:nvPr>
        </p:nvSpPr>
        <p:spPr>
          <a:xfrm>
            <a:off x="1104900" y="1600200"/>
            <a:ext cx="10248899" cy="441101"/>
          </a:xfrm>
        </p:spPr>
        <p:txBody>
          <a:bodyPr>
            <a:normAutofit/>
          </a:bodyPr>
          <a:lstStyle/>
          <a:p>
            <a:pPr>
              <a:lnSpc>
                <a:spcPct val="100000"/>
              </a:lnSpc>
            </a:pPr>
            <a:r>
              <a:rPr lang="en-GB" sz="1600" dirty="0"/>
              <a:t>A new tab opens as shown here. This allows you to add tables into the grid area.</a:t>
            </a:r>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16</a:t>
            </a:fld>
            <a:endParaRPr lang="uk-UA"/>
          </a:p>
        </p:txBody>
      </p:sp>
      <p:pic>
        <p:nvPicPr>
          <p:cNvPr id="8" name="Content Placeholder 7">
            <a:extLst>
              <a:ext uri="{FF2B5EF4-FFF2-40B4-BE49-F238E27FC236}">
                <a16:creationId xmlns:a16="http://schemas.microsoft.com/office/drawing/2014/main" id="{0AA808A4-3FB8-489F-A703-1641D66FB84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728268" y="2120263"/>
            <a:ext cx="4914900" cy="4237193"/>
          </a:xfrm>
          <a:effectLst>
            <a:outerShdw blurRad="50800" dist="38100" dir="5400000" algn="t" rotWithShape="0">
              <a:prstClr val="black">
                <a:alpha val="40000"/>
              </a:prstClr>
            </a:outerShdw>
          </a:effectLst>
        </p:spPr>
      </p:pic>
      <p:sp>
        <p:nvSpPr>
          <p:cNvPr id="10" name="Rectangular Callout 21">
            <a:extLst>
              <a:ext uri="{FF2B5EF4-FFF2-40B4-BE49-F238E27FC236}">
                <a16:creationId xmlns:a16="http://schemas.microsoft.com/office/drawing/2014/main" id="{2FB60F46-E072-46AB-A9FA-1F334AC03220}"/>
              </a:ext>
            </a:extLst>
          </p:cNvPr>
          <p:cNvSpPr/>
          <p:nvPr/>
        </p:nvSpPr>
        <p:spPr>
          <a:xfrm>
            <a:off x="5743978" y="3182327"/>
            <a:ext cx="2240923" cy="893836"/>
          </a:xfrm>
          <a:prstGeom prst="wedgeRectCallout">
            <a:avLst>
              <a:gd name="adj1" fmla="val -71794"/>
              <a:gd name="adj2" fmla="val 14508"/>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Click on this icon to create a new table then go to next slide.</a:t>
            </a:r>
          </a:p>
        </p:txBody>
      </p:sp>
    </p:spTree>
    <p:extLst>
      <p:ext uri="{BB962C8B-B14F-4D97-AF65-F5344CB8AC3E}">
        <p14:creationId xmlns:p14="http://schemas.microsoft.com/office/powerpoint/2010/main" val="259996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New Model</a:t>
            </a:r>
          </a:p>
        </p:txBody>
      </p:sp>
      <p:sp>
        <p:nvSpPr>
          <p:cNvPr id="7" name="Content Placeholder 6"/>
          <p:cNvSpPr>
            <a:spLocks noGrp="1"/>
          </p:cNvSpPr>
          <p:nvPr>
            <p:ph sz="half" idx="1"/>
          </p:nvPr>
        </p:nvSpPr>
        <p:spPr>
          <a:xfrm>
            <a:off x="1104900" y="1600200"/>
            <a:ext cx="10248899" cy="1394137"/>
          </a:xfrm>
        </p:spPr>
        <p:txBody>
          <a:bodyPr>
            <a:normAutofit/>
          </a:bodyPr>
          <a:lstStyle/>
          <a:p>
            <a:pPr>
              <a:lnSpc>
                <a:spcPct val="100000"/>
              </a:lnSpc>
            </a:pPr>
            <a:r>
              <a:rPr lang="en-GB" sz="1600" dirty="0"/>
              <a:t>After the icon is clicked, an blue image of “</a:t>
            </a:r>
            <a:r>
              <a:rPr lang="en-GB" sz="1600" b="1" dirty="0"/>
              <a:t>table1</a:t>
            </a:r>
            <a:r>
              <a:rPr lang="en-GB" sz="1600" dirty="0"/>
              <a:t>” will appear as shown. Double click on it to bring out the bottom panel as shown on the right image.</a:t>
            </a:r>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17</a:t>
            </a:fld>
            <a:endParaRPr lang="uk-UA"/>
          </a:p>
        </p:txBody>
      </p:sp>
      <p:pic>
        <p:nvPicPr>
          <p:cNvPr id="9" name="Content Placeholder 8">
            <a:extLst>
              <a:ext uri="{FF2B5EF4-FFF2-40B4-BE49-F238E27FC236}">
                <a16:creationId xmlns:a16="http://schemas.microsoft.com/office/drawing/2014/main" id="{DDF08A11-849B-4A77-957E-90205CBA385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6236" y="2949077"/>
            <a:ext cx="4914900" cy="2596705"/>
          </a:xfr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ECED09BE-7B51-4776-9495-0F74A11018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5264" y="2725126"/>
            <a:ext cx="5118535" cy="3044609"/>
          </a:xfrm>
          <a:prstGeom prst="rect">
            <a:avLst/>
          </a:prstGeom>
          <a:effectLst>
            <a:outerShdw blurRad="50800" dist="38100" dir="5400000" algn="t" rotWithShape="0">
              <a:prstClr val="black">
                <a:alpha val="40000"/>
              </a:prstClr>
            </a:outerShdw>
          </a:effectLst>
        </p:spPr>
      </p:pic>
      <p:cxnSp>
        <p:nvCxnSpPr>
          <p:cNvPr id="14" name="Straight Arrow Connector 13">
            <a:extLst>
              <a:ext uri="{FF2B5EF4-FFF2-40B4-BE49-F238E27FC236}">
                <a16:creationId xmlns:a16="http://schemas.microsoft.com/office/drawing/2014/main" id="{59B8C33A-ADC8-4622-9C03-A620EE5441A4}"/>
              </a:ext>
            </a:extLst>
          </p:cNvPr>
          <p:cNvCxnSpPr/>
          <p:nvPr/>
        </p:nvCxnSpPr>
        <p:spPr>
          <a:xfrm>
            <a:off x="5705341" y="4353059"/>
            <a:ext cx="4507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ular Callout 21">
            <a:extLst>
              <a:ext uri="{FF2B5EF4-FFF2-40B4-BE49-F238E27FC236}">
                <a16:creationId xmlns:a16="http://schemas.microsoft.com/office/drawing/2014/main" id="{2E36FBCE-827E-4F77-BBBF-3AFDC98666D1}"/>
              </a:ext>
            </a:extLst>
          </p:cNvPr>
          <p:cNvSpPr/>
          <p:nvPr/>
        </p:nvSpPr>
        <p:spPr>
          <a:xfrm>
            <a:off x="3580327" y="5107719"/>
            <a:ext cx="1809481" cy="359363"/>
          </a:xfrm>
          <a:prstGeom prst="wedgeRectCallout">
            <a:avLst>
              <a:gd name="adj1" fmla="val -29801"/>
              <a:gd name="adj2" fmla="val -205896"/>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Double click on this.</a:t>
            </a:r>
          </a:p>
        </p:txBody>
      </p:sp>
    </p:spTree>
    <p:extLst>
      <p:ext uri="{BB962C8B-B14F-4D97-AF65-F5344CB8AC3E}">
        <p14:creationId xmlns:p14="http://schemas.microsoft.com/office/powerpoint/2010/main" val="3137784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New Model</a:t>
            </a:r>
          </a:p>
        </p:txBody>
      </p:sp>
      <p:sp>
        <p:nvSpPr>
          <p:cNvPr id="7" name="Content Placeholder 6"/>
          <p:cNvSpPr>
            <a:spLocks noGrp="1"/>
          </p:cNvSpPr>
          <p:nvPr>
            <p:ph sz="half" idx="1"/>
          </p:nvPr>
        </p:nvSpPr>
        <p:spPr>
          <a:xfrm>
            <a:off x="1104901" y="1600200"/>
            <a:ext cx="3762664" cy="4757255"/>
          </a:xfrm>
        </p:spPr>
        <p:txBody>
          <a:bodyPr>
            <a:normAutofit/>
          </a:bodyPr>
          <a:lstStyle/>
          <a:p>
            <a:pPr>
              <a:lnSpc>
                <a:spcPct val="100000"/>
              </a:lnSpc>
            </a:pPr>
            <a:r>
              <a:rPr lang="en-US" sz="1600" dirty="0"/>
              <a:t>Follow the information in slide 11 for the </a:t>
            </a:r>
            <a:r>
              <a:rPr lang="en-US" sz="1600" dirty="0">
                <a:solidFill>
                  <a:srgbClr val="FF0000"/>
                </a:solidFill>
              </a:rPr>
              <a:t>movie</a:t>
            </a:r>
            <a:r>
              <a:rPr lang="en-US" sz="1600" dirty="0"/>
              <a:t> table and create the fields in the bottom panel.</a:t>
            </a:r>
          </a:p>
          <a:p>
            <a:pPr>
              <a:lnSpc>
                <a:spcPct val="100000"/>
              </a:lnSpc>
            </a:pPr>
            <a:r>
              <a:rPr lang="en-US" sz="1600" dirty="0"/>
              <a:t>You should have the same view on the right after all fields are added.</a:t>
            </a:r>
          </a:p>
          <a:p>
            <a:pPr marL="0" indent="0">
              <a:lnSpc>
                <a:spcPct val="100000"/>
              </a:lnSpc>
              <a:buNone/>
            </a:pPr>
            <a:endParaRPr lang="en-GB" sz="1200" dirty="0"/>
          </a:p>
          <a:p>
            <a:pPr lvl="1">
              <a:lnSpc>
                <a:spcPct val="100000"/>
              </a:lnSpc>
            </a:pPr>
            <a:endParaRPr lang="en-GB" sz="1200" dirty="0"/>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18</a:t>
            </a:fld>
            <a:endParaRPr lang="uk-UA"/>
          </a:p>
        </p:txBody>
      </p:sp>
      <p:pic>
        <p:nvPicPr>
          <p:cNvPr id="17" name="Content Placeholder 16">
            <a:extLst>
              <a:ext uri="{FF2B5EF4-FFF2-40B4-BE49-F238E27FC236}">
                <a16:creationId xmlns:a16="http://schemas.microsoft.com/office/drawing/2014/main" id="{B0BB27BE-4820-4858-997E-596664F6B67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13910" y="1513267"/>
            <a:ext cx="5820921" cy="4690645"/>
          </a:xfrm>
          <a:effectLst>
            <a:outerShdw blurRad="50800" dist="38100" dir="5400000" algn="t" rotWithShape="0">
              <a:prstClr val="black">
                <a:alpha val="40000"/>
              </a:prstClr>
            </a:outerShdw>
          </a:effectLst>
        </p:spPr>
      </p:pic>
      <p:cxnSp>
        <p:nvCxnSpPr>
          <p:cNvPr id="19" name="Straight Arrow Connector 18">
            <a:extLst>
              <a:ext uri="{FF2B5EF4-FFF2-40B4-BE49-F238E27FC236}">
                <a16:creationId xmlns:a16="http://schemas.microsoft.com/office/drawing/2014/main" id="{202C9040-7C4A-4715-AB46-D97519CDF0D9}"/>
              </a:ext>
            </a:extLst>
          </p:cNvPr>
          <p:cNvCxnSpPr>
            <a:cxnSpLocks/>
          </p:cNvCxnSpPr>
          <p:nvPr/>
        </p:nvCxnSpPr>
        <p:spPr>
          <a:xfrm>
            <a:off x="4353059" y="2228045"/>
            <a:ext cx="2363273" cy="2331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002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53F9C-DDB0-4098-936A-6595AF715340}"/>
              </a:ext>
            </a:extLst>
          </p:cNvPr>
          <p:cNvSpPr>
            <a:spLocks noGrp="1"/>
          </p:cNvSpPr>
          <p:nvPr>
            <p:ph type="title"/>
          </p:nvPr>
        </p:nvSpPr>
        <p:spPr/>
        <p:txBody>
          <a:bodyPr/>
          <a:lstStyle/>
          <a:p>
            <a:r>
              <a:rPr lang="en-GB" dirty="0"/>
              <a:t>Creating a New Model</a:t>
            </a:r>
          </a:p>
        </p:txBody>
      </p:sp>
      <p:sp>
        <p:nvSpPr>
          <p:cNvPr id="5" name="Slide Number Placeholder 4">
            <a:extLst>
              <a:ext uri="{FF2B5EF4-FFF2-40B4-BE49-F238E27FC236}">
                <a16:creationId xmlns:a16="http://schemas.microsoft.com/office/drawing/2014/main" id="{58EAD1C9-F1F5-40BB-808C-4284638A5D48}"/>
              </a:ext>
            </a:extLst>
          </p:cNvPr>
          <p:cNvSpPr>
            <a:spLocks noGrp="1"/>
          </p:cNvSpPr>
          <p:nvPr>
            <p:ph type="sldNum" sz="quarter" idx="12"/>
          </p:nvPr>
        </p:nvSpPr>
        <p:spPr/>
        <p:txBody>
          <a:bodyPr/>
          <a:lstStyle/>
          <a:p>
            <a:fld id="{0FF54DE5-C571-48E8-A5BC-B369434E2F44}" type="slidenum">
              <a:rPr lang="en-US" smtClean="0"/>
              <a:t>19</a:t>
            </a:fld>
            <a:endParaRPr lang="en-US"/>
          </a:p>
        </p:txBody>
      </p:sp>
      <p:sp>
        <p:nvSpPr>
          <p:cNvPr id="11" name="Content Placeholder 6">
            <a:extLst>
              <a:ext uri="{FF2B5EF4-FFF2-40B4-BE49-F238E27FC236}">
                <a16:creationId xmlns:a16="http://schemas.microsoft.com/office/drawing/2014/main" id="{591E7C91-E0E0-4192-85E2-AAB5A7B25232}"/>
              </a:ext>
            </a:extLst>
          </p:cNvPr>
          <p:cNvSpPr txBox="1">
            <a:spLocks/>
          </p:cNvSpPr>
          <p:nvPr/>
        </p:nvSpPr>
        <p:spPr>
          <a:xfrm>
            <a:off x="1104900" y="1600200"/>
            <a:ext cx="4168999" cy="47081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600" dirty="0"/>
              <a:t>After you complete the movie table, use the same way to create the </a:t>
            </a:r>
            <a:r>
              <a:rPr lang="en-US" sz="1600" dirty="0">
                <a:solidFill>
                  <a:srgbClr val="FF0000"/>
                </a:solidFill>
              </a:rPr>
              <a:t>comment</a:t>
            </a:r>
            <a:r>
              <a:rPr lang="en-US" sz="1600" dirty="0"/>
              <a:t> table.</a:t>
            </a:r>
          </a:p>
          <a:p>
            <a:pPr>
              <a:lnSpc>
                <a:spcPct val="100000"/>
              </a:lnSpc>
            </a:pPr>
            <a:r>
              <a:rPr lang="en-US" sz="1600" dirty="0"/>
              <a:t>You may ask how to set </a:t>
            </a:r>
            <a:r>
              <a:rPr lang="en-US" sz="1600" dirty="0" err="1">
                <a:solidFill>
                  <a:srgbClr val="FF0000"/>
                </a:solidFill>
              </a:rPr>
              <a:t>movieId</a:t>
            </a:r>
            <a:r>
              <a:rPr lang="en-US" sz="1600" dirty="0"/>
              <a:t> as a Foreign Key? We will do that in the next slide after you’ve added all the fields. Just add </a:t>
            </a:r>
            <a:r>
              <a:rPr lang="en-US" sz="1600" dirty="0" err="1">
                <a:solidFill>
                  <a:srgbClr val="FF0000"/>
                </a:solidFill>
              </a:rPr>
              <a:t>movieId</a:t>
            </a:r>
            <a:r>
              <a:rPr lang="en-US" sz="1600" dirty="0"/>
              <a:t> according to the diagram here as per normal.</a:t>
            </a:r>
          </a:p>
          <a:p>
            <a:pPr>
              <a:lnSpc>
                <a:spcPct val="100000"/>
              </a:lnSpc>
            </a:pPr>
            <a:r>
              <a:rPr lang="en-US" sz="1600" dirty="0"/>
              <a:t>You should have a similar view on the right after all fields are added.</a:t>
            </a:r>
          </a:p>
          <a:p>
            <a:pPr>
              <a:lnSpc>
                <a:spcPct val="100000"/>
              </a:lnSpc>
            </a:pPr>
            <a:r>
              <a:rPr lang="en-US" sz="1600" dirty="0"/>
              <a:t>Now click on the </a:t>
            </a:r>
            <a:r>
              <a:rPr lang="en-US" sz="1600" b="1" dirty="0"/>
              <a:t>Foreign Keys</a:t>
            </a:r>
            <a:r>
              <a:rPr lang="en-US" sz="1600" dirty="0"/>
              <a:t> tab at the bottom.</a:t>
            </a:r>
          </a:p>
          <a:p>
            <a:pPr>
              <a:lnSpc>
                <a:spcPct val="100000"/>
              </a:lnSpc>
            </a:pPr>
            <a:endParaRPr lang="en-US" sz="1600" dirty="0"/>
          </a:p>
          <a:p>
            <a:pPr>
              <a:lnSpc>
                <a:spcPct val="100000"/>
              </a:lnSpc>
            </a:pPr>
            <a:endParaRPr lang="en-US" sz="1600" dirty="0"/>
          </a:p>
          <a:p>
            <a:pPr>
              <a:lnSpc>
                <a:spcPct val="100000"/>
              </a:lnSpc>
            </a:pPr>
            <a:endParaRPr lang="en-GB" sz="1600" dirty="0"/>
          </a:p>
          <a:p>
            <a:pPr>
              <a:lnSpc>
                <a:spcPct val="100000"/>
              </a:lnSpc>
            </a:pPr>
            <a:endParaRPr lang="en-GB" sz="1600" dirty="0"/>
          </a:p>
        </p:txBody>
      </p:sp>
      <p:pic>
        <p:nvPicPr>
          <p:cNvPr id="8" name="Content Placeholder 7">
            <a:extLst>
              <a:ext uri="{FF2B5EF4-FFF2-40B4-BE49-F238E27FC236}">
                <a16:creationId xmlns:a16="http://schemas.microsoft.com/office/drawing/2014/main" id="{4583F246-8AB8-48F1-9DDC-30F239D77D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65771" y="1661150"/>
            <a:ext cx="4141390" cy="4586288"/>
          </a:xfrm>
          <a:effectLst>
            <a:outerShdw blurRad="50800" dist="38100" dir="5400000" algn="t" rotWithShape="0">
              <a:prstClr val="black">
                <a:alpha val="40000"/>
              </a:prstClr>
            </a:outerShdw>
          </a:effectLst>
        </p:spPr>
      </p:pic>
      <p:cxnSp>
        <p:nvCxnSpPr>
          <p:cNvPr id="12" name="Straight Arrow Connector 11">
            <a:extLst>
              <a:ext uri="{FF2B5EF4-FFF2-40B4-BE49-F238E27FC236}">
                <a16:creationId xmlns:a16="http://schemas.microsoft.com/office/drawing/2014/main" id="{3A20E66C-DC5F-4957-BA6F-A0BF8EA43ACB}"/>
              </a:ext>
            </a:extLst>
          </p:cNvPr>
          <p:cNvCxnSpPr/>
          <p:nvPr/>
        </p:nvCxnSpPr>
        <p:spPr>
          <a:xfrm>
            <a:off x="5132231" y="3103808"/>
            <a:ext cx="1191296" cy="1661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0126DD6-DFAE-433B-AF10-BD8D73EA6140}"/>
              </a:ext>
            </a:extLst>
          </p:cNvPr>
          <p:cNvCxnSpPr/>
          <p:nvPr/>
        </p:nvCxnSpPr>
        <p:spPr>
          <a:xfrm>
            <a:off x="3305331" y="4302177"/>
            <a:ext cx="3874958" cy="17763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832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8464-84B5-4275-883A-9F6BF579ED48}"/>
              </a:ext>
            </a:extLst>
          </p:cNvPr>
          <p:cNvSpPr>
            <a:spLocks noGrp="1"/>
          </p:cNvSpPr>
          <p:nvPr>
            <p:ph type="title"/>
          </p:nvPr>
        </p:nvSpPr>
        <p:spPr/>
        <p:txBody>
          <a:bodyPr/>
          <a:lstStyle/>
          <a:p>
            <a:r>
              <a:rPr lang="en-GB" dirty="0"/>
              <a:t>Creating a New Model</a:t>
            </a:r>
          </a:p>
        </p:txBody>
      </p:sp>
      <p:sp>
        <p:nvSpPr>
          <p:cNvPr id="3" name="Content Placeholder 2">
            <a:extLst>
              <a:ext uri="{FF2B5EF4-FFF2-40B4-BE49-F238E27FC236}">
                <a16:creationId xmlns:a16="http://schemas.microsoft.com/office/drawing/2014/main" id="{75FA7E56-6B24-42B3-AD09-F99624CC0A16}"/>
              </a:ext>
            </a:extLst>
          </p:cNvPr>
          <p:cNvSpPr>
            <a:spLocks noGrp="1"/>
          </p:cNvSpPr>
          <p:nvPr>
            <p:ph idx="1"/>
          </p:nvPr>
        </p:nvSpPr>
        <p:spPr>
          <a:xfrm>
            <a:off x="1017638" y="1631314"/>
            <a:ext cx="4095275" cy="4706664"/>
          </a:xfrm>
        </p:spPr>
        <p:txBody>
          <a:bodyPr>
            <a:normAutofit fontScale="55000" lnSpcReduction="20000"/>
          </a:bodyPr>
          <a:lstStyle/>
          <a:p>
            <a:pPr>
              <a:lnSpc>
                <a:spcPct val="120000"/>
              </a:lnSpc>
            </a:pPr>
            <a:r>
              <a:rPr lang="en-GB" dirty="0"/>
              <a:t>The </a:t>
            </a:r>
            <a:r>
              <a:rPr lang="en-GB" b="1" dirty="0"/>
              <a:t>Foreign Keys</a:t>
            </a:r>
            <a:r>
              <a:rPr lang="en-GB" dirty="0"/>
              <a:t> tab has 3 columns as shown here.</a:t>
            </a:r>
          </a:p>
          <a:p>
            <a:pPr>
              <a:lnSpc>
                <a:spcPct val="120000"/>
              </a:lnSpc>
            </a:pPr>
            <a:r>
              <a:rPr lang="en-GB" dirty="0"/>
              <a:t>Starting with the left most column, enter “</a:t>
            </a:r>
            <a:r>
              <a:rPr lang="en-GB" dirty="0" err="1">
                <a:solidFill>
                  <a:srgbClr val="FF0000"/>
                </a:solidFill>
              </a:rPr>
              <a:t>movieId</a:t>
            </a:r>
            <a:r>
              <a:rPr lang="en-GB" dirty="0"/>
              <a:t>” in the </a:t>
            </a:r>
            <a:r>
              <a:rPr lang="en-GB" b="1" dirty="0"/>
              <a:t>Foreign Key</a:t>
            </a:r>
            <a:r>
              <a:rPr lang="en-GB" dirty="0"/>
              <a:t> column.</a:t>
            </a:r>
          </a:p>
          <a:p>
            <a:pPr>
              <a:lnSpc>
                <a:spcPct val="120000"/>
              </a:lnSpc>
            </a:pPr>
            <a:r>
              <a:rPr lang="en-GB" dirty="0"/>
              <a:t>In the </a:t>
            </a:r>
            <a:r>
              <a:rPr lang="en-GB" b="1" dirty="0"/>
              <a:t>Referenced Table</a:t>
            </a:r>
            <a:r>
              <a:rPr lang="en-GB" dirty="0"/>
              <a:t> column, select </a:t>
            </a:r>
            <a:r>
              <a:rPr lang="en-GB" dirty="0">
                <a:solidFill>
                  <a:srgbClr val="FF0000"/>
                </a:solidFill>
              </a:rPr>
              <a:t>‘</a:t>
            </a:r>
            <a:r>
              <a:rPr lang="en-GB" dirty="0" err="1">
                <a:solidFill>
                  <a:srgbClr val="FF0000"/>
                </a:solidFill>
              </a:rPr>
              <a:t>movie_review’.’movie</a:t>
            </a:r>
            <a:r>
              <a:rPr lang="en-GB" dirty="0">
                <a:solidFill>
                  <a:srgbClr val="FF0000"/>
                </a:solidFill>
              </a:rPr>
              <a:t>’</a:t>
            </a:r>
            <a:r>
              <a:rPr lang="en-GB" dirty="0"/>
              <a:t> because this is where the Foreign Key should link to.</a:t>
            </a:r>
          </a:p>
          <a:p>
            <a:pPr>
              <a:lnSpc>
                <a:spcPct val="120000"/>
              </a:lnSpc>
            </a:pPr>
            <a:r>
              <a:rPr lang="en-GB" dirty="0"/>
              <a:t>In the </a:t>
            </a:r>
            <a:r>
              <a:rPr lang="en-GB" dirty="0" err="1"/>
              <a:t>center</a:t>
            </a:r>
            <a:r>
              <a:rPr lang="en-GB" dirty="0"/>
              <a:t> column, check the </a:t>
            </a:r>
            <a:r>
              <a:rPr lang="en-GB" dirty="0" err="1">
                <a:solidFill>
                  <a:srgbClr val="FF0000"/>
                </a:solidFill>
              </a:rPr>
              <a:t>movieId</a:t>
            </a:r>
            <a:r>
              <a:rPr lang="en-GB" dirty="0"/>
              <a:t> field and select </a:t>
            </a:r>
            <a:r>
              <a:rPr lang="en-GB" dirty="0">
                <a:solidFill>
                  <a:srgbClr val="FF0000"/>
                </a:solidFill>
              </a:rPr>
              <a:t>_id</a:t>
            </a:r>
            <a:r>
              <a:rPr lang="en-GB" dirty="0"/>
              <a:t> as the </a:t>
            </a:r>
            <a:r>
              <a:rPr lang="en-GB" b="1" dirty="0"/>
              <a:t>Referenced Column</a:t>
            </a:r>
            <a:r>
              <a:rPr lang="en-GB" dirty="0"/>
              <a:t> because this is the Primary Key that </a:t>
            </a:r>
            <a:r>
              <a:rPr lang="en-GB" dirty="0" err="1">
                <a:solidFill>
                  <a:srgbClr val="FF0000"/>
                </a:solidFill>
              </a:rPr>
              <a:t>movieId</a:t>
            </a:r>
            <a:r>
              <a:rPr lang="en-GB" dirty="0"/>
              <a:t> will link to.</a:t>
            </a:r>
          </a:p>
          <a:p>
            <a:pPr>
              <a:lnSpc>
                <a:spcPct val="120000"/>
              </a:lnSpc>
            </a:pPr>
            <a:r>
              <a:rPr lang="en-GB" dirty="0"/>
              <a:t>In the right column, select </a:t>
            </a:r>
            <a:r>
              <a:rPr lang="en-GB" dirty="0">
                <a:solidFill>
                  <a:srgbClr val="FF0000"/>
                </a:solidFill>
              </a:rPr>
              <a:t>CASCADE</a:t>
            </a:r>
            <a:r>
              <a:rPr lang="en-GB" dirty="0"/>
              <a:t> for </a:t>
            </a:r>
            <a:r>
              <a:rPr lang="en-GB" b="1" dirty="0"/>
              <a:t>On Delete</a:t>
            </a:r>
            <a:r>
              <a:rPr lang="en-GB" dirty="0"/>
              <a:t>. This ensures that if a particular movie is deleted, then all comments for this movie will be deleted automatically by the database server.</a:t>
            </a:r>
          </a:p>
        </p:txBody>
      </p:sp>
      <p:sp>
        <p:nvSpPr>
          <p:cNvPr id="4" name="Slide Number Placeholder 3">
            <a:extLst>
              <a:ext uri="{FF2B5EF4-FFF2-40B4-BE49-F238E27FC236}">
                <a16:creationId xmlns:a16="http://schemas.microsoft.com/office/drawing/2014/main" id="{1B1AF702-972D-4CD1-AC85-7871C44CFAAC}"/>
              </a:ext>
            </a:extLst>
          </p:cNvPr>
          <p:cNvSpPr>
            <a:spLocks noGrp="1"/>
          </p:cNvSpPr>
          <p:nvPr>
            <p:ph type="sldNum" sz="quarter" idx="12"/>
          </p:nvPr>
        </p:nvSpPr>
        <p:spPr/>
        <p:txBody>
          <a:bodyPr/>
          <a:lstStyle/>
          <a:p>
            <a:fld id="{8E9E4023-6F3A-457B-B0BB-8C1F114B424F}" type="slidenum">
              <a:rPr lang="en-SG" smtClean="0"/>
              <a:t>20</a:t>
            </a:fld>
            <a:endParaRPr lang="en-SG"/>
          </a:p>
        </p:txBody>
      </p:sp>
      <p:pic>
        <p:nvPicPr>
          <p:cNvPr id="6" name="Picture 5">
            <a:extLst>
              <a:ext uri="{FF2B5EF4-FFF2-40B4-BE49-F238E27FC236}">
                <a16:creationId xmlns:a16="http://schemas.microsoft.com/office/drawing/2014/main" id="{B3C903BD-239A-4FCA-B969-9FCB01D47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4359" y="1402895"/>
            <a:ext cx="3980752" cy="209319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006BC0D1-2CA1-412E-803C-69AA5D0DF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4055" y="4036042"/>
            <a:ext cx="5661361" cy="2301936"/>
          </a:xfrm>
          <a:prstGeom prst="rect">
            <a:avLst/>
          </a:prstGeom>
          <a:effectLst>
            <a:outerShdw blurRad="50800" dist="38100" dir="5400000" algn="t" rotWithShape="0">
              <a:prstClr val="black">
                <a:alpha val="40000"/>
              </a:prstClr>
            </a:outerShdw>
          </a:effectLst>
        </p:spPr>
      </p:pic>
      <p:cxnSp>
        <p:nvCxnSpPr>
          <p:cNvPr id="11" name="Straight Arrow Connector 10">
            <a:extLst>
              <a:ext uri="{FF2B5EF4-FFF2-40B4-BE49-F238E27FC236}">
                <a16:creationId xmlns:a16="http://schemas.microsoft.com/office/drawing/2014/main" id="{540F5B56-9A93-4B30-9AC2-B9F89D4A848D}"/>
              </a:ext>
            </a:extLst>
          </p:cNvPr>
          <p:cNvCxnSpPr>
            <a:cxnSpLocks/>
          </p:cNvCxnSpPr>
          <p:nvPr/>
        </p:nvCxnSpPr>
        <p:spPr>
          <a:xfrm>
            <a:off x="4971245" y="1803042"/>
            <a:ext cx="13104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E15B9A7-513A-4E02-A944-1B76BFE89FC5}"/>
              </a:ext>
            </a:extLst>
          </p:cNvPr>
          <p:cNvCxnSpPr>
            <a:cxnSpLocks/>
          </p:cNvCxnSpPr>
          <p:nvPr/>
        </p:nvCxnSpPr>
        <p:spPr>
          <a:xfrm>
            <a:off x="8384735" y="3631842"/>
            <a:ext cx="0" cy="352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241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8464-84B5-4275-883A-9F6BF579ED48}"/>
              </a:ext>
            </a:extLst>
          </p:cNvPr>
          <p:cNvSpPr>
            <a:spLocks noGrp="1"/>
          </p:cNvSpPr>
          <p:nvPr>
            <p:ph type="title"/>
          </p:nvPr>
        </p:nvSpPr>
        <p:spPr/>
        <p:txBody>
          <a:bodyPr/>
          <a:lstStyle/>
          <a:p>
            <a:r>
              <a:rPr lang="en-GB" dirty="0"/>
              <a:t>Creating a New Model</a:t>
            </a:r>
          </a:p>
        </p:txBody>
      </p:sp>
      <p:sp>
        <p:nvSpPr>
          <p:cNvPr id="3" name="Content Placeholder 2">
            <a:extLst>
              <a:ext uri="{FF2B5EF4-FFF2-40B4-BE49-F238E27FC236}">
                <a16:creationId xmlns:a16="http://schemas.microsoft.com/office/drawing/2014/main" id="{75FA7E56-6B24-42B3-AD09-F99624CC0A16}"/>
              </a:ext>
            </a:extLst>
          </p:cNvPr>
          <p:cNvSpPr>
            <a:spLocks noGrp="1"/>
          </p:cNvSpPr>
          <p:nvPr>
            <p:ph idx="1"/>
          </p:nvPr>
        </p:nvSpPr>
        <p:spPr>
          <a:xfrm>
            <a:off x="1017638" y="1631314"/>
            <a:ext cx="4198306" cy="4726142"/>
          </a:xfrm>
        </p:spPr>
        <p:txBody>
          <a:bodyPr>
            <a:normAutofit/>
          </a:bodyPr>
          <a:lstStyle/>
          <a:p>
            <a:pPr>
              <a:lnSpc>
                <a:spcPct val="100000"/>
              </a:lnSpc>
            </a:pPr>
            <a:r>
              <a:rPr lang="en-GB" dirty="0"/>
              <a:t>After the Foreign Key is defined, you will see a link automatically added as shown here.</a:t>
            </a:r>
          </a:p>
          <a:p>
            <a:pPr>
              <a:lnSpc>
                <a:spcPct val="100000"/>
              </a:lnSpc>
            </a:pPr>
            <a:r>
              <a:rPr lang="en-GB" dirty="0"/>
              <a:t>So what exactly is a Foreign Key? Go to next slide to find out.</a:t>
            </a:r>
          </a:p>
        </p:txBody>
      </p:sp>
      <p:sp>
        <p:nvSpPr>
          <p:cNvPr id="4" name="Slide Number Placeholder 3">
            <a:extLst>
              <a:ext uri="{FF2B5EF4-FFF2-40B4-BE49-F238E27FC236}">
                <a16:creationId xmlns:a16="http://schemas.microsoft.com/office/drawing/2014/main" id="{1B1AF702-972D-4CD1-AC85-7871C44CFAAC}"/>
              </a:ext>
            </a:extLst>
          </p:cNvPr>
          <p:cNvSpPr>
            <a:spLocks noGrp="1"/>
          </p:cNvSpPr>
          <p:nvPr>
            <p:ph type="sldNum" sz="quarter" idx="12"/>
          </p:nvPr>
        </p:nvSpPr>
        <p:spPr/>
        <p:txBody>
          <a:bodyPr/>
          <a:lstStyle/>
          <a:p>
            <a:fld id="{8E9E4023-6F3A-457B-B0BB-8C1F114B424F}" type="slidenum">
              <a:rPr lang="en-SG" smtClean="0"/>
              <a:t>21</a:t>
            </a:fld>
            <a:endParaRPr lang="en-SG"/>
          </a:p>
        </p:txBody>
      </p:sp>
      <p:pic>
        <p:nvPicPr>
          <p:cNvPr id="5" name="Picture 4">
            <a:extLst>
              <a:ext uri="{FF2B5EF4-FFF2-40B4-BE49-F238E27FC236}">
                <a16:creationId xmlns:a16="http://schemas.microsoft.com/office/drawing/2014/main" id="{6EA53A76-0E20-42C3-8661-CEE882BAD51A}"/>
              </a:ext>
            </a:extLst>
          </p:cNvPr>
          <p:cNvPicPr>
            <a:picLocks noChangeAspect="1"/>
          </p:cNvPicPr>
          <p:nvPr/>
        </p:nvPicPr>
        <p:blipFill>
          <a:blip r:embed="rId2"/>
          <a:stretch>
            <a:fillRect/>
          </a:stretch>
        </p:blipFill>
        <p:spPr>
          <a:xfrm>
            <a:off x="5285933" y="1779299"/>
            <a:ext cx="6067866" cy="4430172"/>
          </a:xfrm>
          <a:prstGeom prst="rect">
            <a:avLst/>
          </a:prstGeom>
        </p:spPr>
      </p:pic>
    </p:spTree>
    <p:extLst>
      <p:ext uri="{BB962C8B-B14F-4D97-AF65-F5344CB8AC3E}">
        <p14:creationId xmlns:p14="http://schemas.microsoft.com/office/powerpoint/2010/main" val="305262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7ED2-84B4-48F1-98D5-4A8CDE711FE2}"/>
              </a:ext>
            </a:extLst>
          </p:cNvPr>
          <p:cNvSpPr>
            <a:spLocks noGrp="1"/>
          </p:cNvSpPr>
          <p:nvPr>
            <p:ph type="title"/>
          </p:nvPr>
        </p:nvSpPr>
        <p:spPr/>
        <p:txBody>
          <a:bodyPr/>
          <a:lstStyle/>
          <a:p>
            <a:r>
              <a:rPr lang="en-GB" dirty="0"/>
              <a:t>What is a Foreign Key?</a:t>
            </a:r>
          </a:p>
        </p:txBody>
      </p:sp>
      <p:sp>
        <p:nvSpPr>
          <p:cNvPr id="3" name="Content Placeholder 2">
            <a:extLst>
              <a:ext uri="{FF2B5EF4-FFF2-40B4-BE49-F238E27FC236}">
                <a16:creationId xmlns:a16="http://schemas.microsoft.com/office/drawing/2014/main" id="{9F067189-E180-4B1F-869D-6CBD8A823B4C}"/>
              </a:ext>
            </a:extLst>
          </p:cNvPr>
          <p:cNvSpPr>
            <a:spLocks noGrp="1"/>
          </p:cNvSpPr>
          <p:nvPr>
            <p:ph idx="1"/>
          </p:nvPr>
        </p:nvSpPr>
        <p:spPr/>
        <p:txBody>
          <a:bodyPr>
            <a:normAutofit fontScale="92500"/>
          </a:bodyPr>
          <a:lstStyle/>
          <a:p>
            <a:pPr>
              <a:lnSpc>
                <a:spcPct val="100000"/>
              </a:lnSpc>
            </a:pPr>
            <a:r>
              <a:rPr lang="en-US" dirty="0"/>
              <a:t>A FOREIGN KEY is a key used to link two tables together.</a:t>
            </a:r>
          </a:p>
          <a:p>
            <a:pPr>
              <a:lnSpc>
                <a:spcPct val="100000"/>
              </a:lnSpc>
            </a:pPr>
            <a:r>
              <a:rPr lang="en-US" dirty="0"/>
              <a:t>A FOREIGN KEY is a field (or collection of fields) in one table that refers to the PRIMARY KEY in another table.</a:t>
            </a:r>
          </a:p>
          <a:p>
            <a:pPr>
              <a:lnSpc>
                <a:spcPct val="100000"/>
              </a:lnSpc>
            </a:pPr>
            <a:r>
              <a:rPr lang="en-US" dirty="0"/>
              <a:t>The table containing the foreign key is called the child table, and the table containing the candidate key is called the referenced or parent table.</a:t>
            </a:r>
          </a:p>
          <a:p>
            <a:pPr>
              <a:lnSpc>
                <a:spcPct val="100000"/>
              </a:lnSpc>
            </a:pPr>
            <a:r>
              <a:rPr lang="en-US" dirty="0"/>
              <a:t>The FOREIGN KEY constraint is used to prevent actions that would destroy links between tables.</a:t>
            </a:r>
          </a:p>
          <a:p>
            <a:pPr>
              <a:lnSpc>
                <a:spcPct val="100000"/>
              </a:lnSpc>
            </a:pPr>
            <a:r>
              <a:rPr lang="en-US" dirty="0"/>
              <a:t>The FOREIGN KEY constraint also prevents invalid data from being inserted into the foreign key column, because it has to be one of the values contained in the table it points to.</a:t>
            </a:r>
          </a:p>
          <a:p>
            <a:pPr>
              <a:lnSpc>
                <a:spcPct val="100000"/>
              </a:lnSpc>
            </a:pPr>
            <a:endParaRPr lang="en-US" dirty="0"/>
          </a:p>
          <a:p>
            <a:pPr>
              <a:lnSpc>
                <a:spcPct val="100000"/>
              </a:lnSpc>
            </a:pPr>
            <a:endParaRPr lang="en-GB" dirty="0"/>
          </a:p>
        </p:txBody>
      </p:sp>
      <p:sp>
        <p:nvSpPr>
          <p:cNvPr id="4" name="Slide Number Placeholder 3">
            <a:extLst>
              <a:ext uri="{FF2B5EF4-FFF2-40B4-BE49-F238E27FC236}">
                <a16:creationId xmlns:a16="http://schemas.microsoft.com/office/drawing/2014/main" id="{CB3015AC-1FB1-41AD-A8DD-6CCF14CFD60A}"/>
              </a:ext>
            </a:extLst>
          </p:cNvPr>
          <p:cNvSpPr>
            <a:spLocks noGrp="1"/>
          </p:cNvSpPr>
          <p:nvPr>
            <p:ph type="sldNum" sz="quarter" idx="12"/>
          </p:nvPr>
        </p:nvSpPr>
        <p:spPr/>
        <p:txBody>
          <a:bodyPr/>
          <a:lstStyle/>
          <a:p>
            <a:fld id="{8E9E4023-6F3A-457B-B0BB-8C1F114B424F}" type="slidenum">
              <a:rPr lang="en-SG" smtClean="0"/>
              <a:t>22</a:t>
            </a:fld>
            <a:endParaRPr lang="en-SG"/>
          </a:p>
        </p:txBody>
      </p:sp>
    </p:spTree>
    <p:extLst>
      <p:ext uri="{BB962C8B-B14F-4D97-AF65-F5344CB8AC3E}">
        <p14:creationId xmlns:p14="http://schemas.microsoft.com/office/powerpoint/2010/main" val="4266306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From Design to Physical Schema</a:t>
            </a:r>
          </a:p>
        </p:txBody>
      </p:sp>
      <p:sp>
        <p:nvSpPr>
          <p:cNvPr id="3" name="Text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2"/>
          </p:nvPr>
        </p:nvSpPr>
        <p:spPr/>
        <p:txBody>
          <a:bodyPr/>
          <a:lstStyle/>
          <a:p>
            <a:fld id="{0FF54DE5-C571-48E8-A5BC-B369434E2F44}" type="slidenum">
              <a:rPr lang="uk-UA" smtClean="0"/>
              <a:t>23</a:t>
            </a:fld>
            <a:endParaRPr lang="uk-UA"/>
          </a:p>
        </p:txBody>
      </p:sp>
    </p:spTree>
    <p:extLst>
      <p:ext uri="{BB962C8B-B14F-4D97-AF65-F5344CB8AC3E}">
        <p14:creationId xmlns:p14="http://schemas.microsoft.com/office/powerpoint/2010/main" val="351664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8464-84B5-4275-883A-9F6BF579ED48}"/>
              </a:ext>
            </a:extLst>
          </p:cNvPr>
          <p:cNvSpPr>
            <a:spLocks noGrp="1"/>
          </p:cNvSpPr>
          <p:nvPr>
            <p:ph type="title"/>
          </p:nvPr>
        </p:nvSpPr>
        <p:spPr/>
        <p:txBody>
          <a:bodyPr/>
          <a:lstStyle/>
          <a:p>
            <a:r>
              <a:rPr lang="en-GB" dirty="0"/>
              <a:t>Creating the Physical Schema from the Design</a:t>
            </a:r>
          </a:p>
        </p:txBody>
      </p:sp>
      <p:sp>
        <p:nvSpPr>
          <p:cNvPr id="3" name="Content Placeholder 2">
            <a:extLst>
              <a:ext uri="{FF2B5EF4-FFF2-40B4-BE49-F238E27FC236}">
                <a16:creationId xmlns:a16="http://schemas.microsoft.com/office/drawing/2014/main" id="{75FA7E56-6B24-42B3-AD09-F99624CC0A16}"/>
              </a:ext>
            </a:extLst>
          </p:cNvPr>
          <p:cNvSpPr>
            <a:spLocks noGrp="1"/>
          </p:cNvSpPr>
          <p:nvPr>
            <p:ph idx="1"/>
          </p:nvPr>
        </p:nvSpPr>
        <p:spPr>
          <a:xfrm>
            <a:off x="1017638" y="1631314"/>
            <a:ext cx="10336162" cy="4660016"/>
          </a:xfrm>
        </p:spPr>
        <p:txBody>
          <a:bodyPr>
            <a:normAutofit/>
          </a:bodyPr>
          <a:lstStyle/>
          <a:p>
            <a:pPr>
              <a:lnSpc>
                <a:spcPct val="100000"/>
              </a:lnSpc>
            </a:pPr>
            <a:r>
              <a:rPr lang="en-US" dirty="0"/>
              <a:t>When you created a schema in the Model in slide 14, note that no physical schema was actually created in the database server.</a:t>
            </a:r>
          </a:p>
          <a:p>
            <a:pPr>
              <a:lnSpc>
                <a:spcPct val="100000"/>
              </a:lnSpc>
            </a:pPr>
            <a:r>
              <a:rPr lang="en-US" dirty="0"/>
              <a:t>The Model only provides a design view of the schema.</a:t>
            </a:r>
          </a:p>
          <a:p>
            <a:pPr>
              <a:lnSpc>
                <a:spcPct val="100000"/>
              </a:lnSpc>
            </a:pPr>
            <a:r>
              <a:rPr lang="en-US" dirty="0"/>
              <a:t>MySQL Workbench provides a way to transform the design to physical schema.</a:t>
            </a:r>
          </a:p>
          <a:p>
            <a:pPr>
              <a:lnSpc>
                <a:spcPct val="100000"/>
              </a:lnSpc>
            </a:pPr>
            <a:r>
              <a:rPr lang="en-US" dirty="0"/>
              <a:t>Start from the next slide to follow the process of how to do so.</a:t>
            </a:r>
            <a:endParaRPr lang="en-GB" dirty="0"/>
          </a:p>
        </p:txBody>
      </p:sp>
      <p:sp>
        <p:nvSpPr>
          <p:cNvPr id="4" name="Slide Number Placeholder 3">
            <a:extLst>
              <a:ext uri="{FF2B5EF4-FFF2-40B4-BE49-F238E27FC236}">
                <a16:creationId xmlns:a16="http://schemas.microsoft.com/office/drawing/2014/main" id="{1B1AF702-972D-4CD1-AC85-7871C44CFAAC}"/>
              </a:ext>
            </a:extLst>
          </p:cNvPr>
          <p:cNvSpPr>
            <a:spLocks noGrp="1"/>
          </p:cNvSpPr>
          <p:nvPr>
            <p:ph type="sldNum" sz="quarter" idx="12"/>
          </p:nvPr>
        </p:nvSpPr>
        <p:spPr/>
        <p:txBody>
          <a:bodyPr/>
          <a:lstStyle/>
          <a:p>
            <a:fld id="{8E9E4023-6F3A-457B-B0BB-8C1F114B424F}" type="slidenum">
              <a:rPr lang="en-SG" smtClean="0"/>
              <a:t>24</a:t>
            </a:fld>
            <a:endParaRPr lang="en-SG"/>
          </a:p>
        </p:txBody>
      </p:sp>
    </p:spTree>
    <p:extLst>
      <p:ext uri="{BB962C8B-B14F-4D97-AF65-F5344CB8AC3E}">
        <p14:creationId xmlns:p14="http://schemas.microsoft.com/office/powerpoint/2010/main" val="985189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53F9C-DDB0-4098-936A-6595AF715340}"/>
              </a:ext>
            </a:extLst>
          </p:cNvPr>
          <p:cNvSpPr>
            <a:spLocks noGrp="1"/>
          </p:cNvSpPr>
          <p:nvPr>
            <p:ph type="title"/>
          </p:nvPr>
        </p:nvSpPr>
        <p:spPr/>
        <p:txBody>
          <a:bodyPr/>
          <a:lstStyle/>
          <a:p>
            <a:r>
              <a:rPr lang="en-GB" dirty="0"/>
              <a:t>Transforming to Physical Schema</a:t>
            </a:r>
          </a:p>
        </p:txBody>
      </p:sp>
      <p:sp>
        <p:nvSpPr>
          <p:cNvPr id="3" name="Content Placeholder 2">
            <a:extLst>
              <a:ext uri="{FF2B5EF4-FFF2-40B4-BE49-F238E27FC236}">
                <a16:creationId xmlns:a16="http://schemas.microsoft.com/office/drawing/2014/main" id="{28CD992A-06DE-4A97-B761-153D767E7D12}"/>
              </a:ext>
            </a:extLst>
          </p:cNvPr>
          <p:cNvSpPr>
            <a:spLocks noGrp="1"/>
          </p:cNvSpPr>
          <p:nvPr>
            <p:ph sz="half" idx="1"/>
          </p:nvPr>
        </p:nvSpPr>
        <p:spPr/>
        <p:txBody>
          <a:bodyPr>
            <a:normAutofit/>
          </a:bodyPr>
          <a:lstStyle/>
          <a:p>
            <a:pPr>
              <a:lnSpc>
                <a:spcPct val="100000"/>
              </a:lnSpc>
            </a:pPr>
            <a:r>
              <a:rPr lang="en-GB" sz="2400" dirty="0"/>
              <a:t>In the </a:t>
            </a:r>
            <a:r>
              <a:rPr lang="en-GB" sz="2400" b="1" dirty="0"/>
              <a:t>File</a:t>
            </a:r>
            <a:r>
              <a:rPr lang="en-GB" sz="2400" dirty="0"/>
              <a:t> menu, select </a:t>
            </a:r>
            <a:r>
              <a:rPr lang="en-GB" sz="2400" b="1" dirty="0"/>
              <a:t>Export</a:t>
            </a:r>
            <a:r>
              <a:rPr lang="en-GB" sz="2400" dirty="0"/>
              <a:t> and then </a:t>
            </a:r>
            <a:r>
              <a:rPr lang="en-GB" sz="2400" b="1" dirty="0"/>
              <a:t>Forward Engineering SQL CREATE Script…</a:t>
            </a:r>
            <a:r>
              <a:rPr lang="en-GB" sz="2400" dirty="0"/>
              <a:t> as shown here. </a:t>
            </a:r>
          </a:p>
        </p:txBody>
      </p:sp>
      <p:pic>
        <p:nvPicPr>
          <p:cNvPr id="7" name="Content Placeholder 6">
            <a:extLst>
              <a:ext uri="{FF2B5EF4-FFF2-40B4-BE49-F238E27FC236}">
                <a16:creationId xmlns:a16="http://schemas.microsoft.com/office/drawing/2014/main" id="{D134405F-F755-4C7D-AB78-47C2E0DD210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727087"/>
            <a:ext cx="4914900" cy="2318226"/>
          </a:xfrm>
          <a:effectLst>
            <a:outerShdw blurRad="50800" dist="38100" dir="5400000" algn="t" rotWithShape="0">
              <a:prstClr val="black">
                <a:alpha val="40000"/>
              </a:prstClr>
            </a:outerShdw>
          </a:effectLst>
        </p:spPr>
      </p:pic>
      <p:sp>
        <p:nvSpPr>
          <p:cNvPr id="5" name="Slide Number Placeholder 4">
            <a:extLst>
              <a:ext uri="{FF2B5EF4-FFF2-40B4-BE49-F238E27FC236}">
                <a16:creationId xmlns:a16="http://schemas.microsoft.com/office/drawing/2014/main" id="{58EAD1C9-F1F5-40BB-808C-4284638A5D48}"/>
              </a:ext>
            </a:extLst>
          </p:cNvPr>
          <p:cNvSpPr>
            <a:spLocks noGrp="1"/>
          </p:cNvSpPr>
          <p:nvPr>
            <p:ph type="sldNum" sz="quarter" idx="12"/>
          </p:nvPr>
        </p:nvSpPr>
        <p:spPr/>
        <p:txBody>
          <a:bodyPr/>
          <a:lstStyle/>
          <a:p>
            <a:fld id="{0FF54DE5-C571-48E8-A5BC-B369434E2F44}" type="slidenum">
              <a:rPr lang="en-US" smtClean="0"/>
              <a:t>25</a:t>
            </a:fld>
            <a:endParaRPr lang="en-US"/>
          </a:p>
        </p:txBody>
      </p:sp>
      <p:sp>
        <p:nvSpPr>
          <p:cNvPr id="11" name="Content Placeholder 6">
            <a:extLst>
              <a:ext uri="{FF2B5EF4-FFF2-40B4-BE49-F238E27FC236}">
                <a16:creationId xmlns:a16="http://schemas.microsoft.com/office/drawing/2014/main" id="{591E7C91-E0E0-4192-85E2-AAB5A7B25232}"/>
              </a:ext>
            </a:extLst>
          </p:cNvPr>
          <p:cNvSpPr txBox="1">
            <a:spLocks/>
          </p:cNvSpPr>
          <p:nvPr/>
        </p:nvSpPr>
        <p:spPr>
          <a:xfrm>
            <a:off x="1104900" y="1600200"/>
            <a:ext cx="10248899" cy="47572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1600" dirty="0"/>
          </a:p>
          <a:p>
            <a:pPr>
              <a:lnSpc>
                <a:spcPct val="100000"/>
              </a:lnSpc>
            </a:pPr>
            <a:endParaRPr lang="en-GB" sz="1600" dirty="0"/>
          </a:p>
          <a:p>
            <a:pPr>
              <a:lnSpc>
                <a:spcPct val="100000"/>
              </a:lnSpc>
            </a:pPr>
            <a:endParaRPr lang="en-GB" sz="1600" dirty="0"/>
          </a:p>
        </p:txBody>
      </p:sp>
    </p:spTree>
    <p:extLst>
      <p:ext uri="{BB962C8B-B14F-4D97-AF65-F5344CB8AC3E}">
        <p14:creationId xmlns:p14="http://schemas.microsoft.com/office/powerpoint/2010/main" val="1432780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Transforming to Physical Schema</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a:xfrm>
            <a:off x="1104899" y="1600201"/>
            <a:ext cx="10248899" cy="840346"/>
          </a:xfrm>
        </p:spPr>
        <p:txBody>
          <a:bodyPr/>
          <a:lstStyle/>
          <a:p>
            <a:pPr>
              <a:lnSpc>
                <a:spcPct val="100000"/>
              </a:lnSpc>
            </a:pPr>
            <a:r>
              <a:rPr lang="en-GB" dirty="0"/>
              <a:t>A window appears as shown below.</a:t>
            </a:r>
          </a:p>
          <a:p>
            <a:pPr>
              <a:lnSpc>
                <a:spcPct val="100000"/>
              </a:lnSpc>
            </a:pPr>
            <a:endParaRPr lang="en-GB" dirty="0"/>
          </a:p>
          <a:p>
            <a:pPr>
              <a:lnSpc>
                <a:spcPct val="100000"/>
              </a:lnSpc>
            </a:pPr>
            <a:endParaRPr lang="en-GB" dirty="0"/>
          </a:p>
          <a:p>
            <a:pPr>
              <a:lnSpc>
                <a:spcPct val="100000"/>
              </a:lnSpc>
            </a:pPr>
            <a:endParaRPr lang="en-GB" dirty="0"/>
          </a:p>
        </p:txBody>
      </p:sp>
      <p:pic>
        <p:nvPicPr>
          <p:cNvPr id="8" name="Content Placeholder 7">
            <a:extLst>
              <a:ext uri="{FF2B5EF4-FFF2-40B4-BE49-F238E27FC236}">
                <a16:creationId xmlns:a16="http://schemas.microsoft.com/office/drawing/2014/main" id="{F3D3A1B4-F523-4812-972C-9C42CEAA80A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982792" y="2514546"/>
            <a:ext cx="4914900" cy="3509861"/>
          </a:xfr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26</a:t>
            </a:fld>
            <a:endParaRPr lang="en-SG"/>
          </a:p>
        </p:txBody>
      </p:sp>
      <p:sp>
        <p:nvSpPr>
          <p:cNvPr id="9" name="Rectangular Callout 21">
            <a:extLst>
              <a:ext uri="{FF2B5EF4-FFF2-40B4-BE49-F238E27FC236}">
                <a16:creationId xmlns:a16="http://schemas.microsoft.com/office/drawing/2014/main" id="{72A98404-43B1-4A97-830A-005D2B24CC00}"/>
              </a:ext>
            </a:extLst>
          </p:cNvPr>
          <p:cNvSpPr/>
          <p:nvPr/>
        </p:nvSpPr>
        <p:spPr>
          <a:xfrm>
            <a:off x="9292108" y="2723882"/>
            <a:ext cx="1970467" cy="1590541"/>
          </a:xfrm>
          <a:prstGeom prst="wedgeRectCallout">
            <a:avLst>
              <a:gd name="adj1" fmla="val -78968"/>
              <a:gd name="adj2" fmla="val -34801"/>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Click on this button to select a destination to save the auto-generated SQL script. You can name the file as </a:t>
            </a:r>
            <a:r>
              <a:rPr lang="en-GB" sz="1400" dirty="0" err="1">
                <a:solidFill>
                  <a:srgbClr val="FFFF00"/>
                </a:solidFill>
                <a:latin typeface="Arial Unicode MS" charset="0"/>
                <a:ea typeface="Arial Unicode MS" charset="0"/>
                <a:cs typeface="Arial Unicode MS" charset="0"/>
              </a:rPr>
              <a:t>er</a:t>
            </a:r>
            <a:r>
              <a:rPr lang="en-GB" sz="1400" dirty="0">
                <a:solidFill>
                  <a:srgbClr val="FFFF00"/>
                </a:solidFill>
                <a:latin typeface="Arial Unicode MS" charset="0"/>
                <a:ea typeface="Arial Unicode MS" charset="0"/>
                <a:cs typeface="Arial Unicode MS" charset="0"/>
              </a:rPr>
              <a:t>-movie-</a:t>
            </a:r>
            <a:r>
              <a:rPr lang="en-GB" sz="1400" dirty="0" err="1">
                <a:solidFill>
                  <a:srgbClr val="FFFF00"/>
                </a:solidFill>
                <a:latin typeface="Arial Unicode MS" charset="0"/>
                <a:ea typeface="Arial Unicode MS" charset="0"/>
                <a:cs typeface="Arial Unicode MS" charset="0"/>
              </a:rPr>
              <a:t>review.sql</a:t>
            </a:r>
            <a:endParaRPr lang="en-GB" sz="1400" dirty="0">
              <a:solidFill>
                <a:srgbClr val="FFFF00"/>
              </a:solidFill>
              <a:latin typeface="Arial Unicode MS" charset="0"/>
              <a:ea typeface="Arial Unicode MS" charset="0"/>
              <a:cs typeface="Arial Unicode MS" charset="0"/>
            </a:endParaRPr>
          </a:p>
        </p:txBody>
      </p:sp>
    </p:spTree>
    <p:extLst>
      <p:ext uri="{BB962C8B-B14F-4D97-AF65-F5344CB8AC3E}">
        <p14:creationId xmlns:p14="http://schemas.microsoft.com/office/powerpoint/2010/main" val="2277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Transforming to Physical Schema</a:t>
            </a:r>
          </a:p>
        </p:txBody>
      </p:sp>
      <p:sp>
        <p:nvSpPr>
          <p:cNvPr id="5" name="Content Placeholder 4">
            <a:extLst>
              <a:ext uri="{FF2B5EF4-FFF2-40B4-BE49-F238E27FC236}">
                <a16:creationId xmlns:a16="http://schemas.microsoft.com/office/drawing/2014/main" id="{D23E4EAF-B773-4978-B2FA-EDF0E38E954E}"/>
              </a:ext>
            </a:extLst>
          </p:cNvPr>
          <p:cNvSpPr>
            <a:spLocks noGrp="1"/>
          </p:cNvSpPr>
          <p:nvPr>
            <p:ph sz="half" idx="1"/>
          </p:nvPr>
        </p:nvSpPr>
        <p:spPr>
          <a:xfrm>
            <a:off x="1104899" y="1500390"/>
            <a:ext cx="9610323" cy="1049398"/>
          </a:xfrm>
        </p:spPr>
        <p:txBody>
          <a:bodyPr>
            <a:normAutofit fontScale="55000" lnSpcReduction="20000"/>
          </a:bodyPr>
          <a:lstStyle/>
          <a:p>
            <a:pPr>
              <a:lnSpc>
                <a:spcPct val="120000"/>
              </a:lnSpc>
            </a:pPr>
            <a:r>
              <a:rPr lang="en-GB" dirty="0"/>
              <a:t>The window on the left appears.</a:t>
            </a:r>
          </a:p>
          <a:p>
            <a:pPr>
              <a:lnSpc>
                <a:spcPct val="120000"/>
              </a:lnSpc>
            </a:pPr>
            <a:r>
              <a:rPr lang="en-GB" dirty="0"/>
              <a:t>Click on </a:t>
            </a:r>
            <a:r>
              <a:rPr lang="en-GB" b="1" dirty="0"/>
              <a:t>Show Filter</a:t>
            </a:r>
            <a:r>
              <a:rPr lang="en-GB" dirty="0"/>
              <a:t> button to check if the schema and tables are correct.</a:t>
            </a:r>
          </a:p>
          <a:p>
            <a:pPr>
              <a:lnSpc>
                <a:spcPct val="120000"/>
              </a:lnSpc>
            </a:pPr>
            <a:r>
              <a:rPr lang="en-GB" dirty="0"/>
              <a:t>Click </a:t>
            </a:r>
            <a:r>
              <a:rPr lang="en-GB" b="1" dirty="0"/>
              <a:t>Continue</a:t>
            </a:r>
            <a:r>
              <a:rPr lang="en-GB" dirty="0"/>
              <a:t> button if they are correct.</a:t>
            </a:r>
          </a:p>
        </p:txBody>
      </p:sp>
      <p:pic>
        <p:nvPicPr>
          <p:cNvPr id="8" name="Content Placeholder 7">
            <a:extLst>
              <a:ext uri="{FF2B5EF4-FFF2-40B4-BE49-F238E27FC236}">
                <a16:creationId xmlns:a16="http://schemas.microsoft.com/office/drawing/2014/main" id="{1C8996D6-D929-414A-AEDE-1E9831F16C9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17638" y="2694853"/>
            <a:ext cx="4914900" cy="3522345"/>
          </a:xfr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27</a:t>
            </a:fld>
            <a:endParaRPr lang="en-SG"/>
          </a:p>
        </p:txBody>
      </p:sp>
      <p:pic>
        <p:nvPicPr>
          <p:cNvPr id="10" name="Picture 9">
            <a:extLst>
              <a:ext uri="{FF2B5EF4-FFF2-40B4-BE49-F238E27FC236}">
                <a16:creationId xmlns:a16="http://schemas.microsoft.com/office/drawing/2014/main" id="{E0FC2776-33BD-4AEC-9749-5C7EBFD861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6484" y="2690046"/>
            <a:ext cx="4921607" cy="3527152"/>
          </a:xfrm>
          <a:prstGeom prst="rect">
            <a:avLst/>
          </a:prstGeom>
          <a:effectLst>
            <a:outerShdw blurRad="50800" dist="38100" dir="5400000" algn="t" rotWithShape="0">
              <a:prstClr val="black">
                <a:alpha val="40000"/>
              </a:prstClr>
            </a:outerShdw>
          </a:effectLst>
        </p:spPr>
      </p:pic>
      <p:cxnSp>
        <p:nvCxnSpPr>
          <p:cNvPr id="12" name="Straight Arrow Connector 11">
            <a:extLst>
              <a:ext uri="{FF2B5EF4-FFF2-40B4-BE49-F238E27FC236}">
                <a16:creationId xmlns:a16="http://schemas.microsoft.com/office/drawing/2014/main" id="{8462989B-B9C8-44DF-8D09-F6BB89647379}"/>
              </a:ext>
            </a:extLst>
          </p:cNvPr>
          <p:cNvCxnSpPr/>
          <p:nvPr/>
        </p:nvCxnSpPr>
        <p:spPr>
          <a:xfrm>
            <a:off x="6104587" y="4404574"/>
            <a:ext cx="5988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0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Transforming to Physical Schema</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p:txBody>
          <a:bodyPr>
            <a:normAutofit fontScale="92500" lnSpcReduction="10000"/>
          </a:bodyPr>
          <a:lstStyle/>
          <a:p>
            <a:pPr>
              <a:lnSpc>
                <a:spcPct val="110000"/>
              </a:lnSpc>
            </a:pPr>
            <a:r>
              <a:rPr lang="en-US" dirty="0"/>
              <a:t>A new window appears that shows the whole SQL script for creating schema and tables.</a:t>
            </a:r>
          </a:p>
          <a:p>
            <a:pPr>
              <a:lnSpc>
                <a:spcPct val="110000"/>
              </a:lnSpc>
            </a:pPr>
            <a:r>
              <a:rPr lang="en-US" dirty="0"/>
              <a:t>Take a while to read the codes to understand how the SQL codes are written.</a:t>
            </a:r>
          </a:p>
          <a:p>
            <a:pPr>
              <a:lnSpc>
                <a:spcPct val="110000"/>
              </a:lnSpc>
            </a:pPr>
            <a:r>
              <a:rPr lang="en-US" dirty="0"/>
              <a:t>Click </a:t>
            </a:r>
            <a:r>
              <a:rPr lang="en-US" b="1" dirty="0"/>
              <a:t>Finish</a:t>
            </a:r>
            <a:r>
              <a:rPr lang="en-US" dirty="0"/>
              <a:t> button when you are done and the codes will be saved to the file.</a:t>
            </a:r>
            <a:endParaRPr lang="en-GB" dirty="0"/>
          </a:p>
        </p:txBody>
      </p:sp>
      <p:pic>
        <p:nvPicPr>
          <p:cNvPr id="8" name="Content Placeholder 7">
            <a:extLst>
              <a:ext uri="{FF2B5EF4-FFF2-40B4-BE49-F238E27FC236}">
                <a16:creationId xmlns:a16="http://schemas.microsoft.com/office/drawing/2014/main" id="{BD46C397-EC39-4828-AEE4-FD83124FE3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139830"/>
            <a:ext cx="4914900" cy="3492739"/>
          </a:xfr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28</a:t>
            </a:fld>
            <a:endParaRPr lang="en-SG"/>
          </a:p>
        </p:txBody>
      </p:sp>
    </p:spTree>
    <p:extLst>
      <p:ext uri="{BB962C8B-B14F-4D97-AF65-F5344CB8AC3E}">
        <p14:creationId xmlns:p14="http://schemas.microsoft.com/office/powerpoint/2010/main" val="87022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Transforming to Physical Schema</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p:txBody>
          <a:bodyPr>
            <a:normAutofit/>
          </a:bodyPr>
          <a:lstStyle/>
          <a:p>
            <a:pPr>
              <a:lnSpc>
                <a:spcPct val="100000"/>
              </a:lnSpc>
            </a:pPr>
            <a:r>
              <a:rPr lang="en-US" dirty="0"/>
              <a:t>Next, go to </a:t>
            </a:r>
            <a:r>
              <a:rPr lang="en-US" b="1" dirty="0"/>
              <a:t>File</a:t>
            </a:r>
            <a:r>
              <a:rPr lang="en-US" dirty="0"/>
              <a:t> menu and select </a:t>
            </a:r>
            <a:r>
              <a:rPr lang="en-US" b="1" dirty="0"/>
              <a:t>Open SQL Script…</a:t>
            </a:r>
            <a:r>
              <a:rPr lang="en-US" dirty="0"/>
              <a:t>.</a:t>
            </a:r>
          </a:p>
          <a:p>
            <a:pPr>
              <a:lnSpc>
                <a:spcPct val="100000"/>
              </a:lnSpc>
            </a:pPr>
            <a:r>
              <a:rPr lang="en-US" dirty="0"/>
              <a:t>Select the file that you saved, which is </a:t>
            </a:r>
            <a:r>
              <a:rPr lang="en-US" dirty="0" err="1">
                <a:solidFill>
                  <a:srgbClr val="FF0000"/>
                </a:solidFill>
              </a:rPr>
              <a:t>er</a:t>
            </a:r>
            <a:r>
              <a:rPr lang="en-US" dirty="0">
                <a:solidFill>
                  <a:srgbClr val="FF0000"/>
                </a:solidFill>
              </a:rPr>
              <a:t>-movie-</a:t>
            </a:r>
            <a:r>
              <a:rPr lang="en-US" dirty="0" err="1">
                <a:solidFill>
                  <a:srgbClr val="FF0000"/>
                </a:solidFill>
              </a:rPr>
              <a:t>review.sql</a:t>
            </a:r>
            <a:r>
              <a:rPr lang="en-US" dirty="0"/>
              <a:t>.</a:t>
            </a:r>
            <a:endParaRPr lang="en-GB" dirty="0"/>
          </a:p>
        </p:txBody>
      </p:sp>
      <p:pic>
        <p:nvPicPr>
          <p:cNvPr id="8" name="Content Placeholder 7">
            <a:extLst>
              <a:ext uri="{FF2B5EF4-FFF2-40B4-BE49-F238E27FC236}">
                <a16:creationId xmlns:a16="http://schemas.microsoft.com/office/drawing/2014/main" id="{60443AA7-D5FC-4152-9A40-B9DE4503E37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00046" y="1669771"/>
            <a:ext cx="3866224" cy="1483268"/>
          </a:xfr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29</a:t>
            </a:fld>
            <a:endParaRPr lang="en-SG"/>
          </a:p>
        </p:txBody>
      </p:sp>
      <p:pic>
        <p:nvPicPr>
          <p:cNvPr id="10" name="Picture 9">
            <a:extLst>
              <a:ext uri="{FF2B5EF4-FFF2-40B4-BE49-F238E27FC236}">
                <a16:creationId xmlns:a16="http://schemas.microsoft.com/office/drawing/2014/main" id="{8B6A92B3-A206-4584-B783-9AA273DA7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9937" y="3438659"/>
            <a:ext cx="4628471" cy="291879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95976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Transforming to Physical Schema</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p:txBody>
          <a:bodyPr>
            <a:normAutofit/>
          </a:bodyPr>
          <a:lstStyle/>
          <a:p>
            <a:pPr>
              <a:lnSpc>
                <a:spcPct val="100000"/>
              </a:lnSpc>
            </a:pPr>
            <a:r>
              <a:rPr lang="en-US" dirty="0"/>
              <a:t>The SQL codes will be loaded as shown in a new tab.</a:t>
            </a:r>
          </a:p>
          <a:p>
            <a:pPr>
              <a:lnSpc>
                <a:spcPct val="100000"/>
              </a:lnSpc>
            </a:pPr>
            <a:r>
              <a:rPr lang="en-US" dirty="0"/>
              <a:t>Click on the lightning icon to execute the whole script.</a:t>
            </a:r>
          </a:p>
          <a:p>
            <a:pPr>
              <a:lnSpc>
                <a:spcPct val="100000"/>
              </a:lnSpc>
            </a:pPr>
            <a:r>
              <a:rPr lang="en-US" dirty="0"/>
              <a:t>Ensure there is no error in the </a:t>
            </a:r>
            <a:r>
              <a:rPr lang="en-US" b="1" dirty="0"/>
              <a:t>Action Output</a:t>
            </a:r>
            <a:r>
              <a:rPr lang="en-US" dirty="0"/>
              <a:t> pane at the bottom and go to next slide.</a:t>
            </a: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30</a:t>
            </a:fld>
            <a:endParaRPr lang="en-SG"/>
          </a:p>
        </p:txBody>
      </p:sp>
      <p:pic>
        <p:nvPicPr>
          <p:cNvPr id="12" name="Content Placeholder 11">
            <a:extLst>
              <a:ext uri="{FF2B5EF4-FFF2-40B4-BE49-F238E27FC236}">
                <a16:creationId xmlns:a16="http://schemas.microsoft.com/office/drawing/2014/main" id="{3B87687F-5466-4019-98D9-FC2EE783431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953006"/>
            <a:ext cx="4914900" cy="3866388"/>
          </a:xfr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401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Transforming to Physical Schema</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p:txBody>
          <a:bodyPr>
            <a:normAutofit/>
          </a:bodyPr>
          <a:lstStyle/>
          <a:p>
            <a:pPr>
              <a:lnSpc>
                <a:spcPct val="100000"/>
              </a:lnSpc>
            </a:pPr>
            <a:r>
              <a:rPr lang="en-GB" dirty="0"/>
              <a:t>Click on the highlighted icon as shown to refresh the Schema list.</a:t>
            </a:r>
          </a:p>
          <a:p>
            <a:pPr>
              <a:lnSpc>
                <a:spcPct val="100000"/>
              </a:lnSpc>
            </a:pPr>
            <a:r>
              <a:rPr lang="en-GB" dirty="0"/>
              <a:t>You should now see that the physical schema has been created.</a:t>
            </a:r>
          </a:p>
          <a:p>
            <a:pPr>
              <a:lnSpc>
                <a:spcPct val="100000"/>
              </a:lnSpc>
            </a:pPr>
            <a:r>
              <a:rPr lang="en-GB" dirty="0"/>
              <a:t>Check the table columns to ensure that they are correct.</a:t>
            </a:r>
          </a:p>
          <a:p>
            <a:pPr>
              <a:lnSpc>
                <a:spcPct val="100000"/>
              </a:lnSpc>
            </a:pPr>
            <a:endParaRPr lang="en-GB" dirty="0"/>
          </a:p>
        </p:txBody>
      </p:sp>
      <p:pic>
        <p:nvPicPr>
          <p:cNvPr id="7" name="Content Placeholder 6">
            <a:extLst>
              <a:ext uri="{FF2B5EF4-FFF2-40B4-BE49-F238E27FC236}">
                <a16:creationId xmlns:a16="http://schemas.microsoft.com/office/drawing/2014/main" id="{134B3257-6540-4430-B52F-D463B04A075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873753" y="3932348"/>
            <a:ext cx="2124075" cy="2124075"/>
          </a:xfrm>
          <a:effectLst>
            <a:outerShdw blurRad="50800" dist="38100" dir="5400000" algn="t" rotWithShape="0">
              <a:prstClr val="black">
                <a:alpha val="40000"/>
              </a:prstClr>
            </a:outerShdw>
          </a:effectLst>
        </p:spPr>
      </p:pic>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31</a:t>
            </a:fld>
            <a:endParaRPr lang="en-SG"/>
          </a:p>
        </p:txBody>
      </p:sp>
      <p:pic>
        <p:nvPicPr>
          <p:cNvPr id="9" name="Picture 8">
            <a:extLst>
              <a:ext uri="{FF2B5EF4-FFF2-40B4-BE49-F238E27FC236}">
                <a16:creationId xmlns:a16="http://schemas.microsoft.com/office/drawing/2014/main" id="{98FFB79C-9F0D-4CC3-952D-115D9A339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3753" y="1600200"/>
            <a:ext cx="2124075" cy="1695450"/>
          </a:xfrm>
          <a:prstGeom prst="rect">
            <a:avLst/>
          </a:prstGeom>
          <a:effectLst>
            <a:outerShdw blurRad="50800" dist="38100" dir="5400000" algn="t" rotWithShape="0">
              <a:prstClr val="black">
                <a:alpha val="40000"/>
              </a:prstClr>
            </a:outerShdw>
          </a:effectLst>
        </p:spPr>
      </p:pic>
      <p:sp>
        <p:nvSpPr>
          <p:cNvPr id="10" name="Rectangle 9">
            <a:extLst>
              <a:ext uri="{FF2B5EF4-FFF2-40B4-BE49-F238E27FC236}">
                <a16:creationId xmlns:a16="http://schemas.microsoft.com/office/drawing/2014/main" id="{D48024D9-E6E1-4429-ACF8-38AF543B43E9}"/>
              </a:ext>
            </a:extLst>
          </p:cNvPr>
          <p:cNvSpPr/>
          <p:nvPr/>
        </p:nvSpPr>
        <p:spPr>
          <a:xfrm>
            <a:off x="9549684" y="1687129"/>
            <a:ext cx="206063" cy="212503"/>
          </a:xfrm>
          <a:prstGeom prst="rect">
            <a:avLst/>
          </a:prstGeom>
          <a:noFill/>
          <a:ln>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9976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81755-F95D-4047-9615-4DDB07381BED}"/>
              </a:ext>
            </a:extLst>
          </p:cNvPr>
          <p:cNvSpPr>
            <a:spLocks noGrp="1"/>
          </p:cNvSpPr>
          <p:nvPr>
            <p:ph type="title"/>
          </p:nvPr>
        </p:nvSpPr>
        <p:spPr/>
        <p:txBody>
          <a:bodyPr/>
          <a:lstStyle/>
          <a:p>
            <a:r>
              <a:rPr lang="en-GB" dirty="0"/>
              <a:t>Next Episode</a:t>
            </a:r>
          </a:p>
        </p:txBody>
      </p:sp>
      <p:sp>
        <p:nvSpPr>
          <p:cNvPr id="6" name="Content Placeholder 5">
            <a:extLst>
              <a:ext uri="{FF2B5EF4-FFF2-40B4-BE49-F238E27FC236}">
                <a16:creationId xmlns:a16="http://schemas.microsoft.com/office/drawing/2014/main" id="{9F797851-851F-428B-B09B-6635D270552E}"/>
              </a:ext>
            </a:extLst>
          </p:cNvPr>
          <p:cNvSpPr>
            <a:spLocks noGrp="1"/>
          </p:cNvSpPr>
          <p:nvPr>
            <p:ph idx="1"/>
          </p:nvPr>
        </p:nvSpPr>
        <p:spPr/>
        <p:txBody>
          <a:bodyPr/>
          <a:lstStyle/>
          <a:p>
            <a:r>
              <a:rPr lang="en-GB" dirty="0"/>
              <a:t>In the next episode, you will learn how to import data into the tables and write the codes in JavaScript to connect to the database.</a:t>
            </a:r>
          </a:p>
          <a:p>
            <a:r>
              <a:rPr lang="en-GB" dirty="0"/>
              <a:t>If you have time now, do think about the design of the database for your project. Consult your lecturer about the tables and fields that are suitable for your website.</a:t>
            </a:r>
          </a:p>
        </p:txBody>
      </p:sp>
      <p:sp>
        <p:nvSpPr>
          <p:cNvPr id="5" name="Slide Number Placeholder 4">
            <a:extLst>
              <a:ext uri="{FF2B5EF4-FFF2-40B4-BE49-F238E27FC236}">
                <a16:creationId xmlns:a16="http://schemas.microsoft.com/office/drawing/2014/main" id="{174524CC-986C-4DE2-8D01-4FACEF7972F6}"/>
              </a:ext>
            </a:extLst>
          </p:cNvPr>
          <p:cNvSpPr>
            <a:spLocks noGrp="1"/>
          </p:cNvSpPr>
          <p:nvPr>
            <p:ph type="sldNum" sz="quarter" idx="12"/>
          </p:nvPr>
        </p:nvSpPr>
        <p:spPr/>
        <p:txBody>
          <a:bodyPr/>
          <a:lstStyle/>
          <a:p>
            <a:fld id="{0FF54DE5-C571-48E8-A5BC-B369434E2F44}" type="slidenum">
              <a:rPr lang="en-US" smtClean="0"/>
              <a:t>32</a:t>
            </a:fld>
            <a:endParaRPr lang="en-US"/>
          </a:p>
        </p:txBody>
      </p:sp>
    </p:spTree>
    <p:extLst>
      <p:ext uri="{BB962C8B-B14F-4D97-AF65-F5344CB8AC3E}">
        <p14:creationId xmlns:p14="http://schemas.microsoft.com/office/powerpoint/2010/main" val="572794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5C5A-233F-4C52-8792-BFD597CB80C6}"/>
              </a:ext>
            </a:extLst>
          </p:cNvPr>
          <p:cNvSpPr>
            <a:spLocks noGrp="1"/>
          </p:cNvSpPr>
          <p:nvPr>
            <p:ph type="title"/>
          </p:nvPr>
        </p:nvSpPr>
        <p:spPr/>
        <p:txBody>
          <a:bodyPr/>
          <a:lstStyle/>
          <a:p>
            <a:r>
              <a:rPr lang="en-GB" dirty="0"/>
              <a:t>Reference</a:t>
            </a:r>
          </a:p>
        </p:txBody>
      </p:sp>
      <p:sp>
        <p:nvSpPr>
          <p:cNvPr id="3" name="Content Placeholder 2">
            <a:extLst>
              <a:ext uri="{FF2B5EF4-FFF2-40B4-BE49-F238E27FC236}">
                <a16:creationId xmlns:a16="http://schemas.microsoft.com/office/drawing/2014/main" id="{FD1CAB83-5345-4851-A34A-8D9FBABB5791}"/>
              </a:ext>
            </a:extLst>
          </p:cNvPr>
          <p:cNvSpPr>
            <a:spLocks noGrp="1"/>
          </p:cNvSpPr>
          <p:nvPr>
            <p:ph idx="1"/>
          </p:nvPr>
        </p:nvSpPr>
        <p:spPr/>
        <p:txBody>
          <a:bodyPr/>
          <a:lstStyle/>
          <a:p>
            <a:pPr>
              <a:lnSpc>
                <a:spcPct val="100000"/>
              </a:lnSpc>
            </a:pPr>
            <a:r>
              <a:rPr lang="en-GB" dirty="0" err="1"/>
              <a:t>TutorialsPoint</a:t>
            </a:r>
            <a:r>
              <a:rPr lang="en-GB" dirty="0"/>
              <a:t> – Learn MySQL</a:t>
            </a:r>
          </a:p>
          <a:p>
            <a:pPr lvl="1">
              <a:lnSpc>
                <a:spcPct val="100000"/>
              </a:lnSpc>
            </a:pPr>
            <a:r>
              <a:rPr lang="en-GB" dirty="0">
                <a:hlinkClick r:id="rId2"/>
              </a:rPr>
              <a:t>https://www.tutorialspoint.com/mysql/index.htm</a:t>
            </a:r>
            <a:endParaRPr lang="en-GB" dirty="0"/>
          </a:p>
          <a:p>
            <a:pPr>
              <a:lnSpc>
                <a:spcPct val="100000"/>
              </a:lnSpc>
            </a:pPr>
            <a:r>
              <a:rPr lang="en-GB" dirty="0"/>
              <a:t>W3Schools – SQL Foreign Key Constraint</a:t>
            </a:r>
          </a:p>
          <a:p>
            <a:pPr lvl="1">
              <a:lnSpc>
                <a:spcPct val="100000"/>
              </a:lnSpc>
            </a:pPr>
            <a:r>
              <a:rPr lang="en-GB" dirty="0">
                <a:hlinkClick r:id="rId3"/>
              </a:rPr>
              <a:t>https://www.w3schools.com/sql/sql_foreignkey.asp</a:t>
            </a:r>
            <a:endParaRPr lang="en-GB" dirty="0"/>
          </a:p>
          <a:p>
            <a:pPr lvl="1">
              <a:lnSpc>
                <a:spcPct val="100000"/>
              </a:lnSpc>
            </a:pPr>
            <a:endParaRPr lang="en-GB" dirty="0"/>
          </a:p>
        </p:txBody>
      </p:sp>
      <p:sp>
        <p:nvSpPr>
          <p:cNvPr id="4" name="Slide Number Placeholder 3">
            <a:extLst>
              <a:ext uri="{FF2B5EF4-FFF2-40B4-BE49-F238E27FC236}">
                <a16:creationId xmlns:a16="http://schemas.microsoft.com/office/drawing/2014/main" id="{D48ACFA0-CAB0-4572-96C1-F05AC64261D8}"/>
              </a:ext>
            </a:extLst>
          </p:cNvPr>
          <p:cNvSpPr>
            <a:spLocks noGrp="1"/>
          </p:cNvSpPr>
          <p:nvPr>
            <p:ph type="sldNum" sz="quarter" idx="12"/>
          </p:nvPr>
        </p:nvSpPr>
        <p:spPr/>
        <p:txBody>
          <a:bodyPr/>
          <a:lstStyle/>
          <a:p>
            <a:fld id="{8E9E4023-6F3A-457B-B0BB-8C1F114B424F}" type="slidenum">
              <a:rPr lang="en-SG" smtClean="0"/>
              <a:t>33</a:t>
            </a:fld>
            <a:endParaRPr lang="en-SG"/>
          </a:p>
        </p:txBody>
      </p:sp>
    </p:spTree>
    <p:extLst>
      <p:ext uri="{BB962C8B-B14F-4D97-AF65-F5344CB8AC3E}">
        <p14:creationId xmlns:p14="http://schemas.microsoft.com/office/powerpoint/2010/main" val="3322016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a:t>The End</a:t>
            </a:r>
          </a:p>
        </p:txBody>
      </p:sp>
      <p:sp>
        <p:nvSpPr>
          <p:cNvPr id="2" name="Slide Number Placeholder 1">
            <a:extLst>
              <a:ext uri="{FF2B5EF4-FFF2-40B4-BE49-F238E27FC236}">
                <a16:creationId xmlns:a16="http://schemas.microsoft.com/office/drawing/2014/main" id="{5560D1F0-3F78-4F63-8353-5B213B578FF0}"/>
              </a:ext>
            </a:extLst>
          </p:cNvPr>
          <p:cNvSpPr>
            <a:spLocks noGrp="1"/>
          </p:cNvSpPr>
          <p:nvPr>
            <p:ph type="sldNum" sz="quarter" idx="12"/>
          </p:nvPr>
        </p:nvSpPr>
        <p:spPr/>
        <p:txBody>
          <a:bodyPr/>
          <a:lstStyle/>
          <a:p>
            <a:fld id="{8E9E4023-6F3A-457B-B0BB-8C1F114B424F}" type="slidenum">
              <a:rPr lang="en-SG" smtClean="0"/>
              <a:pPr/>
              <a:t>34</a:t>
            </a:fld>
            <a:endParaRPr lang="en-SG"/>
          </a:p>
        </p:txBody>
      </p:sp>
    </p:spTree>
    <p:extLst>
      <p:ext uri="{BB962C8B-B14F-4D97-AF65-F5344CB8AC3E}">
        <p14:creationId xmlns:p14="http://schemas.microsoft.com/office/powerpoint/2010/main" val="1275475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HTML Form and Controls II&amp;quot;&quot;/&gt;&lt;property id=&quot;20307&quot; value=&quot;256&quot;/&gt;&lt;/object&gt;&lt;object type=&quot;3&quot; unique_id=&quot;13467&quot;&gt;&lt;property id=&quot;20148&quot; value=&quot;5&quot;/&gt;&lt;property id=&quot;20300&quot; value=&quot;Slide 21 - &amp;quot;The End&amp;quot;&quot;/&gt;&lt;property id=&quot;20307&quot; value=&quot;288&quot;/&gt;&lt;/object&gt;&lt;object type=&quot;3&quot; unique_id=&quot;17361&quot;&gt;&lt;property id=&quot;20148&quot; value=&quot;5&quot;/&gt;&lt;property id=&quot;20300&quot; value=&quot;Slide 2 - &amp;quot;Objectives&amp;quot;&quot;/&gt;&lt;property id=&quot;20307&quot; value=&quot;289&quot;/&gt;&lt;/object&gt;&lt;object type=&quot;3&quot; unique_id=&quot;17362&quot;&gt;&lt;property id=&quot;20148&quot; value=&quot;5&quot;/&gt;&lt;property id=&quot;20300&quot; value=&quot;Slide 3 - &amp;quot;Tools Required&amp;quot;&quot;/&gt;&lt;property id=&quot;20307&quot; value=&quot;308&quot;/&gt;&lt;/object&gt;&lt;object type=&quot;3&quot; unique_id=&quot;17363&quot;&gt;&lt;property id=&quot;20148&quot; value=&quot;5&quot;/&gt;&lt;property id=&quot;20300&quot; value=&quot;Slide 4 - &amp;quot;GET AND POST&amp;quot;&quot;/&gt;&lt;property id=&quot;20307&quot; value=&quot;291&quot;/&gt;&lt;/object&gt;&lt;object type=&quot;3&quot; unique_id=&quot;17364&quot;&gt;&lt;property id=&quot;20148&quot; value=&quot;5&quot;/&gt;&lt;property id=&quot;20300&quot; value=&quot;Slide 5 - &amp;quot;HTTP Request Method: GET&amp;quot;&quot;/&gt;&lt;property id=&quot;20307&quot; value=&quot;292&quot;/&gt;&lt;/object&gt;&lt;object type=&quot;3&quot; unique_id=&quot;17365&quot;&gt;&lt;property id=&quot;20148&quot; value=&quot;5&quot;/&gt;&lt;property id=&quot;20300&quot; value=&quot;Slide 6 - &amp;quot;HTTP Request Method: POST&amp;quot;&quot;/&gt;&lt;property id=&quot;20307&quot; value=&quot;293&quot;/&gt;&lt;/object&gt;&lt;object type=&quot;3&quot; unique_id=&quot;17366&quot;&gt;&lt;property id=&quot;20148&quot; value=&quot;5&quot;/&gt;&lt;property id=&quot;20300&quot; value=&quot;Slide 7 - &amp;quot;GET vs POST&amp;quot;&quot;/&gt;&lt;property id=&quot;20307&quot; value=&quot;294&quot;/&gt;&lt;/object&gt;&lt;object type=&quot;3&quot; unique_id=&quot;17367&quot;&gt;&lt;property id=&quot;20148&quot; value=&quot;5&quot;/&gt;&lt;property id=&quot;20300&quot; value=&quot;Slide 8 - &amp;quot;When To Use?&amp;quot;&quot;/&gt;&lt;property id=&quot;20307&quot; value=&quot;295&quot;/&gt;&lt;/object&gt;&lt;object type=&quot;3&quot; unique_id=&quot;17368&quot;&gt;&lt;property id=&quot;20148&quot; value=&quot;5&quot;/&gt;&lt;property id=&quot;20300&quot; value=&quot;Slide 9 - &amp;quot;FORM ELEMENTS&amp;quot;&quot;/&gt;&lt;property id=&quot;20307&quot; value=&quot;296&quot;/&gt;&lt;/object&gt;&lt;object type=&quot;3&quot; unique_id=&quot;17369&quot;&gt;&lt;property id=&quot;20148&quot; value=&quot;5&quot;/&gt;&lt;property id=&quot;20300&quot; value=&quot;Slide 10 - &amp;quot;Label Element&amp;quot;&quot;/&gt;&lt;property id=&quot;20307&quot; value=&quot;297&quot;/&gt;&lt;/object&gt;&lt;object type=&quot;3&quot; unique_id=&quot;17370&quot;&gt;&lt;property id=&quot;20148&quot; value=&quot;5&quot;/&gt;&lt;property id=&quot;20300&quot; value=&quot;Slide 11 - &amp;quot;Input Element: Textbox&amp;quot;&quot;/&gt;&lt;property id=&quot;20307&quot; value=&quot;298&quot;/&gt;&lt;/object&gt;&lt;object type=&quot;3&quot; unique_id=&quot;17371&quot;&gt;&lt;property id=&quot;20148&quot; value=&quot;5&quot;/&gt;&lt;property id=&quot;20300&quot; value=&quot;Slide 12 - &amp;quot;Input Element: Checkbox&amp;quot;&quot;/&gt;&lt;property id=&quot;20307&quot; value=&quot;299&quot;/&gt;&lt;/object&gt;&lt;object type=&quot;3&quot; unique_id=&quot;17372&quot;&gt;&lt;property id=&quot;20148&quot; value=&quot;5&quot;/&gt;&lt;property id=&quot;20300&quot; value=&quot;Slide 13 - &amp;quot;Input Element: Radio Button&amp;quot;&quot;/&gt;&lt;property id=&quot;20307&quot; value=&quot;300&quot;/&gt;&lt;/object&gt;&lt;object type=&quot;3&quot; unique_id=&quot;17373&quot;&gt;&lt;property id=&quot;20148&quot; value=&quot;5&quot;/&gt;&lt;property id=&quot;20300&quot; value=&quot;Slide 14 - &amp;quot;Button Element&amp;quot;&quot;/&gt;&lt;property id=&quot;20307&quot; value=&quot;301&quot;/&gt;&lt;/object&gt;&lt;object type=&quot;3&quot; unique_id=&quot;17374&quot;&gt;&lt;property id=&quot;20148&quot; value=&quot;5&quot;/&gt;&lt;property id=&quot;20300&quot; value=&quot;Slide 15 - &amp;quot;Select Element&amp;quot;&quot;/&gt;&lt;property id=&quot;20307&quot; value=&quot;302&quot;/&gt;&lt;/object&gt;&lt;object type=&quot;3&quot; unique_id=&quot;17375&quot;&gt;&lt;property id=&quot;20148&quot; value=&quot;5&quot;/&gt;&lt;property id=&quot;20300&quot; value=&quot;Slide 16 - &amp;quot;Textarea Element&amp;quot;&quot;/&gt;&lt;property id=&quot;20307&quot; value=&quot;303&quot;/&gt;&lt;/object&gt;&lt;object type=&quot;3&quot; unique_id=&quot;17376&quot;&gt;&lt;property id=&quot;20148&quot; value=&quot;5&quot;/&gt;&lt;property id=&quot;20300&quot; value=&quot;Slide 17 - &amp;quot;Other Elements in HTML5&amp;quot;&quot;/&gt;&lt;property id=&quot;20307&quot; value=&quot;304&quot;/&gt;&lt;/object&gt;&lt;object type=&quot;3&quot; unique_id=&quot;17377&quot;&gt;&lt;property id=&quot;20148&quot; value=&quot;5&quot;/&gt;&lt;property id=&quot;20300&quot; value=&quot;Slide 18 - &amp;quot;Iframe Element&amp;quot;&quot;/&gt;&lt;property id=&quot;20307&quot; value=&quot;305&quot;/&gt;&lt;/object&gt;&lt;object type=&quot;3&quot; unique_id=&quot;17378&quot;&gt;&lt;property id=&quot;20148&quot; value=&quot;5&quot;/&gt;&lt;property id=&quot;20300&quot; value=&quot;Slide 19 - &amp;quot;Compatibilities and Support&amp;quot;&quot;/&gt;&lt;property id=&quot;20307&quot; value=&quot;306&quot;/&gt;&lt;/object&gt;&lt;object type=&quot;3&quot; unique_id=&quot;17379&quot;&gt;&lt;property id=&quot;20148&quot; value=&quot;5&quot;/&gt;&lt;property id=&quot;20300&quot; value=&quot;Slide 20 - &amp;quot;challenge&amp;quot;&quot;/&gt;&lt;property id=&quot;20307&quot; value=&quot;307&quot;/&gt;&lt;/object&gt;&lt;/object&gt;&lt;/object&gt;&lt;/database&gt;"/>
  <p:tag name="SECTOMILLISECCONVERTED" val="1"/>
</p:tagLst>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8847</TotalTime>
  <Words>1592</Words>
  <Application>Microsoft Office PowerPoint</Application>
  <PresentationFormat>Widescreen</PresentationFormat>
  <Paragraphs>219</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Arial Unicode MS</vt:lpstr>
      <vt:lpstr>Calibri</vt:lpstr>
      <vt:lpstr>Roboto</vt:lpstr>
      <vt:lpstr>Roboto light</vt:lpstr>
      <vt:lpstr>Verdana</vt:lpstr>
      <vt:lpstr>Office Theme</vt:lpstr>
      <vt:lpstr>Introduction to Database Design</vt:lpstr>
      <vt:lpstr>Objectives</vt:lpstr>
      <vt:lpstr>Tools Required</vt:lpstr>
      <vt:lpstr>Introduction TO Entity-Relationship Model</vt:lpstr>
      <vt:lpstr>Entity-Relationship Model</vt:lpstr>
      <vt:lpstr>Entity</vt:lpstr>
      <vt:lpstr>Attributes</vt:lpstr>
      <vt:lpstr>Example of ER Diagram</vt:lpstr>
      <vt:lpstr>Example of ER Diagram</vt:lpstr>
      <vt:lpstr>Designing Database For Movie Review Website</vt:lpstr>
      <vt:lpstr>Identify the Tables</vt:lpstr>
      <vt:lpstr>Schema Design</vt:lpstr>
      <vt:lpstr>Creating a New Model</vt:lpstr>
      <vt:lpstr>Creating a New Model</vt:lpstr>
      <vt:lpstr>Creating a New Model</vt:lpstr>
      <vt:lpstr>Creating a New Model</vt:lpstr>
      <vt:lpstr>Creating a New Model</vt:lpstr>
      <vt:lpstr>Creating a New Model</vt:lpstr>
      <vt:lpstr>Creating a New Model</vt:lpstr>
      <vt:lpstr>Creating a New Model</vt:lpstr>
      <vt:lpstr>Creating a New Model</vt:lpstr>
      <vt:lpstr>What is a Foreign Key?</vt:lpstr>
      <vt:lpstr>From Design to Physical Schema</vt:lpstr>
      <vt:lpstr>Creating the Physical Schema from the Design</vt:lpstr>
      <vt:lpstr>Transforming to Physical Schema</vt:lpstr>
      <vt:lpstr>Transforming to Physical Schema</vt:lpstr>
      <vt:lpstr>Transforming to Physical Schema</vt:lpstr>
      <vt:lpstr>Transforming to Physical Schema</vt:lpstr>
      <vt:lpstr>Transforming to Physical Schema</vt:lpstr>
      <vt:lpstr>Transforming to Physical Schema</vt:lpstr>
      <vt:lpstr>Transforming to Physical Schema</vt:lpstr>
      <vt:lpstr>Next Episode</vt:lpstr>
      <vt:lpstr>Reference</vt:lpstr>
      <vt:lpstr>The End</vt:lpstr>
    </vt:vector>
  </TitlesOfParts>
  <Manager/>
  <Company>Temasek Polytechnic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Design</dc:title>
  <dc:subject>Coding and Testing</dc:subject>
  <dc:creator>Tan Sio Poh</dc:creator>
  <cp:keywords>CODT, CIT1C16, ADEV, CIT1C17, Introduction to Database Design</cp:keywords>
  <dc:description/>
  <cp:lastModifiedBy>temasek poly</cp:lastModifiedBy>
  <cp:revision>700</cp:revision>
  <dcterms:created xsi:type="dcterms:W3CDTF">2016-03-04T00:57:19Z</dcterms:created>
  <dcterms:modified xsi:type="dcterms:W3CDTF">2021-09-22T06:08:41Z</dcterms:modified>
  <cp:category>Software Cluster</cp:category>
</cp:coreProperties>
</file>