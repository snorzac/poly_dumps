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5"/>
  </p:notesMasterIdLst>
  <p:sldIdLst>
    <p:sldId id="256" r:id="rId2"/>
    <p:sldId id="289" r:id="rId3"/>
    <p:sldId id="310" r:id="rId4"/>
    <p:sldId id="291" r:id="rId5"/>
    <p:sldId id="292" r:id="rId6"/>
    <p:sldId id="293" r:id="rId7"/>
    <p:sldId id="294" r:id="rId8"/>
    <p:sldId id="295" r:id="rId9"/>
    <p:sldId id="296" r:id="rId10"/>
    <p:sldId id="297" r:id="rId11"/>
    <p:sldId id="298" r:id="rId12"/>
    <p:sldId id="299" r:id="rId13"/>
    <p:sldId id="300" r:id="rId14"/>
    <p:sldId id="301" r:id="rId15"/>
    <p:sldId id="302" r:id="rId16"/>
    <p:sldId id="303" r:id="rId17"/>
    <p:sldId id="304" r:id="rId18"/>
    <p:sldId id="305" r:id="rId19"/>
    <p:sldId id="306" r:id="rId20"/>
    <p:sldId id="307" r:id="rId21"/>
    <p:sldId id="308" r:id="rId22"/>
    <p:sldId id="309" r:id="rId23"/>
    <p:sldId id="288" r:id="rId24"/>
  </p:sldIdLst>
  <p:sldSz cx="12192000" cy="6858000"/>
  <p:notesSz cx="6858000" cy="9144000"/>
  <p:custDataLst>
    <p:tags r:id="rId2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lena Saleh" initials="SS" lastIdx="8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007DDA"/>
    <a:srgbClr val="FAD22C"/>
    <a:srgbClr val="1CADE4"/>
    <a:srgbClr val="61C5FF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673FFA-1CAC-4C68-BC4D-79D4B120632B}" v="39" dt="2018-09-28T07:01:38.0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29" autoAdjust="0"/>
    <p:restoredTop sz="93875" autoAdjust="0"/>
  </p:normalViewPr>
  <p:slideViewPr>
    <p:cSldViewPr snapToGrid="0">
      <p:cViewPr varScale="1">
        <p:scale>
          <a:sx n="107" d="100"/>
          <a:sy n="107" d="100"/>
        </p:scale>
        <p:origin x="1044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m Su Yi" userId="43bb02ba-2a64-4c57-886a-7f9577835f3c" providerId="ADAL" clId="{A3673FFA-1CAC-4C68-BC4D-79D4B120632B}"/>
    <pc:docChg chg="modMainMaster">
      <pc:chgData name="Lam Su Yi" userId="43bb02ba-2a64-4c57-886a-7f9577835f3c" providerId="ADAL" clId="{A3673FFA-1CAC-4C68-BC4D-79D4B120632B}" dt="2018-09-28T07:01:38.089" v="38" actId="20577"/>
      <pc:docMkLst>
        <pc:docMk/>
      </pc:docMkLst>
      <pc:sldMasterChg chg="modSldLayout">
        <pc:chgData name="Lam Su Yi" userId="43bb02ba-2a64-4c57-886a-7f9577835f3c" providerId="ADAL" clId="{A3673FFA-1CAC-4C68-BC4D-79D4B120632B}" dt="2018-09-28T07:01:38.089" v="38" actId="20577"/>
        <pc:sldMasterMkLst>
          <pc:docMk/>
          <pc:sldMasterMk cId="758345117" sldId="2147483672"/>
        </pc:sldMasterMkLst>
        <pc:sldLayoutChg chg="modSp">
          <pc:chgData name="Lam Su Yi" userId="43bb02ba-2a64-4c57-886a-7f9577835f3c" providerId="ADAL" clId="{A3673FFA-1CAC-4C68-BC4D-79D4B120632B}" dt="2018-09-28T07:01:38.089" v="38" actId="20577"/>
          <pc:sldLayoutMkLst>
            <pc:docMk/>
            <pc:sldMasterMk cId="758345117" sldId="2147483672"/>
            <pc:sldLayoutMk cId="1526603819" sldId="2147483673"/>
          </pc:sldLayoutMkLst>
          <pc:spChg chg="mod">
            <ac:chgData name="Lam Su Yi" userId="43bb02ba-2a64-4c57-886a-7f9577835f3c" providerId="ADAL" clId="{A3673FFA-1CAC-4C68-BC4D-79D4B120632B}" dt="2018-09-27T08:21:38.135" v="33" actId="20577"/>
            <ac:spMkLst>
              <pc:docMk/>
              <pc:sldMasterMk cId="758345117" sldId="2147483672"/>
              <pc:sldLayoutMk cId="1526603819" sldId="2147483673"/>
              <ac:spMk id="12" creationId="{00000000-0000-0000-0000-000000000000}"/>
            </ac:spMkLst>
          </pc:spChg>
          <pc:spChg chg="mod">
            <ac:chgData name="Lam Su Yi" userId="43bb02ba-2a64-4c57-886a-7f9577835f3c" providerId="ADAL" clId="{A3673FFA-1CAC-4C68-BC4D-79D4B120632B}" dt="2018-09-28T07:01:38.089" v="38" actId="20577"/>
            <ac:spMkLst>
              <pc:docMk/>
              <pc:sldMasterMk cId="758345117" sldId="2147483672"/>
              <pc:sldLayoutMk cId="1526603819" sldId="2147483673"/>
              <ac:spMk id="16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97268A-7AE4-432A-9318-AFE0CD5AF515}" type="datetimeFigureOut">
              <a:rPr lang="en-SG" smtClean="0"/>
              <a:t>21/9/2021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5443D8-64E2-477C-8585-14786302454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517629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5443D8-64E2-477C-8585-147863024541}" type="slidenum">
              <a:rPr lang="en-SG" smtClean="0"/>
              <a:t>11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784891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uk-UA" smtClean="0"/>
              <a:t>12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94858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uk-UA" smtClean="0"/>
              <a:t>13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53594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uk-UA" smtClean="0"/>
              <a:t>14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288693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uk-UA" smtClean="0"/>
              <a:t>20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981772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"/>
            <a:ext cx="9269729" cy="6096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 userDrawn="1"/>
        </p:nvSpPr>
        <p:spPr>
          <a:xfrm>
            <a:off x="9349740" y="2"/>
            <a:ext cx="2845841" cy="6096000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9119" y="1445341"/>
            <a:ext cx="6770539" cy="2195327"/>
          </a:xfrm>
        </p:spPr>
        <p:txBody>
          <a:bodyPr anchor="b">
            <a:normAutofit/>
          </a:bodyPr>
          <a:lstStyle>
            <a:lvl1pPr algn="l">
              <a:defRPr sz="40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9119" y="3732744"/>
            <a:ext cx="6735463" cy="1655762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1857" y="6356350"/>
            <a:ext cx="1692869" cy="365125"/>
          </a:xfrm>
        </p:spPr>
        <p:txBody>
          <a:bodyPr/>
          <a:lstStyle>
            <a:lvl1pPr algn="ctr">
              <a:defRPr/>
            </a:lvl1pPr>
          </a:lstStyle>
          <a:p>
            <a:fld id="{8E9E4023-6F3A-457B-B0BB-8C1F114B424F}" type="slidenum">
              <a:rPr lang="en-SG" smtClean="0"/>
              <a:pPr/>
              <a:t>‹#›</a:t>
            </a:fld>
            <a:endParaRPr lang="en-SG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912" y="593958"/>
            <a:ext cx="4324551" cy="533504"/>
          </a:xfrm>
          <a:prstGeom prst="rect">
            <a:avLst/>
          </a:prstGeom>
          <a:effectLst>
            <a:outerShdw blurRad="50800" dist="25400" dir="2700000" algn="tl" rotWithShape="0">
              <a:prstClr val="black">
                <a:alpha val="33000"/>
              </a:prstClr>
            </a:outerShdw>
          </a:effectLst>
        </p:spPr>
      </p:pic>
      <p:sp>
        <p:nvSpPr>
          <p:cNvPr id="16" name="Rectangle 15"/>
          <p:cNvSpPr/>
          <p:nvPr userDrawn="1"/>
        </p:nvSpPr>
        <p:spPr>
          <a:xfrm>
            <a:off x="9352667" y="291179"/>
            <a:ext cx="2782059" cy="1569660"/>
          </a:xfrm>
          <a:prstGeom prst="rect">
            <a:avLst/>
          </a:prstGeom>
          <a:effectLst>
            <a:reflection blurRad="6350" stA="50000" endA="300" endPos="55500" dist="50800" dir="5400000" sy="-100000" algn="bl" rotWithShape="0"/>
          </a:effectLst>
        </p:spPr>
        <p:txBody>
          <a:bodyPr wrap="square">
            <a:spAutoFit/>
          </a:bodyPr>
          <a:lstStyle/>
          <a:p>
            <a:pPr algn="ctr"/>
            <a:r>
              <a:rPr lang="en-SG" sz="4800" b="1" spc="80" dirty="0">
                <a:solidFill>
                  <a:schemeClr val="bg1"/>
                </a:solidFill>
                <a:effectLst>
                  <a:reflection blurRad="6350" stA="60000" endA="900" endPos="60000" dist="25400" dir="5400000" sy="-100000" algn="bl" rotWithShape="0"/>
                </a:effectLst>
                <a:latin typeface="Roboto" pitchFamily="2" charset="0"/>
                <a:ea typeface="Roboto" pitchFamily="2" charset="0"/>
                <a:cs typeface="Calibri" panose="020F0502020204030204" pitchFamily="34" charset="0"/>
              </a:rPr>
              <a:t>CDEV</a:t>
            </a:r>
          </a:p>
          <a:p>
            <a:pPr algn="ctr"/>
            <a:r>
              <a:rPr lang="en-SG" sz="4800" b="1" spc="80" dirty="0">
                <a:solidFill>
                  <a:schemeClr val="bg1"/>
                </a:solidFill>
                <a:effectLst>
                  <a:reflection blurRad="6350" stA="60000" endA="900" endPos="60000" dist="25400" dir="5400000" sy="-100000" algn="bl" rotWithShape="0"/>
                </a:effectLst>
                <a:latin typeface="Roboto" pitchFamily="2" charset="0"/>
                <a:ea typeface="Roboto" pitchFamily="2" charset="0"/>
                <a:cs typeface="Calibri" panose="020F0502020204030204" pitchFamily="34" charset="0"/>
              </a:rPr>
              <a:t>DBAV</a:t>
            </a:r>
            <a:endParaRPr lang="en-SG" sz="4800" spc="80" dirty="0">
              <a:solidFill>
                <a:schemeClr val="bg1"/>
              </a:solidFill>
              <a:effectLst>
                <a:reflection blurRad="6350" stA="60000" endA="900" endPos="60000" dist="25400" dir="5400000" sy="-100000" algn="bl" rotWithShape="0"/>
              </a:effectLst>
              <a:latin typeface="Roboto light" pitchFamily="2" charset="0"/>
              <a:ea typeface="Roboto light" pitchFamily="2" charset="0"/>
              <a:cs typeface="Calibri" panose="020F0502020204030204" pitchFamily="34" charset="0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483724" y="6166170"/>
            <a:ext cx="8866016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SG" sz="1400" b="1" spc="8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SOFTWARE</a:t>
            </a:r>
            <a:r>
              <a:rPr lang="en-SG" sz="1400" spc="8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CLUSTER</a:t>
            </a:r>
            <a:r>
              <a:rPr lang="en-SG" sz="1200" spc="8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n-SG" sz="1200" spc="8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SG" sz="1200" spc="8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 CDEV • Coding and Development Project ] [ DBAV • Database Application Development ]</a:t>
            </a:r>
            <a:endParaRPr lang="en-US" sz="1200" spc="8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7464598" y="2544224"/>
            <a:ext cx="4648963" cy="3765492"/>
            <a:chOff x="7464598" y="2544224"/>
            <a:chExt cx="4648963" cy="3765492"/>
          </a:xfrm>
          <a:effectLst>
            <a:outerShdw blurRad="38100" dist="25400" dir="2700000" algn="tl" rotWithShape="0">
              <a:prstClr val="black">
                <a:alpha val="28000"/>
              </a:prstClr>
            </a:outerShdw>
          </a:effectLst>
        </p:grpSpPr>
        <p:pic>
          <p:nvPicPr>
            <p:cNvPr id="15" name="Picture 14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81551" y="4482380"/>
              <a:ext cx="1032010" cy="850475"/>
            </a:xfrm>
            <a:prstGeom prst="rect">
              <a:avLst/>
            </a:prstGeom>
          </p:spPr>
        </p:pic>
        <p:pic>
          <p:nvPicPr>
            <p:cNvPr id="17" name="Picture 16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64598" y="2544224"/>
              <a:ext cx="3896323" cy="3765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26603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4023-6F3A-457B-B0BB-8C1F114B424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85431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Content"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774" y="3917739"/>
            <a:ext cx="10336161" cy="819784"/>
          </a:xfrm>
        </p:spPr>
        <p:txBody>
          <a:bodyPr>
            <a:normAutofit/>
          </a:bodyPr>
          <a:lstStyle>
            <a:lvl1pPr algn="ctr"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E9E4023-6F3A-457B-B0BB-8C1F114B424F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5" name="Rectangle 4"/>
          <p:cNvSpPr/>
          <p:nvPr userDrawn="1"/>
        </p:nvSpPr>
        <p:spPr>
          <a:xfrm>
            <a:off x="0" y="5011843"/>
            <a:ext cx="9141619" cy="14973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73476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12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/>
          <a:lstStyle>
            <a:lvl1pPr>
              <a:defRPr>
                <a:latin typeface="Arial Unicode MS" charset="0"/>
                <a:ea typeface="Arial Unicode MS" charset="0"/>
                <a:cs typeface="Arial Unicode MS" charset="0"/>
              </a:defRPr>
            </a:lvl1pPr>
            <a:lvl2pPr>
              <a:defRPr>
                <a:latin typeface="Arial Unicode MS" charset="0"/>
                <a:ea typeface="Arial Unicode MS" charset="0"/>
                <a:cs typeface="Arial Unicode MS" charset="0"/>
              </a:defRPr>
            </a:lvl2pPr>
            <a:lvl3pPr>
              <a:defRPr>
                <a:latin typeface="Arial Unicode MS" charset="0"/>
                <a:ea typeface="Arial Unicode MS" charset="0"/>
                <a:cs typeface="Arial Unicode MS" charset="0"/>
              </a:defRPr>
            </a:lvl3pPr>
            <a:lvl4pPr>
              <a:defRPr>
                <a:latin typeface="Arial Unicode MS" charset="0"/>
                <a:ea typeface="Arial Unicode MS" charset="0"/>
                <a:cs typeface="Arial Unicode MS" charset="0"/>
              </a:defRPr>
            </a:lvl4pPr>
            <a:lvl5pPr>
              <a:defRPr>
                <a:latin typeface="Arial Unicode MS" charset="0"/>
                <a:ea typeface="Arial Unicode MS" charset="0"/>
                <a:cs typeface="Arial Unicode MS" charset="0"/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/>
          <a:lstStyle>
            <a:lvl1pPr>
              <a:defRPr>
                <a:latin typeface="Arial Unicode MS" charset="0"/>
                <a:ea typeface="Arial Unicode MS" charset="0"/>
                <a:cs typeface="Arial Unicode MS" charset="0"/>
              </a:defRPr>
            </a:lvl1pPr>
            <a:lvl2pPr>
              <a:defRPr>
                <a:latin typeface="Arial Unicode MS" charset="0"/>
                <a:ea typeface="Arial Unicode MS" charset="0"/>
                <a:cs typeface="Arial Unicode MS" charset="0"/>
              </a:defRPr>
            </a:lvl2pPr>
            <a:lvl3pPr>
              <a:defRPr>
                <a:latin typeface="Arial Unicode MS" charset="0"/>
                <a:ea typeface="Arial Unicode MS" charset="0"/>
                <a:cs typeface="Arial Unicode MS" charset="0"/>
              </a:defRPr>
            </a:lvl3pPr>
            <a:lvl4pPr>
              <a:defRPr>
                <a:latin typeface="Arial Unicode MS" charset="0"/>
                <a:ea typeface="Arial Unicode MS" charset="0"/>
                <a:cs typeface="Arial Unicode MS" charset="0"/>
              </a:defRPr>
            </a:lvl4pPr>
            <a:lvl5pPr>
              <a:defRPr>
                <a:latin typeface="Arial Unicode MS" charset="0"/>
                <a:ea typeface="Arial Unicode MS" charset="0"/>
                <a:cs typeface="Arial Unicode MS" charset="0"/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/>
          <a:lstStyle/>
          <a:p>
            <a:fld id="{970A17FA-30DB-4EF9-8F32-DA04C5B7B39C}" type="datetime1">
              <a:rPr lang="en-US" smtClean="0"/>
              <a:t>9/21/2021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/>
          <a:lstStyle>
            <a:lvl1pPr>
              <a:defRPr>
                <a:latin typeface="Verdana" charset="0"/>
                <a:ea typeface="Verdana" charset="0"/>
                <a:cs typeface="Verdana" charset="0"/>
              </a:defRPr>
            </a:lvl1pPr>
          </a:lstStyle>
          <a:p>
            <a:r>
              <a:rPr lang="en-US" dirty="0" err="1"/>
              <a:t>Temasek</a:t>
            </a:r>
            <a:r>
              <a:rPr lang="en-US" dirty="0"/>
              <a:t> Polytechnic  •  School of Informatics &amp; IT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55875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Group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Straight Connector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ctangle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1" name="Group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anchor="ctr">
            <a:normAutofit/>
          </a:bodyPr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Arial Unicode MS" charset="0"/>
                <a:ea typeface="Arial Unicode MS" charset="0"/>
                <a:cs typeface="Arial Unicode MS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/>
          <a:lstStyle/>
          <a:p>
            <a:fld id="{62F976B9-EA7D-4178-A1C2-C52A639DE10A}" type="datetime1">
              <a:rPr lang="en-US" smtClean="0"/>
              <a:t>9/21/2021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/>
          <a:lstStyle>
            <a:lvl1pPr>
              <a:defRPr>
                <a:latin typeface="Verdana" charset="0"/>
                <a:ea typeface="Verdana" charset="0"/>
                <a:cs typeface="Verdana" charset="0"/>
              </a:defRPr>
            </a:lvl1pPr>
          </a:lstStyle>
          <a:p>
            <a:r>
              <a:rPr lang="en-US" dirty="0" err="1"/>
              <a:t>Temasek</a:t>
            </a:r>
            <a:r>
              <a:rPr lang="en-US" dirty="0"/>
              <a:t> Polytechnic  •  School of Informatics &amp; 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063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/>
          <a:lstStyle/>
          <a:p>
            <a:fld id="{4C687016-F3FE-45F9-95D8-B895EDD6B5F2}" type="datetime1">
              <a:rPr lang="en-US" smtClean="0"/>
              <a:t>9/21/2021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/>
          <a:lstStyle>
            <a:lvl1pPr>
              <a:defRPr>
                <a:latin typeface="Verdana" charset="0"/>
                <a:ea typeface="Verdana" charset="0"/>
                <a:cs typeface="Verdana" charset="0"/>
              </a:defRPr>
            </a:lvl1pPr>
          </a:lstStyle>
          <a:p>
            <a:r>
              <a:rPr lang="en-US" dirty="0" err="1"/>
              <a:t>Temasek</a:t>
            </a:r>
            <a:r>
              <a:rPr lang="en-US" dirty="0"/>
              <a:t> Polytechnic  •  School of Informatics &amp; IT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07467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/>
          <a:lstStyle/>
          <a:p>
            <a:fld id="{D7655924-73DA-44E6-B1B8-34FC7E7B94AF}" type="datetime1">
              <a:rPr lang="en-US" smtClean="0"/>
              <a:t>9/21/2021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/>
          <a:lstStyle>
            <a:lvl1pPr>
              <a:defRPr>
                <a:latin typeface="Verdana" charset="0"/>
                <a:ea typeface="Verdana" charset="0"/>
                <a:cs typeface="Verdana" charset="0"/>
              </a:defRPr>
            </a:lvl1pPr>
          </a:lstStyle>
          <a:p>
            <a:r>
              <a:rPr lang="en-US" dirty="0" err="1"/>
              <a:t>Temasek</a:t>
            </a:r>
            <a:r>
              <a:rPr lang="en-US" dirty="0"/>
              <a:t> Polytechnic  •  School of Informatics &amp; IT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54998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184910"/>
            <a:ext cx="9141619" cy="14973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 userDrawn="1"/>
        </p:nvSpPr>
        <p:spPr>
          <a:xfrm>
            <a:off x="9270263" y="1184910"/>
            <a:ext cx="2921737" cy="13843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b="0" i="0" u="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7638" y="1631314"/>
            <a:ext cx="10336162" cy="45866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66358" y="6357456"/>
            <a:ext cx="465217" cy="307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9E4023-6F3A-457B-B0BB-8C1F114B424F}" type="slidenum">
              <a:rPr lang="en-SG" smtClean="0"/>
              <a:pPr/>
              <a:t>‹#›</a:t>
            </a:fld>
            <a:endParaRPr lang="en-SG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581" y="0"/>
            <a:ext cx="1269849" cy="104647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17638" y="365126"/>
            <a:ext cx="10336161" cy="819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978524" y="6388432"/>
            <a:ext cx="1058783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spc="8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TEMASEK POLYTECHNIC I </a:t>
            </a:r>
            <a:r>
              <a:rPr lang="en-US" sz="1200" b="1" spc="8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School of Informatics &amp; IT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-3077" y="130629"/>
            <a:ext cx="652384" cy="786947"/>
            <a:chOff x="-3077" y="130629"/>
            <a:chExt cx="652384" cy="786947"/>
          </a:xfrm>
        </p:grpSpPr>
        <p:sp>
          <p:nvSpPr>
            <p:cNvPr id="4" name="Rectangle 3"/>
            <p:cNvSpPr/>
            <p:nvPr userDrawn="1"/>
          </p:nvSpPr>
          <p:spPr>
            <a:xfrm>
              <a:off x="255037" y="130629"/>
              <a:ext cx="130628" cy="130628"/>
            </a:xfrm>
            <a:prstGeom prst="rect">
              <a:avLst/>
            </a:prstGeom>
            <a:solidFill>
              <a:srgbClr val="007DDA">
                <a:alpha val="8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127551" y="523239"/>
              <a:ext cx="130628" cy="130628"/>
            </a:xfrm>
            <a:prstGeom prst="rect">
              <a:avLst/>
            </a:prstGeom>
            <a:solidFill>
              <a:srgbClr val="007DDA">
                <a:alpha val="8117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-3077" y="261257"/>
              <a:ext cx="130628" cy="130628"/>
            </a:xfrm>
            <a:prstGeom prst="rect">
              <a:avLst/>
            </a:prstGeom>
            <a:solidFill>
              <a:srgbClr val="007D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518679" y="261257"/>
              <a:ext cx="130628" cy="130628"/>
            </a:xfrm>
            <a:prstGeom prst="rect">
              <a:avLst/>
            </a:prstGeom>
            <a:solidFill>
              <a:srgbClr val="007DDA">
                <a:alpha val="9098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388195" y="393884"/>
              <a:ext cx="130628" cy="130628"/>
            </a:xfrm>
            <a:prstGeom prst="rect">
              <a:avLst/>
            </a:prstGeom>
            <a:solidFill>
              <a:srgbClr val="007DDA">
                <a:alpha val="9098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387783" y="786948"/>
              <a:ext cx="130628" cy="130628"/>
            </a:xfrm>
            <a:prstGeom prst="rect">
              <a:avLst/>
            </a:prstGeom>
            <a:solidFill>
              <a:srgbClr val="007DDA">
                <a:alpha val="9098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</p:spTree>
    <p:extLst>
      <p:ext uri="{BB962C8B-B14F-4D97-AF65-F5344CB8AC3E}">
        <p14:creationId xmlns:p14="http://schemas.microsoft.com/office/powerpoint/2010/main" val="758345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84" r:id="rId3"/>
    <p:sldLayoutId id="2147483675" r:id="rId4"/>
    <p:sldLayoutId id="2147483685" r:id="rId5"/>
    <p:sldLayoutId id="2147483686" r:id="rId6"/>
    <p:sldLayoutId id="2147483687" r:id="rId7"/>
    <p:sldLayoutId id="2147483688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i="0" u="none" kern="1200">
          <a:solidFill>
            <a:srgbClr val="0070C0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schools.com/css/tryit.asp?filename=trycss_link" TargetMode="Externa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/>
          <p:cNvCxnSpPr/>
          <p:nvPr/>
        </p:nvCxnSpPr>
        <p:spPr>
          <a:xfrm>
            <a:off x="863672" y="3954162"/>
            <a:ext cx="6499654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783462" y="1410689"/>
            <a:ext cx="7928404" cy="2387600"/>
          </a:xfrm>
        </p:spPr>
        <p:txBody>
          <a:bodyPr/>
          <a:lstStyle/>
          <a:p>
            <a:r>
              <a:rPr lang="en-US" dirty="0">
                <a:ea typeface="Calisto MT" charset="0"/>
                <a:cs typeface="Calisto MT" charset="0"/>
              </a:rPr>
              <a:t>Introduction to CSS</a:t>
            </a:r>
            <a:endParaRPr lang="en-SG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815546" y="4106778"/>
            <a:ext cx="7928404" cy="1151021"/>
          </a:xfrm>
        </p:spPr>
        <p:txBody>
          <a:bodyPr/>
          <a:lstStyle/>
          <a:p>
            <a:r>
              <a:rPr lang="en-SG" dirty="0"/>
              <a:t>Week 02.</a:t>
            </a:r>
          </a:p>
        </p:txBody>
      </p:sp>
    </p:spTree>
    <p:extLst>
      <p:ext uri="{BB962C8B-B14F-4D97-AF65-F5344CB8AC3E}">
        <p14:creationId xmlns:p14="http://schemas.microsoft.com/office/powerpoint/2010/main" val="520979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ＭＳ Ｐゴシック" charset="0"/>
              </a:rPr>
              <a:t>Describe the syntax and characteristics of CSS;</a:t>
            </a:r>
          </a:p>
          <a:p>
            <a:pPr>
              <a:defRPr/>
            </a:pPr>
            <a:r>
              <a:rPr lang="en-US" dirty="0">
                <a:ea typeface="ＭＳ Ｐゴシック" charset="0"/>
              </a:rPr>
              <a:t>Describe the various selectors in CSS;</a:t>
            </a:r>
          </a:p>
          <a:p>
            <a:pPr>
              <a:defRPr/>
            </a:pPr>
            <a:r>
              <a:rPr lang="en-US" dirty="0">
                <a:ea typeface="ＭＳ Ｐゴシック" charset="0"/>
              </a:rPr>
              <a:t>Demonstrate how to use CSS with HTML.</a:t>
            </a: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11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Tools Required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dirty="0"/>
              <a:t>Visual Studio Code</a:t>
            </a:r>
          </a:p>
          <a:p>
            <a:pPr>
              <a:lnSpc>
                <a:spcPct val="100000"/>
              </a:lnSpc>
            </a:pPr>
            <a:r>
              <a:rPr lang="en-GB" dirty="0"/>
              <a:t>Browser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Google Chrome (recommended) 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Mozilla Firefox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09646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CSS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451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CSS?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CSS or </a:t>
            </a:r>
            <a:r>
              <a:rPr lang="en-US" i="1" dirty="0"/>
              <a:t>Cascading Style Sheet</a:t>
            </a:r>
            <a:r>
              <a:rPr lang="en-US" dirty="0"/>
              <a:t>, is a ”style sheet language” that lets you style web pages through their elements.</a:t>
            </a:r>
          </a:p>
          <a:p>
            <a:r>
              <a:rPr lang="en-US" dirty="0"/>
              <a:t>CSS is embedded inside HTML, but is not HTML itself.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5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41646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Structure of CSS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>
          <a:xfrm>
            <a:off x="1104900" y="1600201"/>
            <a:ext cx="4914900" cy="10287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800" dirty="0"/>
              <a:t>CSS consists of "style rules". Each style rule consists of a "selector" and "declarations" of property-value pairs: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6</a:t>
            </a:fld>
            <a:endParaRPr lang="uk-UA"/>
          </a:p>
        </p:txBody>
      </p:sp>
      <p:sp>
        <p:nvSpPr>
          <p:cNvPr id="13" name="Rectangle 12"/>
          <p:cNvSpPr/>
          <p:nvPr/>
        </p:nvSpPr>
        <p:spPr>
          <a:xfrm>
            <a:off x="7288530" y="5073351"/>
            <a:ext cx="107576" cy="3316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/>
          <p:cNvSpPr txBox="1"/>
          <p:nvPr/>
        </p:nvSpPr>
        <p:spPr>
          <a:xfrm>
            <a:off x="1794510" y="2936786"/>
            <a:ext cx="31889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Courier" charset="0"/>
                <a:ea typeface="Courier" charset="0"/>
                <a:cs typeface="Courier" charset="0"/>
              </a:rPr>
              <a:t>selector</a:t>
            </a:r>
            <a:r>
              <a:rPr lang="en-US" dirty="0">
                <a:latin typeface="Courier" charset="0"/>
                <a:ea typeface="Courier" charset="0"/>
                <a:cs typeface="Courier" charset="0"/>
              </a:rPr>
              <a:t> {</a:t>
            </a:r>
          </a:p>
          <a:p>
            <a:r>
              <a:rPr lang="en-US" dirty="0"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property</a:t>
            </a:r>
            <a:r>
              <a:rPr lang="en-US" dirty="0">
                <a:latin typeface="Courier" charset="0"/>
                <a:ea typeface="Courier" charset="0"/>
                <a:cs typeface="Courier" charset="0"/>
              </a:rPr>
              <a:t>: </a:t>
            </a:r>
            <a:r>
              <a:rPr lang="en-US" dirty="0">
                <a:solidFill>
                  <a:srgbClr val="00B050"/>
                </a:solidFill>
                <a:latin typeface="Courier" charset="0"/>
                <a:ea typeface="Courier" charset="0"/>
                <a:cs typeface="Courier" charset="0"/>
              </a:rPr>
              <a:t>value</a:t>
            </a:r>
            <a:r>
              <a:rPr lang="en-US" dirty="0">
                <a:latin typeface="Courier" charset="0"/>
                <a:ea typeface="Courier" charset="0"/>
                <a:cs typeface="Courier" charset="0"/>
              </a:rPr>
              <a:t>;</a:t>
            </a:r>
          </a:p>
          <a:p>
            <a:r>
              <a:rPr lang="en-US" dirty="0"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property</a:t>
            </a:r>
            <a:r>
              <a:rPr lang="en-US" dirty="0">
                <a:latin typeface="Courier" charset="0"/>
                <a:ea typeface="Courier" charset="0"/>
                <a:cs typeface="Courier" charset="0"/>
              </a:rPr>
              <a:t>: </a:t>
            </a:r>
            <a:r>
              <a:rPr lang="en-US" dirty="0">
                <a:solidFill>
                  <a:srgbClr val="00B050"/>
                </a:solidFill>
                <a:latin typeface="Courier" charset="0"/>
                <a:ea typeface="Courier" charset="0"/>
                <a:cs typeface="Courier" charset="0"/>
              </a:rPr>
              <a:t>value</a:t>
            </a:r>
            <a:r>
              <a:rPr lang="en-US" dirty="0">
                <a:latin typeface="Courier" charset="0"/>
                <a:ea typeface="Courier" charset="0"/>
                <a:cs typeface="Courier" charset="0"/>
              </a:rPr>
              <a:t>;</a:t>
            </a:r>
          </a:p>
          <a:p>
            <a:r>
              <a:rPr lang="en-US" dirty="0">
                <a:latin typeface="Courier" charset="0"/>
                <a:ea typeface="Courier" charset="0"/>
                <a:cs typeface="Courier" charset="0"/>
              </a:rPr>
              <a:t>}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0244" y="2936785"/>
            <a:ext cx="3420938" cy="1200329"/>
          </a:xfr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9" name="TextBox 8"/>
          <p:cNvSpPr txBox="1"/>
          <p:nvPr/>
        </p:nvSpPr>
        <p:spPr>
          <a:xfrm>
            <a:off x="7195572" y="2146987"/>
            <a:ext cx="874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Arial Unicode MS" charset="0"/>
                <a:ea typeface="Arial Unicode MS" charset="0"/>
                <a:cs typeface="Arial Unicode MS" charset="0"/>
              </a:rPr>
              <a:t>E.g.:</a:t>
            </a:r>
          </a:p>
        </p:txBody>
      </p:sp>
    </p:spTree>
    <p:extLst>
      <p:ext uri="{BB962C8B-B14F-4D97-AF65-F5344CB8AC3E}">
        <p14:creationId xmlns:p14="http://schemas.microsoft.com/office/powerpoint/2010/main" val="1838959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Use CSS?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>
          <a:xfrm>
            <a:off x="1104900" y="1386734"/>
            <a:ext cx="4919472" cy="823912"/>
          </a:xfrm>
        </p:spPr>
        <p:txBody>
          <a:bodyPr/>
          <a:lstStyle/>
          <a:p>
            <a:r>
              <a:rPr lang="en-US" dirty="0"/>
              <a:t>In Style Tag Within Head Tag</a:t>
            </a:r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" y="2535841"/>
            <a:ext cx="4102100" cy="3035300"/>
          </a:xfr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9" name="Text Placeholder 8"/>
          <p:cNvSpPr>
            <a:spLocks noGrp="1"/>
          </p:cNvSpPr>
          <p:nvPr>
            <p:ph type="body" sz="quarter" idx="3"/>
          </p:nvPr>
        </p:nvSpPr>
        <p:spPr>
          <a:xfrm>
            <a:off x="6166110" y="1386734"/>
            <a:ext cx="4919472" cy="823912"/>
          </a:xfrm>
        </p:spPr>
        <p:txBody>
          <a:bodyPr/>
          <a:lstStyle/>
          <a:p>
            <a:r>
              <a:rPr lang="en-US" dirty="0"/>
              <a:t>Link to External File</a:t>
            </a:r>
          </a:p>
        </p:txBody>
      </p:sp>
      <p:pic>
        <p:nvPicPr>
          <p:cNvPr id="12" name="Content Placeholder 11"/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0167" y="2567039"/>
            <a:ext cx="5595607" cy="1702043"/>
          </a:xfr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7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151930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Use CSS?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381186"/>
            <a:ext cx="4919472" cy="823912"/>
          </a:xfrm>
        </p:spPr>
        <p:txBody>
          <a:bodyPr/>
          <a:lstStyle/>
          <a:p>
            <a:r>
              <a:rPr lang="en-US" dirty="0"/>
              <a:t>Inline Styles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8</a:t>
            </a:fld>
            <a:endParaRPr lang="uk-UA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193" y="2632135"/>
            <a:ext cx="7444335" cy="2058781"/>
          </a:xfrm>
          <a:effectLst>
            <a:outerShdw blurRad="50800" dist="50800" dir="5400000" algn="ctr" rotWithShape="0">
              <a:srgbClr val="000000"/>
            </a:outerShdw>
          </a:effectLst>
        </p:spPr>
      </p:pic>
    </p:spTree>
    <p:extLst>
      <p:ext uri="{BB962C8B-B14F-4D97-AF65-F5344CB8AC3E}">
        <p14:creationId xmlns:p14="http://schemas.microsoft.com/office/powerpoint/2010/main" val="931692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Priorities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10000"/>
              </a:lnSpc>
            </a:pPr>
            <a:r>
              <a:rPr lang="en-US" sz="1800" dirty="0"/>
              <a:t>What style will be used when there are more than one style specified for an HTML element?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Generally speaking we can say that all the styles will "cascade" into a new "virtual" style sheet by the following rules, where number one has the highest priority:</a:t>
            </a:r>
          </a:p>
          <a:p>
            <a:pPr marL="800100" lvl="1" indent="-342900">
              <a:lnSpc>
                <a:spcPct val="110000"/>
              </a:lnSpc>
              <a:buFont typeface="+mj-lt"/>
              <a:buAutoNum type="arabicPeriod"/>
            </a:pPr>
            <a:r>
              <a:rPr lang="en-US" dirty="0"/>
              <a:t>Inline style (inside an HTML element)</a:t>
            </a:r>
          </a:p>
          <a:p>
            <a:pPr marL="800100" lvl="1" indent="-342900">
              <a:lnSpc>
                <a:spcPct val="110000"/>
              </a:lnSpc>
              <a:buFont typeface="+mj-lt"/>
              <a:buAutoNum type="arabicPeriod"/>
            </a:pPr>
            <a:r>
              <a:rPr lang="en-US" dirty="0"/>
              <a:t>External and internal style sheets (in the head section)</a:t>
            </a:r>
          </a:p>
          <a:p>
            <a:pPr marL="800100" lvl="1" indent="-342900">
              <a:lnSpc>
                <a:spcPct val="110000"/>
              </a:lnSpc>
              <a:buFont typeface="+mj-lt"/>
              <a:buAutoNum type="arabicPeriod"/>
            </a:pPr>
            <a:r>
              <a:rPr lang="en-US" dirty="0"/>
              <a:t>Browser default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So, an inline style (inside a specific HTML element) has the highest priority, which means that it will override a style defined inside the </a:t>
            </a:r>
            <a:r>
              <a:rPr lang="en-US" sz="1800" dirty="0">
                <a:latin typeface="Courier" charset="0"/>
                <a:ea typeface="Courier" charset="0"/>
                <a:cs typeface="Courier" charset="0"/>
              </a:rPr>
              <a:t>&lt;head&gt;</a:t>
            </a:r>
            <a:r>
              <a:rPr lang="en-US" sz="1800" dirty="0"/>
              <a:t> tag, or in an external style sheet, or a browser default value.</a:t>
            </a:r>
          </a:p>
          <a:p>
            <a:pPr>
              <a:lnSpc>
                <a:spcPct val="110000"/>
              </a:lnSpc>
            </a:pPr>
            <a:endParaRPr lang="en-US" dirty="0"/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691293"/>
            <a:ext cx="4914900" cy="2389813"/>
          </a:xfr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9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60173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Selectors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10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9174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Selector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>
          <a:xfrm>
            <a:off x="1104900" y="1375709"/>
            <a:ext cx="4919472" cy="823912"/>
          </a:xfrm>
        </p:spPr>
        <p:txBody>
          <a:bodyPr/>
          <a:lstStyle/>
          <a:p>
            <a:r>
              <a:rPr lang="en-US" dirty="0"/>
              <a:t>What are Selectors?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4900" y="2199621"/>
            <a:ext cx="4919472" cy="3748088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The selector is used to select which elements in the HTML page will be given the styles inside the curly braces.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"/>
          </p:nvPr>
        </p:nvSpPr>
        <p:spPr>
          <a:xfrm>
            <a:off x="6166110" y="1375709"/>
            <a:ext cx="4919472" cy="823912"/>
          </a:xfrm>
        </p:spPr>
        <p:txBody>
          <a:bodyPr/>
          <a:lstStyle/>
          <a:p>
            <a:r>
              <a:rPr lang="en-US" dirty="0"/>
              <a:t>Types of Selectors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4"/>
          </p:nvPr>
        </p:nvSpPr>
        <p:spPr>
          <a:xfrm>
            <a:off x="6166110" y="2199621"/>
            <a:ext cx="4919472" cy="3748088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element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id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class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position in document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11</a:t>
            </a:fld>
            <a:endParaRPr lang="uk-UA"/>
          </a:p>
        </p:txBody>
      </p:sp>
      <p:sp>
        <p:nvSpPr>
          <p:cNvPr id="16" name="TextBox 15"/>
          <p:cNvSpPr txBox="1"/>
          <p:nvPr/>
        </p:nvSpPr>
        <p:spPr>
          <a:xfrm>
            <a:off x="1709023" y="4073665"/>
            <a:ext cx="31889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Courier" charset="0"/>
                <a:ea typeface="Courier" charset="0"/>
                <a:cs typeface="Courier" charset="0"/>
              </a:rPr>
              <a:t>selector</a:t>
            </a:r>
            <a:r>
              <a:rPr lang="en-US" dirty="0">
                <a:latin typeface="Courier" charset="0"/>
                <a:ea typeface="Courier" charset="0"/>
                <a:cs typeface="Courier" charset="0"/>
              </a:rPr>
              <a:t> {</a:t>
            </a:r>
          </a:p>
          <a:p>
            <a:r>
              <a:rPr lang="en-US" dirty="0"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property</a:t>
            </a:r>
            <a:r>
              <a:rPr lang="en-US" dirty="0">
                <a:latin typeface="Courier" charset="0"/>
                <a:ea typeface="Courier" charset="0"/>
                <a:cs typeface="Courier" charset="0"/>
              </a:rPr>
              <a:t>: </a:t>
            </a:r>
            <a:r>
              <a:rPr lang="en-US" dirty="0">
                <a:solidFill>
                  <a:srgbClr val="00B050"/>
                </a:solidFill>
                <a:latin typeface="Courier" charset="0"/>
                <a:ea typeface="Courier" charset="0"/>
                <a:cs typeface="Courier" charset="0"/>
              </a:rPr>
              <a:t>value</a:t>
            </a:r>
            <a:r>
              <a:rPr lang="en-US" dirty="0">
                <a:latin typeface="Courier" charset="0"/>
                <a:ea typeface="Courier" charset="0"/>
                <a:cs typeface="Courier" charset="0"/>
              </a:rPr>
              <a:t>;</a:t>
            </a:r>
          </a:p>
          <a:p>
            <a:r>
              <a:rPr lang="en-US" dirty="0"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property</a:t>
            </a:r>
            <a:r>
              <a:rPr lang="en-US" dirty="0">
                <a:latin typeface="Courier" charset="0"/>
                <a:ea typeface="Courier" charset="0"/>
                <a:cs typeface="Courier" charset="0"/>
              </a:rPr>
              <a:t>: </a:t>
            </a:r>
            <a:r>
              <a:rPr lang="en-US" dirty="0">
                <a:solidFill>
                  <a:srgbClr val="00B050"/>
                </a:solidFill>
                <a:latin typeface="Courier" charset="0"/>
                <a:ea typeface="Courier" charset="0"/>
                <a:cs typeface="Courier" charset="0"/>
              </a:rPr>
              <a:t>value</a:t>
            </a:r>
            <a:r>
              <a:rPr lang="en-US" dirty="0">
                <a:latin typeface="Courier" charset="0"/>
                <a:ea typeface="Courier" charset="0"/>
                <a:cs typeface="Courier" charset="0"/>
              </a:rPr>
              <a:t>;</a:t>
            </a:r>
          </a:p>
          <a:p>
            <a:r>
              <a:rPr lang="en-US" dirty="0">
                <a:latin typeface="Courier" charset="0"/>
                <a:ea typeface="Courier" charset="0"/>
                <a:cs typeface="Courier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2563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Selector Type: element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12</a:t>
            </a:fld>
            <a:endParaRPr lang="uk-UA"/>
          </a:p>
        </p:txBody>
      </p:sp>
      <p:sp>
        <p:nvSpPr>
          <p:cNvPr id="14" name="TextBox 13"/>
          <p:cNvSpPr txBox="1"/>
          <p:nvPr/>
        </p:nvSpPr>
        <p:spPr>
          <a:xfrm>
            <a:off x="5837718" y="2936086"/>
            <a:ext cx="52478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Courier" charset="0"/>
                <a:ea typeface="Courier" charset="0"/>
                <a:cs typeface="Courier" charset="0"/>
              </a:rPr>
              <a:t>h1</a:t>
            </a:r>
            <a:r>
              <a:rPr lang="en-US" dirty="0">
                <a:latin typeface="Courier" charset="0"/>
                <a:ea typeface="Courier" charset="0"/>
                <a:cs typeface="Courier" charset="0"/>
              </a:rPr>
              <a:t> {</a:t>
            </a:r>
          </a:p>
          <a:p>
            <a:r>
              <a:rPr lang="en-US" dirty="0"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color:</a:t>
            </a:r>
            <a:r>
              <a:rPr lang="en-US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dirty="0">
                <a:solidFill>
                  <a:srgbClr val="00B050"/>
                </a:solidFill>
                <a:latin typeface="Courier" charset="0"/>
                <a:ea typeface="Courier" charset="0"/>
                <a:cs typeface="Courier" charset="0"/>
              </a:rPr>
              <a:t>orange</a:t>
            </a:r>
            <a:r>
              <a:rPr lang="en-US" dirty="0">
                <a:latin typeface="Courier" charset="0"/>
                <a:ea typeface="Courier" charset="0"/>
                <a:cs typeface="Courier" charset="0"/>
              </a:rPr>
              <a:t>;</a:t>
            </a:r>
          </a:p>
          <a:p>
            <a:r>
              <a:rPr lang="en-US" dirty="0"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text-align:</a:t>
            </a:r>
            <a:r>
              <a:rPr lang="en-US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dirty="0">
                <a:solidFill>
                  <a:srgbClr val="00B050"/>
                </a:solidFill>
                <a:latin typeface="Courier" charset="0"/>
                <a:ea typeface="Courier" charset="0"/>
                <a:cs typeface="Courier" charset="0"/>
              </a:rPr>
              <a:t>center</a:t>
            </a:r>
            <a:r>
              <a:rPr lang="en-US" dirty="0">
                <a:latin typeface="Courier" charset="0"/>
                <a:ea typeface="Courier" charset="0"/>
                <a:cs typeface="Courier" charset="0"/>
              </a:rPr>
              <a:t>;</a:t>
            </a:r>
          </a:p>
          <a:p>
            <a:r>
              <a:rPr lang="en-US" dirty="0">
                <a:latin typeface="Courier" charset="0"/>
                <a:ea typeface="Courier" charset="0"/>
                <a:cs typeface="Courier" charset="0"/>
              </a:rPr>
              <a:t>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37717" y="1592959"/>
            <a:ext cx="52478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Courier" charset="0"/>
                <a:ea typeface="Courier" charset="0"/>
                <a:cs typeface="Courier" charset="0"/>
              </a:rPr>
              <a:t>body</a:t>
            </a:r>
            <a:r>
              <a:rPr lang="en-US" dirty="0">
                <a:latin typeface="Courier" charset="0"/>
                <a:ea typeface="Courier" charset="0"/>
                <a:cs typeface="Courier" charset="0"/>
              </a:rPr>
              <a:t> {</a:t>
            </a:r>
          </a:p>
          <a:p>
            <a:r>
              <a:rPr lang="en-US" dirty="0"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background-color:</a:t>
            </a:r>
            <a:r>
              <a:rPr lang="en-US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dirty="0">
                <a:solidFill>
                  <a:srgbClr val="00B050"/>
                </a:solidFill>
                <a:latin typeface="Courier" charset="0"/>
                <a:ea typeface="Courier" charset="0"/>
                <a:cs typeface="Courier" charset="0"/>
              </a:rPr>
              <a:t>#d0e4fe</a:t>
            </a:r>
            <a:r>
              <a:rPr lang="en-US" dirty="0">
                <a:latin typeface="Courier" charset="0"/>
                <a:ea typeface="Courier" charset="0"/>
                <a:cs typeface="Courier" charset="0"/>
              </a:rPr>
              <a:t>;</a:t>
            </a:r>
          </a:p>
          <a:p>
            <a:r>
              <a:rPr lang="en-US" dirty="0">
                <a:latin typeface="Courier" charset="0"/>
                <a:ea typeface="Courier" charset="0"/>
                <a:cs typeface="Courier" charset="0"/>
              </a:rPr>
              <a:t>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37719" y="4496185"/>
            <a:ext cx="52478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Courier" charset="0"/>
                <a:ea typeface="Courier" charset="0"/>
                <a:cs typeface="Courier" charset="0"/>
              </a:rPr>
              <a:t>p</a:t>
            </a:r>
            <a:r>
              <a:rPr lang="en-US" dirty="0">
                <a:latin typeface="Courier" charset="0"/>
                <a:ea typeface="Courier" charset="0"/>
                <a:cs typeface="Courier" charset="0"/>
              </a:rPr>
              <a:t> {</a:t>
            </a:r>
          </a:p>
          <a:p>
            <a:r>
              <a:rPr lang="en-US" dirty="0"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font-family:</a:t>
            </a:r>
            <a:r>
              <a:rPr lang="en-US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dirty="0">
                <a:solidFill>
                  <a:srgbClr val="00B050"/>
                </a:solidFill>
                <a:latin typeface="Courier" charset="0"/>
                <a:ea typeface="Courier" charset="0"/>
                <a:cs typeface="Courier" charset="0"/>
              </a:rPr>
              <a:t>“Times New Roman”</a:t>
            </a:r>
            <a:r>
              <a:rPr lang="en-US" dirty="0">
                <a:latin typeface="Courier" charset="0"/>
                <a:ea typeface="Courier" charset="0"/>
                <a:cs typeface="Courier" charset="0"/>
              </a:rPr>
              <a:t>;</a:t>
            </a:r>
          </a:p>
          <a:p>
            <a:r>
              <a:rPr lang="en-US" dirty="0"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font-size:</a:t>
            </a:r>
            <a:r>
              <a:rPr lang="en-US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dirty="0">
                <a:solidFill>
                  <a:srgbClr val="00B050"/>
                </a:solidFill>
                <a:latin typeface="Courier" charset="0"/>
                <a:ea typeface="Courier" charset="0"/>
                <a:cs typeface="Courier" charset="0"/>
              </a:rPr>
              <a:t>20px</a:t>
            </a:r>
            <a:r>
              <a:rPr lang="en-US" dirty="0">
                <a:latin typeface="Courier" charset="0"/>
                <a:ea typeface="Courier" charset="0"/>
                <a:cs typeface="Courier" charset="0"/>
              </a:rPr>
              <a:t>;</a:t>
            </a:r>
          </a:p>
          <a:p>
            <a:r>
              <a:rPr lang="en-US" dirty="0">
                <a:latin typeface="Courier" charset="0"/>
                <a:ea typeface="Courier" charset="0"/>
                <a:cs typeface="Courier" charset="0"/>
              </a:rPr>
              <a:t>}</a:t>
            </a:r>
          </a:p>
        </p:txBody>
      </p:sp>
      <p:sp>
        <p:nvSpPr>
          <p:cNvPr id="18" name="Rectangular Callout 17"/>
          <p:cNvSpPr/>
          <p:nvPr/>
        </p:nvSpPr>
        <p:spPr>
          <a:xfrm>
            <a:off x="1262270" y="1592959"/>
            <a:ext cx="2632378" cy="624046"/>
          </a:xfrm>
          <a:prstGeom prst="wedgeRectCallout">
            <a:avLst>
              <a:gd name="adj1" fmla="val 109801"/>
              <a:gd name="adj2" fmla="val -20083"/>
            </a:avLst>
          </a:prstGeom>
          <a:solidFill>
            <a:schemeClr val="accent5">
              <a:lumMod val="75000"/>
            </a:schemeClr>
          </a:solidFill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latin typeface="Arial Unicode MS" charset="0"/>
                <a:ea typeface="Arial Unicode MS" charset="0"/>
                <a:cs typeface="Arial Unicode MS" charset="0"/>
              </a:rPr>
              <a:t>Sets property for the &lt;</a:t>
            </a:r>
            <a:r>
              <a:rPr lang="en-GB" sz="1600" dirty="0">
                <a:latin typeface="Courier" charset="0"/>
                <a:ea typeface="Courier" charset="0"/>
                <a:cs typeface="Courier" charset="0"/>
              </a:rPr>
              <a:t>body&gt;</a:t>
            </a:r>
            <a:r>
              <a:rPr lang="en-GB" sz="1600" dirty="0">
                <a:latin typeface="Arial Unicode MS" charset="0"/>
                <a:ea typeface="Arial Unicode MS" charset="0"/>
                <a:cs typeface="Arial Unicode MS" charset="0"/>
              </a:rPr>
              <a:t> tag.</a:t>
            </a:r>
          </a:p>
        </p:txBody>
      </p:sp>
      <p:sp>
        <p:nvSpPr>
          <p:cNvPr id="19" name="Rectangular Callout 18"/>
          <p:cNvSpPr/>
          <p:nvPr/>
        </p:nvSpPr>
        <p:spPr>
          <a:xfrm>
            <a:off x="1262270" y="2930811"/>
            <a:ext cx="2632378" cy="826180"/>
          </a:xfrm>
          <a:prstGeom prst="wedgeRectCallout">
            <a:avLst>
              <a:gd name="adj1" fmla="val 109801"/>
              <a:gd name="adj2" fmla="val -20083"/>
            </a:avLst>
          </a:prstGeom>
          <a:solidFill>
            <a:schemeClr val="accent5">
              <a:lumMod val="75000"/>
            </a:schemeClr>
          </a:solidFill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latin typeface="Arial Unicode MS" charset="0"/>
                <a:ea typeface="Arial Unicode MS" charset="0"/>
                <a:cs typeface="Arial Unicode MS" charset="0"/>
              </a:rPr>
              <a:t>Sets properties for all the &lt;</a:t>
            </a:r>
            <a:r>
              <a:rPr lang="en-GB" sz="1600" dirty="0">
                <a:latin typeface="Courier" charset="0"/>
                <a:ea typeface="Courier" charset="0"/>
                <a:cs typeface="Courier" charset="0"/>
              </a:rPr>
              <a:t>h1&gt;</a:t>
            </a:r>
            <a:r>
              <a:rPr lang="en-GB" sz="1600" dirty="0">
                <a:latin typeface="Arial Unicode MS" charset="0"/>
                <a:ea typeface="Arial Unicode MS" charset="0"/>
                <a:cs typeface="Arial Unicode MS" charset="0"/>
              </a:rPr>
              <a:t> tag in the entire document.</a:t>
            </a:r>
          </a:p>
        </p:txBody>
      </p:sp>
      <p:sp>
        <p:nvSpPr>
          <p:cNvPr id="20" name="Rectangular Callout 19"/>
          <p:cNvSpPr/>
          <p:nvPr/>
        </p:nvSpPr>
        <p:spPr>
          <a:xfrm>
            <a:off x="1262270" y="4496185"/>
            <a:ext cx="2632378" cy="826180"/>
          </a:xfrm>
          <a:prstGeom prst="wedgeRectCallout">
            <a:avLst>
              <a:gd name="adj1" fmla="val 109801"/>
              <a:gd name="adj2" fmla="val -20083"/>
            </a:avLst>
          </a:prstGeom>
          <a:solidFill>
            <a:schemeClr val="accent5">
              <a:lumMod val="75000"/>
            </a:schemeClr>
          </a:solidFill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latin typeface="Arial Unicode MS" charset="0"/>
                <a:ea typeface="Arial Unicode MS" charset="0"/>
                <a:cs typeface="Arial Unicode MS" charset="0"/>
              </a:rPr>
              <a:t>Sets properties for all the &lt;</a:t>
            </a:r>
            <a:r>
              <a:rPr lang="en-GB" sz="1600" dirty="0">
                <a:latin typeface="Courier" charset="0"/>
                <a:ea typeface="Courier" charset="0"/>
                <a:cs typeface="Courier" charset="0"/>
              </a:rPr>
              <a:t>p&gt;</a:t>
            </a:r>
            <a:r>
              <a:rPr lang="en-GB" sz="1600" dirty="0">
                <a:latin typeface="Arial Unicode MS" charset="0"/>
                <a:ea typeface="Arial Unicode MS" charset="0"/>
                <a:cs typeface="Arial Unicode MS" charset="0"/>
              </a:rPr>
              <a:t> tag in the entire document.</a:t>
            </a:r>
          </a:p>
        </p:txBody>
      </p:sp>
    </p:spTree>
    <p:extLst>
      <p:ext uri="{BB962C8B-B14F-4D97-AF65-F5344CB8AC3E}">
        <p14:creationId xmlns:p14="http://schemas.microsoft.com/office/powerpoint/2010/main" val="745064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9154" y="1447624"/>
            <a:ext cx="4784804" cy="2581729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Selector Type: id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13</a:t>
            </a:fld>
            <a:endParaRPr lang="uk-UA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6667" y="4994098"/>
            <a:ext cx="5569778" cy="974970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19" name="Right Arrow 18"/>
          <p:cNvSpPr/>
          <p:nvPr/>
        </p:nvSpPr>
        <p:spPr>
          <a:xfrm rot="5400000">
            <a:off x="7714669" y="4461879"/>
            <a:ext cx="617220" cy="996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3" name="Rectangular Callout 22"/>
          <p:cNvSpPr/>
          <p:nvPr/>
        </p:nvSpPr>
        <p:spPr>
          <a:xfrm>
            <a:off x="1379731" y="1560444"/>
            <a:ext cx="2632378" cy="881885"/>
          </a:xfrm>
          <a:prstGeom prst="wedgeRectCallout">
            <a:avLst>
              <a:gd name="adj1" fmla="val 122638"/>
              <a:gd name="adj2" fmla="val 13728"/>
            </a:avLst>
          </a:prstGeom>
          <a:solidFill>
            <a:schemeClr val="accent5">
              <a:lumMod val="75000"/>
            </a:schemeClr>
          </a:solidFill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latin typeface="Arial Unicode MS" charset="0"/>
                <a:ea typeface="Arial Unicode MS" charset="0"/>
                <a:cs typeface="Arial Unicode MS" charset="0"/>
              </a:rPr>
              <a:t>Sets properties for any element with the id “</a:t>
            </a:r>
            <a:r>
              <a:rPr lang="en-GB" sz="1600" dirty="0">
                <a:latin typeface="Courier" charset="0"/>
                <a:ea typeface="Courier" charset="0"/>
                <a:cs typeface="Courier" charset="0"/>
              </a:rPr>
              <a:t>para1</a:t>
            </a:r>
            <a:r>
              <a:rPr lang="en-GB" sz="1600" dirty="0">
                <a:latin typeface="Arial Unicode MS" charset="0"/>
                <a:ea typeface="Arial Unicode MS" charset="0"/>
                <a:cs typeface="Arial Unicode MS" charset="0"/>
              </a:rPr>
              <a:t>”.</a:t>
            </a:r>
          </a:p>
        </p:txBody>
      </p:sp>
      <p:cxnSp>
        <p:nvCxnSpPr>
          <p:cNvPr id="22" name="Straight Arrow Connector 21"/>
          <p:cNvCxnSpPr/>
          <p:nvPr/>
        </p:nvCxnSpPr>
        <p:spPr>
          <a:xfrm flipV="1">
            <a:off x="4552121" y="2137907"/>
            <a:ext cx="2087218" cy="651947"/>
          </a:xfrm>
          <a:prstGeom prst="straightConnector1">
            <a:avLst/>
          </a:prstGeom>
          <a:ln>
            <a:solidFill>
              <a:schemeClr val="accent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4552121" y="2789854"/>
            <a:ext cx="2156792" cy="402572"/>
          </a:xfrm>
          <a:prstGeom prst="straightConnector1">
            <a:avLst/>
          </a:prstGeom>
          <a:ln>
            <a:solidFill>
              <a:schemeClr val="accent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176670" y="2732055"/>
            <a:ext cx="2196547" cy="92333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Arial Unicode MS" charset="0"/>
                <a:ea typeface="Arial Unicode MS" charset="0"/>
                <a:cs typeface="Arial Unicode MS" charset="0"/>
              </a:rPr>
              <a:t>The “</a:t>
            </a:r>
            <a:r>
              <a:rPr lang="en-GB" dirty="0">
                <a:latin typeface="Courier" charset="0"/>
                <a:ea typeface="Courier" charset="0"/>
                <a:cs typeface="Courier" charset="0"/>
              </a:rPr>
              <a:t>#</a:t>
            </a:r>
            <a:r>
              <a:rPr lang="en-GB" dirty="0">
                <a:latin typeface="Arial Unicode MS" charset="0"/>
                <a:ea typeface="Arial Unicode MS" charset="0"/>
                <a:cs typeface="Arial Unicode MS" charset="0"/>
              </a:rPr>
              <a:t>” is to tell the browser that it is an </a:t>
            </a:r>
            <a:r>
              <a:rPr lang="en-GB" dirty="0">
                <a:latin typeface="Courier" charset="0"/>
                <a:ea typeface="Courier" charset="0"/>
                <a:cs typeface="Courier" charset="0"/>
              </a:rPr>
              <a:t>id</a:t>
            </a:r>
            <a:r>
              <a:rPr lang="en-GB" dirty="0">
                <a:latin typeface="Arial Unicode MS" charset="0"/>
                <a:ea typeface="Arial Unicode MS" charset="0"/>
                <a:cs typeface="Arial Unicode MS" charset="0"/>
              </a:rPr>
              <a:t>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9731" y="4203115"/>
            <a:ext cx="365940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GB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id</a:t>
            </a:r>
            <a:r>
              <a:rPr lang="en-GB" dirty="0">
                <a:solidFill>
                  <a:srgbClr val="FF0000"/>
                </a:solidFill>
                <a:latin typeface="Arial Unicode MS" charset="0"/>
                <a:ea typeface="Arial Unicode MS" charset="0"/>
                <a:cs typeface="Arial Unicode MS" charset="0"/>
              </a:rPr>
              <a:t>’s are unique.</a:t>
            </a:r>
          </a:p>
          <a:p>
            <a:pPr marL="285750" indent="-285750">
              <a:buFont typeface="Arial" charset="0"/>
              <a:buChar char="•"/>
            </a:pPr>
            <a:r>
              <a:rPr lang="en-GB" dirty="0">
                <a:solidFill>
                  <a:srgbClr val="FF0000"/>
                </a:solidFill>
                <a:latin typeface="Arial Unicode MS" charset="0"/>
                <a:ea typeface="Arial Unicode MS" charset="0"/>
                <a:cs typeface="Arial Unicode MS" charset="0"/>
              </a:rPr>
              <a:t>Each element can have only one </a:t>
            </a:r>
            <a:r>
              <a:rPr lang="en-GB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id</a:t>
            </a:r>
            <a:r>
              <a:rPr lang="en-GB" dirty="0">
                <a:solidFill>
                  <a:srgbClr val="FF0000"/>
                </a:solidFill>
                <a:latin typeface="Arial Unicode MS" charset="0"/>
                <a:ea typeface="Arial Unicode MS" charset="0"/>
                <a:cs typeface="Arial Unicode MS" charset="0"/>
              </a:rPr>
              <a:t>.</a:t>
            </a:r>
          </a:p>
          <a:p>
            <a:pPr marL="285750" indent="-285750">
              <a:buFont typeface="Arial" charset="0"/>
              <a:buChar char="•"/>
            </a:pPr>
            <a:r>
              <a:rPr lang="en-GB" dirty="0">
                <a:solidFill>
                  <a:srgbClr val="FF0000"/>
                </a:solidFill>
                <a:latin typeface="Arial Unicode MS" charset="0"/>
                <a:ea typeface="Arial Unicode MS" charset="0"/>
                <a:cs typeface="Arial Unicode MS" charset="0"/>
              </a:rPr>
              <a:t>Each page can have only one element with that </a:t>
            </a:r>
            <a:r>
              <a:rPr lang="en-GB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id</a:t>
            </a:r>
            <a:r>
              <a:rPr lang="en-GB" dirty="0">
                <a:solidFill>
                  <a:srgbClr val="FF0000"/>
                </a:solidFill>
                <a:latin typeface="Arial Unicode MS" charset="0"/>
                <a:ea typeface="Arial Unicode MS" charset="0"/>
                <a:cs typeface="Arial Unicode MS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65753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Selector Type: class (for all elements)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14</a:t>
            </a:fld>
            <a:endParaRPr lang="uk-UA"/>
          </a:p>
        </p:txBody>
      </p:sp>
      <p:sp>
        <p:nvSpPr>
          <p:cNvPr id="24" name="Right Arrow 23"/>
          <p:cNvSpPr/>
          <p:nvPr/>
        </p:nvSpPr>
        <p:spPr>
          <a:xfrm rot="5400000">
            <a:off x="8113114" y="4664943"/>
            <a:ext cx="448827" cy="4714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2333" y="1396422"/>
            <a:ext cx="5543249" cy="2871804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pic>
        <p:nvPicPr>
          <p:cNvPr id="9" name="Content Placeholder 8"/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6507" y="5071047"/>
            <a:ext cx="4914900" cy="1044834"/>
          </a:xfr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12" name="Rectangular Callout 11"/>
          <p:cNvSpPr/>
          <p:nvPr/>
        </p:nvSpPr>
        <p:spPr>
          <a:xfrm>
            <a:off x="1826991" y="1630018"/>
            <a:ext cx="2632378" cy="881885"/>
          </a:xfrm>
          <a:prstGeom prst="wedgeRectCallout">
            <a:avLst>
              <a:gd name="adj1" fmla="val 122638"/>
              <a:gd name="adj2" fmla="val 13728"/>
            </a:avLst>
          </a:prstGeom>
          <a:solidFill>
            <a:schemeClr val="accent5">
              <a:lumMod val="75000"/>
            </a:schemeClr>
          </a:solidFill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latin typeface="Arial Unicode MS" charset="0"/>
                <a:ea typeface="Arial Unicode MS" charset="0"/>
                <a:cs typeface="Arial Unicode MS" charset="0"/>
              </a:rPr>
              <a:t>Sets properties for any element with the class “</a:t>
            </a:r>
            <a:r>
              <a:rPr lang="en-GB" sz="1600" dirty="0" err="1">
                <a:latin typeface="Courier" charset="0"/>
                <a:ea typeface="Courier" charset="0"/>
                <a:cs typeface="Courier" charset="0"/>
              </a:rPr>
              <a:t>center</a:t>
            </a:r>
            <a:r>
              <a:rPr lang="en-GB" sz="1600" dirty="0">
                <a:latin typeface="Arial Unicode MS" charset="0"/>
                <a:ea typeface="Arial Unicode MS" charset="0"/>
                <a:cs typeface="Arial Unicode MS" charset="0"/>
              </a:rPr>
              <a:t>”.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4522304" y="2231805"/>
            <a:ext cx="2067339" cy="748627"/>
          </a:xfrm>
          <a:prstGeom prst="straightConnector1">
            <a:avLst/>
          </a:prstGeom>
          <a:ln>
            <a:solidFill>
              <a:schemeClr val="accent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4522304" y="2980431"/>
            <a:ext cx="2156792" cy="402572"/>
          </a:xfrm>
          <a:prstGeom prst="straightConnector1">
            <a:avLst/>
          </a:prstGeom>
          <a:ln>
            <a:solidFill>
              <a:schemeClr val="accent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146853" y="2922632"/>
            <a:ext cx="2196547" cy="92333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Arial Unicode MS" charset="0"/>
                <a:ea typeface="Arial Unicode MS" charset="0"/>
                <a:cs typeface="Arial Unicode MS" charset="0"/>
              </a:rPr>
              <a:t>The “</a:t>
            </a:r>
            <a:r>
              <a:rPr lang="en-GB" dirty="0"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GB" dirty="0">
                <a:latin typeface="Arial Unicode MS" charset="0"/>
                <a:ea typeface="Arial Unicode MS" charset="0"/>
                <a:cs typeface="Arial Unicode MS" charset="0"/>
              </a:rPr>
              <a:t>” is to tell the browser that it is a class.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5422" y="4342792"/>
            <a:ext cx="36594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GB" dirty="0">
                <a:solidFill>
                  <a:srgbClr val="FF0000"/>
                </a:solidFill>
                <a:latin typeface="Arial Unicode MS" charset="0"/>
                <a:ea typeface="Arial Unicode MS" charset="0"/>
                <a:cs typeface="Arial Unicode MS" charset="0"/>
              </a:rPr>
              <a:t>Multiple elements can have the same class.</a:t>
            </a:r>
          </a:p>
          <a:p>
            <a:pPr marL="285750" indent="-285750">
              <a:buFont typeface="Arial" charset="0"/>
              <a:buChar char="•"/>
            </a:pPr>
            <a:r>
              <a:rPr lang="en-GB" dirty="0">
                <a:solidFill>
                  <a:srgbClr val="FF0000"/>
                </a:solidFill>
                <a:latin typeface="Arial Unicode MS" charset="0"/>
                <a:ea typeface="Arial Unicode MS" charset="0"/>
                <a:cs typeface="Arial Unicode MS" charset="0"/>
              </a:rPr>
              <a:t>An element can have multiple classes.</a:t>
            </a:r>
          </a:p>
        </p:txBody>
      </p:sp>
    </p:spTree>
    <p:extLst>
      <p:ext uri="{BB962C8B-B14F-4D97-AF65-F5344CB8AC3E}">
        <p14:creationId xmlns:p14="http://schemas.microsoft.com/office/powerpoint/2010/main" val="1367739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Selector Type: class (for a particular element)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15</a:t>
            </a:fld>
            <a:endParaRPr lang="uk-UA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9943" y="1438964"/>
            <a:ext cx="5963088" cy="2904435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9943" y="5055016"/>
            <a:ext cx="6075639" cy="1110974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17" name="Right Arrow 16"/>
          <p:cNvSpPr/>
          <p:nvPr/>
        </p:nvSpPr>
        <p:spPr>
          <a:xfrm rot="5400000">
            <a:off x="7924270" y="4675637"/>
            <a:ext cx="448827" cy="4714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ular Callout 17"/>
          <p:cNvSpPr/>
          <p:nvPr/>
        </p:nvSpPr>
        <p:spPr>
          <a:xfrm>
            <a:off x="1280339" y="1791261"/>
            <a:ext cx="2632378" cy="881885"/>
          </a:xfrm>
          <a:prstGeom prst="wedgeRectCallout">
            <a:avLst>
              <a:gd name="adj1" fmla="val 121883"/>
              <a:gd name="adj2" fmla="val 10347"/>
            </a:avLst>
          </a:prstGeom>
          <a:solidFill>
            <a:schemeClr val="accent5">
              <a:lumMod val="75000"/>
            </a:schemeClr>
          </a:solidFill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latin typeface="Arial Unicode MS" charset="0"/>
                <a:ea typeface="Arial Unicode MS" charset="0"/>
                <a:cs typeface="Arial Unicode MS" charset="0"/>
              </a:rPr>
              <a:t>Sets properties for </a:t>
            </a:r>
            <a:r>
              <a:rPr lang="en-GB" sz="1600" dirty="0">
                <a:latin typeface="Courier" charset="0"/>
                <a:ea typeface="Courier" charset="0"/>
                <a:cs typeface="Courier" charset="0"/>
              </a:rPr>
              <a:t>&lt;p&gt;</a:t>
            </a:r>
            <a:r>
              <a:rPr lang="en-GB" sz="1600" dirty="0">
                <a:latin typeface="Arial Unicode MS" charset="0"/>
                <a:ea typeface="Arial Unicode MS" charset="0"/>
                <a:cs typeface="Arial Unicode MS" charset="0"/>
              </a:rPr>
              <a:t> tag elements with the class “</a:t>
            </a:r>
            <a:r>
              <a:rPr lang="en-GB" sz="1600" dirty="0" err="1">
                <a:latin typeface="Courier" charset="0"/>
                <a:ea typeface="Courier" charset="0"/>
                <a:cs typeface="Courier" charset="0"/>
              </a:rPr>
              <a:t>center</a:t>
            </a:r>
            <a:r>
              <a:rPr lang="en-GB" sz="1600" dirty="0">
                <a:latin typeface="Arial Unicode MS" charset="0"/>
                <a:ea typeface="Arial Unicode MS" charset="0"/>
                <a:cs typeface="Arial Unicode MS" charset="0"/>
              </a:rPr>
              <a:t>”.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3856382" y="2406335"/>
            <a:ext cx="2067339" cy="748628"/>
          </a:xfrm>
          <a:prstGeom prst="straightConnector1">
            <a:avLst/>
          </a:prstGeom>
          <a:ln>
            <a:solidFill>
              <a:schemeClr val="accent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3856382" y="3154961"/>
            <a:ext cx="1769166" cy="552708"/>
          </a:xfrm>
          <a:prstGeom prst="straightConnector1">
            <a:avLst/>
          </a:prstGeom>
          <a:ln>
            <a:solidFill>
              <a:schemeClr val="accent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104899" y="3097162"/>
            <a:ext cx="2572579" cy="175432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Arial Unicode MS" charset="0"/>
                <a:ea typeface="Arial Unicode MS" charset="0"/>
                <a:cs typeface="Arial Unicode MS" charset="0"/>
              </a:rPr>
              <a:t>The “</a:t>
            </a:r>
            <a:r>
              <a:rPr lang="en-GB" dirty="0">
                <a:latin typeface="Courier" charset="0"/>
                <a:ea typeface="Courier" charset="0"/>
                <a:cs typeface="Courier" charset="0"/>
              </a:rPr>
              <a:t>p.</a:t>
            </a:r>
            <a:r>
              <a:rPr lang="en-GB" dirty="0">
                <a:latin typeface="Arial Unicode MS" charset="0"/>
                <a:ea typeface="Arial Unicode MS" charset="0"/>
                <a:cs typeface="Arial Unicode MS" charset="0"/>
              </a:rPr>
              <a:t>” is to tell the browser that it is a class for </a:t>
            </a:r>
            <a:r>
              <a:rPr lang="en-GB" dirty="0">
                <a:latin typeface="Courier" charset="0"/>
                <a:ea typeface="Courier" charset="0"/>
                <a:cs typeface="Courier" charset="0"/>
              </a:rPr>
              <a:t>&lt;p&gt;</a:t>
            </a:r>
            <a:r>
              <a:rPr lang="en-GB" dirty="0">
                <a:latin typeface="Arial Unicode MS" charset="0"/>
                <a:ea typeface="Arial Unicode MS" charset="0"/>
                <a:cs typeface="Arial Unicode MS" charset="0"/>
              </a:rPr>
              <a:t> tag.</a:t>
            </a:r>
          </a:p>
          <a:p>
            <a:endParaRPr lang="en-GB" dirty="0">
              <a:latin typeface="Arial Unicode MS" charset="0"/>
              <a:ea typeface="Arial Unicode MS" charset="0"/>
              <a:cs typeface="Arial Unicode MS" charset="0"/>
            </a:endParaRPr>
          </a:p>
          <a:p>
            <a:r>
              <a:rPr lang="en-GB" dirty="0">
                <a:latin typeface="Courier" charset="0"/>
                <a:ea typeface="Courier" charset="0"/>
                <a:cs typeface="Courier" charset="0"/>
              </a:rPr>
              <a:t>&lt;h1&gt; </a:t>
            </a:r>
            <a:r>
              <a:rPr lang="en-GB" dirty="0">
                <a:latin typeface="Arial Unicode MS" charset="0"/>
                <a:ea typeface="Arial Unicode MS" charset="0"/>
                <a:cs typeface="Arial Unicode MS" charset="0"/>
              </a:rPr>
              <a:t>tag will not be affected.</a:t>
            </a:r>
          </a:p>
        </p:txBody>
      </p:sp>
    </p:spTree>
    <p:extLst>
      <p:ext uri="{BB962C8B-B14F-4D97-AF65-F5344CB8AC3E}">
        <p14:creationId xmlns:p14="http://schemas.microsoft.com/office/powerpoint/2010/main" val="1448821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Selector Type: class (multiple classes)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16</a:t>
            </a:fld>
            <a:endParaRPr lang="uk-UA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5061" y="5262693"/>
            <a:ext cx="5620521" cy="989018"/>
          </a:xfrm>
          <a:effectLst>
            <a:outerShdw blurRad="50800" dist="50800" dir="5400000" algn="ctr" rotWithShape="0">
              <a:srgbClr val="000000"/>
            </a:outerShdw>
          </a:effectLst>
        </p:spPr>
      </p:pic>
      <p:pic>
        <p:nvPicPr>
          <p:cNvPr id="7" name="Content Placeholder 6"/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6885" y="1444352"/>
            <a:ext cx="4914900" cy="2958331"/>
          </a:xfr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16" name="Right Arrow 15"/>
          <p:cNvSpPr/>
          <p:nvPr/>
        </p:nvSpPr>
        <p:spPr>
          <a:xfrm rot="5400000">
            <a:off x="8059921" y="4809117"/>
            <a:ext cx="448827" cy="4714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ular Callout 17"/>
          <p:cNvSpPr/>
          <p:nvPr/>
        </p:nvSpPr>
        <p:spPr>
          <a:xfrm>
            <a:off x="1826991" y="1630018"/>
            <a:ext cx="2632378" cy="881885"/>
          </a:xfrm>
          <a:prstGeom prst="wedgeRectCallout">
            <a:avLst>
              <a:gd name="adj1" fmla="val 119995"/>
              <a:gd name="adj2" fmla="val 26125"/>
            </a:avLst>
          </a:prstGeom>
          <a:solidFill>
            <a:schemeClr val="accent5">
              <a:lumMod val="75000"/>
            </a:schemeClr>
          </a:solidFill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latin typeface="Arial Unicode MS" charset="0"/>
                <a:ea typeface="Arial Unicode MS" charset="0"/>
                <a:cs typeface="Arial Unicode MS" charset="0"/>
              </a:rPr>
              <a:t>Sets properties for any element with the classes “</a:t>
            </a:r>
            <a:r>
              <a:rPr lang="en-GB" sz="1600" dirty="0">
                <a:latin typeface="Courier" charset="0"/>
                <a:ea typeface="Courier" charset="0"/>
                <a:cs typeface="Courier" charset="0"/>
              </a:rPr>
              <a:t>look</a:t>
            </a:r>
            <a:r>
              <a:rPr lang="en-GB" sz="1600" dirty="0">
                <a:latin typeface="Arial Unicode MS" charset="0"/>
                <a:ea typeface="Arial Unicode MS" charset="0"/>
                <a:cs typeface="Arial Unicode MS" charset="0"/>
              </a:rPr>
              <a:t>” and “</a:t>
            </a:r>
            <a:r>
              <a:rPr lang="en-GB" sz="1600" dirty="0" err="1">
                <a:latin typeface="Courier" charset="0"/>
                <a:ea typeface="Courier" charset="0"/>
                <a:cs typeface="Courier" charset="0"/>
              </a:rPr>
              <a:t>center</a:t>
            </a:r>
            <a:r>
              <a:rPr lang="en-GB" sz="1600" dirty="0">
                <a:latin typeface="Arial Unicode MS" charset="0"/>
                <a:ea typeface="Arial Unicode MS" charset="0"/>
                <a:cs typeface="Arial Unicode MS" charset="0"/>
              </a:rPr>
              <a:t>”.</a:t>
            </a:r>
          </a:p>
        </p:txBody>
      </p:sp>
      <p:sp>
        <p:nvSpPr>
          <p:cNvPr id="19" name="Rectangular Callout 18"/>
          <p:cNvSpPr/>
          <p:nvPr/>
        </p:nvSpPr>
        <p:spPr>
          <a:xfrm>
            <a:off x="1530626" y="3111299"/>
            <a:ext cx="2928743" cy="881885"/>
          </a:xfrm>
          <a:prstGeom prst="wedgeRectCallout">
            <a:avLst>
              <a:gd name="adj1" fmla="val 113323"/>
              <a:gd name="adj2" fmla="val 15982"/>
            </a:avLst>
          </a:prstGeom>
          <a:solidFill>
            <a:schemeClr val="accent5">
              <a:lumMod val="75000"/>
            </a:schemeClr>
          </a:solidFill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latin typeface="Arial Unicode MS" charset="0"/>
                <a:ea typeface="Arial Unicode MS" charset="0"/>
                <a:cs typeface="Arial Unicode MS" charset="0"/>
              </a:rPr>
              <a:t>Use of multiple classes is written with space as separator: “</a:t>
            </a:r>
            <a:r>
              <a:rPr lang="en-GB" sz="1600" dirty="0">
                <a:latin typeface="Courier" charset="0"/>
                <a:ea typeface="Courier" charset="0"/>
                <a:cs typeface="Courier" charset="0"/>
              </a:rPr>
              <a:t>look </a:t>
            </a:r>
            <a:r>
              <a:rPr lang="en-GB" sz="1600" dirty="0" err="1">
                <a:latin typeface="Courier" charset="0"/>
                <a:ea typeface="Courier" charset="0"/>
                <a:cs typeface="Courier" charset="0"/>
              </a:rPr>
              <a:t>center</a:t>
            </a:r>
            <a:r>
              <a:rPr lang="en-GB" sz="1600" dirty="0">
                <a:latin typeface="Arial Unicode MS" charset="0"/>
                <a:ea typeface="Arial Unicode MS" charset="0"/>
                <a:cs typeface="Arial Unicode MS" charset="0"/>
              </a:rPr>
              <a:t>”.</a:t>
            </a:r>
          </a:p>
        </p:txBody>
      </p:sp>
    </p:spTree>
    <p:extLst>
      <p:ext uri="{BB962C8B-B14F-4D97-AF65-F5344CB8AC3E}">
        <p14:creationId xmlns:p14="http://schemas.microsoft.com/office/powerpoint/2010/main" val="19591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Content Placeholder 19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3134" y="2628900"/>
            <a:ext cx="3663623" cy="2324991"/>
          </a:xfr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Selector Type: descendent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17</a:t>
            </a:fld>
            <a:endParaRPr lang="uk-UA"/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" y="1475936"/>
            <a:ext cx="4821378" cy="3658244"/>
          </a:xfr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15" name="Right Arrow 14"/>
          <p:cNvSpPr/>
          <p:nvPr/>
        </p:nvSpPr>
        <p:spPr>
          <a:xfrm>
            <a:off x="6145619" y="3562185"/>
            <a:ext cx="298174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ular Callout 15"/>
          <p:cNvSpPr/>
          <p:nvPr/>
        </p:nvSpPr>
        <p:spPr>
          <a:xfrm>
            <a:off x="6174753" y="1421247"/>
            <a:ext cx="3277359" cy="974084"/>
          </a:xfrm>
          <a:prstGeom prst="wedgeRectCallout">
            <a:avLst>
              <a:gd name="adj1" fmla="val -152014"/>
              <a:gd name="adj2" fmla="val 27800"/>
            </a:avLst>
          </a:prstGeom>
          <a:solidFill>
            <a:schemeClr val="accent5">
              <a:lumMod val="75000"/>
            </a:schemeClr>
          </a:solidFill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latin typeface="Arial Unicode MS" charset="0"/>
                <a:ea typeface="Arial Unicode MS" charset="0"/>
                <a:cs typeface="Arial Unicode MS" charset="0"/>
              </a:rPr>
              <a:t>Sets property for the descendent element </a:t>
            </a:r>
            <a:r>
              <a:rPr lang="en-GB" sz="1600" dirty="0">
                <a:latin typeface="Courier" charset="0"/>
                <a:ea typeface="Courier" charset="0"/>
                <a:cs typeface="Courier" charset="0"/>
              </a:rPr>
              <a:t>(&lt;p&gt;</a:t>
            </a:r>
            <a:r>
              <a:rPr lang="en-GB" sz="1600" dirty="0">
                <a:latin typeface="Arial Unicode MS" charset="0"/>
                <a:ea typeface="Arial Unicode MS" charset="0"/>
                <a:cs typeface="Arial Unicode MS" charset="0"/>
              </a:rPr>
              <a:t>) of a parent element (</a:t>
            </a:r>
            <a:r>
              <a:rPr lang="en-GB" sz="1600" dirty="0">
                <a:latin typeface="Courier" charset="0"/>
                <a:ea typeface="Courier" charset="0"/>
                <a:cs typeface="Courier" charset="0"/>
              </a:rPr>
              <a:t>&lt;div&gt;</a:t>
            </a:r>
            <a:r>
              <a:rPr lang="en-GB" sz="1600" dirty="0">
                <a:latin typeface="Arial Unicode MS" charset="0"/>
                <a:ea typeface="Arial Unicode MS" charset="0"/>
                <a:cs typeface="Arial Unicode MS" charset="0"/>
              </a:rPr>
              <a:t>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91986" y="5329766"/>
            <a:ext cx="3564696" cy="830997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 Unicode MS" charset="0"/>
                <a:ea typeface="Arial Unicode MS" charset="0"/>
                <a:cs typeface="Arial Unicode MS" charset="0"/>
              </a:rPr>
              <a:t>By default, browsers always place a line break before and after the </a:t>
            </a:r>
            <a:r>
              <a:rPr lang="en-US" sz="1600" dirty="0">
                <a:latin typeface="Courier" charset="0"/>
                <a:ea typeface="Courier" charset="0"/>
                <a:cs typeface="Courier" charset="0"/>
              </a:rPr>
              <a:t>&lt;div&gt;</a:t>
            </a:r>
            <a:r>
              <a:rPr lang="en-US" sz="1600" dirty="0">
                <a:latin typeface="Arial Unicode MS" charset="0"/>
                <a:ea typeface="Arial Unicode MS" charset="0"/>
                <a:cs typeface="Arial Unicode MS" charset="0"/>
              </a:rPr>
              <a:t> element.</a:t>
            </a:r>
            <a:endParaRPr lang="en-GB" sz="1600" dirty="0">
              <a:latin typeface="Arial Unicode MS" charset="0"/>
              <a:ea typeface="Arial Unicode MS" charset="0"/>
              <a:cs typeface="Arial Unicode MS" charset="0"/>
            </a:endParaRPr>
          </a:p>
        </p:txBody>
      </p:sp>
      <p:sp>
        <p:nvSpPr>
          <p:cNvPr id="18" name="Rectangular Callout 17"/>
          <p:cNvSpPr/>
          <p:nvPr/>
        </p:nvSpPr>
        <p:spPr>
          <a:xfrm>
            <a:off x="157218" y="2663687"/>
            <a:ext cx="1134869" cy="1888435"/>
          </a:xfrm>
          <a:prstGeom prst="wedgeRectCallout">
            <a:avLst>
              <a:gd name="adj1" fmla="val 87340"/>
              <a:gd name="adj2" fmla="val -18785"/>
            </a:avLst>
          </a:prstGeom>
          <a:solidFill>
            <a:schemeClr val="accent5">
              <a:lumMod val="75000"/>
            </a:schemeClr>
          </a:solidFill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>
                <a:latin typeface="Courier" charset="0"/>
                <a:ea typeface="Courier" charset="0"/>
                <a:cs typeface="Courier" charset="0"/>
              </a:rPr>
              <a:t>&lt;div&gt;</a:t>
            </a:r>
            <a:r>
              <a:rPr lang="en-GB" sz="1600">
                <a:latin typeface="Arial Unicode MS" charset="0"/>
                <a:ea typeface="Arial Unicode MS" charset="0"/>
                <a:cs typeface="Arial Unicode MS" charset="0"/>
              </a:rPr>
              <a:t> tag defines a division or a section in an HTML document.</a:t>
            </a:r>
            <a:endParaRPr lang="en-GB" sz="1600" dirty="0">
              <a:latin typeface="Arial Unicode MS" charset="0"/>
              <a:ea typeface="Arial Unicode MS" charset="0"/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6804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Content Placeholder 18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7650" y="2641600"/>
            <a:ext cx="4064000" cy="2489200"/>
          </a:xfr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Selector Type: child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18</a:t>
            </a:fld>
            <a:endParaRPr lang="uk-UA"/>
          </a:p>
        </p:txBody>
      </p:sp>
      <p:pic>
        <p:nvPicPr>
          <p:cNvPr id="13" name="Content Placeholder 12"/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" y="2024209"/>
            <a:ext cx="4543155" cy="3442313"/>
          </a:xfr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15" name="Right Arrow 14"/>
          <p:cNvSpPr/>
          <p:nvPr/>
        </p:nvSpPr>
        <p:spPr>
          <a:xfrm>
            <a:off x="5919100" y="3806687"/>
            <a:ext cx="407504" cy="795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ular Callout 15"/>
          <p:cNvSpPr/>
          <p:nvPr/>
        </p:nvSpPr>
        <p:spPr>
          <a:xfrm>
            <a:off x="6174753" y="1421247"/>
            <a:ext cx="3277359" cy="974084"/>
          </a:xfrm>
          <a:prstGeom prst="wedgeRectCallout">
            <a:avLst>
              <a:gd name="adj1" fmla="val -149588"/>
              <a:gd name="adj2" fmla="val 78818"/>
            </a:avLst>
          </a:prstGeom>
          <a:solidFill>
            <a:schemeClr val="accent5">
              <a:lumMod val="75000"/>
            </a:schemeClr>
          </a:solidFill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latin typeface="Arial Unicode MS" charset="0"/>
                <a:ea typeface="Arial Unicode MS" charset="0"/>
                <a:cs typeface="Arial Unicode MS" charset="0"/>
              </a:rPr>
              <a:t>Sets property for the child element </a:t>
            </a:r>
            <a:r>
              <a:rPr lang="en-GB" sz="1600" dirty="0">
                <a:latin typeface="Courier" charset="0"/>
                <a:ea typeface="Courier" charset="0"/>
                <a:cs typeface="Courier" charset="0"/>
              </a:rPr>
              <a:t>(&lt;p&gt;</a:t>
            </a:r>
            <a:r>
              <a:rPr lang="en-GB" sz="1600" dirty="0">
                <a:latin typeface="Arial Unicode MS" charset="0"/>
                <a:ea typeface="Arial Unicode MS" charset="0"/>
                <a:cs typeface="Arial Unicode MS" charset="0"/>
              </a:rPr>
              <a:t>) of a parent element (</a:t>
            </a:r>
            <a:r>
              <a:rPr lang="en-GB" sz="1600" dirty="0">
                <a:latin typeface="Courier" charset="0"/>
                <a:ea typeface="Courier" charset="0"/>
                <a:cs typeface="Courier" charset="0"/>
              </a:rPr>
              <a:t>&lt;div&gt;</a:t>
            </a:r>
            <a:r>
              <a:rPr lang="en-GB" sz="1600" dirty="0">
                <a:latin typeface="Arial Unicode MS" charset="0"/>
                <a:ea typeface="Arial Unicode MS" charset="0"/>
                <a:cs typeface="Arial Unicode MS" charset="0"/>
              </a:rPr>
              <a:t>).</a:t>
            </a:r>
          </a:p>
        </p:txBody>
      </p:sp>
      <p:sp>
        <p:nvSpPr>
          <p:cNvPr id="17" name="Rectangular Callout 16"/>
          <p:cNvSpPr/>
          <p:nvPr/>
        </p:nvSpPr>
        <p:spPr>
          <a:xfrm>
            <a:off x="6436484" y="4875419"/>
            <a:ext cx="2488855" cy="909155"/>
          </a:xfrm>
          <a:prstGeom prst="wedgeRectCallout">
            <a:avLst>
              <a:gd name="adj1" fmla="val -115255"/>
              <a:gd name="adj2" fmla="val -104252"/>
            </a:avLst>
          </a:prstGeom>
          <a:solidFill>
            <a:schemeClr val="accent5">
              <a:lumMod val="75000"/>
            </a:schemeClr>
          </a:solidFill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latin typeface="Arial Unicode MS" charset="0"/>
                <a:ea typeface="Arial Unicode MS" charset="0"/>
                <a:cs typeface="Arial Unicode MS" charset="0"/>
              </a:rPr>
              <a:t>This is not a child but </a:t>
            </a:r>
            <a:r>
              <a:rPr lang="en-GB" sz="1600">
                <a:latin typeface="Arial Unicode MS" charset="0"/>
                <a:ea typeface="Arial Unicode MS" charset="0"/>
                <a:cs typeface="Arial Unicode MS" charset="0"/>
              </a:rPr>
              <a:t>a descendent so not affected!</a:t>
            </a:r>
            <a:endParaRPr lang="en-GB" sz="1600" dirty="0">
              <a:latin typeface="Arial Unicode MS" charset="0"/>
              <a:ea typeface="Arial Unicode MS" charset="0"/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3734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Selector Type: adjacent sibling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19</a:t>
            </a:fld>
            <a:endParaRPr lang="uk-UA"/>
          </a:p>
        </p:txBody>
      </p:sp>
      <p:sp>
        <p:nvSpPr>
          <p:cNvPr id="9" name="Right Arrow 8"/>
          <p:cNvSpPr/>
          <p:nvPr/>
        </p:nvSpPr>
        <p:spPr>
          <a:xfrm>
            <a:off x="5782111" y="3886200"/>
            <a:ext cx="504251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495" y="1600200"/>
            <a:ext cx="4439879" cy="4144617"/>
          </a:xfr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13" name="Rectangular Callout 12"/>
          <p:cNvSpPr/>
          <p:nvPr/>
        </p:nvSpPr>
        <p:spPr>
          <a:xfrm>
            <a:off x="6174753" y="1421247"/>
            <a:ext cx="3724621" cy="974084"/>
          </a:xfrm>
          <a:prstGeom prst="wedgeRectCallout">
            <a:avLst>
              <a:gd name="adj1" fmla="val -125868"/>
              <a:gd name="adj2" fmla="val 61472"/>
            </a:avLst>
          </a:prstGeom>
          <a:solidFill>
            <a:schemeClr val="accent5">
              <a:lumMod val="75000"/>
            </a:schemeClr>
          </a:solidFill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latin typeface="Arial Unicode MS" charset="0"/>
                <a:ea typeface="Arial Unicode MS" charset="0"/>
                <a:cs typeface="Arial Unicode MS" charset="0"/>
              </a:rPr>
              <a:t>Sets property for the element that is adjacent to another  (</a:t>
            </a:r>
            <a:r>
              <a:rPr lang="en-GB" sz="1600" dirty="0">
                <a:latin typeface="Courier" charset="0"/>
                <a:ea typeface="Courier" charset="0"/>
                <a:cs typeface="Courier" charset="0"/>
              </a:rPr>
              <a:t>&lt;p&gt; is adjacent to &lt;div&gt;</a:t>
            </a:r>
            <a:r>
              <a:rPr lang="en-GB" sz="1600" dirty="0">
                <a:latin typeface="Arial Unicode MS" charset="0"/>
                <a:ea typeface="Arial Unicode MS" charset="0"/>
                <a:cs typeface="Arial Unicode MS" charset="0"/>
              </a:rPr>
              <a:t>).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1003084" y="3826566"/>
            <a:ext cx="944986" cy="377686"/>
          </a:xfrm>
          <a:prstGeom prst="straightConnector1">
            <a:avLst/>
          </a:prstGeom>
          <a:ln>
            <a:solidFill>
              <a:schemeClr val="accent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1003084" y="4204252"/>
            <a:ext cx="944986" cy="506896"/>
          </a:xfrm>
          <a:prstGeom prst="straightConnector1">
            <a:avLst/>
          </a:prstGeom>
          <a:ln>
            <a:solidFill>
              <a:schemeClr val="accent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Content Placeholder 20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5100" y="2863850"/>
            <a:ext cx="4229100" cy="2044700"/>
          </a:xfrm>
          <a:effectLst>
            <a:outerShdw blurRad="50800" dist="50800" dir="5400000" algn="ctr" rotWithShape="0">
              <a:srgbClr val="000000"/>
            </a:outerShdw>
          </a:effectLst>
        </p:spPr>
      </p:pic>
    </p:spTree>
    <p:extLst>
      <p:ext uri="{BB962C8B-B14F-4D97-AF65-F5344CB8AC3E}">
        <p14:creationId xmlns:p14="http://schemas.microsoft.com/office/powerpoint/2010/main" val="1231324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Selector Type: general sibling</a:t>
            </a:r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899" y="1621965"/>
            <a:ext cx="4658053" cy="4291818"/>
          </a:xfrm>
          <a:effectLst>
            <a:outerShdw blurRad="50800" dist="50800" dir="5400000" algn="ctr" rotWithShape="0">
              <a:srgbClr val="000000"/>
            </a:outerShdw>
          </a:effectLst>
        </p:spPr>
      </p:pic>
      <p:pic>
        <p:nvPicPr>
          <p:cNvPr id="11" name="Content Placeholder 10"/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6208" y="2928832"/>
            <a:ext cx="4370891" cy="1702803"/>
          </a:xfr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20</a:t>
            </a:fld>
            <a:endParaRPr lang="uk-UA"/>
          </a:p>
        </p:txBody>
      </p:sp>
      <p:sp>
        <p:nvSpPr>
          <p:cNvPr id="12" name="Right Arrow 11"/>
          <p:cNvSpPr/>
          <p:nvPr/>
        </p:nvSpPr>
        <p:spPr>
          <a:xfrm>
            <a:off x="5987454" y="3780233"/>
            <a:ext cx="504251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ular Callout 12"/>
          <p:cNvSpPr/>
          <p:nvPr/>
        </p:nvSpPr>
        <p:spPr>
          <a:xfrm>
            <a:off x="6174753" y="1421247"/>
            <a:ext cx="3724621" cy="974084"/>
          </a:xfrm>
          <a:prstGeom prst="wedgeRectCallout">
            <a:avLst>
              <a:gd name="adj1" fmla="val -123466"/>
              <a:gd name="adj2" fmla="val 64533"/>
            </a:avLst>
          </a:prstGeom>
          <a:solidFill>
            <a:schemeClr val="accent5">
              <a:lumMod val="75000"/>
            </a:schemeClr>
          </a:solidFill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latin typeface="Arial Unicode MS" charset="0"/>
                <a:ea typeface="Arial Unicode MS" charset="0"/>
                <a:cs typeface="Arial Unicode MS" charset="0"/>
              </a:rPr>
              <a:t>Sets property for the next elements (</a:t>
            </a:r>
            <a:r>
              <a:rPr lang="en-GB" sz="1600" dirty="0">
                <a:latin typeface="Courier" charset="0"/>
                <a:ea typeface="Courier" charset="0"/>
                <a:cs typeface="Courier" charset="0"/>
              </a:rPr>
              <a:t>&lt;p&gt;</a:t>
            </a:r>
            <a:r>
              <a:rPr lang="en-GB" sz="1600" dirty="0">
                <a:latin typeface="Arial Unicode MS" charset="0"/>
                <a:ea typeface="Arial Unicode MS" charset="0"/>
                <a:cs typeface="Arial Unicode MS" charset="0"/>
              </a:rPr>
              <a:t>) after a particular element (</a:t>
            </a:r>
            <a:r>
              <a:rPr lang="en-GB" sz="1600" dirty="0">
                <a:latin typeface="Courier" charset="0"/>
                <a:ea typeface="Courier" charset="0"/>
                <a:cs typeface="Courier" charset="0"/>
              </a:rPr>
              <a:t>&lt;div&gt;</a:t>
            </a:r>
            <a:r>
              <a:rPr lang="en-GB" sz="1600" dirty="0">
                <a:latin typeface="Arial Unicode MS" charset="0"/>
                <a:ea typeface="Arial Unicode MS" charset="0"/>
                <a:cs typeface="Arial Unicode MS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725306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Selector Type: pseudo classes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888" y="1600200"/>
            <a:ext cx="9152223" cy="4572000"/>
          </a:xfr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21</a:t>
            </a:fld>
            <a:endParaRPr lang="uk-UA"/>
          </a:p>
        </p:txBody>
      </p:sp>
      <p:sp>
        <p:nvSpPr>
          <p:cNvPr id="9" name="Rectangular Callout 8"/>
          <p:cNvSpPr/>
          <p:nvPr/>
        </p:nvSpPr>
        <p:spPr>
          <a:xfrm>
            <a:off x="6174753" y="1600199"/>
            <a:ext cx="3724621" cy="795132"/>
          </a:xfrm>
          <a:prstGeom prst="wedgeRectCallout">
            <a:avLst>
              <a:gd name="adj1" fmla="val -117328"/>
              <a:gd name="adj2" fmla="val 36983"/>
            </a:avLst>
          </a:prstGeom>
          <a:solidFill>
            <a:schemeClr val="accent5">
              <a:lumMod val="75000"/>
            </a:schemeClr>
          </a:solidFill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latin typeface="Arial Unicode MS" charset="0"/>
                <a:ea typeface="Arial Unicode MS" charset="0"/>
                <a:cs typeface="Arial Unicode MS" charset="0"/>
              </a:rPr>
              <a:t>Sets the text link of an anchor tag </a:t>
            </a:r>
            <a:r>
              <a:rPr lang="en-GB" sz="1600" dirty="0">
                <a:latin typeface="Courier" charset="0"/>
                <a:ea typeface="Courier" charset="0"/>
                <a:cs typeface="Courier" charset="0"/>
              </a:rPr>
              <a:t>&lt;a&gt;</a:t>
            </a:r>
            <a:r>
              <a:rPr lang="en-GB" sz="1600" dirty="0">
                <a:latin typeface="Arial Unicode MS" charset="0"/>
                <a:ea typeface="Arial Unicode MS" charset="0"/>
                <a:cs typeface="Arial Unicode MS" charset="0"/>
              </a:rPr>
              <a:t> to red if it is unvisited.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63597" y="3314269"/>
            <a:ext cx="3535777" cy="92333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Arial Unicode MS" charset="0"/>
                <a:ea typeface="Arial Unicode MS" charset="0"/>
                <a:cs typeface="Arial Unicode MS" charset="0"/>
              </a:rPr>
              <a:t>A pseudo-class is used to define a special state of an element. Try it </a:t>
            </a:r>
            <a:r>
              <a:rPr lang="en-US" dirty="0">
                <a:latin typeface="Arial Unicode MS" charset="0"/>
                <a:ea typeface="Arial Unicode MS" charset="0"/>
                <a:cs typeface="Arial Unicode MS" charset="0"/>
                <a:hlinkClick r:id="rId3"/>
              </a:rPr>
              <a:t>here</a:t>
            </a:r>
            <a:r>
              <a:rPr lang="en-US" dirty="0">
                <a:latin typeface="Arial Unicode MS" charset="0"/>
                <a:ea typeface="Arial Unicode MS" charset="0"/>
                <a:cs typeface="Arial Unicode MS" charset="0"/>
              </a:rPr>
              <a:t>.</a:t>
            </a:r>
            <a:endParaRPr lang="en-GB" dirty="0">
              <a:latin typeface="Arial Unicode MS" charset="0"/>
              <a:ea typeface="Arial Unicode MS" charset="0"/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5531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challenge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W2.1 Intro to </a:t>
            </a:r>
            <a:r>
              <a:rPr lang="en-GB" dirty="0" err="1"/>
              <a:t>CSS.docx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22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62637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127547587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10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 - &amp;quot;HTML Form and Controls II&amp;quot;&quot;/&gt;&lt;property id=&quot;20307&quot; value=&quot;256&quot;/&gt;&lt;/object&gt;&lt;object type=&quot;3&quot; unique_id=&quot;13467&quot;&gt;&lt;property id=&quot;20148&quot; value=&quot;5&quot;/&gt;&lt;property id=&quot;20300&quot; value=&quot;Slide 21 - &amp;quot;The End&amp;quot;&quot;/&gt;&lt;property id=&quot;20307&quot; value=&quot;288&quot;/&gt;&lt;/object&gt;&lt;object type=&quot;3&quot; unique_id=&quot;17361&quot;&gt;&lt;property id=&quot;20148&quot; value=&quot;5&quot;/&gt;&lt;property id=&quot;20300&quot; value=&quot;Slide 2 - &amp;quot;Objectives&amp;quot;&quot;/&gt;&lt;property id=&quot;20307&quot; value=&quot;289&quot;/&gt;&lt;/object&gt;&lt;object type=&quot;3&quot; unique_id=&quot;17362&quot;&gt;&lt;property id=&quot;20148&quot; value=&quot;5&quot;/&gt;&lt;property id=&quot;20300&quot; value=&quot;Slide 3 - &amp;quot;Tools Required&amp;quot;&quot;/&gt;&lt;property id=&quot;20307&quot; value=&quot;308&quot;/&gt;&lt;/object&gt;&lt;object type=&quot;3&quot; unique_id=&quot;17363&quot;&gt;&lt;property id=&quot;20148&quot; value=&quot;5&quot;/&gt;&lt;property id=&quot;20300&quot; value=&quot;Slide 4 - &amp;quot;GET AND POST&amp;quot;&quot;/&gt;&lt;property id=&quot;20307&quot; value=&quot;291&quot;/&gt;&lt;/object&gt;&lt;object type=&quot;3&quot; unique_id=&quot;17364&quot;&gt;&lt;property id=&quot;20148&quot; value=&quot;5&quot;/&gt;&lt;property id=&quot;20300&quot; value=&quot;Slide 5 - &amp;quot;HTTP Request Method: GET&amp;quot;&quot;/&gt;&lt;property id=&quot;20307&quot; value=&quot;292&quot;/&gt;&lt;/object&gt;&lt;object type=&quot;3&quot; unique_id=&quot;17365&quot;&gt;&lt;property id=&quot;20148&quot; value=&quot;5&quot;/&gt;&lt;property id=&quot;20300&quot; value=&quot;Slide 6 - &amp;quot;HTTP Request Method: POST&amp;quot;&quot;/&gt;&lt;property id=&quot;20307&quot; value=&quot;293&quot;/&gt;&lt;/object&gt;&lt;object type=&quot;3&quot; unique_id=&quot;17366&quot;&gt;&lt;property id=&quot;20148&quot; value=&quot;5&quot;/&gt;&lt;property id=&quot;20300&quot; value=&quot;Slide 7 - &amp;quot;GET vs POST&amp;quot;&quot;/&gt;&lt;property id=&quot;20307&quot; value=&quot;294&quot;/&gt;&lt;/object&gt;&lt;object type=&quot;3&quot; unique_id=&quot;17367&quot;&gt;&lt;property id=&quot;20148&quot; value=&quot;5&quot;/&gt;&lt;property id=&quot;20300&quot; value=&quot;Slide 8 - &amp;quot;When To Use?&amp;quot;&quot;/&gt;&lt;property id=&quot;20307&quot; value=&quot;295&quot;/&gt;&lt;/object&gt;&lt;object type=&quot;3&quot; unique_id=&quot;17368&quot;&gt;&lt;property id=&quot;20148&quot; value=&quot;5&quot;/&gt;&lt;property id=&quot;20300&quot; value=&quot;Slide 9 - &amp;quot;FORM ELEMENTS&amp;quot;&quot;/&gt;&lt;property id=&quot;20307&quot; value=&quot;296&quot;/&gt;&lt;/object&gt;&lt;object type=&quot;3&quot; unique_id=&quot;17369&quot;&gt;&lt;property id=&quot;20148&quot; value=&quot;5&quot;/&gt;&lt;property id=&quot;20300&quot; value=&quot;Slide 10 - &amp;quot;Label Element&amp;quot;&quot;/&gt;&lt;property id=&quot;20307&quot; value=&quot;297&quot;/&gt;&lt;/object&gt;&lt;object type=&quot;3&quot; unique_id=&quot;17370&quot;&gt;&lt;property id=&quot;20148&quot; value=&quot;5&quot;/&gt;&lt;property id=&quot;20300&quot; value=&quot;Slide 11 - &amp;quot;Input Element: Textbox&amp;quot;&quot;/&gt;&lt;property id=&quot;20307&quot; value=&quot;298&quot;/&gt;&lt;/object&gt;&lt;object type=&quot;3&quot; unique_id=&quot;17371&quot;&gt;&lt;property id=&quot;20148&quot; value=&quot;5&quot;/&gt;&lt;property id=&quot;20300&quot; value=&quot;Slide 12 - &amp;quot;Input Element: Checkbox&amp;quot;&quot;/&gt;&lt;property id=&quot;20307&quot; value=&quot;299&quot;/&gt;&lt;/object&gt;&lt;object type=&quot;3&quot; unique_id=&quot;17372&quot;&gt;&lt;property id=&quot;20148&quot; value=&quot;5&quot;/&gt;&lt;property id=&quot;20300&quot; value=&quot;Slide 13 - &amp;quot;Input Element: Radio Button&amp;quot;&quot;/&gt;&lt;property id=&quot;20307&quot; value=&quot;300&quot;/&gt;&lt;/object&gt;&lt;object type=&quot;3&quot; unique_id=&quot;17373&quot;&gt;&lt;property id=&quot;20148&quot; value=&quot;5&quot;/&gt;&lt;property id=&quot;20300&quot; value=&quot;Slide 14 - &amp;quot;Button Element&amp;quot;&quot;/&gt;&lt;property id=&quot;20307&quot; value=&quot;301&quot;/&gt;&lt;/object&gt;&lt;object type=&quot;3&quot; unique_id=&quot;17374&quot;&gt;&lt;property id=&quot;20148&quot; value=&quot;5&quot;/&gt;&lt;property id=&quot;20300&quot; value=&quot;Slide 15 - &amp;quot;Select Element&amp;quot;&quot;/&gt;&lt;property id=&quot;20307&quot; value=&quot;302&quot;/&gt;&lt;/object&gt;&lt;object type=&quot;3&quot; unique_id=&quot;17375&quot;&gt;&lt;property id=&quot;20148&quot; value=&quot;5&quot;/&gt;&lt;property id=&quot;20300&quot; value=&quot;Slide 16 - &amp;quot;Textarea Element&amp;quot;&quot;/&gt;&lt;property id=&quot;20307&quot; value=&quot;303&quot;/&gt;&lt;/object&gt;&lt;object type=&quot;3&quot; unique_id=&quot;17376&quot;&gt;&lt;property id=&quot;20148&quot; value=&quot;5&quot;/&gt;&lt;property id=&quot;20300&quot; value=&quot;Slide 17 - &amp;quot;Other Elements in HTML5&amp;quot;&quot;/&gt;&lt;property id=&quot;20307&quot; value=&quot;304&quot;/&gt;&lt;/object&gt;&lt;object type=&quot;3&quot; unique_id=&quot;17377&quot;&gt;&lt;property id=&quot;20148&quot; value=&quot;5&quot;/&gt;&lt;property id=&quot;20300&quot; value=&quot;Slide 18 - &amp;quot;Iframe Element&amp;quot;&quot;/&gt;&lt;property id=&quot;20307&quot; value=&quot;305&quot;/&gt;&lt;/object&gt;&lt;object type=&quot;3&quot; unique_id=&quot;17378&quot;&gt;&lt;property id=&quot;20148&quot; value=&quot;5&quot;/&gt;&lt;property id=&quot;20300&quot; value=&quot;Slide 19 - &amp;quot;Compatibilities and Support&amp;quot;&quot;/&gt;&lt;property id=&quot;20307&quot; value=&quot;306&quot;/&gt;&lt;/object&gt;&lt;object type=&quot;3&quot; unique_id=&quot;17379&quot;&gt;&lt;property id=&quot;20148&quot; value=&quot;5&quot;/&gt;&lt;property id=&quot;20300&quot; value=&quot;Slide 20 - &amp;quot;challenge&amp;quot;&quot;/&gt;&lt;property id=&quot;20307&quot; value=&quot;307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6279</TotalTime>
  <Words>794</Words>
  <Application>Microsoft Office PowerPoint</Application>
  <PresentationFormat>Widescreen</PresentationFormat>
  <Paragraphs>124</Paragraphs>
  <Slides>23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</vt:lpstr>
      <vt:lpstr>Arial Unicode MS</vt:lpstr>
      <vt:lpstr>Calibri</vt:lpstr>
      <vt:lpstr>Courier</vt:lpstr>
      <vt:lpstr>Roboto</vt:lpstr>
      <vt:lpstr>Roboto light</vt:lpstr>
      <vt:lpstr>Verdana</vt:lpstr>
      <vt:lpstr>Office Theme</vt:lpstr>
      <vt:lpstr>Introduction to CSS</vt:lpstr>
      <vt:lpstr>Objectives</vt:lpstr>
      <vt:lpstr>Tools Required</vt:lpstr>
      <vt:lpstr>CSS</vt:lpstr>
      <vt:lpstr>What is CSS?</vt:lpstr>
      <vt:lpstr>Structure of CSS</vt:lpstr>
      <vt:lpstr>How To Use CSS?</vt:lpstr>
      <vt:lpstr>How To Use CSS?</vt:lpstr>
      <vt:lpstr>Priorities</vt:lpstr>
      <vt:lpstr>Selectors</vt:lpstr>
      <vt:lpstr>The Selector</vt:lpstr>
      <vt:lpstr>Selector Type: element</vt:lpstr>
      <vt:lpstr>Selector Type: id</vt:lpstr>
      <vt:lpstr>Selector Type: class (for all elements)</vt:lpstr>
      <vt:lpstr>Selector Type: class (for a particular element)</vt:lpstr>
      <vt:lpstr>Selector Type: class (multiple classes)</vt:lpstr>
      <vt:lpstr>Selector Type: descendent</vt:lpstr>
      <vt:lpstr>Selector Type: child</vt:lpstr>
      <vt:lpstr>Selector Type: adjacent sibling</vt:lpstr>
      <vt:lpstr>Selector Type: general sibling</vt:lpstr>
      <vt:lpstr>Selector Type: pseudo classes</vt:lpstr>
      <vt:lpstr>challenge</vt:lpstr>
      <vt:lpstr>The End</vt:lpstr>
    </vt:vector>
  </TitlesOfParts>
  <Manager/>
  <Company>Temasek Polytechnic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CSS</dc:title>
  <dc:subject>Introduction to CSS</dc:subject>
  <dc:creator>Tan Sio Poh</dc:creator>
  <cp:keywords>CODT, CIT1C16, ADEV, CIT1C17, Introduction to CSS</cp:keywords>
  <dc:description/>
  <cp:lastModifiedBy>temasek poly</cp:lastModifiedBy>
  <cp:revision>197</cp:revision>
  <dcterms:created xsi:type="dcterms:W3CDTF">2016-03-04T00:57:19Z</dcterms:created>
  <dcterms:modified xsi:type="dcterms:W3CDTF">2021-09-21T09:00:47Z</dcterms:modified>
  <cp:category>Software Cluster</cp:category>
</cp:coreProperties>
</file>