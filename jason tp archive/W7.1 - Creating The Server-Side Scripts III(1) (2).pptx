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256" r:id="rId2"/>
    <p:sldId id="289" r:id="rId3"/>
    <p:sldId id="373" r:id="rId4"/>
    <p:sldId id="483" r:id="rId5"/>
    <p:sldId id="487" r:id="rId6"/>
    <p:sldId id="511" r:id="rId7"/>
    <p:sldId id="490" r:id="rId8"/>
    <p:sldId id="509" r:id="rId9"/>
    <p:sldId id="510" r:id="rId10"/>
    <p:sldId id="479" r:id="rId11"/>
    <p:sldId id="447" r:id="rId12"/>
    <p:sldId id="512" r:id="rId13"/>
    <p:sldId id="495" r:id="rId14"/>
    <p:sldId id="493" r:id="rId15"/>
    <p:sldId id="501" r:id="rId16"/>
    <p:sldId id="502" r:id="rId17"/>
    <p:sldId id="503" r:id="rId18"/>
    <p:sldId id="513" r:id="rId19"/>
    <p:sldId id="505" r:id="rId20"/>
    <p:sldId id="506" r:id="rId21"/>
    <p:sldId id="507" r:id="rId22"/>
    <p:sldId id="508" r:id="rId23"/>
    <p:sldId id="423" r:id="rId24"/>
    <p:sldId id="288" r:id="rId25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DA"/>
    <a:srgbClr val="0070C0"/>
    <a:srgbClr val="1CADE4"/>
    <a:srgbClr val="FAD22C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257963-88C9-4D87-950E-A81E3BF91BE3}" v="5" dt="2018-11-21T01:21:13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81" autoAdjust="0"/>
    <p:restoredTop sz="93875" autoAdjust="0"/>
  </p:normalViewPr>
  <p:slideViewPr>
    <p:cSldViewPr snapToGrid="0">
      <p:cViewPr varScale="1">
        <p:scale>
          <a:sx n="107" d="100"/>
          <a:sy n="107" d="100"/>
        </p:scale>
        <p:origin x="94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F74DC62B-7A07-49B0-928B-A3D6C8D7BBE9}"/>
    <pc:docChg chg="modMainMaster">
      <pc:chgData name="Lam Su Yi" userId="43bb02ba-2a64-4c57-886a-7f9577835f3c" providerId="ADAL" clId="{F74DC62B-7A07-49B0-928B-A3D6C8D7BBE9}" dt="2018-09-28T07:08:20.333" v="8" actId="20577"/>
      <pc:docMkLst>
        <pc:docMk/>
      </pc:docMkLst>
      <pc:sldMasterChg chg="modSldLayout">
        <pc:chgData name="Lam Su Yi" userId="43bb02ba-2a64-4c57-886a-7f9577835f3c" providerId="ADAL" clId="{F74DC62B-7A07-49B0-928B-A3D6C8D7BBE9}" dt="2018-09-28T07:08:20.333" v="8" actId="20577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F74DC62B-7A07-49B0-928B-A3D6C8D7BBE9}" dt="2018-09-28T07:08:20.333" v="8" actId="20577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F74DC62B-7A07-49B0-928B-A3D6C8D7BBE9}" dt="2018-09-28T01:20:44.509" v="3" actId="6549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F74DC62B-7A07-49B0-928B-A3D6C8D7BBE9}" dt="2018-09-28T07:08:20.333" v="8" actId="20577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  <pc:docChgLst>
    <pc:chgData name="Lam Su Yi" userId="43bb02ba-2a64-4c57-886a-7f9577835f3c" providerId="ADAL" clId="{F3257963-88C9-4D87-950E-A81E3BF91BE3}"/>
    <pc:docChg chg="custSel modSld">
      <pc:chgData name="Lam Su Yi" userId="43bb02ba-2a64-4c57-886a-7f9577835f3c" providerId="ADAL" clId="{F3257963-88C9-4D87-950E-A81E3BF91BE3}" dt="2018-11-21T01:21:21.188" v="14" actId="1076"/>
      <pc:docMkLst>
        <pc:docMk/>
      </pc:docMkLst>
      <pc:sldChg chg="addSp delSp modSp">
        <pc:chgData name="Lam Su Yi" userId="43bb02ba-2a64-4c57-886a-7f9577835f3c" providerId="ADAL" clId="{F3257963-88C9-4D87-950E-A81E3BF91BE3}" dt="2018-11-21T01:21:21.188" v="14" actId="1076"/>
        <pc:sldMkLst>
          <pc:docMk/>
          <pc:sldMk cId="1837118017" sldId="503"/>
        </pc:sldMkLst>
        <pc:spChg chg="add mod">
          <ac:chgData name="Lam Su Yi" userId="43bb02ba-2a64-4c57-886a-7f9577835f3c" providerId="ADAL" clId="{F3257963-88C9-4D87-950E-A81E3BF91BE3}" dt="2018-11-21T01:21:21.188" v="14" actId="1076"/>
          <ac:spMkLst>
            <pc:docMk/>
            <pc:sldMk cId="1837118017" sldId="503"/>
            <ac:spMk id="3" creationId="{EAB379D3-6A5D-4ED6-B347-83379B0C2F73}"/>
          </ac:spMkLst>
        </pc:spChg>
        <pc:picChg chg="del mod">
          <ac:chgData name="Lam Su Yi" userId="43bb02ba-2a64-4c57-886a-7f9577835f3c" providerId="ADAL" clId="{F3257963-88C9-4D87-950E-A81E3BF91BE3}" dt="2018-11-21T01:21:16.315" v="12" actId="478"/>
          <ac:picMkLst>
            <pc:docMk/>
            <pc:sldMk cId="1837118017" sldId="503"/>
            <ac:picMk id="5" creationId="{459CA75D-1019-467B-ABEB-50297C21583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22/9/2021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B1F42F74-75E5-42CB-8590-502DC3F95CF0}" type="datetime1">
              <a:rPr lang="en-US" smtClean="0"/>
              <a:t>9/22/2021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23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DC50-FC28-472D-98A7-6638A1527CA2}" type="datetime1">
              <a:rPr lang="en-US" smtClean="0"/>
              <a:t>9/22/2021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EZIVKVpUg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nodejs/nodejs_mysql_select.asp" TargetMode="External"/><Relationship Id="rId2" Type="http://schemas.openxmlformats.org/officeDocument/2006/relationships/hyperlink" Target="https://www.tutorialspoint.com/mysql/index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xpressjs.com/en/api.html" TargetMode="External"/><Relationship Id="rId5" Type="http://schemas.openxmlformats.org/officeDocument/2006/relationships/hyperlink" Target="https://www.tutorialspoint.com/nodejs/nodejs_request_object.htm" TargetMode="External"/><Relationship Id="rId4" Type="http://schemas.openxmlformats.org/officeDocument/2006/relationships/hyperlink" Target="https://scotch.io/tutorials/use-expressjs-to-get-url-and-post-parameters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>
            <a:normAutofit/>
          </a:bodyPr>
          <a:lstStyle/>
          <a:p>
            <a:r>
              <a:rPr lang="en-US" sz="3800" dirty="0">
                <a:ea typeface="Calisto MT" charset="0"/>
                <a:cs typeface="Calisto MT" charset="0"/>
              </a:rPr>
              <a:t>Creating the Server-Side Scripts III</a:t>
            </a:r>
            <a:endParaRPr lang="en-SG" sz="3800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 dirty="0"/>
              <a:t>Week 07.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F056B3-4CEB-4FFD-BE48-F055B70D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connect to database server using Node.js;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execute SQL commands in Node.js;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create Web API;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route HTTP requests in Node.js.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MySQL DB</a:t>
            </a:r>
          </a:p>
          <a:p>
            <a:pPr>
              <a:lnSpc>
                <a:spcPct val="100000"/>
              </a:lnSpc>
            </a:pPr>
            <a:r>
              <a:rPr lang="en-GB" dirty="0"/>
              <a:t>MySQL Workbench</a:t>
            </a:r>
          </a:p>
          <a:p>
            <a:pPr>
              <a:lnSpc>
                <a:spcPct val="100000"/>
              </a:lnSpc>
            </a:pPr>
            <a:r>
              <a:rPr lang="en-GB" dirty="0"/>
              <a:t>Visual Studio Code</a:t>
            </a:r>
          </a:p>
          <a:p>
            <a:pPr>
              <a:lnSpc>
                <a:spcPct val="100000"/>
              </a:lnSpc>
            </a:pPr>
            <a:r>
              <a:rPr lang="en-GB" dirty="0"/>
              <a:t>Chrome Browser</a:t>
            </a:r>
          </a:p>
          <a:p>
            <a:pPr>
              <a:lnSpc>
                <a:spcPct val="100000"/>
              </a:lnSpc>
            </a:pPr>
            <a:r>
              <a:rPr lang="en-GB" dirty="0"/>
              <a:t>Nodejs</a:t>
            </a:r>
          </a:p>
          <a:p>
            <a:pPr>
              <a:lnSpc>
                <a:spcPct val="100000"/>
              </a:lnSpc>
            </a:pPr>
            <a:r>
              <a:rPr lang="en-GB" dirty="0"/>
              <a:t>Postman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25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Add Comment Feature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1046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DC78F7-D55F-4BF2-9BC8-A42A39608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2" y="2818498"/>
            <a:ext cx="11725835" cy="262610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A749A-C0BB-48EA-96E2-16E93204D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919" y="1426627"/>
            <a:ext cx="10336162" cy="458660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000" dirty="0"/>
              <a:t>Watch Week 7 demo </a:t>
            </a:r>
            <a:r>
              <a:rPr lang="en-GB" sz="2000" dirty="0">
                <a:hlinkClick r:id="rId3"/>
              </a:rPr>
              <a:t>here</a:t>
            </a:r>
            <a:endParaRPr lang="en-GB" sz="2000" dirty="0"/>
          </a:p>
          <a:p>
            <a:pPr>
              <a:lnSpc>
                <a:spcPct val="100000"/>
              </a:lnSpc>
            </a:pPr>
            <a:r>
              <a:rPr lang="en-GB" sz="2000" dirty="0"/>
              <a:t>Open the </a:t>
            </a:r>
            <a:r>
              <a:rPr lang="en-GB" sz="2000" b="1" dirty="0">
                <a:solidFill>
                  <a:srgbClr val="FF0000"/>
                </a:solidFill>
                <a:latin typeface="Courier"/>
              </a:rPr>
              <a:t>CommentsDB.js</a:t>
            </a:r>
            <a:r>
              <a:rPr lang="en-GB" sz="2000" dirty="0"/>
              <a:t> file that you created in Visual Studio Code.</a:t>
            </a:r>
          </a:p>
          <a:p>
            <a:pPr>
              <a:lnSpc>
                <a:spcPct val="100000"/>
              </a:lnSpc>
            </a:pPr>
            <a:r>
              <a:rPr lang="en-GB" sz="2000" dirty="0"/>
              <a:t>Add the following </a:t>
            </a:r>
            <a:r>
              <a:rPr lang="en-GB" sz="2000" b="1" dirty="0" err="1">
                <a:solidFill>
                  <a:srgbClr val="FF0000"/>
                </a:solidFill>
                <a:latin typeface="Courier"/>
              </a:rPr>
              <a:t>addComment</a:t>
            </a:r>
            <a:r>
              <a:rPr lang="en-GB" sz="2000" b="1" dirty="0">
                <a:solidFill>
                  <a:srgbClr val="FF0000"/>
                </a:solidFill>
                <a:latin typeface="Courier"/>
              </a:rPr>
              <a:t>()</a:t>
            </a:r>
            <a:r>
              <a:rPr lang="en-GB" sz="2000" dirty="0"/>
              <a:t> function.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F462DD-7BE4-4EBC-B3CD-FB48CBA6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Add Comment Feature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9975B-400D-44DE-903F-8576BD1C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6358" y="6112355"/>
            <a:ext cx="465217" cy="307975"/>
          </a:xfrm>
        </p:spPr>
        <p:txBody>
          <a:bodyPr/>
          <a:lstStyle/>
          <a:p>
            <a:fld id="{0FF54DE5-C571-48E8-A5BC-B369434E2F44}" type="slidenum">
              <a:rPr lang="en-US" smtClean="0"/>
              <a:t>5</a:t>
            </a:fld>
            <a:endParaRPr lang="en-US"/>
          </a:p>
        </p:txBody>
      </p:sp>
      <p:sp>
        <p:nvSpPr>
          <p:cNvPr id="8" name="Rectangular Callout 21">
            <a:extLst>
              <a:ext uri="{FF2B5EF4-FFF2-40B4-BE49-F238E27FC236}">
                <a16:creationId xmlns:a16="http://schemas.microsoft.com/office/drawing/2014/main" id="{AF49228F-5F88-4C63-8458-F6065384714A}"/>
              </a:ext>
            </a:extLst>
          </p:cNvPr>
          <p:cNvSpPr/>
          <p:nvPr/>
        </p:nvSpPr>
        <p:spPr>
          <a:xfrm>
            <a:off x="8689646" y="2495390"/>
            <a:ext cx="2411126" cy="1230452"/>
          </a:xfrm>
          <a:prstGeom prst="wedgeRectCallout">
            <a:avLst>
              <a:gd name="adj1" fmla="val 28981"/>
              <a:gd name="adj2" fmla="val 78417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The question marks here represent placeholders for the value of each field. It has to match the number of field values you want to insert.</a:t>
            </a:r>
          </a:p>
        </p:txBody>
      </p:sp>
      <p:sp>
        <p:nvSpPr>
          <p:cNvPr id="10" name="Rectangular Callout 21">
            <a:extLst>
              <a:ext uri="{FF2B5EF4-FFF2-40B4-BE49-F238E27FC236}">
                <a16:creationId xmlns:a16="http://schemas.microsoft.com/office/drawing/2014/main" id="{69D0BC60-2E08-47DA-B769-B3EF3E8702D2}"/>
              </a:ext>
            </a:extLst>
          </p:cNvPr>
          <p:cNvSpPr/>
          <p:nvPr/>
        </p:nvSpPr>
        <p:spPr>
          <a:xfrm>
            <a:off x="1878693" y="5395621"/>
            <a:ext cx="6093641" cy="1115182"/>
          </a:xfrm>
          <a:prstGeom prst="wedgeRectCallout">
            <a:avLst>
              <a:gd name="adj1" fmla="val 9257"/>
              <a:gd name="adj2" fmla="val -100647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The parameters here consist of an array of values for each of the fields in the </a:t>
            </a:r>
            <a:r>
              <a:rPr lang="en-GB" sz="14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comment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table. The values are gotten from the </a:t>
            </a:r>
            <a:r>
              <a:rPr lang="en-GB" sz="1400" b="1" dirty="0">
                <a:solidFill>
                  <a:srgbClr val="FFFF00"/>
                </a:solidFill>
                <a:latin typeface="Courier"/>
                <a:ea typeface="Arial Unicode MS" charset="0"/>
                <a:cs typeface="Arial Unicode MS" charset="0"/>
              </a:rPr>
              <a:t>Comment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object that is passed in as a parameter in the </a:t>
            </a:r>
            <a:r>
              <a:rPr lang="en-GB" sz="1400" b="1" dirty="0" err="1">
                <a:solidFill>
                  <a:srgbClr val="FFFF00"/>
                </a:solidFill>
                <a:latin typeface="Courier"/>
                <a:ea typeface="Arial Unicode MS" charset="0"/>
                <a:cs typeface="Arial Unicode MS" charset="0"/>
              </a:rPr>
              <a:t>addComment</a:t>
            </a:r>
            <a:r>
              <a:rPr lang="en-GB" sz="1400" b="1" dirty="0">
                <a:solidFill>
                  <a:srgbClr val="FFFF00"/>
                </a:solidFill>
                <a:latin typeface="Courier"/>
                <a:ea typeface="Arial Unicode MS" charset="0"/>
                <a:cs typeface="Arial Unicode MS" charset="0"/>
              </a:rPr>
              <a:t>()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function. Note that the order of the values must follow the order of the fields in the SQL statement.</a:t>
            </a:r>
          </a:p>
        </p:txBody>
      </p:sp>
    </p:spTree>
    <p:extLst>
      <p:ext uri="{BB962C8B-B14F-4D97-AF65-F5344CB8AC3E}">
        <p14:creationId xmlns:p14="http://schemas.microsoft.com/office/powerpoint/2010/main" val="425090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A749A-C0BB-48EA-96E2-16E93204D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919" y="1426627"/>
            <a:ext cx="10336162" cy="458660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400" dirty="0"/>
              <a:t>Open the </a:t>
            </a:r>
            <a:r>
              <a:rPr lang="en-GB" sz="1400" b="1" dirty="0">
                <a:solidFill>
                  <a:srgbClr val="FF0000"/>
                </a:solidFill>
                <a:latin typeface="Courier"/>
              </a:rPr>
              <a:t>commentController.js</a:t>
            </a:r>
            <a:r>
              <a:rPr lang="en-GB" sz="1400" dirty="0"/>
              <a:t> file that you created in Visual Studio Code.</a:t>
            </a:r>
          </a:p>
          <a:p>
            <a:pPr>
              <a:lnSpc>
                <a:spcPct val="100000"/>
              </a:lnSpc>
            </a:pPr>
            <a:r>
              <a:rPr lang="en-GB" sz="1400" dirty="0"/>
              <a:t>Add the following </a:t>
            </a:r>
            <a:r>
              <a:rPr lang="en-GB" sz="1400" b="1" dirty="0" err="1">
                <a:solidFill>
                  <a:srgbClr val="FF0000"/>
                </a:solidFill>
                <a:latin typeface="Courier"/>
              </a:rPr>
              <a:t>addComment</a:t>
            </a:r>
            <a:r>
              <a:rPr lang="en-GB" sz="1400" b="1" dirty="0">
                <a:solidFill>
                  <a:srgbClr val="FF0000"/>
                </a:solidFill>
                <a:latin typeface="Courier"/>
              </a:rPr>
              <a:t>()</a:t>
            </a:r>
            <a:r>
              <a:rPr lang="en-GB" sz="1400" dirty="0"/>
              <a:t> function.</a:t>
            </a:r>
          </a:p>
          <a:p>
            <a:pPr>
              <a:lnSpc>
                <a:spcPct val="100000"/>
              </a:lnSpc>
            </a:pPr>
            <a:r>
              <a:rPr lang="en-GB" sz="1400" dirty="0"/>
              <a:t>Remember to export the new function</a:t>
            </a:r>
          </a:p>
          <a:p>
            <a:pPr>
              <a:lnSpc>
                <a:spcPct val="100000"/>
              </a:lnSpc>
            </a:pPr>
            <a:endParaRPr lang="en-GB" sz="14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F462DD-7BE4-4EBC-B3CD-FB48CBA6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Add Comment Feature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9975B-400D-44DE-903F-8576BD1C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6358" y="6112355"/>
            <a:ext cx="465217" cy="307975"/>
          </a:xfrm>
        </p:spPr>
        <p:txBody>
          <a:bodyPr/>
          <a:lstStyle/>
          <a:p>
            <a:fld id="{0FF54DE5-C571-48E8-A5BC-B369434E2F44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AFBC53-639C-496A-A933-27C21E407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51" y="2444436"/>
            <a:ext cx="9087131" cy="28736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5E6260-6712-4F31-8645-DDAF1D2FD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5685317"/>
            <a:ext cx="54006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5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66254-D88C-4E03-966D-5F725132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Add Comment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14CDA-705B-4639-9325-DF54D9CDC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38" y="1606483"/>
            <a:ext cx="10336162" cy="1545518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Next, open the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server.js</a:t>
            </a:r>
            <a:r>
              <a:rPr lang="en-GB" dirty="0"/>
              <a:t> file and add the line of code to the existing routes that you already have</a:t>
            </a:r>
          </a:p>
          <a:p>
            <a:pPr>
              <a:lnSpc>
                <a:spcPct val="100000"/>
              </a:lnSpc>
            </a:pPr>
            <a:r>
              <a:rPr lang="en-GB" dirty="0"/>
              <a:t>This line of code will be executed when the HTTP ‘</a:t>
            </a:r>
            <a:r>
              <a:rPr lang="en-GB" dirty="0">
                <a:solidFill>
                  <a:srgbClr val="FF0000"/>
                </a:solidFill>
              </a:rPr>
              <a:t>POST</a:t>
            </a:r>
            <a:r>
              <a:rPr lang="en-GB" dirty="0"/>
              <a:t>’ method is used.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EC70B-104F-4041-89E4-9DF44E8F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7</a:t>
            </a:fld>
            <a:endParaRPr lang="en-SG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7ABFD3-E91E-40A1-B473-425A7DB67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84" y="3429000"/>
            <a:ext cx="11053482" cy="76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913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E5941-09F1-47F1-8D29-20E040C87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374A-6788-46EE-AFA7-5A43D5D57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Now restart your Node.js server and test your API in Postman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941E8-B9C3-4734-A8E9-5D779802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8</a:t>
            </a:fld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C02E6-85A0-46A4-9715-110933D48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533" y="2385781"/>
            <a:ext cx="9439275" cy="28479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879D946-BFBE-4C1C-8732-72AB9B0C59F7}"/>
              </a:ext>
            </a:extLst>
          </p:cNvPr>
          <p:cNvSpPr/>
          <p:nvPr/>
        </p:nvSpPr>
        <p:spPr>
          <a:xfrm>
            <a:off x="1385740" y="2385781"/>
            <a:ext cx="1131217" cy="64965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FF5BA9-FEAF-4179-B8F0-7C80779777B6}"/>
              </a:ext>
            </a:extLst>
          </p:cNvPr>
          <p:cNvSpPr/>
          <p:nvPr/>
        </p:nvSpPr>
        <p:spPr>
          <a:xfrm>
            <a:off x="1547567" y="3809768"/>
            <a:ext cx="3326091" cy="170491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BC77FD-6255-40A2-8519-716411971E36}"/>
              </a:ext>
            </a:extLst>
          </p:cNvPr>
          <p:cNvSpPr/>
          <p:nvPr/>
        </p:nvSpPr>
        <p:spPr>
          <a:xfrm>
            <a:off x="4582998" y="3429000"/>
            <a:ext cx="612694" cy="38076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B046C8-C52D-4A02-AAAA-3FC439CE705C}"/>
              </a:ext>
            </a:extLst>
          </p:cNvPr>
          <p:cNvSpPr/>
          <p:nvPr/>
        </p:nvSpPr>
        <p:spPr>
          <a:xfrm>
            <a:off x="6095999" y="3505355"/>
            <a:ext cx="1813089" cy="38076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4464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E5941-09F1-47F1-8D29-20E040C87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374A-6788-46EE-AFA7-5A43D5D57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Check that you have successfully inserted the data into the comment table in MySQL Workbench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941E8-B9C3-4734-A8E9-5D779802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9</a:t>
            </a:fld>
            <a:endParaRPr lang="en-SG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F4F5A0-A788-479F-9238-7C0D42306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442" y="2150073"/>
            <a:ext cx="5619492" cy="4192536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A9E013A-D6B5-44EC-A457-687A2A4679FA}"/>
              </a:ext>
            </a:extLst>
          </p:cNvPr>
          <p:cNvSpPr/>
          <p:nvPr/>
        </p:nvSpPr>
        <p:spPr>
          <a:xfrm>
            <a:off x="5066576" y="5899496"/>
            <a:ext cx="6207882" cy="38076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26776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UPDATE Comment Feature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0717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5BA448-05E0-41B9-A0C2-6E5257EA8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65" y="3245029"/>
            <a:ext cx="10851103" cy="1600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Update Comment Feature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0" y="1600201"/>
            <a:ext cx="9915034" cy="10204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800" dirty="0"/>
              <a:t>Open the </a:t>
            </a:r>
            <a:r>
              <a:rPr lang="en-GB" sz="1800" b="1" dirty="0">
                <a:solidFill>
                  <a:srgbClr val="FF0000"/>
                </a:solidFill>
                <a:latin typeface="Courier"/>
              </a:rPr>
              <a:t>CommentsDB.js</a:t>
            </a:r>
            <a:r>
              <a:rPr lang="en-GB" sz="1800" dirty="0"/>
              <a:t> file that you created in Visual Studio Code.</a:t>
            </a:r>
          </a:p>
          <a:p>
            <a:pPr>
              <a:lnSpc>
                <a:spcPct val="100000"/>
              </a:lnSpc>
            </a:pPr>
            <a:r>
              <a:rPr lang="en-GB" sz="1800" dirty="0"/>
              <a:t>Add the following </a:t>
            </a:r>
            <a:r>
              <a:rPr lang="en-GB" sz="1800" b="1" dirty="0" err="1">
                <a:solidFill>
                  <a:srgbClr val="FF0000"/>
                </a:solidFill>
                <a:latin typeface="Courier"/>
              </a:rPr>
              <a:t>updateComment</a:t>
            </a:r>
            <a:r>
              <a:rPr lang="en-GB" sz="1800" b="1" dirty="0">
                <a:solidFill>
                  <a:srgbClr val="FF0000"/>
                </a:solidFill>
                <a:latin typeface="Courier"/>
              </a:rPr>
              <a:t>()</a:t>
            </a:r>
            <a:r>
              <a:rPr lang="en-GB" sz="1800" dirty="0"/>
              <a:t> function.</a:t>
            </a:r>
          </a:p>
          <a:p>
            <a:pPr>
              <a:lnSpc>
                <a:spcPct val="110000"/>
              </a:lnSpc>
            </a:pPr>
            <a:endParaRPr lang="en-GB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11</a:t>
            </a:fld>
            <a:endParaRPr lang="uk-UA"/>
          </a:p>
        </p:txBody>
      </p:sp>
      <p:sp>
        <p:nvSpPr>
          <p:cNvPr id="10" name="Rectangular Callout 21">
            <a:extLst>
              <a:ext uri="{FF2B5EF4-FFF2-40B4-BE49-F238E27FC236}">
                <a16:creationId xmlns:a16="http://schemas.microsoft.com/office/drawing/2014/main" id="{84A0B2F9-8D72-4A4F-A534-6169FCD71964}"/>
              </a:ext>
            </a:extLst>
          </p:cNvPr>
          <p:cNvSpPr/>
          <p:nvPr/>
        </p:nvSpPr>
        <p:spPr>
          <a:xfrm>
            <a:off x="2151600" y="5026110"/>
            <a:ext cx="4751110" cy="641808"/>
          </a:xfrm>
          <a:prstGeom prst="wedgeRectCallout">
            <a:avLst>
              <a:gd name="adj1" fmla="val 20732"/>
              <a:gd name="adj2" fmla="val -137221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Similarly, the question marks here represent placeholders for the value of each field. The values for each field is defined in the array named “</a:t>
            </a:r>
            <a:r>
              <a:rPr lang="en-GB" sz="14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values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”.</a:t>
            </a:r>
          </a:p>
        </p:txBody>
      </p:sp>
      <p:sp>
        <p:nvSpPr>
          <p:cNvPr id="11" name="Rectangular Callout 21">
            <a:extLst>
              <a:ext uri="{FF2B5EF4-FFF2-40B4-BE49-F238E27FC236}">
                <a16:creationId xmlns:a16="http://schemas.microsoft.com/office/drawing/2014/main" id="{6E476A73-3D09-46BB-B452-63F54793B020}"/>
              </a:ext>
            </a:extLst>
          </p:cNvPr>
          <p:cNvSpPr/>
          <p:nvPr/>
        </p:nvSpPr>
        <p:spPr>
          <a:xfrm>
            <a:off x="7047856" y="4384302"/>
            <a:ext cx="4751110" cy="641808"/>
          </a:xfrm>
          <a:prstGeom prst="wedgeRectCallout">
            <a:avLst>
              <a:gd name="adj1" fmla="val 20732"/>
              <a:gd name="adj2" fmla="val -137221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Similarly, the question marks here represent placeholders for the value of each field. The values for each field is defined in the array named “</a:t>
            </a:r>
            <a:r>
              <a:rPr lang="en-GB" sz="14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values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695696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4A0EA6-6C7D-4F0C-8590-751DC89C2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2382"/>
            <a:ext cx="10336161" cy="30622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Update Comment Feature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809065" y="1363420"/>
            <a:ext cx="9915034" cy="102045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GB" sz="1800" dirty="0"/>
              <a:t>Open the </a:t>
            </a:r>
            <a:r>
              <a:rPr lang="en-GB" sz="1800" b="1" dirty="0">
                <a:solidFill>
                  <a:srgbClr val="FF0000"/>
                </a:solidFill>
                <a:latin typeface="Courier"/>
              </a:rPr>
              <a:t>commentController.js</a:t>
            </a:r>
            <a:r>
              <a:rPr lang="en-GB" sz="1800" dirty="0"/>
              <a:t> file that you created in Visual Studio Code.</a:t>
            </a:r>
          </a:p>
          <a:p>
            <a:pPr>
              <a:lnSpc>
                <a:spcPct val="100000"/>
              </a:lnSpc>
            </a:pPr>
            <a:r>
              <a:rPr lang="en-GB" sz="1800" dirty="0"/>
              <a:t>Add the following </a:t>
            </a:r>
            <a:r>
              <a:rPr lang="en-GB" sz="1800" b="1" dirty="0" err="1">
                <a:solidFill>
                  <a:srgbClr val="FF0000"/>
                </a:solidFill>
                <a:latin typeface="Courier"/>
              </a:rPr>
              <a:t>updateComment</a:t>
            </a:r>
            <a:r>
              <a:rPr lang="en-GB" sz="1800" b="1" dirty="0">
                <a:solidFill>
                  <a:srgbClr val="FF0000"/>
                </a:solidFill>
                <a:latin typeface="Courier"/>
              </a:rPr>
              <a:t>()</a:t>
            </a:r>
            <a:r>
              <a:rPr lang="en-GB" sz="1800" dirty="0"/>
              <a:t> function.</a:t>
            </a:r>
          </a:p>
          <a:p>
            <a:pPr>
              <a:lnSpc>
                <a:spcPct val="100000"/>
              </a:lnSpc>
            </a:pPr>
            <a:r>
              <a:rPr lang="en-GB" sz="1800" dirty="0"/>
              <a:t>Remember to export the new function</a:t>
            </a:r>
          </a:p>
          <a:p>
            <a:pPr>
              <a:lnSpc>
                <a:spcPct val="100000"/>
              </a:lnSpc>
            </a:pPr>
            <a:endParaRPr lang="en-GB" sz="1800" dirty="0"/>
          </a:p>
          <a:p>
            <a:pPr>
              <a:lnSpc>
                <a:spcPct val="110000"/>
              </a:lnSpc>
            </a:pPr>
            <a:endParaRPr lang="en-GB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12</a:t>
            </a:fld>
            <a:endParaRPr lang="uk-UA"/>
          </a:p>
        </p:txBody>
      </p:sp>
      <p:sp>
        <p:nvSpPr>
          <p:cNvPr id="12" name="Rectangular Callout 21">
            <a:extLst>
              <a:ext uri="{FF2B5EF4-FFF2-40B4-BE49-F238E27FC236}">
                <a16:creationId xmlns:a16="http://schemas.microsoft.com/office/drawing/2014/main" id="{BC7A4EAB-B18C-48F0-80E5-BF4F9836B619}"/>
              </a:ext>
            </a:extLst>
          </p:cNvPr>
          <p:cNvSpPr/>
          <p:nvPr/>
        </p:nvSpPr>
        <p:spPr>
          <a:xfrm>
            <a:off x="5654512" y="1668545"/>
            <a:ext cx="6080288" cy="893836"/>
          </a:xfrm>
          <a:prstGeom prst="wedgeRectCallout">
            <a:avLst>
              <a:gd name="adj1" fmla="val -49896"/>
              <a:gd name="adj2" fmla="val 105798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The </a:t>
            </a:r>
            <a:r>
              <a:rPr lang="en-GB" sz="1400" b="1" dirty="0" err="1">
                <a:solidFill>
                  <a:srgbClr val="FFFF00"/>
                </a:solidFill>
                <a:latin typeface="Courier New" panose="02070309020205020404" pitchFamily="49" charset="0"/>
                <a:ea typeface="Arial Unicode MS" charset="0"/>
                <a:cs typeface="Courier New" panose="02070309020205020404" pitchFamily="49" charset="0"/>
              </a:rPr>
              <a:t>request.params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from the </a:t>
            </a:r>
            <a:r>
              <a:rPr lang="en-GB" sz="1400" b="1" dirty="0">
                <a:solidFill>
                  <a:srgbClr val="FFFF00"/>
                </a:solidFill>
                <a:latin typeface="Courier"/>
                <a:ea typeface="Arial Unicode MS" charset="0"/>
                <a:cs typeface="Arial Unicode MS" charset="0"/>
              </a:rPr>
              <a:t>request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parameter contains all values in the URL pattern that are specified in the routes. For example, if the pattern is “</a:t>
            </a:r>
            <a:r>
              <a:rPr lang="en-GB" sz="1400" b="1" dirty="0">
                <a:solidFill>
                  <a:srgbClr val="FFFF00"/>
                </a:solidFill>
                <a:latin typeface="Courier"/>
                <a:ea typeface="Arial Unicode MS" charset="0"/>
                <a:cs typeface="Arial Unicode MS" charset="0"/>
              </a:rPr>
              <a:t>/comments/:id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” and the actual URL is “</a:t>
            </a:r>
            <a:r>
              <a:rPr lang="en-GB" sz="1400" b="1" dirty="0">
                <a:solidFill>
                  <a:srgbClr val="FFFF00"/>
                </a:solidFill>
                <a:latin typeface="Courier"/>
                <a:ea typeface="Arial Unicode MS" charset="0"/>
                <a:cs typeface="Arial Unicode MS" charset="0"/>
              </a:rPr>
              <a:t>/comments/32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”, then the value of </a:t>
            </a:r>
            <a:r>
              <a:rPr lang="en-GB" sz="1400" b="1" dirty="0">
                <a:solidFill>
                  <a:srgbClr val="FFFF00"/>
                </a:solidFill>
                <a:latin typeface="Courier"/>
                <a:ea typeface="Arial Unicode MS" charset="0"/>
                <a:cs typeface="Arial Unicode MS" charset="0"/>
              </a:rPr>
              <a:t>id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is 32. The pattern will be explained in the next slide.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2556CD-9B51-4308-AD75-CFDB82E39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06" y="5747856"/>
            <a:ext cx="67818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772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66254-D88C-4E03-966D-5F725132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Update Comment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14CDA-705B-4639-9325-DF54D9CDC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38" y="1631315"/>
            <a:ext cx="10336162" cy="1847176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GB" sz="1800" dirty="0"/>
              <a:t>Next, open the </a:t>
            </a:r>
            <a:r>
              <a:rPr lang="en-GB" sz="1800" b="1" dirty="0">
                <a:solidFill>
                  <a:srgbClr val="FF0000"/>
                </a:solidFill>
                <a:latin typeface="Courier"/>
              </a:rPr>
              <a:t>server.js</a:t>
            </a:r>
            <a:r>
              <a:rPr lang="en-GB" sz="1800" dirty="0"/>
              <a:t> file and add the highlighted line of code.</a:t>
            </a:r>
          </a:p>
          <a:p>
            <a:pPr>
              <a:lnSpc>
                <a:spcPct val="120000"/>
              </a:lnSpc>
            </a:pPr>
            <a:r>
              <a:rPr lang="en-GB" sz="1800" dirty="0"/>
              <a:t>This time, we will change the URL pattern for updating comment. This is because we need the comment </a:t>
            </a:r>
            <a:r>
              <a:rPr lang="en-GB" sz="1800" b="1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GB" sz="1800" dirty="0"/>
              <a:t> in order to know which comment in the database is to be updated. For example, if we are updating comment number 49, the URL will look like this:</a:t>
            </a:r>
          </a:p>
          <a:p>
            <a:pPr lvl="1">
              <a:lnSpc>
                <a:spcPct val="120000"/>
              </a:lnSpc>
            </a:pPr>
            <a:r>
              <a:rPr lang="en-GB" sz="1400" dirty="0"/>
              <a:t>http://localhost:8080/comments/49</a:t>
            </a:r>
          </a:p>
          <a:p>
            <a:pPr lvl="1">
              <a:lnSpc>
                <a:spcPct val="120000"/>
              </a:lnSpc>
            </a:pPr>
            <a:endParaRPr lang="en-GB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EC70B-104F-4041-89E4-9DF44E8F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13</a:t>
            </a:fld>
            <a:endParaRPr lang="en-SG"/>
          </a:p>
        </p:txBody>
      </p:sp>
      <p:sp>
        <p:nvSpPr>
          <p:cNvPr id="9" name="Rectangular Callout 21">
            <a:extLst>
              <a:ext uri="{FF2B5EF4-FFF2-40B4-BE49-F238E27FC236}">
                <a16:creationId xmlns:a16="http://schemas.microsoft.com/office/drawing/2014/main" id="{3069D2F4-ECC7-4874-B0FD-C3D7AA031987}"/>
              </a:ext>
            </a:extLst>
          </p:cNvPr>
          <p:cNvSpPr/>
          <p:nvPr/>
        </p:nvSpPr>
        <p:spPr>
          <a:xfrm>
            <a:off x="4249341" y="5000352"/>
            <a:ext cx="4751110" cy="641808"/>
          </a:xfrm>
          <a:prstGeom prst="wedgeRectCallout">
            <a:avLst>
              <a:gd name="adj1" fmla="val -78600"/>
              <a:gd name="adj2" fmla="val -135475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 Unicode MS" charset="0"/>
                <a:ea typeface="Arial Unicode MS" charset="0"/>
                <a:cs typeface="Arial Unicode MS" charset="0"/>
              </a:rPr>
              <a:t>This line of code will be executed when the HTTP ‘</a:t>
            </a:r>
            <a:r>
              <a:rPr lang="en-US" sz="1400" dirty="0">
                <a:solidFill>
                  <a:srgbClr val="FFFF00"/>
                </a:solidFill>
                <a:latin typeface="Arial Unicode MS" charset="0"/>
                <a:ea typeface="Arial Unicode MS" charset="0"/>
                <a:cs typeface="Arial Unicode MS" charset="0"/>
              </a:rPr>
              <a:t>PUT</a:t>
            </a:r>
            <a:r>
              <a:rPr lang="en-US" sz="1400" dirty="0">
                <a:latin typeface="Arial Unicode MS" charset="0"/>
                <a:ea typeface="Arial Unicode MS" charset="0"/>
                <a:cs typeface="Arial Unicode MS" charset="0"/>
              </a:rPr>
              <a:t>’ method is used. </a:t>
            </a:r>
            <a:endParaRPr lang="en-GB" sz="14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474590-06EC-42B1-BE47-645CDD356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30" y="3540419"/>
            <a:ext cx="10936828" cy="92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04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E5941-09F1-47F1-8D29-20E040C87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374A-6788-46EE-AFA7-5A43D5D57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Now restart your Node.js server and test your API in Postman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941E8-B9C3-4734-A8E9-5D779802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14</a:t>
            </a:fld>
            <a:endParaRPr lang="en-SG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26A36E-62BD-4E56-93F6-2CE864B4F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83" y="3323845"/>
            <a:ext cx="9391650" cy="25050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879D946-BFBE-4C1C-8732-72AB9B0C59F7}"/>
              </a:ext>
            </a:extLst>
          </p:cNvPr>
          <p:cNvSpPr/>
          <p:nvPr/>
        </p:nvSpPr>
        <p:spPr>
          <a:xfrm>
            <a:off x="1385740" y="3337889"/>
            <a:ext cx="1131217" cy="64965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FF5BA9-FEAF-4179-B8F0-7C80779777B6}"/>
              </a:ext>
            </a:extLst>
          </p:cNvPr>
          <p:cNvSpPr/>
          <p:nvPr/>
        </p:nvSpPr>
        <p:spPr>
          <a:xfrm>
            <a:off x="1547567" y="4761876"/>
            <a:ext cx="3839065" cy="130898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BC77FD-6255-40A2-8519-716411971E36}"/>
              </a:ext>
            </a:extLst>
          </p:cNvPr>
          <p:cNvSpPr/>
          <p:nvPr/>
        </p:nvSpPr>
        <p:spPr>
          <a:xfrm>
            <a:off x="4582998" y="4381108"/>
            <a:ext cx="612694" cy="38076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B046C8-C52D-4A02-AAAA-3FC439CE705C}"/>
              </a:ext>
            </a:extLst>
          </p:cNvPr>
          <p:cNvSpPr/>
          <p:nvPr/>
        </p:nvSpPr>
        <p:spPr>
          <a:xfrm>
            <a:off x="6095999" y="4457463"/>
            <a:ext cx="1813089" cy="38076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ular Callout 21">
            <a:extLst>
              <a:ext uri="{FF2B5EF4-FFF2-40B4-BE49-F238E27FC236}">
                <a16:creationId xmlns:a16="http://schemas.microsoft.com/office/drawing/2014/main" id="{4C880D6B-F86D-465E-8812-6C7CFA07632F}"/>
              </a:ext>
            </a:extLst>
          </p:cNvPr>
          <p:cNvSpPr/>
          <p:nvPr/>
        </p:nvSpPr>
        <p:spPr>
          <a:xfrm>
            <a:off x="4088089" y="2491653"/>
            <a:ext cx="3509915" cy="641808"/>
          </a:xfrm>
          <a:prstGeom prst="wedgeRectCallout">
            <a:avLst>
              <a:gd name="adj1" fmla="val -20367"/>
              <a:gd name="adj2" fmla="val 109138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Use the id of the comment that you want to update (refer to your comments table)</a:t>
            </a:r>
          </a:p>
        </p:txBody>
      </p:sp>
    </p:spTree>
    <p:extLst>
      <p:ext uri="{BB962C8B-B14F-4D97-AF65-F5344CB8AC3E}">
        <p14:creationId xmlns:p14="http://schemas.microsoft.com/office/powerpoint/2010/main" val="140254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E5941-09F1-47F1-8D29-20E040C87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374A-6788-46EE-AFA7-5A43D5D57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Check that you have successfully updated the data into the comment table in MySQL Workbench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941E8-B9C3-4734-A8E9-5D779802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15</a:t>
            </a:fld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B99B3-CACE-4DF2-BDB9-76EB8D475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947" y="2508480"/>
            <a:ext cx="6362700" cy="35814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A9E013A-D6B5-44EC-A457-687A2A4679FA}"/>
              </a:ext>
            </a:extLst>
          </p:cNvPr>
          <p:cNvSpPr/>
          <p:nvPr/>
        </p:nvSpPr>
        <p:spPr>
          <a:xfrm>
            <a:off x="1408356" y="5582748"/>
            <a:ext cx="6207882" cy="38076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39100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Delete Comment Feature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3389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Delete Comment Feature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0" y="1600201"/>
            <a:ext cx="9915034" cy="10204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800" dirty="0"/>
              <a:t>Open the </a:t>
            </a:r>
            <a:r>
              <a:rPr lang="en-GB" sz="1800" b="1" dirty="0">
                <a:solidFill>
                  <a:srgbClr val="FF0000"/>
                </a:solidFill>
                <a:latin typeface="Courier"/>
              </a:rPr>
              <a:t>CommentsDB.js</a:t>
            </a:r>
            <a:r>
              <a:rPr lang="en-GB" sz="1800" dirty="0"/>
              <a:t> file that you created in Visual Studio Code.</a:t>
            </a:r>
          </a:p>
          <a:p>
            <a:pPr>
              <a:lnSpc>
                <a:spcPct val="100000"/>
              </a:lnSpc>
            </a:pPr>
            <a:r>
              <a:rPr lang="en-GB" sz="1800" dirty="0"/>
              <a:t>Add the following </a:t>
            </a:r>
            <a:r>
              <a:rPr lang="en-GB" sz="1800" b="1" dirty="0" err="1">
                <a:solidFill>
                  <a:srgbClr val="FF0000"/>
                </a:solidFill>
                <a:latin typeface="Courier"/>
              </a:rPr>
              <a:t>deleteComment</a:t>
            </a:r>
            <a:r>
              <a:rPr lang="en-GB" sz="1800" b="1" dirty="0">
                <a:solidFill>
                  <a:srgbClr val="FF0000"/>
                </a:solidFill>
                <a:latin typeface="Courier"/>
              </a:rPr>
              <a:t>()</a:t>
            </a:r>
            <a:r>
              <a:rPr lang="en-GB" sz="1800" dirty="0"/>
              <a:t> function.</a:t>
            </a:r>
          </a:p>
          <a:p>
            <a:pPr>
              <a:lnSpc>
                <a:spcPct val="110000"/>
              </a:lnSpc>
            </a:pPr>
            <a:endParaRPr lang="en-GB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17</a:t>
            </a:fld>
            <a:endParaRPr lang="uk-U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B601A-4176-4F66-A202-C43CE494D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69" y="2852737"/>
            <a:ext cx="6343650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18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Update Comment Feature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809065" y="1363420"/>
            <a:ext cx="9915034" cy="102045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GB" sz="1800" dirty="0"/>
              <a:t>Open the </a:t>
            </a:r>
            <a:r>
              <a:rPr lang="en-GB" sz="1800" b="1" dirty="0">
                <a:solidFill>
                  <a:srgbClr val="FF0000"/>
                </a:solidFill>
                <a:latin typeface="Courier"/>
              </a:rPr>
              <a:t>commentController.js</a:t>
            </a:r>
            <a:r>
              <a:rPr lang="en-GB" sz="1800" dirty="0"/>
              <a:t> file that you created in Visual Studio Code.</a:t>
            </a:r>
          </a:p>
          <a:p>
            <a:pPr>
              <a:lnSpc>
                <a:spcPct val="100000"/>
              </a:lnSpc>
            </a:pPr>
            <a:r>
              <a:rPr lang="en-GB" sz="1800" dirty="0"/>
              <a:t>Add the following </a:t>
            </a:r>
            <a:r>
              <a:rPr lang="en-GB" sz="1800" b="1" dirty="0" err="1">
                <a:solidFill>
                  <a:srgbClr val="FF0000"/>
                </a:solidFill>
                <a:latin typeface="Courier"/>
              </a:rPr>
              <a:t>deleteComment</a:t>
            </a:r>
            <a:r>
              <a:rPr lang="en-GB" sz="1800" b="1" dirty="0">
                <a:solidFill>
                  <a:srgbClr val="FF0000"/>
                </a:solidFill>
                <a:latin typeface="Courier"/>
              </a:rPr>
              <a:t>()</a:t>
            </a:r>
            <a:r>
              <a:rPr lang="en-GB" sz="1800" dirty="0"/>
              <a:t> function.</a:t>
            </a:r>
          </a:p>
          <a:p>
            <a:pPr>
              <a:lnSpc>
                <a:spcPct val="100000"/>
              </a:lnSpc>
            </a:pPr>
            <a:r>
              <a:rPr lang="en-GB" sz="1800" dirty="0"/>
              <a:t>Remember to export the new function</a:t>
            </a:r>
          </a:p>
          <a:p>
            <a:pPr>
              <a:lnSpc>
                <a:spcPct val="100000"/>
              </a:lnSpc>
            </a:pPr>
            <a:endParaRPr lang="en-GB" sz="1800" dirty="0"/>
          </a:p>
          <a:p>
            <a:pPr>
              <a:lnSpc>
                <a:spcPct val="110000"/>
              </a:lnSpc>
            </a:pPr>
            <a:endParaRPr lang="en-GB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18</a:t>
            </a:fld>
            <a:endParaRPr lang="uk-U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C34CE-3A4A-4687-B19B-C3B01B8EC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38" y="2503730"/>
            <a:ext cx="7324725" cy="2990850"/>
          </a:xfrm>
          <a:prstGeom prst="rect">
            <a:avLst/>
          </a:prstGeom>
        </p:spPr>
      </p:pic>
      <p:sp>
        <p:nvSpPr>
          <p:cNvPr id="10" name="Rectangular Callout 21">
            <a:extLst>
              <a:ext uri="{FF2B5EF4-FFF2-40B4-BE49-F238E27FC236}">
                <a16:creationId xmlns:a16="http://schemas.microsoft.com/office/drawing/2014/main" id="{B9DBFD3F-92CF-44D7-9A51-41EB7C26494F}"/>
              </a:ext>
            </a:extLst>
          </p:cNvPr>
          <p:cNvSpPr/>
          <p:nvPr/>
        </p:nvSpPr>
        <p:spPr>
          <a:xfrm>
            <a:off x="5654512" y="1668545"/>
            <a:ext cx="6080288" cy="893836"/>
          </a:xfrm>
          <a:prstGeom prst="wedgeRectCallout">
            <a:avLst>
              <a:gd name="adj1" fmla="val -57710"/>
              <a:gd name="adj2" fmla="val 87745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The </a:t>
            </a:r>
            <a:r>
              <a:rPr lang="en-GB" sz="1400" b="1" dirty="0" err="1">
                <a:solidFill>
                  <a:srgbClr val="FFFF00"/>
                </a:solidFill>
                <a:latin typeface="Courier New" panose="02070309020205020404" pitchFamily="49" charset="0"/>
                <a:ea typeface="Arial Unicode MS" charset="0"/>
                <a:cs typeface="Courier New" panose="02070309020205020404" pitchFamily="49" charset="0"/>
              </a:rPr>
              <a:t>request.params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from the </a:t>
            </a:r>
            <a:r>
              <a:rPr lang="en-GB" sz="1400" b="1" dirty="0">
                <a:solidFill>
                  <a:srgbClr val="FFFF00"/>
                </a:solidFill>
                <a:latin typeface="Courier"/>
                <a:ea typeface="Arial Unicode MS" charset="0"/>
                <a:cs typeface="Arial Unicode MS" charset="0"/>
              </a:rPr>
              <a:t>request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parameter contains all values in the URL pattern that are specified in the routes. For example, if the pattern is “</a:t>
            </a:r>
            <a:r>
              <a:rPr lang="en-GB" sz="1400" b="1" dirty="0">
                <a:solidFill>
                  <a:srgbClr val="FFFF00"/>
                </a:solidFill>
                <a:latin typeface="Courier"/>
                <a:ea typeface="Arial Unicode MS" charset="0"/>
                <a:cs typeface="Arial Unicode MS" charset="0"/>
              </a:rPr>
              <a:t>/comments/:id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” and the actual URL is “</a:t>
            </a:r>
            <a:r>
              <a:rPr lang="en-GB" sz="1400" b="1" dirty="0">
                <a:solidFill>
                  <a:srgbClr val="FFFF00"/>
                </a:solidFill>
                <a:latin typeface="Courier"/>
                <a:ea typeface="Arial Unicode MS" charset="0"/>
                <a:cs typeface="Arial Unicode MS" charset="0"/>
              </a:rPr>
              <a:t>/comments/32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”, then the value of </a:t>
            </a:r>
            <a:r>
              <a:rPr lang="en-GB" sz="1400" b="1" dirty="0">
                <a:solidFill>
                  <a:srgbClr val="FFFF00"/>
                </a:solidFill>
                <a:latin typeface="Courier"/>
                <a:ea typeface="Arial Unicode MS" charset="0"/>
                <a:cs typeface="Arial Unicode MS" charset="0"/>
              </a:rPr>
              <a:t>id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is 32. The pattern will be explained in the next slide.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896050-B89E-4407-8B74-14280D4CC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74" y="5822856"/>
            <a:ext cx="830580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51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66254-D88C-4E03-966D-5F725132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Delete Comment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14CDA-705B-4639-9325-DF54D9CDC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38" y="1631314"/>
            <a:ext cx="5306962" cy="299783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1400" dirty="0"/>
              <a:t>Next, open the </a:t>
            </a:r>
            <a:r>
              <a:rPr lang="en-GB" sz="1400" b="1" dirty="0">
                <a:solidFill>
                  <a:srgbClr val="FF0000"/>
                </a:solidFill>
                <a:latin typeface="Courier"/>
              </a:rPr>
              <a:t>server.js</a:t>
            </a:r>
            <a:r>
              <a:rPr lang="en-GB" sz="1400" dirty="0"/>
              <a:t> file and add the highlighted line of code.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This time, we will change the URL pattern for updating comment. This is because we need the comment </a:t>
            </a:r>
            <a:r>
              <a:rPr lang="en-GB" sz="1400" b="1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GB" sz="1400" dirty="0"/>
              <a:t> in order to know which comment in the database is to be deleted. For example, if we are deleting comment number 49, the URL will look like this:</a:t>
            </a:r>
          </a:p>
          <a:p>
            <a:pPr lvl="1">
              <a:lnSpc>
                <a:spcPct val="120000"/>
              </a:lnSpc>
            </a:pPr>
            <a:r>
              <a:rPr lang="en-GB" sz="1400" dirty="0"/>
              <a:t>http://localhost:8080/comments/49</a:t>
            </a:r>
          </a:p>
          <a:p>
            <a:pPr>
              <a:lnSpc>
                <a:spcPct val="120000"/>
              </a:lnSpc>
            </a:pPr>
            <a:r>
              <a:rPr lang="en-GB" sz="1400" dirty="0"/>
              <a:t>This line of code will be executed when the HTTP ‘</a:t>
            </a:r>
            <a:r>
              <a:rPr lang="en-GB" sz="1400" dirty="0">
                <a:solidFill>
                  <a:srgbClr val="FF0000"/>
                </a:solidFill>
              </a:rPr>
              <a:t>DELETE</a:t>
            </a:r>
            <a:r>
              <a:rPr lang="en-GB" sz="1400" dirty="0"/>
              <a:t>’ method is used.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EC70B-104F-4041-89E4-9DF44E8F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19</a:t>
            </a:fld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CE46A4-6E2D-44C8-9CD8-7AF54510D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40" y="4587686"/>
            <a:ext cx="11497235" cy="112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66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005DE7-E035-423E-8458-DE2D7FAC2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25" y="2487732"/>
            <a:ext cx="9372600" cy="35147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EE5941-09F1-47F1-8D29-20E040C87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374A-6788-46EE-AFA7-5A43D5D57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38" y="1631314"/>
            <a:ext cx="10336162" cy="4586605"/>
          </a:xfrm>
        </p:spPr>
        <p:txBody>
          <a:bodyPr/>
          <a:lstStyle/>
          <a:p>
            <a:r>
              <a:rPr lang="en-GB" dirty="0"/>
              <a:t>Now restart your Node.js server and test your API in Postman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941E8-B9C3-4734-A8E9-5D779802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20</a:t>
            </a:fld>
            <a:endParaRPr lang="en-SG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79D946-BFBE-4C1C-8732-72AB9B0C59F7}"/>
              </a:ext>
            </a:extLst>
          </p:cNvPr>
          <p:cNvSpPr/>
          <p:nvPr/>
        </p:nvSpPr>
        <p:spPr>
          <a:xfrm>
            <a:off x="1170166" y="2940611"/>
            <a:ext cx="1131217" cy="64965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ular Callout 21">
            <a:extLst>
              <a:ext uri="{FF2B5EF4-FFF2-40B4-BE49-F238E27FC236}">
                <a16:creationId xmlns:a16="http://schemas.microsoft.com/office/drawing/2014/main" id="{4C880D6B-F86D-465E-8812-6C7CFA07632F}"/>
              </a:ext>
            </a:extLst>
          </p:cNvPr>
          <p:cNvSpPr/>
          <p:nvPr/>
        </p:nvSpPr>
        <p:spPr>
          <a:xfrm>
            <a:off x="3871272" y="2166828"/>
            <a:ext cx="3509915" cy="641808"/>
          </a:xfrm>
          <a:prstGeom prst="wedgeRectCallout">
            <a:avLst>
              <a:gd name="adj1" fmla="val -20367"/>
              <a:gd name="adj2" fmla="val 109138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Use the id of the comment that you want to update (refer to your comments table)</a:t>
            </a:r>
          </a:p>
        </p:txBody>
      </p:sp>
    </p:spTree>
    <p:extLst>
      <p:ext uri="{BB962C8B-B14F-4D97-AF65-F5344CB8AC3E}">
        <p14:creationId xmlns:p14="http://schemas.microsoft.com/office/powerpoint/2010/main" val="3689396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E5941-09F1-47F1-8D29-20E040C87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374A-6788-46EE-AFA7-5A43D5D57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Check that you have successfully deleted the data into the comment table in MySQL Workbench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941E8-B9C3-4734-A8E9-5D779802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21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43107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81755-F95D-4047-9615-4DDB0738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Episode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97851-851F-428B-B09B-6635D2705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next episode, you will learn how to create the Movie review web pages.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524CC-986C-4DE2-8D01-4FACEF79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876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5C5A-233F-4C52-8792-BFD597CB8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AB83-5345-4851-A34A-8D9FBABB5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 err="1"/>
              <a:t>TutorialsPoint</a:t>
            </a:r>
            <a:r>
              <a:rPr lang="en-GB" dirty="0"/>
              <a:t> – Learn MySQL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2"/>
              </a:rPr>
              <a:t>https://www.tutorialspoint.com/mysql/index.htm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W3Schools – Node.js MySQL Select From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3"/>
              </a:rPr>
              <a:t>https://www.w3schools.com/nodejs/nodejs_mysql_select.asp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 err="1"/>
              <a:t>expressJS</a:t>
            </a:r>
            <a:r>
              <a:rPr lang="en-GB" dirty="0"/>
              <a:t> </a:t>
            </a:r>
            <a:r>
              <a:rPr lang="mr-IN" dirty="0"/>
              <a:t>–</a:t>
            </a:r>
            <a:r>
              <a:rPr lang="en-GB" dirty="0"/>
              <a:t> Get URL and POST Parameters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4"/>
              </a:rPr>
              <a:t>https://scotch.io/tutorials/use-expressjs-to-get-url-and-post-parameters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 err="1"/>
              <a:t>TutorialsPoint</a:t>
            </a:r>
            <a:r>
              <a:rPr lang="en-GB" dirty="0"/>
              <a:t> </a:t>
            </a:r>
            <a:r>
              <a:rPr lang="mr-IN" dirty="0"/>
              <a:t>–</a:t>
            </a:r>
            <a:r>
              <a:rPr lang="en-GB" dirty="0"/>
              <a:t> Request Object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5"/>
              </a:rPr>
              <a:t>https://www.tutorialspoint.com/nodejs/nodejs_request_object.htm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 err="1"/>
              <a:t>expressJS</a:t>
            </a:r>
            <a:r>
              <a:rPr lang="en-GB" dirty="0"/>
              <a:t> Documentation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6"/>
              </a:rPr>
              <a:t>http://expressjs.com/en/api.html</a:t>
            </a:r>
            <a:endParaRPr lang="en-GB"/>
          </a:p>
          <a:p>
            <a:pPr lvl="1">
              <a:lnSpc>
                <a:spcPct val="100000"/>
              </a:lnSpc>
            </a:pP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ACFA0-CAB0-4572-96C1-F05AC642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23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016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0D1F0-3F78-4F63-8353-5B213B57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24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HTML Form and Controls II&amp;quot;&quot;/&gt;&lt;property id=&quot;20307&quot; value=&quot;256&quot;/&gt;&lt;/object&gt;&lt;object type=&quot;3&quot; unique_id=&quot;13467&quot;&gt;&lt;property id=&quot;20148&quot; value=&quot;5&quot;/&gt;&lt;property id=&quot;20300&quot; value=&quot;Slide 21 - &amp;quot;The End&amp;quot;&quot;/&gt;&lt;property id=&quot;20307&quot; value=&quot;288&quot;/&gt;&lt;/object&gt;&lt;object type=&quot;3&quot; unique_id=&quot;17361&quot;&gt;&lt;property id=&quot;20148&quot; value=&quot;5&quot;/&gt;&lt;property id=&quot;20300&quot; value=&quot;Slide 2 - &amp;quot;Objectives&amp;quot;&quot;/&gt;&lt;property id=&quot;20307&quot; value=&quot;289&quot;/&gt;&lt;/object&gt;&lt;object type=&quot;3&quot; unique_id=&quot;17362&quot;&gt;&lt;property id=&quot;20148&quot; value=&quot;5&quot;/&gt;&lt;property id=&quot;20300&quot; value=&quot;Slide 3 - &amp;quot;Tools Required&amp;quot;&quot;/&gt;&lt;property id=&quot;20307&quot; value=&quot;308&quot;/&gt;&lt;/object&gt;&lt;object type=&quot;3&quot; unique_id=&quot;17363&quot;&gt;&lt;property id=&quot;20148&quot; value=&quot;5&quot;/&gt;&lt;property id=&quot;20300&quot; value=&quot;Slide 4 - &amp;quot;GET AND POST&amp;quot;&quot;/&gt;&lt;property id=&quot;20307&quot; value=&quot;291&quot;/&gt;&lt;/object&gt;&lt;object type=&quot;3&quot; unique_id=&quot;17364&quot;&gt;&lt;property id=&quot;20148&quot; value=&quot;5&quot;/&gt;&lt;property id=&quot;20300&quot; value=&quot;Slide 5 - &amp;quot;HTTP Request Method: GET&amp;quot;&quot;/&gt;&lt;property id=&quot;20307&quot; value=&quot;292&quot;/&gt;&lt;/object&gt;&lt;object type=&quot;3&quot; unique_id=&quot;17365&quot;&gt;&lt;property id=&quot;20148&quot; value=&quot;5&quot;/&gt;&lt;property id=&quot;20300&quot; value=&quot;Slide 6 - &amp;quot;HTTP Request Method: POST&amp;quot;&quot;/&gt;&lt;property id=&quot;20307&quot; value=&quot;293&quot;/&gt;&lt;/object&gt;&lt;object type=&quot;3&quot; unique_id=&quot;17366&quot;&gt;&lt;property id=&quot;20148&quot; value=&quot;5&quot;/&gt;&lt;property id=&quot;20300&quot; value=&quot;Slide 7 - &amp;quot;GET vs POST&amp;quot;&quot;/&gt;&lt;property id=&quot;20307&quot; value=&quot;294&quot;/&gt;&lt;/object&gt;&lt;object type=&quot;3&quot; unique_id=&quot;17367&quot;&gt;&lt;property id=&quot;20148&quot; value=&quot;5&quot;/&gt;&lt;property id=&quot;20300&quot; value=&quot;Slide 8 - &amp;quot;When To Use?&amp;quot;&quot;/&gt;&lt;property id=&quot;20307&quot; value=&quot;295&quot;/&gt;&lt;/object&gt;&lt;object type=&quot;3&quot; unique_id=&quot;17368&quot;&gt;&lt;property id=&quot;20148&quot; value=&quot;5&quot;/&gt;&lt;property id=&quot;20300&quot; value=&quot;Slide 9 - &amp;quot;FORM ELEMENTS&amp;quot;&quot;/&gt;&lt;property id=&quot;20307&quot; value=&quot;296&quot;/&gt;&lt;/object&gt;&lt;object type=&quot;3&quot; unique_id=&quot;17369&quot;&gt;&lt;property id=&quot;20148&quot; value=&quot;5&quot;/&gt;&lt;property id=&quot;20300&quot; value=&quot;Slide 10 - &amp;quot;Label Element&amp;quot;&quot;/&gt;&lt;property id=&quot;20307&quot; value=&quot;297&quot;/&gt;&lt;/object&gt;&lt;object type=&quot;3&quot; unique_id=&quot;17370&quot;&gt;&lt;property id=&quot;20148&quot; value=&quot;5&quot;/&gt;&lt;property id=&quot;20300&quot; value=&quot;Slide 11 - &amp;quot;Input Element: Textbox&amp;quot;&quot;/&gt;&lt;property id=&quot;20307&quot; value=&quot;298&quot;/&gt;&lt;/object&gt;&lt;object type=&quot;3&quot; unique_id=&quot;17371&quot;&gt;&lt;property id=&quot;20148&quot; value=&quot;5&quot;/&gt;&lt;property id=&quot;20300&quot; value=&quot;Slide 12 - &amp;quot;Input Element: Checkbox&amp;quot;&quot;/&gt;&lt;property id=&quot;20307&quot; value=&quot;299&quot;/&gt;&lt;/object&gt;&lt;object type=&quot;3&quot; unique_id=&quot;17372&quot;&gt;&lt;property id=&quot;20148&quot; value=&quot;5&quot;/&gt;&lt;property id=&quot;20300&quot; value=&quot;Slide 13 - &amp;quot;Input Element: Radio Button&amp;quot;&quot;/&gt;&lt;property id=&quot;20307&quot; value=&quot;300&quot;/&gt;&lt;/object&gt;&lt;object type=&quot;3&quot; unique_id=&quot;17373&quot;&gt;&lt;property id=&quot;20148&quot; value=&quot;5&quot;/&gt;&lt;property id=&quot;20300&quot; value=&quot;Slide 14 - &amp;quot;Button Element&amp;quot;&quot;/&gt;&lt;property id=&quot;20307&quot; value=&quot;301&quot;/&gt;&lt;/object&gt;&lt;object type=&quot;3&quot; unique_id=&quot;17374&quot;&gt;&lt;property id=&quot;20148&quot; value=&quot;5&quot;/&gt;&lt;property id=&quot;20300&quot; value=&quot;Slide 15 - &amp;quot;Select Element&amp;quot;&quot;/&gt;&lt;property id=&quot;20307&quot; value=&quot;302&quot;/&gt;&lt;/object&gt;&lt;object type=&quot;3&quot; unique_id=&quot;17375&quot;&gt;&lt;property id=&quot;20148&quot; value=&quot;5&quot;/&gt;&lt;property id=&quot;20300&quot; value=&quot;Slide 16 - &amp;quot;Textarea Element&amp;quot;&quot;/&gt;&lt;property id=&quot;20307&quot; value=&quot;303&quot;/&gt;&lt;/object&gt;&lt;object type=&quot;3&quot; unique_id=&quot;17376&quot;&gt;&lt;property id=&quot;20148&quot; value=&quot;5&quot;/&gt;&lt;property id=&quot;20300&quot; value=&quot;Slide 17 - &amp;quot;Other Elements in HTML5&amp;quot;&quot;/&gt;&lt;property id=&quot;20307&quot; value=&quot;304&quot;/&gt;&lt;/object&gt;&lt;object type=&quot;3&quot; unique_id=&quot;17377&quot;&gt;&lt;property id=&quot;20148&quot; value=&quot;5&quot;/&gt;&lt;property id=&quot;20300&quot; value=&quot;Slide 18 - &amp;quot;Iframe Element&amp;quot;&quot;/&gt;&lt;property id=&quot;20307&quot; value=&quot;305&quot;/&gt;&lt;/object&gt;&lt;object type=&quot;3&quot; unique_id=&quot;17378&quot;&gt;&lt;property id=&quot;20148&quot; value=&quot;5&quot;/&gt;&lt;property id=&quot;20300&quot; value=&quot;Slide 19 - &amp;quot;Compatibilities and Support&amp;quot;&quot;/&gt;&lt;property id=&quot;20307&quot; value=&quot;306&quot;/&gt;&lt;/object&gt;&lt;object type=&quot;3&quot; unique_id=&quot;17379&quot;&gt;&lt;property id=&quot;20148&quot; value=&quot;5&quot;/&gt;&lt;property id=&quot;20300&quot; value=&quot;Slide 20 - &amp;quot;challenge&amp;quot;&quot;/&gt;&lt;property id=&quot;20307&quot; value=&quot;30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10241</TotalTime>
  <Words>1033</Words>
  <Application>Microsoft Office PowerPoint</Application>
  <PresentationFormat>Widescreen</PresentationFormat>
  <Paragraphs>111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Unicode MS</vt:lpstr>
      <vt:lpstr>Calibri</vt:lpstr>
      <vt:lpstr>Courier</vt:lpstr>
      <vt:lpstr>Courier New</vt:lpstr>
      <vt:lpstr>Roboto</vt:lpstr>
      <vt:lpstr>Roboto light</vt:lpstr>
      <vt:lpstr>Verdana</vt:lpstr>
      <vt:lpstr>Office Theme</vt:lpstr>
      <vt:lpstr>Creating the Server-Side Scripts III</vt:lpstr>
      <vt:lpstr>Objectives</vt:lpstr>
      <vt:lpstr>Tools Required</vt:lpstr>
      <vt:lpstr>Creating Add Comment Feature</vt:lpstr>
      <vt:lpstr>Creating Add Comment Feature</vt:lpstr>
      <vt:lpstr>Creating Add Comment Feature</vt:lpstr>
      <vt:lpstr>Creating Add Comment Feature</vt:lpstr>
      <vt:lpstr>Test It!</vt:lpstr>
      <vt:lpstr>Test It!</vt:lpstr>
      <vt:lpstr>Creating UPDATE Comment Feature</vt:lpstr>
      <vt:lpstr>Creating Update Comment Feature</vt:lpstr>
      <vt:lpstr>Creating Update Comment Feature</vt:lpstr>
      <vt:lpstr>Creating Update Comment Feature</vt:lpstr>
      <vt:lpstr>Test It!</vt:lpstr>
      <vt:lpstr>Test It!</vt:lpstr>
      <vt:lpstr>Creating Delete Comment Feature</vt:lpstr>
      <vt:lpstr>Creating Delete Comment Feature</vt:lpstr>
      <vt:lpstr>Creating Update Comment Feature</vt:lpstr>
      <vt:lpstr>Creating Delete Comment Feature</vt:lpstr>
      <vt:lpstr>Test It!</vt:lpstr>
      <vt:lpstr>Test It!</vt:lpstr>
      <vt:lpstr>Next Episode</vt:lpstr>
      <vt:lpstr>Reference</vt:lpstr>
      <vt:lpstr>The End</vt:lpstr>
    </vt:vector>
  </TitlesOfParts>
  <Manager/>
  <Company>Temasek Polytechnic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the Model and Controller II</dc:title>
  <dc:subject>Coding and Testing</dc:subject>
  <dc:creator>Tan Sio Poh</dc:creator>
  <cp:keywords>CODT, CIT1C16, ADEV, CIT1C17, Creating the Model and Controller II</cp:keywords>
  <dc:description/>
  <cp:lastModifiedBy>temasek poly</cp:lastModifiedBy>
  <cp:revision>899</cp:revision>
  <dcterms:created xsi:type="dcterms:W3CDTF">2016-03-04T00:57:19Z</dcterms:created>
  <dcterms:modified xsi:type="dcterms:W3CDTF">2021-09-22T06:43:56Z</dcterms:modified>
  <cp:category>Software Cluster</cp:category>
</cp:coreProperties>
</file>