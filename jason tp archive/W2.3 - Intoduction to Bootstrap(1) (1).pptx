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5"/>
  </p:notesMasterIdLst>
  <p:sldIdLst>
    <p:sldId id="256" r:id="rId2"/>
    <p:sldId id="290" r:id="rId3"/>
    <p:sldId id="373" r:id="rId4"/>
    <p:sldId id="291" r:id="rId5"/>
    <p:sldId id="292" r:id="rId6"/>
    <p:sldId id="374" r:id="rId7"/>
    <p:sldId id="376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8" r:id="rId27"/>
    <p:sldId id="396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407" r:id="rId37"/>
    <p:sldId id="408" r:id="rId38"/>
    <p:sldId id="409" r:id="rId39"/>
    <p:sldId id="410" r:id="rId40"/>
    <p:sldId id="411" r:id="rId41"/>
    <p:sldId id="412" r:id="rId42"/>
    <p:sldId id="413" r:id="rId43"/>
    <p:sldId id="288" r:id="rId44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7DDA"/>
    <a:srgbClr val="FAD22C"/>
    <a:srgbClr val="1CADE4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13E27C-E891-4184-834D-0AA4E4D7734A}" v="44" dt="2018-09-28T07:02:38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9" autoAdjust="0"/>
    <p:restoredTop sz="93875" autoAdjust="0"/>
  </p:normalViewPr>
  <p:slideViewPr>
    <p:cSldViewPr snapToGrid="0">
      <p:cViewPr varScale="1">
        <p:scale>
          <a:sx n="107" d="100"/>
          <a:sy n="107" d="100"/>
        </p:scale>
        <p:origin x="104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F613E27C-E891-4184-834D-0AA4E4D7734A}"/>
    <pc:docChg chg="modMainMaster">
      <pc:chgData name="Lam Su Yi" userId="43bb02ba-2a64-4c57-886a-7f9577835f3c" providerId="ADAL" clId="{F613E27C-E891-4184-834D-0AA4E4D7734A}" dt="2018-09-28T07:02:38.322" v="43" actId="20577"/>
      <pc:docMkLst>
        <pc:docMk/>
      </pc:docMkLst>
      <pc:sldMasterChg chg="modSldLayout">
        <pc:chgData name="Lam Su Yi" userId="43bb02ba-2a64-4c57-886a-7f9577835f3c" providerId="ADAL" clId="{F613E27C-E891-4184-834D-0AA4E4D7734A}" dt="2018-09-28T07:02:38.322" v="43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F613E27C-E891-4184-834D-0AA4E4D7734A}" dt="2018-09-28T07:02:38.322" v="43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F613E27C-E891-4184-834D-0AA4E4D7734A}" dt="2018-09-27T08:23:19.417" v="36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F613E27C-E891-4184-834D-0AA4E4D7734A}" dt="2018-09-28T07:02:38.322" v="43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22/9/2021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438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970A17FA-30DB-4EF9-8F32-DA04C5B7B39C}" type="datetime1">
              <a:rPr lang="en-US" smtClean="0"/>
              <a:t>9/22/2021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254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62F976B9-EA7D-4178-A1C2-C52A639DE10A}" type="datetime1">
              <a:rPr lang="en-US" smtClean="0"/>
              <a:t>9/22/2021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3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Introduction </a:t>
            </a:r>
            <a:r>
              <a:rPr lang="en-US">
                <a:ea typeface="Calisto MT" charset="0"/>
                <a:cs typeface="Calisto MT" charset="0"/>
              </a:rPr>
              <a:t>to Bootstrap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02.</a:t>
            </a:r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Describe the Bootstrap framework;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Demonstrate how to use Bootstrap to create responsive web pages;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BOOTSTRAP 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45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Bootstrap?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front-end framework for faster and easier web development</a:t>
            </a:r>
          </a:p>
          <a:p>
            <a:endParaRPr lang="en-US" dirty="0"/>
          </a:p>
          <a:p>
            <a:r>
              <a:rPr lang="en-US" dirty="0"/>
              <a:t>Includes HTML and CSS based design templates</a:t>
            </a:r>
          </a:p>
          <a:p>
            <a:endParaRPr lang="en-US" dirty="0"/>
          </a:p>
          <a:p>
            <a:r>
              <a:rPr lang="en-US" dirty="0"/>
              <a:t>Gives you the ability to create responsive designs that automatically adjust themselves to look good on all devices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4164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Bootstrap?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Easy to use</a:t>
            </a:r>
            <a:r>
              <a:rPr lang="en-US" dirty="0"/>
              <a:t>: all you need is basic knowledge of HTML and CSS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Responsive features</a:t>
            </a:r>
            <a:r>
              <a:rPr lang="en-US" dirty="0"/>
              <a:t>: automatically adjusts to different screen size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Mobile-first approach</a:t>
            </a:r>
            <a:r>
              <a:rPr lang="en-US" dirty="0"/>
              <a:t>: design is focused on the online experience for mobile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Browser compatibility</a:t>
            </a:r>
            <a:r>
              <a:rPr lang="en-US" dirty="0"/>
              <a:t>: compatible with all modern browsers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6964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Create a web page with Bootstrap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Create a new HTML file in your </a:t>
            </a:r>
            <a:r>
              <a:rPr lang="en-SG" sz="2400" dirty="0">
                <a:solidFill>
                  <a:srgbClr val="007DDA"/>
                </a:solidFill>
              </a:rPr>
              <a:t>C:\Users\USERNAME\Desktop\cdev\week2\ bootstrap_example.html</a:t>
            </a:r>
          </a:p>
          <a:p>
            <a:r>
              <a:rPr lang="en-US" sz="2400" dirty="0"/>
              <a:t>Include the following HTML codes in the file (Can use the shortcut !(exclamation) followed by “tab” key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7368-0F84-4749-92F6-7288D509E61F}"/>
              </a:ext>
            </a:extLst>
          </p:cNvPr>
          <p:cNvSpPr txBox="1"/>
          <p:nvPr/>
        </p:nvSpPr>
        <p:spPr>
          <a:xfrm>
            <a:off x="1375389" y="3319834"/>
            <a:ext cx="7463812" cy="28931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 lang="</a:t>
            </a:r>
            <a:r>
              <a:rPr lang="en-SG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charset="UTF-8"&gt;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http-</a:t>
            </a:r>
            <a:r>
              <a:rPr lang="en-SG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equiv</a:t>
            </a:r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="X-UA-Compatible" content="IE=edge"&gt;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name="viewport" content="width=device-width, initial-scale=1.0"&gt;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&lt;title&gt;Document&lt;/title&gt;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0044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Create a web page with Bootstrap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838" y="1452020"/>
            <a:ext cx="10336162" cy="4586605"/>
          </a:xfrm>
        </p:spPr>
        <p:txBody>
          <a:bodyPr>
            <a:normAutofit/>
          </a:bodyPr>
          <a:lstStyle/>
          <a:p>
            <a:r>
              <a:rPr lang="en-US" sz="2000" dirty="0"/>
              <a:t>Include the Bootstrap CSS and </a:t>
            </a:r>
            <a:r>
              <a:rPr lang="en-US" sz="2000" dirty="0" err="1"/>
              <a:t>Javascript</a:t>
            </a:r>
            <a:r>
              <a:rPr lang="en-US" sz="2000" dirty="0"/>
              <a:t> files in the HTML by adding the following codes inside the </a:t>
            </a:r>
            <a:r>
              <a:rPr lang="en-US" sz="2000" dirty="0">
                <a:solidFill>
                  <a:srgbClr val="C00000"/>
                </a:solidFill>
              </a:rPr>
              <a:t>&lt;head&gt;</a:t>
            </a:r>
            <a:r>
              <a:rPr lang="en-US" sz="2000" dirty="0"/>
              <a:t> element: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7368-0F84-4749-92F6-7288D509E61F}"/>
              </a:ext>
            </a:extLst>
          </p:cNvPr>
          <p:cNvSpPr txBox="1"/>
          <p:nvPr/>
        </p:nvSpPr>
        <p:spPr>
          <a:xfrm>
            <a:off x="376518" y="2089411"/>
            <a:ext cx="11346425" cy="9541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&lt;link 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="stylesheet" 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="https://maxcdn.bootstrapcdn.com/bootstrap/4.1.3/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/bootstrap.min.css"&gt;</a:t>
            </a:r>
          </a:p>
          <a:p>
            <a:r>
              <a:rPr lang="en-SG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 </a:t>
            </a:r>
            <a:r>
              <a:rPr lang="en-SG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SG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="https://ajax.googleapis.com/ajax/libs/</a:t>
            </a:r>
            <a:r>
              <a:rPr lang="en-SG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jquery</a:t>
            </a:r>
            <a:r>
              <a:rPr lang="en-SG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/3.3.1/jquery.min.js"&gt;&lt;/script&gt;</a:t>
            </a:r>
          </a:p>
          <a:p>
            <a:r>
              <a:rPr lang="en-SG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 </a:t>
            </a:r>
            <a:r>
              <a:rPr lang="en-SG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SG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="https://maxcdn.bootstrapcdn.com/bootstrap/4.1.3/</a:t>
            </a:r>
            <a:r>
              <a:rPr lang="en-SG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</a:t>
            </a:r>
            <a:r>
              <a:rPr lang="en-SG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/bootstrap.min.js"&gt;&lt;/script&gt;</a:t>
            </a:r>
            <a:br>
              <a:rPr lang="en-SG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SG" sz="1400" dirty="0">
              <a:solidFill>
                <a:srgbClr val="007D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084F0-AB12-4FBC-924F-B7942D567B6F}"/>
              </a:ext>
            </a:extLst>
          </p:cNvPr>
          <p:cNvSpPr txBox="1"/>
          <p:nvPr/>
        </p:nvSpPr>
        <p:spPr>
          <a:xfrm>
            <a:off x="376518" y="2953444"/>
            <a:ext cx="11940987" cy="33239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 lang="</a:t>
            </a:r>
            <a:r>
              <a:rPr lang="en-SG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charset="UTF-8"&gt;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http-</a:t>
            </a:r>
            <a:r>
              <a:rPr lang="en-SG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equiv</a:t>
            </a:r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="X-UA-Compatible" content="IE=edge"&gt;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name="viewport" content="width=device-width, initial-scale=1.0"&gt;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&lt;title&gt;Bootstrap Example&lt;/title&gt;</a:t>
            </a:r>
            <a:b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&lt;link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="stylesheet"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="https://maxcdn.bootstrapcdn.com/bootstrap/4.1.3/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/bootstrap.min.css"&gt;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&lt;script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="https://ajax.googleapis.com/ajax/libs/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jquery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/3.3.1/jquery.min.js"&gt;&lt;/script&gt;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&lt;script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="https://maxcdn.bootstrapcdn.com/bootstrap/4.1.3/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/bootstrap.min.js"&gt;&lt;/script&gt;</a:t>
            </a:r>
            <a:endParaRPr lang="en-SG" sz="1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3512B969-996C-41D9-B7BA-C791BD083B4D}"/>
              </a:ext>
            </a:extLst>
          </p:cNvPr>
          <p:cNvSpPr/>
          <p:nvPr/>
        </p:nvSpPr>
        <p:spPr>
          <a:xfrm>
            <a:off x="4984376" y="2832847"/>
            <a:ext cx="672353" cy="4777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8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0298-830D-437F-BBFE-E03E018D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Container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02BA-BA07-4C36-A0F1-E6824C636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Bootstrap requires a containing element to wrap site contents</a:t>
            </a:r>
          </a:p>
          <a:p>
            <a:r>
              <a:rPr lang="en-SG" dirty="0"/>
              <a:t>The </a:t>
            </a:r>
            <a:r>
              <a:rPr lang="en-SG" dirty="0">
                <a:solidFill>
                  <a:srgbClr val="FF0000"/>
                </a:solidFill>
              </a:rPr>
              <a:t>.container</a:t>
            </a:r>
            <a:r>
              <a:rPr lang="en-SG" dirty="0"/>
              <a:t> class provides a responsive </a:t>
            </a:r>
            <a:r>
              <a:rPr lang="en-SG" b="1" dirty="0"/>
              <a:t>fixed width container</a:t>
            </a:r>
          </a:p>
          <a:p>
            <a:r>
              <a:rPr lang="en-SG" dirty="0"/>
              <a:t>The </a:t>
            </a:r>
            <a:r>
              <a:rPr lang="en-SG" dirty="0">
                <a:solidFill>
                  <a:srgbClr val="FF0000"/>
                </a:solidFill>
              </a:rPr>
              <a:t>.container-fluid</a:t>
            </a:r>
            <a:r>
              <a:rPr lang="en-SG" dirty="0"/>
              <a:t> class provides a </a:t>
            </a:r>
            <a:r>
              <a:rPr lang="en-SG" b="1" dirty="0"/>
              <a:t>full width container</a:t>
            </a:r>
            <a:r>
              <a:rPr lang="en-SG" dirty="0"/>
              <a:t>, spanning the entire width of the viewport (screen)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C24AB-8AA5-4F0D-8589-AC7AF002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44893"/>
            <a:ext cx="10850374" cy="162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74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0298-830D-437F-BBFE-E03E018D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Container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02BA-BA07-4C36-A0F1-E6824C636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Add the following codes in the </a:t>
            </a:r>
            <a:r>
              <a:rPr lang="en-SG" dirty="0">
                <a:solidFill>
                  <a:srgbClr val="FF0000"/>
                </a:solidFill>
              </a:rPr>
              <a:t>&lt;body&gt;</a:t>
            </a:r>
            <a:r>
              <a:rPr lang="en-SG" dirty="0"/>
              <a:t> element to see how a responsive </a:t>
            </a:r>
            <a:r>
              <a:rPr lang="en-SG" b="1" dirty="0"/>
              <a:t>fixed width</a:t>
            </a:r>
            <a:r>
              <a:rPr lang="en-SG" dirty="0"/>
              <a:t> container looks like with the </a:t>
            </a:r>
            <a:r>
              <a:rPr lang="en-SG" dirty="0">
                <a:solidFill>
                  <a:srgbClr val="FF0000"/>
                </a:solidFill>
              </a:rPr>
              <a:t>.container</a:t>
            </a:r>
            <a:r>
              <a:rPr lang="en-SG" dirty="0"/>
              <a:t> class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Render the web page in your browser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FE086-DDBD-476B-8878-71D1F8D21975}"/>
              </a:ext>
            </a:extLst>
          </p:cNvPr>
          <p:cNvSpPr txBox="1"/>
          <p:nvPr/>
        </p:nvSpPr>
        <p:spPr>
          <a:xfrm>
            <a:off x="1346200" y="2653465"/>
            <a:ext cx="8788399" cy="11695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="container"&gt;</a:t>
            </a:r>
            <a:b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My First Bootstrap Page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part is inside a .container class.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.container class provides a responsive fixed width container.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 </a:t>
            </a:r>
            <a:b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SG" sz="1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919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0298-830D-437F-BBFE-E03E018D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Container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02BA-BA07-4C36-A0F1-E6824C636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Now, add the following codes in the </a:t>
            </a:r>
            <a:r>
              <a:rPr lang="en-SG" dirty="0">
                <a:solidFill>
                  <a:srgbClr val="FF0000"/>
                </a:solidFill>
              </a:rPr>
              <a:t>&lt;body&gt;</a:t>
            </a:r>
            <a:r>
              <a:rPr lang="en-SG" dirty="0"/>
              <a:t> element to see how a </a:t>
            </a:r>
            <a:r>
              <a:rPr lang="en-SG" b="1" dirty="0"/>
              <a:t>full width</a:t>
            </a:r>
            <a:r>
              <a:rPr lang="en-SG" dirty="0"/>
              <a:t> container looks like with the </a:t>
            </a:r>
            <a:r>
              <a:rPr lang="en-SG" dirty="0">
                <a:solidFill>
                  <a:srgbClr val="FF0000"/>
                </a:solidFill>
              </a:rPr>
              <a:t>.container-fluid</a:t>
            </a:r>
            <a:r>
              <a:rPr lang="en-SG" dirty="0"/>
              <a:t> class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Refresh the web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FE086-DDBD-476B-8878-71D1F8D21975}"/>
              </a:ext>
            </a:extLst>
          </p:cNvPr>
          <p:cNvSpPr txBox="1"/>
          <p:nvPr/>
        </p:nvSpPr>
        <p:spPr>
          <a:xfrm>
            <a:off x="1130301" y="2690336"/>
            <a:ext cx="10223498" cy="11695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="container-fluid"&gt;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My First Bootstrap Page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part is inside a .container-fluid class.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.container-fluid class provides a full width container.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         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SG" sz="1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340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0298-830D-437F-BBFE-E03E018D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Container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02BA-BA07-4C36-A0F1-E6824C636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You should see the following: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611478-384D-4E2A-8B1C-7C4EDAD8FD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06"/>
          <a:stretch/>
        </p:blipFill>
        <p:spPr>
          <a:xfrm>
            <a:off x="1174977" y="2581834"/>
            <a:ext cx="7675109" cy="31311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Rectangular Callout 8">
            <a:extLst>
              <a:ext uri="{FF2B5EF4-FFF2-40B4-BE49-F238E27FC236}">
                <a16:creationId xmlns:a16="http://schemas.microsoft.com/office/drawing/2014/main" id="{6C876649-C48A-42F1-B4C4-00340778DE29}"/>
              </a:ext>
            </a:extLst>
          </p:cNvPr>
          <p:cNvSpPr/>
          <p:nvPr/>
        </p:nvSpPr>
        <p:spPr>
          <a:xfrm>
            <a:off x="8319654" y="2413046"/>
            <a:ext cx="3034145" cy="1199486"/>
          </a:xfrm>
          <a:prstGeom prst="wedgeRectCallout">
            <a:avLst>
              <a:gd name="adj1" fmla="val -70569"/>
              <a:gd name="adj2" fmla="val 43743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.container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provides a responsive fixed width container</a:t>
            </a:r>
          </a:p>
        </p:txBody>
      </p:sp>
      <p:sp>
        <p:nvSpPr>
          <p:cNvPr id="7" name="Rectangular Callout 8">
            <a:extLst>
              <a:ext uri="{FF2B5EF4-FFF2-40B4-BE49-F238E27FC236}">
                <a16:creationId xmlns:a16="http://schemas.microsoft.com/office/drawing/2014/main" id="{1BB16EAD-A698-4AD6-80A5-151AF677390A}"/>
              </a:ext>
            </a:extLst>
          </p:cNvPr>
          <p:cNvSpPr/>
          <p:nvPr/>
        </p:nvSpPr>
        <p:spPr>
          <a:xfrm>
            <a:off x="8319654" y="4058936"/>
            <a:ext cx="3034145" cy="1199486"/>
          </a:xfrm>
          <a:prstGeom prst="wedgeRectCallout">
            <a:avLst>
              <a:gd name="adj1" fmla="val -70569"/>
              <a:gd name="adj2" fmla="val 43743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.container-fluid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provides a responsive full width container</a:t>
            </a:r>
          </a:p>
        </p:txBody>
      </p:sp>
    </p:spTree>
    <p:extLst>
      <p:ext uri="{BB962C8B-B14F-4D97-AF65-F5344CB8AC3E}">
        <p14:creationId xmlns:p14="http://schemas.microsoft.com/office/powerpoint/2010/main" val="168095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10AD-5375-4AA2-8C4B-5400B55B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Grid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BCF1-1EC8-4799-BE1A-C3CAA12D1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grid system is made up of </a:t>
            </a:r>
            <a:r>
              <a:rPr lang="en-SG" b="1" u="sng" dirty="0"/>
              <a:t>12 columns</a:t>
            </a:r>
            <a:r>
              <a:rPr lang="en-SG" dirty="0"/>
              <a:t> across the page</a:t>
            </a:r>
          </a:p>
          <a:p>
            <a:r>
              <a:rPr lang="en-SG" dirty="0"/>
              <a:t>We can group the columns together to create wider columns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61A5B-7E66-437F-AA35-393AB6D22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34" y="2954349"/>
            <a:ext cx="10874168" cy="227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60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10AD-5375-4AA2-8C4B-5400B55B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Grid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BCF1-1EC8-4799-BE1A-C3CAA12D1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Bootstrap has 5 grid classes</a:t>
            </a:r>
          </a:p>
          <a:p>
            <a:pPr lvl="1"/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.col</a:t>
            </a:r>
            <a:r>
              <a:rPr lang="en-SG" dirty="0">
                <a:solidFill>
                  <a:srgbClr val="FF0000"/>
                </a:solidFill>
              </a:rPr>
              <a:t> </a:t>
            </a:r>
            <a:r>
              <a:rPr lang="en-SG" dirty="0"/>
              <a:t>(extra small devices – screen width &lt; 576px)</a:t>
            </a:r>
          </a:p>
          <a:p>
            <a:pPr lvl="1"/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.col-</a:t>
            </a:r>
            <a:r>
              <a:rPr lang="en-SG" dirty="0" err="1">
                <a:solidFill>
                  <a:srgbClr val="FF0000"/>
                </a:solidFill>
                <a:highlight>
                  <a:srgbClr val="C0C0C0"/>
                </a:highlight>
              </a:rPr>
              <a:t>sm</a:t>
            </a:r>
            <a:r>
              <a:rPr lang="en-SG" dirty="0">
                <a:solidFill>
                  <a:srgbClr val="FF0000"/>
                </a:solidFill>
              </a:rPr>
              <a:t> </a:t>
            </a:r>
            <a:r>
              <a:rPr lang="en-SG" dirty="0"/>
              <a:t>(small devices – screen width &gt;= 576px)</a:t>
            </a:r>
          </a:p>
          <a:p>
            <a:pPr lvl="1"/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.col-md</a:t>
            </a:r>
            <a:r>
              <a:rPr lang="en-SG" dirty="0">
                <a:solidFill>
                  <a:srgbClr val="FF0000"/>
                </a:solidFill>
              </a:rPr>
              <a:t> </a:t>
            </a:r>
            <a:r>
              <a:rPr lang="en-SG" dirty="0"/>
              <a:t>(medium devices – screen width &gt;= 768px)</a:t>
            </a:r>
          </a:p>
          <a:p>
            <a:pPr lvl="1"/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.col-</a:t>
            </a:r>
            <a:r>
              <a:rPr lang="en-SG" dirty="0" err="1">
                <a:solidFill>
                  <a:srgbClr val="FF0000"/>
                </a:solidFill>
                <a:highlight>
                  <a:srgbClr val="C0C0C0"/>
                </a:highlight>
              </a:rPr>
              <a:t>lg</a:t>
            </a:r>
            <a:r>
              <a:rPr lang="en-SG" dirty="0">
                <a:solidFill>
                  <a:srgbClr val="FF0000"/>
                </a:solidFill>
              </a:rPr>
              <a:t> </a:t>
            </a:r>
            <a:r>
              <a:rPr lang="en-SG" dirty="0"/>
              <a:t>(large devices – screen width &gt;= 992px)</a:t>
            </a:r>
          </a:p>
          <a:p>
            <a:pPr lvl="1"/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.col-xl</a:t>
            </a:r>
            <a:r>
              <a:rPr lang="en-SG" dirty="0"/>
              <a:t> (</a:t>
            </a:r>
            <a:r>
              <a:rPr lang="en-SG" dirty="0" err="1"/>
              <a:t>xlarge</a:t>
            </a:r>
            <a:r>
              <a:rPr lang="en-SG" dirty="0"/>
              <a:t> devices – screen width &gt; 1200px)</a:t>
            </a:r>
          </a:p>
        </p:txBody>
      </p:sp>
    </p:spTree>
    <p:extLst>
      <p:ext uri="{BB962C8B-B14F-4D97-AF65-F5344CB8AC3E}">
        <p14:creationId xmlns:p14="http://schemas.microsoft.com/office/powerpoint/2010/main" val="1520290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10AD-5375-4AA2-8C4B-5400B55B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Grid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BCF1-1EC8-4799-BE1A-C3CAA12D1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Add the following codes to the </a:t>
            </a:r>
            <a:r>
              <a:rPr lang="en-SG" dirty="0">
                <a:solidFill>
                  <a:srgbClr val="007DDA"/>
                </a:solidFill>
              </a:rPr>
              <a:t>bootstrap_example.html</a:t>
            </a:r>
            <a:r>
              <a:rPr lang="en-SG" dirty="0"/>
              <a:t> file inside the </a:t>
            </a:r>
            <a:r>
              <a:rPr lang="en-SG" dirty="0">
                <a:solidFill>
                  <a:srgbClr val="FF0000"/>
                </a:solidFill>
              </a:rPr>
              <a:t>&lt;body&gt;</a:t>
            </a:r>
            <a:r>
              <a:rPr lang="en-SG" dirty="0"/>
              <a:t> element to create 4 equal columns in the page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Refresh the web page again, you should see 4 columns created in the page</a:t>
            </a:r>
          </a:p>
          <a:p>
            <a:r>
              <a:rPr lang="en-SG" dirty="0"/>
              <a:t>Resize your browser, you should see that the columns resize accordingly too</a:t>
            </a:r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A04B6-5000-4EB4-B3FB-EFA584A7FEB6}"/>
              </a:ext>
            </a:extLst>
          </p:cNvPr>
          <p:cNvSpPr txBox="1"/>
          <p:nvPr/>
        </p:nvSpPr>
        <p:spPr>
          <a:xfrm>
            <a:off x="1346200" y="2653465"/>
            <a:ext cx="8788399" cy="13849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="row"&gt;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background-color:lavender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column 1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background-color:lavenderblush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column 2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background-color:lavender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column 3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background-color:lavenderblush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column 4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SG" sz="1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222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10AD-5375-4AA2-8C4B-5400B55B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Grid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BCF1-1EC8-4799-BE1A-C3CAA12D1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Next, add the following codes to the </a:t>
            </a:r>
            <a:r>
              <a:rPr lang="en-SG" dirty="0">
                <a:solidFill>
                  <a:srgbClr val="007DDA"/>
                </a:solidFill>
              </a:rPr>
              <a:t>bootstrap_example.html</a:t>
            </a:r>
            <a:r>
              <a:rPr lang="en-SG" dirty="0"/>
              <a:t> file inside the </a:t>
            </a:r>
            <a:r>
              <a:rPr lang="en-SG" dirty="0">
                <a:solidFill>
                  <a:srgbClr val="FF0000"/>
                </a:solidFill>
              </a:rPr>
              <a:t>&lt;body&gt;</a:t>
            </a:r>
            <a:r>
              <a:rPr lang="en-SG" dirty="0"/>
              <a:t> element to create 4 equal columns in the page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A04B6-5000-4EB4-B3FB-EFA584A7FEB6}"/>
              </a:ext>
            </a:extLst>
          </p:cNvPr>
          <p:cNvSpPr txBox="1"/>
          <p:nvPr/>
        </p:nvSpPr>
        <p:spPr>
          <a:xfrm>
            <a:off x="1346201" y="2653465"/>
            <a:ext cx="9332686" cy="13849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="row"&gt;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="col-sm-3"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background-color:lavender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 1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="col-sm-3"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background-color:lavenderblush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 2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="col-sm-3"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background-color:lavender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 3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="col-sm-3"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background-color:lavenderblush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 4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SG" sz="1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ular Callout 8">
            <a:extLst>
              <a:ext uri="{FF2B5EF4-FFF2-40B4-BE49-F238E27FC236}">
                <a16:creationId xmlns:a16="http://schemas.microsoft.com/office/drawing/2014/main" id="{4242D41C-6CF7-40FF-8438-EBFF2B2208EB}"/>
              </a:ext>
            </a:extLst>
          </p:cNvPr>
          <p:cNvSpPr/>
          <p:nvPr/>
        </p:nvSpPr>
        <p:spPr>
          <a:xfrm>
            <a:off x="756804" y="4337096"/>
            <a:ext cx="3034145" cy="1199486"/>
          </a:xfrm>
          <a:prstGeom prst="wedgeRectCallout">
            <a:avLst>
              <a:gd name="adj1" fmla="val 43073"/>
              <a:gd name="adj2" fmla="val -9998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.col-sm-3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the columns will stack on top of each other when the screen width is lesser than 576px (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sm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-small devices)</a:t>
            </a:r>
          </a:p>
        </p:txBody>
      </p:sp>
      <p:sp>
        <p:nvSpPr>
          <p:cNvPr id="6" name="Rectangular Callout 8">
            <a:extLst>
              <a:ext uri="{FF2B5EF4-FFF2-40B4-BE49-F238E27FC236}">
                <a16:creationId xmlns:a16="http://schemas.microsoft.com/office/drawing/2014/main" id="{53AC31CE-A343-4BA6-A43F-577E0D75E02D}"/>
              </a:ext>
            </a:extLst>
          </p:cNvPr>
          <p:cNvSpPr/>
          <p:nvPr/>
        </p:nvSpPr>
        <p:spPr>
          <a:xfrm>
            <a:off x="4385829" y="4350692"/>
            <a:ext cx="3929496" cy="1199486"/>
          </a:xfrm>
          <a:prstGeom prst="wedgeRectCallout">
            <a:avLst>
              <a:gd name="adj1" fmla="val -59597"/>
              <a:gd name="adj2" fmla="val -101576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.col-sm-3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there are 12 columns in a row, by putting </a:t>
            </a:r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-3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, it means the columns are grouped in 3s, we have 4 columns of 3s here, so 4 * 3 = 12 columns in total</a:t>
            </a:r>
          </a:p>
        </p:txBody>
      </p:sp>
    </p:spTree>
    <p:extLst>
      <p:ext uri="{BB962C8B-B14F-4D97-AF65-F5344CB8AC3E}">
        <p14:creationId xmlns:p14="http://schemas.microsoft.com/office/powerpoint/2010/main" val="771378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AEF7-9CA0-4CDB-9134-1CED8445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Grid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2CBB4-F4ED-41C0-B317-348A9FF8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Refresh the page and resize your browser</a:t>
            </a:r>
          </a:p>
          <a:p>
            <a:r>
              <a:rPr lang="en-SG" dirty="0"/>
              <a:t>You should see that the columns will automatically stack on top of each other when the screen size goes below 576px wide</a:t>
            </a: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B3F21-3486-4684-9CD2-E2519CA50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91" r="951"/>
          <a:stretch/>
        </p:blipFill>
        <p:spPr>
          <a:xfrm>
            <a:off x="3590925" y="3299012"/>
            <a:ext cx="4962525" cy="27446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7442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96D5-4B92-4C10-A55E-9DA5B3B8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Text </a:t>
            </a:r>
            <a:r>
              <a:rPr lang="en-SG" dirty="0" err="1"/>
              <a:t>Colors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519BD-4CE4-4845-813B-252912795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Text </a:t>
            </a:r>
            <a:r>
              <a:rPr lang="en-SG" dirty="0" err="1"/>
              <a:t>colors</a:t>
            </a:r>
            <a:endParaRPr lang="en-SG" dirty="0"/>
          </a:p>
          <a:p>
            <a:pPr lvl="1"/>
            <a:r>
              <a:rPr lang="en-SG" dirty="0"/>
              <a:t>some classes for text </a:t>
            </a:r>
            <a:r>
              <a:rPr lang="en-SG" dirty="0" err="1"/>
              <a:t>colors</a:t>
            </a:r>
            <a:r>
              <a:rPr lang="en-SG" dirty="0"/>
              <a:t> are: 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.text-muted</a:t>
            </a:r>
            <a:r>
              <a:rPr lang="en-S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, 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.text-primary</a:t>
            </a:r>
            <a:r>
              <a:rPr lang="en-S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, 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.text-warning</a:t>
            </a:r>
            <a:r>
              <a:rPr lang="en-S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, 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.text-danger</a:t>
            </a:r>
          </a:p>
          <a:p>
            <a:r>
              <a:rPr lang="en-SG" dirty="0"/>
              <a:t>Add the following codes to </a:t>
            </a:r>
            <a:r>
              <a:rPr lang="en-SG" dirty="0">
                <a:solidFill>
                  <a:srgbClr val="007DDA"/>
                </a:solidFill>
              </a:rPr>
              <a:t>bootstrap_example.html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E4D99-2088-4BB5-8B68-B25A7520B379}"/>
              </a:ext>
            </a:extLst>
          </p:cNvPr>
          <p:cNvSpPr txBox="1"/>
          <p:nvPr/>
        </p:nvSpPr>
        <p:spPr>
          <a:xfrm>
            <a:off x="1284338" y="3447562"/>
            <a:ext cx="6478537" cy="9541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="text-muted"&gt;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text is muted.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="text-primary"&gt;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text is primary.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="text-warning"&gt;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text represents a warning.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="text-danger"&gt;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text represents danger.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414254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AEF7-9CA0-4CDB-9134-1CED8445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Text </a:t>
            </a:r>
            <a:r>
              <a:rPr lang="en-SG" dirty="0" err="1"/>
              <a:t>Colors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2CBB4-F4ED-41C0-B317-348A9FF8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Refresh the page to see the difference in text </a:t>
            </a:r>
            <a:r>
              <a:rPr lang="en-SG" dirty="0" err="1"/>
              <a:t>colors</a:t>
            </a:r>
            <a:endParaRPr lang="en-SG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D10F6-6133-4D98-BD04-12894AFABB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163"/>
          <a:stretch/>
        </p:blipFill>
        <p:spPr>
          <a:xfrm>
            <a:off x="1441772" y="2563905"/>
            <a:ext cx="5452937" cy="25527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841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96D5-4B92-4C10-A55E-9DA5B3B8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Background </a:t>
            </a:r>
            <a:r>
              <a:rPr lang="en-SG" dirty="0" err="1"/>
              <a:t>Colors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519BD-4CE4-4845-813B-252912795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Background </a:t>
            </a:r>
            <a:r>
              <a:rPr lang="en-SG" dirty="0" err="1"/>
              <a:t>colors</a:t>
            </a:r>
            <a:endParaRPr lang="en-SG" dirty="0"/>
          </a:p>
          <a:p>
            <a:pPr lvl="1"/>
            <a:r>
              <a:rPr lang="en-SG" dirty="0"/>
              <a:t>some classes for background </a:t>
            </a:r>
            <a:r>
              <a:rPr lang="en-SG" dirty="0" err="1"/>
              <a:t>colors</a:t>
            </a:r>
            <a:r>
              <a:rPr lang="en-SG" dirty="0"/>
              <a:t> are: 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</a:t>
            </a:r>
            <a:r>
              <a:rPr lang="en-SG" dirty="0" err="1">
                <a:solidFill>
                  <a:srgbClr val="FF0000"/>
                </a:solidFill>
                <a:highlight>
                  <a:srgbClr val="C0C0C0"/>
                </a:highlight>
              </a:rPr>
              <a:t>bg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-primary</a:t>
            </a:r>
            <a:r>
              <a:rPr lang="en-S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, 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</a:t>
            </a:r>
            <a:r>
              <a:rPr lang="en-SG" dirty="0" err="1">
                <a:solidFill>
                  <a:srgbClr val="FF0000"/>
                </a:solidFill>
                <a:highlight>
                  <a:srgbClr val="C0C0C0"/>
                </a:highlight>
              </a:rPr>
              <a:t>bg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-secondary</a:t>
            </a:r>
            <a:r>
              <a:rPr lang="en-S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, </a:t>
            </a:r>
          </a:p>
          <a:p>
            <a:pPr marL="457200" lvl="1" indent="0">
              <a:buNone/>
            </a:pPr>
            <a:r>
              <a:rPr lang="en-S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</a:t>
            </a:r>
            <a:r>
              <a:rPr lang="en-SG" dirty="0" err="1">
                <a:solidFill>
                  <a:srgbClr val="FF0000"/>
                </a:solidFill>
                <a:highlight>
                  <a:srgbClr val="C0C0C0"/>
                </a:highlight>
              </a:rPr>
              <a:t>bg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-warning</a:t>
            </a:r>
            <a:r>
              <a:rPr lang="en-S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, </a:t>
            </a:r>
            <a:r>
              <a:rPr lang="en-SG" dirty="0">
                <a:solidFill>
                  <a:srgbClr val="FF0000"/>
                </a:solidFill>
                <a:highlight>
                  <a:srgbClr val="C0C0C0"/>
                </a:highlight>
              </a:rPr>
              <a:t>.text-danger</a:t>
            </a:r>
          </a:p>
          <a:p>
            <a:r>
              <a:rPr lang="en-SG" dirty="0"/>
              <a:t>Add the following codes to </a:t>
            </a:r>
            <a:r>
              <a:rPr lang="en-SG" dirty="0">
                <a:solidFill>
                  <a:srgbClr val="007DDA"/>
                </a:solidFill>
              </a:rPr>
              <a:t>bootstrap_example.html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E4D99-2088-4BB5-8B68-B25A7520B379}"/>
              </a:ext>
            </a:extLst>
          </p:cNvPr>
          <p:cNvSpPr txBox="1"/>
          <p:nvPr/>
        </p:nvSpPr>
        <p:spPr>
          <a:xfrm>
            <a:off x="1284338" y="3447562"/>
            <a:ext cx="8316862" cy="9541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-primary text-white"&gt;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is primary.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-secondary text-white"&gt;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is secondary.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-warning text-white"&gt;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is warning.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-danger text-white"&gt;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is danger.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Rectangular Callout 8">
            <a:extLst>
              <a:ext uri="{FF2B5EF4-FFF2-40B4-BE49-F238E27FC236}">
                <a16:creationId xmlns:a16="http://schemas.microsoft.com/office/drawing/2014/main" id="{92E284CC-4D03-464D-AF5F-5283F9325795}"/>
              </a:ext>
            </a:extLst>
          </p:cNvPr>
          <p:cNvSpPr/>
          <p:nvPr/>
        </p:nvSpPr>
        <p:spPr>
          <a:xfrm>
            <a:off x="1115022" y="4848073"/>
            <a:ext cx="3034145" cy="1199486"/>
          </a:xfrm>
          <a:prstGeom prst="wedgeRectCallout">
            <a:avLst>
              <a:gd name="adj1" fmla="val 26606"/>
              <a:gd name="adj2" fmla="val -8269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Using 2 classes at the same time, one for the background 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color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of the text, the other for the text 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color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9539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AEF7-9CA0-4CDB-9134-1CED8445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Background </a:t>
            </a:r>
            <a:r>
              <a:rPr lang="en-SG" dirty="0" err="1"/>
              <a:t>Colors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2CBB4-F4ED-41C0-B317-348A9FF8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Refresh the page to see the difference in background </a:t>
            </a:r>
            <a:r>
              <a:rPr lang="en-SG" dirty="0" err="1"/>
              <a:t>colors</a:t>
            </a:r>
            <a:endParaRPr lang="en-SG" dirty="0"/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F4277-1AC4-4EDF-9B97-32E5A12FEB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22"/>
          <a:stretch/>
        </p:blipFill>
        <p:spPr>
          <a:xfrm>
            <a:off x="1166043" y="2463534"/>
            <a:ext cx="5019675" cy="27631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9707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913D-060C-40D1-ACFB-C8681018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56A5-0936-4507-86E8-456B2AF65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Badges are used to add additional information to any content</a:t>
            </a:r>
          </a:p>
          <a:p>
            <a:r>
              <a:rPr lang="en-US" dirty="0"/>
              <a:t>Use the 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.badge</a:t>
            </a:r>
            <a:r>
              <a:rPr lang="en-US" dirty="0"/>
              <a:t> class within </a:t>
            </a:r>
            <a:r>
              <a:rPr lang="en-US" dirty="0">
                <a:solidFill>
                  <a:srgbClr val="FF0000"/>
                </a:solidFill>
              </a:rPr>
              <a:t>&lt;span&gt; </a:t>
            </a:r>
            <a:r>
              <a:rPr lang="en-US" dirty="0"/>
              <a:t>elements to create rectangular badges</a:t>
            </a:r>
          </a:p>
          <a:p>
            <a:r>
              <a:rPr lang="en-US" dirty="0"/>
              <a:t>Badges scale to match the size of the parent element (if any)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7EDFA7-D568-435A-AF7F-64B4DB63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19" y="3603163"/>
            <a:ext cx="3405482" cy="241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49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A662-FCED-4B92-98EF-D712D078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7488B-7021-4075-A109-D106F8C98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Add the following codes to </a:t>
            </a:r>
            <a:r>
              <a:rPr lang="en-SG" dirty="0">
                <a:solidFill>
                  <a:srgbClr val="007DDA"/>
                </a:solidFill>
              </a:rPr>
              <a:t>bootstrap_example.html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DAA97-7C1B-45AE-8C49-C8C4BF4F5D2E}"/>
              </a:ext>
            </a:extLst>
          </p:cNvPr>
          <p:cNvSpPr txBox="1"/>
          <p:nvPr/>
        </p:nvSpPr>
        <p:spPr>
          <a:xfrm>
            <a:off x="1284338" y="2240931"/>
            <a:ext cx="8316862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Badge in H1 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="badge badge-primary"&gt;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primary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h2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Badge in H2 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="badge badge-secondary"&gt;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secondary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h2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6" name="Rectangular Callout 8">
            <a:extLst>
              <a:ext uri="{FF2B5EF4-FFF2-40B4-BE49-F238E27FC236}">
                <a16:creationId xmlns:a16="http://schemas.microsoft.com/office/drawing/2014/main" id="{C6F2388A-DC49-477C-A1C0-BC84D76BC5DC}"/>
              </a:ext>
            </a:extLst>
          </p:cNvPr>
          <p:cNvSpPr/>
          <p:nvPr/>
        </p:nvSpPr>
        <p:spPr>
          <a:xfrm>
            <a:off x="2111604" y="3076309"/>
            <a:ext cx="2669159" cy="594917"/>
          </a:xfrm>
          <a:prstGeom prst="wedgeRectCallout">
            <a:avLst>
              <a:gd name="adj1" fmla="val 43073"/>
              <a:gd name="adj2" fmla="val -9998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.badge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creates the badge</a:t>
            </a:r>
          </a:p>
        </p:txBody>
      </p:sp>
      <p:sp>
        <p:nvSpPr>
          <p:cNvPr id="7" name="Rectangular Callout 8">
            <a:extLst>
              <a:ext uri="{FF2B5EF4-FFF2-40B4-BE49-F238E27FC236}">
                <a16:creationId xmlns:a16="http://schemas.microsoft.com/office/drawing/2014/main" id="{84A3EEF2-2B0C-4335-85F6-5973DFA0A5EA}"/>
              </a:ext>
            </a:extLst>
          </p:cNvPr>
          <p:cNvSpPr/>
          <p:nvPr/>
        </p:nvSpPr>
        <p:spPr>
          <a:xfrm>
            <a:off x="5516252" y="3076308"/>
            <a:ext cx="4938074" cy="594917"/>
          </a:xfrm>
          <a:prstGeom prst="wedgeRectCallout">
            <a:avLst>
              <a:gd name="adj1" fmla="val -39256"/>
              <a:gd name="adj2" fmla="val -111078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.badge-secondary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determines the 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color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of the 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bage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BE23C-5EE5-440A-9CAA-E24EE7A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581"/>
          <a:stretch/>
        </p:blipFill>
        <p:spPr>
          <a:xfrm>
            <a:off x="1331736" y="3983382"/>
            <a:ext cx="4209480" cy="171518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1072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A662-FCED-4B92-98EF-D712D078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7488B-7021-4075-A109-D106F8C98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Add the following codes to </a:t>
            </a:r>
            <a:r>
              <a:rPr lang="en-SG" dirty="0">
                <a:solidFill>
                  <a:srgbClr val="007DDA"/>
                </a:solidFill>
              </a:rPr>
              <a:t>bootstrap_example.html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DAA97-7C1B-45AE-8C49-C8C4BF4F5D2E}"/>
              </a:ext>
            </a:extLst>
          </p:cNvPr>
          <p:cNvSpPr txBox="1"/>
          <p:nvPr/>
        </p:nvSpPr>
        <p:spPr>
          <a:xfrm>
            <a:off x="1284338" y="2240931"/>
            <a:ext cx="9104000" cy="7386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Danger badge 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="badge badge-pill badge-danger"&gt;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Danger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Warning badge 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="badge badge-pill badge-warning"&gt;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Warning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Info badge 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="badge badge-pill badge-info"&gt;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7" name="Rectangular Callout 8">
            <a:extLst>
              <a:ext uri="{FF2B5EF4-FFF2-40B4-BE49-F238E27FC236}">
                <a16:creationId xmlns:a16="http://schemas.microsoft.com/office/drawing/2014/main" id="{84A3EEF2-2B0C-4335-85F6-5973DFA0A5EA}"/>
              </a:ext>
            </a:extLst>
          </p:cNvPr>
          <p:cNvSpPr/>
          <p:nvPr/>
        </p:nvSpPr>
        <p:spPr>
          <a:xfrm>
            <a:off x="5535104" y="3312877"/>
            <a:ext cx="3410932" cy="738665"/>
          </a:xfrm>
          <a:prstGeom prst="wedgeRectCallout">
            <a:avLst>
              <a:gd name="adj1" fmla="val -55513"/>
              <a:gd name="adj2" fmla="val -10368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.badge-pill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makes the edges of the badge rounder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F74098-C03B-433C-A515-957128EA1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38" y="3754673"/>
            <a:ext cx="2967151" cy="197810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4988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BOOTSTRAP 4: Modals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6761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913D-060C-40D1-ACFB-C8681018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Modal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56A5-0936-4507-86E8-456B2AF65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Modal component is a dialog box/popup window that is displayed on top of the current page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24081-CE5E-42E5-B718-C1D9E0B23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937" y="2774576"/>
            <a:ext cx="5905467" cy="20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88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Create a web page with Bootstrap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Create a new HTML file in your </a:t>
            </a:r>
            <a:r>
              <a:rPr lang="en-SG" sz="2800" dirty="0">
                <a:solidFill>
                  <a:srgbClr val="007DDA"/>
                </a:solidFill>
              </a:rPr>
              <a:t>C:\Users\USERNAME\Desktop\cdev\week2\ bootstrap_modal.html</a:t>
            </a:r>
            <a:endParaRPr lang="en-SG" dirty="0">
              <a:solidFill>
                <a:srgbClr val="007DD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27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E7E04-3066-4288-8785-519E7B8B6254}"/>
              </a:ext>
            </a:extLst>
          </p:cNvPr>
          <p:cNvSpPr txBox="1"/>
          <p:nvPr/>
        </p:nvSpPr>
        <p:spPr>
          <a:xfrm>
            <a:off x="376518" y="2756220"/>
            <a:ext cx="11940987" cy="33239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 lang="</a:t>
            </a:r>
            <a:r>
              <a:rPr lang="en-SG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charset="UTF-8"&gt;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http-</a:t>
            </a:r>
            <a:r>
              <a:rPr lang="en-SG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equiv</a:t>
            </a:r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="X-UA-Compatible" content="IE=edge"&gt;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name="viewport" content="width=device-width, initial-scale=1.0"&gt;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&lt;title&gt;Bootstrap Modal&lt;/title&gt;</a:t>
            </a:r>
            <a:b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&lt;link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="stylesheet"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="https://maxcdn.bootstrapcdn.com/bootstrap/4.1.3/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/bootstrap.min.css"&gt;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&lt;script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="https://ajax.googleapis.com/ajax/libs/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jquery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/3.3.1/jquery.min.js"&gt;&lt;/script&gt;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&lt;script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="https://maxcdn.bootstrapcdn.com/bootstrap/4.1.3/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/bootstrap.min.js"&gt;&lt;/script&gt;</a:t>
            </a:r>
            <a:endParaRPr lang="en-SG" sz="1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6252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Modal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Create a button within the </a:t>
            </a:r>
            <a:r>
              <a:rPr lang="en-SG" dirty="0">
                <a:solidFill>
                  <a:srgbClr val="FF0000"/>
                </a:solidFill>
              </a:rPr>
              <a:t>&lt;body&gt;</a:t>
            </a:r>
            <a:r>
              <a:rPr lang="en-SG" dirty="0"/>
              <a:t> element</a:t>
            </a:r>
            <a:endParaRPr lang="en-SG" dirty="0">
              <a:solidFill>
                <a:srgbClr val="007DD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28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4E398-667B-42A9-B3E1-F46AC220F491}"/>
              </a:ext>
            </a:extLst>
          </p:cNvPr>
          <p:cNvSpPr txBox="1"/>
          <p:nvPr/>
        </p:nvSpPr>
        <p:spPr>
          <a:xfrm>
            <a:off x="1065000" y="2324178"/>
            <a:ext cx="10241435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="container"&gt;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h2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Modal Example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h2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Button to Open the Modal --&gt;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="button"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-primary"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data-toggle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data-target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="#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myModal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Open modal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8" name="Rectangular Callout 8">
            <a:extLst>
              <a:ext uri="{FF2B5EF4-FFF2-40B4-BE49-F238E27FC236}">
                <a16:creationId xmlns:a16="http://schemas.microsoft.com/office/drawing/2014/main" id="{51476E0F-CC3A-4A1B-B7CA-787EE6F27AE2}"/>
              </a:ext>
            </a:extLst>
          </p:cNvPr>
          <p:cNvSpPr/>
          <p:nvPr/>
        </p:nvSpPr>
        <p:spPr>
          <a:xfrm>
            <a:off x="2799761" y="3764467"/>
            <a:ext cx="2669159" cy="594917"/>
          </a:xfrm>
          <a:prstGeom prst="wedgeRectCallout">
            <a:avLst>
              <a:gd name="adj1" fmla="val 43073"/>
              <a:gd name="adj2" fmla="val -9998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</a:t>
            </a:r>
            <a:r>
              <a:rPr lang="en-GB" sz="1600" dirty="0" err="1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btn</a:t>
            </a:r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-primary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determines 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color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of the button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867A32C5-C5A9-4E23-BC64-381BEA95A376}"/>
              </a:ext>
            </a:extLst>
          </p:cNvPr>
          <p:cNvSpPr/>
          <p:nvPr/>
        </p:nvSpPr>
        <p:spPr>
          <a:xfrm>
            <a:off x="5718518" y="3767586"/>
            <a:ext cx="2360253" cy="594917"/>
          </a:xfrm>
          <a:prstGeom prst="wedgeRectCallout">
            <a:avLst>
              <a:gd name="adj1" fmla="val 13406"/>
              <a:gd name="adj2" fmla="val -104741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data-toggle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 to display a modal</a:t>
            </a:r>
          </a:p>
        </p:txBody>
      </p:sp>
      <p:sp>
        <p:nvSpPr>
          <p:cNvPr id="10" name="Rectangular Callout 8">
            <a:extLst>
              <a:ext uri="{FF2B5EF4-FFF2-40B4-BE49-F238E27FC236}">
                <a16:creationId xmlns:a16="http://schemas.microsoft.com/office/drawing/2014/main" id="{53052A3C-877B-4EF4-9185-B62208E3F3D1}"/>
              </a:ext>
            </a:extLst>
          </p:cNvPr>
          <p:cNvSpPr/>
          <p:nvPr/>
        </p:nvSpPr>
        <p:spPr>
          <a:xfrm>
            <a:off x="8559185" y="3764467"/>
            <a:ext cx="2360253" cy="939509"/>
          </a:xfrm>
          <a:prstGeom prst="wedgeRectCallout">
            <a:avLst>
              <a:gd name="adj1" fmla="val -20543"/>
              <a:gd name="adj2" fmla="val -83088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data-target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 to launch data in the &lt;div&gt; with the id “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myModal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E1ECB-D4EF-4D2D-8E6A-F0E95ECD6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967" y="4567320"/>
            <a:ext cx="3173691" cy="14919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339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Modal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Continue to create the modal within the </a:t>
            </a:r>
            <a:r>
              <a:rPr lang="en-SG" dirty="0">
                <a:solidFill>
                  <a:srgbClr val="FF0000"/>
                </a:solidFill>
              </a:rPr>
              <a:t>&lt;div class=“container”&gt;</a:t>
            </a:r>
            <a:r>
              <a:rPr lang="en-SG" dirty="0"/>
              <a:t> element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r>
              <a:rPr lang="en-SG" dirty="0"/>
              <a:t>The code above creates the modal dialog (the popup dialog box)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29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4E398-667B-42A9-B3E1-F46AC220F491}"/>
              </a:ext>
            </a:extLst>
          </p:cNvPr>
          <p:cNvSpPr txBox="1"/>
          <p:nvPr/>
        </p:nvSpPr>
        <p:spPr>
          <a:xfrm>
            <a:off x="1065000" y="2635265"/>
            <a:ext cx="10241435" cy="160043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The Modal --&gt;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myModal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="modal-dialog"&gt;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="modal-content"&gt;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5337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Modal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Create the modal header within the </a:t>
            </a:r>
            <a:r>
              <a:rPr lang="en-SG" dirty="0">
                <a:solidFill>
                  <a:srgbClr val="FF0000"/>
                </a:solidFill>
              </a:rPr>
              <a:t>&lt;div class=“modal-content”&gt;</a:t>
            </a:r>
            <a:r>
              <a:rPr lang="en-SG" dirty="0"/>
              <a:t> element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r>
              <a:rPr lang="en-SG" dirty="0"/>
              <a:t>The code above creates the modal header, click on the “</a:t>
            </a:r>
            <a:r>
              <a:rPr lang="en-SG" dirty="0">
                <a:solidFill>
                  <a:srgbClr val="007DDA"/>
                </a:solidFill>
              </a:rPr>
              <a:t>Open Modal</a:t>
            </a:r>
            <a:r>
              <a:rPr lang="en-SG" dirty="0"/>
              <a:t>” button to view the modal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30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4E398-667B-42A9-B3E1-F46AC220F491}"/>
              </a:ext>
            </a:extLst>
          </p:cNvPr>
          <p:cNvSpPr txBox="1"/>
          <p:nvPr/>
        </p:nvSpPr>
        <p:spPr>
          <a:xfrm>
            <a:off x="1065000" y="2635265"/>
            <a:ext cx="10241435" cy="11695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Modal Header --&gt;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="modal-header"&gt;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h4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="modal-title"&gt;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Modal Heading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h4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="button"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="close"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data-dismiss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&amp;times;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2D2189-9FA2-4EAE-8846-7E5393658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72" y="5048368"/>
            <a:ext cx="4805328" cy="1169551"/>
          </a:xfrm>
          <a:prstGeom prst="rect">
            <a:avLst/>
          </a:prstGeom>
        </p:spPr>
      </p:pic>
      <p:sp>
        <p:nvSpPr>
          <p:cNvPr id="8" name="Rectangular Callout 8">
            <a:extLst>
              <a:ext uri="{FF2B5EF4-FFF2-40B4-BE49-F238E27FC236}">
                <a16:creationId xmlns:a16="http://schemas.microsoft.com/office/drawing/2014/main" id="{2C976EFE-65AD-4CEB-AF36-92AABC5D189F}"/>
              </a:ext>
            </a:extLst>
          </p:cNvPr>
          <p:cNvSpPr/>
          <p:nvPr/>
        </p:nvSpPr>
        <p:spPr>
          <a:xfrm>
            <a:off x="6325034" y="4991806"/>
            <a:ext cx="2649285" cy="715340"/>
          </a:xfrm>
          <a:prstGeom prst="wedgeRectCallout">
            <a:avLst>
              <a:gd name="adj1" fmla="val -70389"/>
              <a:gd name="adj2" fmla="val 9282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&amp;times;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creates the “x” sign in the button</a:t>
            </a:r>
          </a:p>
        </p:txBody>
      </p:sp>
    </p:spTree>
    <p:extLst>
      <p:ext uri="{BB962C8B-B14F-4D97-AF65-F5344CB8AC3E}">
        <p14:creationId xmlns:p14="http://schemas.microsoft.com/office/powerpoint/2010/main" val="83241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Modal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Create the modal body within the </a:t>
            </a:r>
            <a:r>
              <a:rPr lang="en-SG" dirty="0">
                <a:solidFill>
                  <a:srgbClr val="FF0000"/>
                </a:solidFill>
              </a:rPr>
              <a:t>&lt;div class=“modal-content”&gt;</a:t>
            </a:r>
            <a:r>
              <a:rPr lang="en-SG" dirty="0"/>
              <a:t> element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r>
              <a:rPr lang="en-SG" dirty="0"/>
              <a:t>This is where the actual contents of the modal should be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31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4E398-667B-42A9-B3E1-F46AC220F491}"/>
              </a:ext>
            </a:extLst>
          </p:cNvPr>
          <p:cNvSpPr txBox="1"/>
          <p:nvPr/>
        </p:nvSpPr>
        <p:spPr>
          <a:xfrm>
            <a:off x="1281817" y="2522028"/>
            <a:ext cx="3271330" cy="9541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Modal body --&gt;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="modal-body"&gt;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This is the modal body.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221EF0-1DB8-4A81-9C1A-264D45CBD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817" y="4231072"/>
            <a:ext cx="7036814" cy="184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3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Modal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Lastly, create the modal footer within the </a:t>
            </a:r>
            <a:r>
              <a:rPr lang="en-SG" dirty="0">
                <a:solidFill>
                  <a:srgbClr val="FF0000"/>
                </a:solidFill>
              </a:rPr>
              <a:t>&lt;div class=“modal-content”&gt;</a:t>
            </a:r>
            <a:r>
              <a:rPr lang="en-SG" dirty="0"/>
              <a:t> element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r>
              <a:rPr lang="en-SG" dirty="0"/>
              <a:t>The code above creates the modal footer with a red close button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32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4E398-667B-42A9-B3E1-F46AC220F491}"/>
              </a:ext>
            </a:extLst>
          </p:cNvPr>
          <p:cNvSpPr txBox="1"/>
          <p:nvPr/>
        </p:nvSpPr>
        <p:spPr>
          <a:xfrm>
            <a:off x="1281816" y="2522028"/>
            <a:ext cx="9709837" cy="9541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Modal footer --&gt;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="modal-footer"&gt;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="button"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-danger"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data-dismiss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="modal"&gt;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91C4A4-608F-488F-AFE7-A73F6369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816" y="4113182"/>
            <a:ext cx="5905467" cy="2019619"/>
          </a:xfrm>
          <a:prstGeom prst="rect">
            <a:avLst/>
          </a:prstGeom>
        </p:spPr>
      </p:pic>
      <p:sp>
        <p:nvSpPr>
          <p:cNvPr id="8" name="Rectangular Callout 8">
            <a:extLst>
              <a:ext uri="{FF2B5EF4-FFF2-40B4-BE49-F238E27FC236}">
                <a16:creationId xmlns:a16="http://schemas.microsoft.com/office/drawing/2014/main" id="{E1E355D0-7DF5-4F4B-83A8-E7005B3F5E35}"/>
              </a:ext>
            </a:extLst>
          </p:cNvPr>
          <p:cNvSpPr/>
          <p:nvPr/>
        </p:nvSpPr>
        <p:spPr>
          <a:xfrm>
            <a:off x="7451461" y="5226686"/>
            <a:ext cx="2649285" cy="715340"/>
          </a:xfrm>
          <a:prstGeom prst="wedgeRectCallout">
            <a:avLst>
              <a:gd name="adj1" fmla="val -70389"/>
              <a:gd name="adj2" fmla="val 9282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data-dismiss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is used to close the modal</a:t>
            </a:r>
          </a:p>
        </p:txBody>
      </p:sp>
    </p:spTree>
    <p:extLst>
      <p:ext uri="{BB962C8B-B14F-4D97-AF65-F5344CB8AC3E}">
        <p14:creationId xmlns:p14="http://schemas.microsoft.com/office/powerpoint/2010/main" val="74641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BOOTSTRAP 4: navbar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201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913D-060C-40D1-ACFB-C8681018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Navbar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56A5-0936-4507-86E8-456B2AF65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navigation bar is a navigation header that is placed at the top of the page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standard navigation bar is created with the 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.navbar</a:t>
            </a:r>
            <a:r>
              <a:rPr lang="en-US" dirty="0"/>
              <a:t> class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1315F-EA21-44CD-B77C-9E1270ACD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18" y="2517323"/>
            <a:ext cx="10336163" cy="63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192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Create a web page with Bootstrap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Create a new HTML file in your </a:t>
            </a:r>
            <a:r>
              <a:rPr lang="en-SG" sz="2800" dirty="0">
                <a:solidFill>
                  <a:srgbClr val="007DDA"/>
                </a:solidFill>
              </a:rPr>
              <a:t>C:\Users\USERNAME\Desktop\cdev\week2\ bootstrap_navbar.html</a:t>
            </a:r>
            <a:endParaRPr lang="en-SG" dirty="0">
              <a:solidFill>
                <a:srgbClr val="007DD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35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73485-00F6-4084-8424-5A34008C5604}"/>
              </a:ext>
            </a:extLst>
          </p:cNvPr>
          <p:cNvSpPr txBox="1"/>
          <p:nvPr/>
        </p:nvSpPr>
        <p:spPr>
          <a:xfrm>
            <a:off x="376518" y="2756220"/>
            <a:ext cx="11940987" cy="33239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 lang="</a:t>
            </a:r>
            <a:r>
              <a:rPr lang="en-SG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charset="UTF-8"&gt;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http-</a:t>
            </a:r>
            <a:r>
              <a:rPr lang="en-SG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equiv</a:t>
            </a:r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="X-UA-Compatible" content="IE=edge"&gt;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name="viewport" content="width=device-width, initial-scale=1.0"&gt;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&lt;title&gt;Bootstrap Navbar&lt;/title&gt;</a:t>
            </a:r>
            <a:b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&lt;link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="stylesheet"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="https://maxcdn.bootstrapcdn.com/bootstrap/4.1.3/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/bootstrap.min.css"&gt;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&lt;script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="https://ajax.googleapis.com/ajax/libs/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jquery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/3.3.1/jquery.min.js"&gt;&lt;/script&gt;</a:t>
            </a:r>
          </a:p>
          <a:p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&lt;script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="https://maxcdn.bootstrapcdn.com/bootstrap/4.1.3/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/bootstrap.min.js"&gt;&lt;/script&gt;</a:t>
            </a:r>
            <a:endParaRPr lang="en-SG" sz="1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r>
              <a:rPr lang="en-SG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8814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Navbar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Create a navbar within the </a:t>
            </a:r>
            <a:r>
              <a:rPr lang="en-SG" dirty="0">
                <a:solidFill>
                  <a:srgbClr val="FF0000"/>
                </a:solidFill>
              </a:rPr>
              <a:t>&lt;body&gt;</a:t>
            </a:r>
            <a:r>
              <a:rPr lang="en-SG" dirty="0"/>
              <a:t> element</a:t>
            </a:r>
            <a:endParaRPr lang="en-SG" dirty="0">
              <a:solidFill>
                <a:srgbClr val="007DD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36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4E398-667B-42A9-B3E1-F46AC220F491}"/>
              </a:ext>
            </a:extLst>
          </p:cNvPr>
          <p:cNvSpPr txBox="1"/>
          <p:nvPr/>
        </p:nvSpPr>
        <p:spPr>
          <a:xfrm>
            <a:off x="1017638" y="3134884"/>
            <a:ext cx="10241435" cy="13849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="navbar navbar-expand-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-dark navbar-dark"&gt;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Brand/logo --&gt;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="navbar-brand"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="#"&gt;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Logo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11" name="Rectangular Callout 8">
            <a:extLst>
              <a:ext uri="{FF2B5EF4-FFF2-40B4-BE49-F238E27FC236}">
                <a16:creationId xmlns:a16="http://schemas.microsoft.com/office/drawing/2014/main" id="{5D68D123-D6B6-4EC0-8F5F-C98D6DF9A16D}"/>
              </a:ext>
            </a:extLst>
          </p:cNvPr>
          <p:cNvSpPr/>
          <p:nvPr/>
        </p:nvSpPr>
        <p:spPr>
          <a:xfrm>
            <a:off x="1451377" y="2196446"/>
            <a:ext cx="1970554" cy="724663"/>
          </a:xfrm>
          <a:prstGeom prst="wedgeRectCallout">
            <a:avLst>
              <a:gd name="adj1" fmla="val 24260"/>
              <a:gd name="adj2" fmla="val 108118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.navbar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creates the navigation bar</a:t>
            </a:r>
          </a:p>
        </p:txBody>
      </p:sp>
      <p:sp>
        <p:nvSpPr>
          <p:cNvPr id="12" name="Rectangular Callout 8">
            <a:extLst>
              <a:ext uri="{FF2B5EF4-FFF2-40B4-BE49-F238E27FC236}">
                <a16:creationId xmlns:a16="http://schemas.microsoft.com/office/drawing/2014/main" id="{E36855E4-6B11-4401-8656-66EF808AE7E5}"/>
              </a:ext>
            </a:extLst>
          </p:cNvPr>
          <p:cNvSpPr/>
          <p:nvPr/>
        </p:nvSpPr>
        <p:spPr>
          <a:xfrm>
            <a:off x="3571229" y="2196446"/>
            <a:ext cx="3816636" cy="724663"/>
          </a:xfrm>
          <a:prstGeom prst="wedgeRectCallout">
            <a:avLst>
              <a:gd name="adj1" fmla="val -28282"/>
              <a:gd name="adj2" fmla="val 114622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.navbar-expand-</a:t>
            </a:r>
            <a:r>
              <a:rPr lang="en-GB" sz="1600" dirty="0" err="1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sm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stacks the links up if the screen width is less than 576px</a:t>
            </a:r>
          </a:p>
        </p:txBody>
      </p:sp>
      <p:sp>
        <p:nvSpPr>
          <p:cNvPr id="13" name="Rectangular Callout 8">
            <a:extLst>
              <a:ext uri="{FF2B5EF4-FFF2-40B4-BE49-F238E27FC236}">
                <a16:creationId xmlns:a16="http://schemas.microsoft.com/office/drawing/2014/main" id="{9F04DA91-4D4D-4441-893F-640A12E61C38}"/>
              </a:ext>
            </a:extLst>
          </p:cNvPr>
          <p:cNvSpPr/>
          <p:nvPr/>
        </p:nvSpPr>
        <p:spPr>
          <a:xfrm>
            <a:off x="7537163" y="2196446"/>
            <a:ext cx="3816636" cy="724663"/>
          </a:xfrm>
          <a:prstGeom prst="wedgeRectCallout">
            <a:avLst>
              <a:gd name="adj1" fmla="val -61873"/>
              <a:gd name="adj2" fmla="val 114622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.navbar-dark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rPr>
              <a:t>and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</a:t>
            </a:r>
            <a:r>
              <a:rPr lang="en-GB" sz="1600" dirty="0" err="1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bg</a:t>
            </a:r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-dark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made the navigation bar appears in dark 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gray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14" name="Rectangular Callout 8">
            <a:extLst>
              <a:ext uri="{FF2B5EF4-FFF2-40B4-BE49-F238E27FC236}">
                <a16:creationId xmlns:a16="http://schemas.microsoft.com/office/drawing/2014/main" id="{FF6B6BAC-716B-4198-8773-5AC135038AFC}"/>
              </a:ext>
            </a:extLst>
          </p:cNvPr>
          <p:cNvSpPr/>
          <p:nvPr/>
        </p:nvSpPr>
        <p:spPr>
          <a:xfrm>
            <a:off x="1901627" y="4371322"/>
            <a:ext cx="3040607" cy="724663"/>
          </a:xfrm>
          <a:prstGeom prst="wedgeRectCallout">
            <a:avLst>
              <a:gd name="adj1" fmla="val 7517"/>
              <a:gd name="adj2" fmla="val -96116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FF00"/>
                </a:solidFill>
                <a:highlight>
                  <a:srgbClr val="808080"/>
                </a:highlight>
                <a:latin typeface="Arial Unicode MS" charset="0"/>
                <a:ea typeface="Arial Unicode MS" charset="0"/>
                <a:cs typeface="Arial Unicode MS" charset="0"/>
              </a:rPr>
              <a:t>.navbar-brand</a:t>
            </a:r>
            <a:r>
              <a:rPr lang="en-GB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highlights the brand/logo/name of your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C6C19A-3576-45C1-85F8-FABC1ED96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937" y="4789169"/>
            <a:ext cx="4524375" cy="14287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390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Navbar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Create hyperlinks in the navbar by typing the following codes: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r>
              <a:rPr lang="en-US" dirty="0"/>
              <a:t>To add links inside the navbar, use a </a:t>
            </a:r>
            <a:r>
              <a:rPr lang="en-US" dirty="0">
                <a:solidFill>
                  <a:srgbClr val="FF0000"/>
                </a:solidFill>
              </a:rPr>
              <a:t>&lt;ul&gt;</a:t>
            </a:r>
            <a:r>
              <a:rPr lang="en-US" dirty="0"/>
              <a:t> element with </a:t>
            </a:r>
            <a:r>
              <a:rPr lang="en-US" dirty="0">
                <a:solidFill>
                  <a:srgbClr val="FF0000"/>
                </a:solidFill>
              </a:rPr>
              <a:t>class="navbar-nav"</a:t>
            </a:r>
            <a:r>
              <a:rPr lang="en-US" dirty="0"/>
              <a:t>. Then add </a:t>
            </a:r>
            <a:r>
              <a:rPr lang="en-US" dirty="0">
                <a:solidFill>
                  <a:srgbClr val="FF0000"/>
                </a:solidFill>
              </a:rPr>
              <a:t>&lt;li&gt; </a:t>
            </a:r>
            <a:r>
              <a:rPr lang="en-US" dirty="0"/>
              <a:t>elements with a 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.nav-item</a:t>
            </a:r>
            <a:r>
              <a:rPr lang="en-US" dirty="0"/>
              <a:t> class followed by an </a:t>
            </a:r>
            <a:r>
              <a:rPr lang="en-US" dirty="0">
                <a:solidFill>
                  <a:srgbClr val="FF0000"/>
                </a:solidFill>
              </a:rPr>
              <a:t>&lt;a&gt;</a:t>
            </a:r>
            <a:r>
              <a:rPr lang="en-US" dirty="0"/>
              <a:t> element with a 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.nav-link</a:t>
            </a:r>
            <a:r>
              <a:rPr lang="en-US" dirty="0"/>
              <a:t> class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37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4E398-667B-42A9-B3E1-F46AC220F491}"/>
              </a:ext>
            </a:extLst>
          </p:cNvPr>
          <p:cNvSpPr txBox="1"/>
          <p:nvPr/>
        </p:nvSpPr>
        <p:spPr>
          <a:xfrm>
            <a:off x="1333324" y="2133395"/>
            <a:ext cx="9841038" cy="26776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Links --&gt;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="navbar-nav"&gt;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="nav-item"&gt;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="nav-link"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="http://www.tp.edu.sg"&gt;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Temasek Polytechnic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class="nav-item"&gt;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="nav-link"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="http://lms.tp.edu.sg"&gt;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LMS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="nav-item"&gt;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&lt;a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="nav-link"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="http://www.google.com"&gt;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Google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82435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AEF7-9CA0-4CDB-9134-1CED8445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Navbar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2CBB4-F4ED-41C0-B317-348A9FF8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Refresh the page to see the navbar</a:t>
            </a:r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DFB834-80C8-4BE3-8EFC-710B127E9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765" y="2434757"/>
            <a:ext cx="62007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2126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AEF7-9CA0-4CDB-9134-1CED8445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Collapsible Navbar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2CBB4-F4ED-41C0-B317-348A9FF8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Next, we will make some changes to the codes to make a collapsible Navbar when the screen size decreases to smaller than 576px</a:t>
            </a:r>
          </a:p>
          <a:p>
            <a:endParaRPr lang="en-SG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214F4A7-C72B-41B7-B72A-8D2BB2541659}"/>
              </a:ext>
            </a:extLst>
          </p:cNvPr>
          <p:cNvSpPr/>
          <p:nvPr/>
        </p:nvSpPr>
        <p:spPr>
          <a:xfrm>
            <a:off x="6096000" y="3924616"/>
            <a:ext cx="892628" cy="277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BD5AEA-C385-4DFA-8A71-BE60089F8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82" y="2973816"/>
            <a:ext cx="5223380" cy="19015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999F01-09BE-42DF-A8CC-DC6F0C468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066" y="2630261"/>
            <a:ext cx="47244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670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SG" dirty="0"/>
              <a:t>Collapsible Navbar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Create a button above the links</a:t>
            </a:r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  <a:p>
            <a:r>
              <a:rPr lang="en-US" dirty="0"/>
              <a:t>This button will only appear when the width of the screen decreases to lesser than 576px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40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4E398-667B-42A9-B3E1-F46AC220F491}"/>
              </a:ext>
            </a:extLst>
          </p:cNvPr>
          <p:cNvSpPr txBox="1"/>
          <p:nvPr/>
        </p:nvSpPr>
        <p:spPr>
          <a:xfrm>
            <a:off x="685622" y="2183247"/>
            <a:ext cx="11000191" cy="9541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Toggler/collapsible Button --&gt;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="navbar-toggler"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="button"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data-toggle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="collapse"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data-target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="#</a:t>
            </a:r>
            <a:r>
              <a:rPr lang="en-US" sz="1400" dirty="0" err="1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collapsibleNavbar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="navbar-toggler-icon"&gt;&lt;/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103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SG" dirty="0"/>
              <a:t>Collapsible Navbar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Next, we need to create a </a:t>
            </a:r>
            <a:r>
              <a:rPr lang="en-SG" dirty="0">
                <a:solidFill>
                  <a:srgbClr val="FF0000"/>
                </a:solidFill>
              </a:rPr>
              <a:t>&lt;div&gt;</a:t>
            </a:r>
            <a:r>
              <a:rPr lang="en-SG" dirty="0"/>
              <a:t> and place the links to be inside this </a:t>
            </a:r>
            <a:r>
              <a:rPr lang="en-SG" dirty="0">
                <a:solidFill>
                  <a:srgbClr val="FF0000"/>
                </a:solidFill>
              </a:rPr>
              <a:t>&lt;div&gt;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>
              <a:solidFill>
                <a:srgbClr val="007DDA"/>
              </a:solidFill>
            </a:endParaRPr>
          </a:p>
          <a:p>
            <a:endParaRPr lang="en-SG" dirty="0">
              <a:solidFill>
                <a:srgbClr val="007DD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41</a:t>
            </a:fld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4E398-667B-42A9-B3E1-F46AC220F491}"/>
              </a:ext>
            </a:extLst>
          </p:cNvPr>
          <p:cNvSpPr txBox="1"/>
          <p:nvPr/>
        </p:nvSpPr>
        <p:spPr>
          <a:xfrm>
            <a:off x="1393193" y="2531589"/>
            <a:ext cx="6977921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Links --&gt;</a:t>
            </a:r>
          </a:p>
          <a:p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="collapse navbar-collapse"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collapsibleNavbar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="navbar-nav"&gt;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</a:p>
          <a:p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&lt;/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400" dirty="0">
                <a:solidFill>
                  <a:srgbClr val="007D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12242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AEF7-9CA0-4CDB-9134-1CED8445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Collapsible Navbar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2CBB4-F4ED-41C0-B317-348A9FF8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Now, you can refresh the web page again, resize your browser to see the collapsible navbar</a:t>
            </a:r>
          </a:p>
          <a:p>
            <a:endParaRPr lang="en-SG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6D8AA0D-6A9E-421E-9268-434971AAE3E0}"/>
              </a:ext>
            </a:extLst>
          </p:cNvPr>
          <p:cNvSpPr/>
          <p:nvPr/>
        </p:nvSpPr>
        <p:spPr>
          <a:xfrm>
            <a:off x="6096000" y="3924616"/>
            <a:ext cx="892628" cy="277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EFA0B1-3B82-401F-8D2F-4168D01E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82" y="2973816"/>
            <a:ext cx="5223380" cy="1901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CFEA19-4228-4B9E-84F4-1DF4E91AC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066" y="2630261"/>
            <a:ext cx="47244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82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Introduction to Bootstrap&amp;quot;&quot;/&gt;&lt;property id=&quot;20307&quot; value=&quot;256&quot;/&gt;&lt;/object&gt;&lt;object type=&quot;3&quot; unique_id=&quot;13467&quot;&gt;&lt;property id=&quot;20148&quot; value=&quot;5&quot;/&gt;&lt;property id=&quot;20300&quot; value=&quot;Slide 3 - &amp;quot;The End&amp;quot;&quot;/&gt;&lt;property id=&quot;20307&quot; value=&quot;288&quot;/&gt;&lt;/object&gt;&lt;object type=&quot;3&quot; unique_id=&quot;17659&quot;&gt;&lt;property id=&quot;20148&quot; value=&quot;5&quot;/&gt;&lt;property id=&quot;20300&quot; value=&quot;Slide 2 - &amp;quot;Overview&amp;quot;&quot;/&gt;&lt;property id=&quot;20307&quot; value=&quot;28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6805</TotalTime>
  <Words>2856</Words>
  <Application>Microsoft Office PowerPoint</Application>
  <PresentationFormat>Widescreen</PresentationFormat>
  <Paragraphs>358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Unicode MS</vt:lpstr>
      <vt:lpstr>Calibri</vt:lpstr>
      <vt:lpstr>Courier New</vt:lpstr>
      <vt:lpstr>Roboto</vt:lpstr>
      <vt:lpstr>Roboto light</vt:lpstr>
      <vt:lpstr>Verdana</vt:lpstr>
      <vt:lpstr>Office Theme</vt:lpstr>
      <vt:lpstr>Introduction to Bootstrap</vt:lpstr>
      <vt:lpstr>Objectives</vt:lpstr>
      <vt:lpstr>Tools Required</vt:lpstr>
      <vt:lpstr>BOOTSTRAP 4</vt:lpstr>
      <vt:lpstr>What is Bootstrap?</vt:lpstr>
      <vt:lpstr>Why Bootstrap?</vt:lpstr>
      <vt:lpstr>Create a web page with Bootstrap 4</vt:lpstr>
      <vt:lpstr>Create a web page with Bootstrap 4</vt:lpstr>
      <vt:lpstr>Container Classes</vt:lpstr>
      <vt:lpstr>Container Classes</vt:lpstr>
      <vt:lpstr>Container Classes</vt:lpstr>
      <vt:lpstr>Container Classes</vt:lpstr>
      <vt:lpstr>Grid Classes</vt:lpstr>
      <vt:lpstr>Grid Classes</vt:lpstr>
      <vt:lpstr>Grid Classes</vt:lpstr>
      <vt:lpstr>Grid Classes</vt:lpstr>
      <vt:lpstr>Grid Classes</vt:lpstr>
      <vt:lpstr>Text Colors</vt:lpstr>
      <vt:lpstr>Text Colors</vt:lpstr>
      <vt:lpstr>Background Colors</vt:lpstr>
      <vt:lpstr>Background Colors</vt:lpstr>
      <vt:lpstr>Badge</vt:lpstr>
      <vt:lpstr>Badge</vt:lpstr>
      <vt:lpstr>Badge</vt:lpstr>
      <vt:lpstr>BOOTSTRAP 4: Modals</vt:lpstr>
      <vt:lpstr>Modal</vt:lpstr>
      <vt:lpstr>Create a web page with Bootstrap 4</vt:lpstr>
      <vt:lpstr>Modal</vt:lpstr>
      <vt:lpstr>Modal</vt:lpstr>
      <vt:lpstr>Modal</vt:lpstr>
      <vt:lpstr>Modal</vt:lpstr>
      <vt:lpstr>Modal</vt:lpstr>
      <vt:lpstr>BOOTSTRAP 4: navbar</vt:lpstr>
      <vt:lpstr>Navbar</vt:lpstr>
      <vt:lpstr>Create a web page with Bootstrap 4</vt:lpstr>
      <vt:lpstr>Navbar</vt:lpstr>
      <vt:lpstr>Navbar</vt:lpstr>
      <vt:lpstr>Navbar</vt:lpstr>
      <vt:lpstr>Collapsible Navbar</vt:lpstr>
      <vt:lpstr>Collapsible Navbar</vt:lpstr>
      <vt:lpstr>Collapsible Navbar</vt:lpstr>
      <vt:lpstr>Collapsible Navbar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Bootstrap</dc:title>
  <dc:subject>Introduction to CSS</dc:subject>
  <dc:creator>Tan Sio Poh</dc:creator>
  <cp:keywords>CODT, CIT1C16, ADEV, CIT1C17, Introduction to Bootstrap 4</cp:keywords>
  <dc:description/>
  <cp:lastModifiedBy>temasek poly</cp:lastModifiedBy>
  <cp:revision>310</cp:revision>
  <dcterms:created xsi:type="dcterms:W3CDTF">2016-03-04T00:57:19Z</dcterms:created>
  <dcterms:modified xsi:type="dcterms:W3CDTF">2021-09-22T05:09:17Z</dcterms:modified>
  <cp:category>Software Cluster</cp:category>
</cp:coreProperties>
</file>