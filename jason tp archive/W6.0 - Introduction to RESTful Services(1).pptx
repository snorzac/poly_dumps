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8"/>
  </p:notesMasterIdLst>
  <p:sldIdLst>
    <p:sldId id="256" r:id="rId2"/>
    <p:sldId id="289" r:id="rId3"/>
    <p:sldId id="373" r:id="rId4"/>
    <p:sldId id="402" r:id="rId5"/>
    <p:sldId id="495" r:id="rId6"/>
    <p:sldId id="426" r:id="rId7"/>
    <p:sldId id="491" r:id="rId8"/>
    <p:sldId id="492" r:id="rId9"/>
    <p:sldId id="493" r:id="rId10"/>
    <p:sldId id="479" r:id="rId11"/>
    <p:sldId id="494" r:id="rId12"/>
    <p:sldId id="488" r:id="rId13"/>
    <p:sldId id="490" r:id="rId14"/>
    <p:sldId id="486" r:id="rId15"/>
    <p:sldId id="423" r:id="rId16"/>
    <p:sldId id="288" r:id="rId17"/>
  </p:sldIdLst>
  <p:sldSz cx="12192000" cy="6858000"/>
  <p:notesSz cx="6858000" cy="9144000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lena Saleh" initials="SS" lastIdx="8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DDA"/>
    <a:srgbClr val="0070C0"/>
    <a:srgbClr val="1CADE4"/>
    <a:srgbClr val="FAD22C"/>
    <a:srgbClr val="61C5FF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02D8C1-6914-420B-807D-CA9B6A5E9F5B}" v="3" dt="2018-11-16T07:19:39.826"/>
    <p1510:client id="{E99C5BFE-117D-0388-01F2-9EC0C22FC285}" v="5" dt="2020-11-23T06:15:19.1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m Su Yi" userId="43bb02ba-2a64-4c57-886a-7f9577835f3c" providerId="ADAL" clId="{97AD78F1-3470-48F6-AFD9-7F90DFF72953}"/>
    <pc:docChg chg="modMainMaster">
      <pc:chgData name="Lam Su Yi" userId="43bb02ba-2a64-4c57-886a-7f9577835f3c" providerId="ADAL" clId="{97AD78F1-3470-48F6-AFD9-7F90DFF72953}" dt="2018-09-28T07:06:55.305" v="9" actId="20577"/>
      <pc:docMkLst>
        <pc:docMk/>
      </pc:docMkLst>
      <pc:sldMasterChg chg="modSldLayout">
        <pc:chgData name="Lam Su Yi" userId="43bb02ba-2a64-4c57-886a-7f9577835f3c" providerId="ADAL" clId="{97AD78F1-3470-48F6-AFD9-7F90DFF72953}" dt="2018-09-28T07:06:55.305" v="9" actId="20577"/>
        <pc:sldMasterMkLst>
          <pc:docMk/>
          <pc:sldMasterMk cId="758345117" sldId="2147483672"/>
        </pc:sldMasterMkLst>
        <pc:sldLayoutChg chg="modSp">
          <pc:chgData name="Lam Su Yi" userId="43bb02ba-2a64-4c57-886a-7f9577835f3c" providerId="ADAL" clId="{97AD78F1-3470-48F6-AFD9-7F90DFF72953}" dt="2018-09-28T07:06:55.305" v="9" actId="20577"/>
          <pc:sldLayoutMkLst>
            <pc:docMk/>
            <pc:sldMasterMk cId="758345117" sldId="2147483672"/>
            <pc:sldLayoutMk cId="1526603819" sldId="2147483673"/>
          </pc:sldLayoutMkLst>
          <pc:spChg chg="mod">
            <ac:chgData name="Lam Su Yi" userId="43bb02ba-2a64-4c57-886a-7f9577835f3c" providerId="ADAL" clId="{97AD78F1-3470-48F6-AFD9-7F90DFF72953}" dt="2018-09-28T01:12:11.849" v="4" actId="20577"/>
            <ac:spMkLst>
              <pc:docMk/>
              <pc:sldMasterMk cId="758345117" sldId="2147483672"/>
              <pc:sldLayoutMk cId="1526603819" sldId="2147483673"/>
              <ac:spMk id="12" creationId="{00000000-0000-0000-0000-000000000000}"/>
            </ac:spMkLst>
          </pc:spChg>
          <pc:spChg chg="mod">
            <ac:chgData name="Lam Su Yi" userId="43bb02ba-2a64-4c57-886a-7f9577835f3c" providerId="ADAL" clId="{97AD78F1-3470-48F6-AFD9-7F90DFF72953}" dt="2018-09-28T07:06:55.305" v="9" actId="20577"/>
            <ac:spMkLst>
              <pc:docMk/>
              <pc:sldMasterMk cId="758345117" sldId="2147483672"/>
              <pc:sldLayoutMk cId="1526603819" sldId="2147483673"/>
              <ac:spMk id="16" creationId="{00000000-0000-0000-0000-000000000000}"/>
            </ac:spMkLst>
          </pc:spChg>
        </pc:sldLayoutChg>
      </pc:sldMasterChg>
    </pc:docChg>
  </pc:docChgLst>
  <pc:docChgLst>
    <pc:chgData name="Lam Su Yi" userId="43bb02ba-2a64-4c57-886a-7f9577835f3c" providerId="ADAL" clId="{1402D8C1-6914-420B-807D-CA9B6A5E9F5B}"/>
    <pc:docChg chg="modSld">
      <pc:chgData name="Lam Su Yi" userId="43bb02ba-2a64-4c57-886a-7f9577835f3c" providerId="ADAL" clId="{1402D8C1-6914-420B-807D-CA9B6A5E9F5B}" dt="2018-11-16T07:19:42.020" v="3" actId="6549"/>
      <pc:docMkLst>
        <pc:docMk/>
      </pc:docMkLst>
      <pc:sldChg chg="modSp">
        <pc:chgData name="Lam Su Yi" userId="43bb02ba-2a64-4c57-886a-7f9577835f3c" providerId="ADAL" clId="{1402D8C1-6914-420B-807D-CA9B6A5E9F5B}" dt="2018-11-16T07:19:42.020" v="3" actId="6549"/>
        <pc:sldMkLst>
          <pc:docMk/>
          <pc:sldMk cId="1524630059" sldId="488"/>
        </pc:sldMkLst>
        <pc:spChg chg="mod">
          <ac:chgData name="Lam Su Yi" userId="43bb02ba-2a64-4c57-886a-7f9577835f3c" providerId="ADAL" clId="{1402D8C1-6914-420B-807D-CA9B6A5E9F5B}" dt="2018-11-16T07:19:42.020" v="3" actId="6549"/>
          <ac:spMkLst>
            <pc:docMk/>
            <pc:sldMk cId="1524630059" sldId="488"/>
            <ac:spMk id="7" creationId="{00000000-0000-0000-0000-000000000000}"/>
          </ac:spMkLst>
        </pc:spChg>
      </pc:sldChg>
    </pc:docChg>
  </pc:docChgLst>
  <pc:docChgLst>
    <pc:chgData name="Peter CHOY (TP)" userId="S::pchoy@tp.edu.sg::8735232f-b789-4ca8-8ad6-d7a23ffc53c0" providerId="AD" clId="Web-{E99C5BFE-117D-0388-01F2-9EC0C22FC285}"/>
    <pc:docChg chg="modSld">
      <pc:chgData name="Peter CHOY (TP)" userId="S::pchoy@tp.edu.sg::8735232f-b789-4ca8-8ad6-d7a23ffc53c0" providerId="AD" clId="Web-{E99C5BFE-117D-0388-01F2-9EC0C22FC285}" dt="2020-11-23T06:15:19.117" v="4" actId="20577"/>
      <pc:docMkLst>
        <pc:docMk/>
      </pc:docMkLst>
      <pc:sldChg chg="modSp">
        <pc:chgData name="Peter CHOY (TP)" userId="S::pchoy@tp.edu.sg::8735232f-b789-4ca8-8ad6-d7a23ffc53c0" providerId="AD" clId="Web-{E99C5BFE-117D-0388-01F2-9EC0C22FC285}" dt="2020-11-23T06:14:17.585" v="2" actId="20577"/>
        <pc:sldMkLst>
          <pc:docMk/>
          <pc:sldMk cId="3717506009" sldId="493"/>
        </pc:sldMkLst>
        <pc:spChg chg="mod">
          <ac:chgData name="Peter CHOY (TP)" userId="S::pchoy@tp.edu.sg::8735232f-b789-4ca8-8ad6-d7a23ffc53c0" providerId="AD" clId="Web-{E99C5BFE-117D-0388-01F2-9EC0C22FC285}" dt="2020-11-23T06:14:17.585" v="2" actId="20577"/>
          <ac:spMkLst>
            <pc:docMk/>
            <pc:sldMk cId="3717506009" sldId="493"/>
            <ac:spMk id="3" creationId="{439518C4-7E64-4F70-81CA-544E43E1D11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97268A-7AE4-432A-9318-AFE0CD5AF515}" type="datetimeFigureOut">
              <a:rPr lang="en-SG" smtClean="0"/>
              <a:t>22/9/2021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443D8-64E2-477C-8585-14786302454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51762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"/>
            <a:ext cx="9269729" cy="609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 userDrawn="1"/>
        </p:nvSpPr>
        <p:spPr>
          <a:xfrm>
            <a:off x="9349740" y="2"/>
            <a:ext cx="2845841" cy="6096000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9119" y="1445341"/>
            <a:ext cx="6770539" cy="2195327"/>
          </a:xfrm>
        </p:spPr>
        <p:txBody>
          <a:bodyPr anchor="b">
            <a:normAutofit/>
          </a:bodyPr>
          <a:lstStyle>
            <a:lvl1pPr algn="l">
              <a:defRPr sz="40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9119" y="3732744"/>
            <a:ext cx="6735463" cy="1655762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1857" y="6356350"/>
            <a:ext cx="1692869" cy="365125"/>
          </a:xfrm>
        </p:spPr>
        <p:txBody>
          <a:bodyPr/>
          <a:lstStyle>
            <a:lvl1pPr algn="ctr">
              <a:defRPr/>
            </a:lvl1pPr>
          </a:lstStyle>
          <a:p>
            <a:fld id="{8E9E4023-6F3A-457B-B0BB-8C1F114B424F}" type="slidenum">
              <a:rPr lang="en-SG" smtClean="0"/>
              <a:pPr/>
              <a:t>‹#›</a:t>
            </a:fld>
            <a:endParaRPr lang="en-SG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912" y="593958"/>
            <a:ext cx="4324551" cy="533504"/>
          </a:xfrm>
          <a:prstGeom prst="rect">
            <a:avLst/>
          </a:prstGeom>
          <a:effectLst>
            <a:outerShdw blurRad="50800" dist="25400" dir="2700000" algn="tl" rotWithShape="0">
              <a:prstClr val="black">
                <a:alpha val="33000"/>
              </a:prstClr>
            </a:outerShdw>
          </a:effectLst>
        </p:spPr>
      </p:pic>
      <p:sp>
        <p:nvSpPr>
          <p:cNvPr id="16" name="Rectangle 15"/>
          <p:cNvSpPr/>
          <p:nvPr userDrawn="1"/>
        </p:nvSpPr>
        <p:spPr>
          <a:xfrm>
            <a:off x="9352667" y="291179"/>
            <a:ext cx="2782059" cy="1569660"/>
          </a:xfrm>
          <a:prstGeom prst="rect">
            <a:avLst/>
          </a:prstGeom>
          <a:effectLst>
            <a:reflection blurRad="6350" stA="50000" endA="300" endPos="55500" dist="50800" dir="5400000" sy="-100000" algn="bl" rotWithShape="0"/>
          </a:effectLst>
        </p:spPr>
        <p:txBody>
          <a:bodyPr wrap="square">
            <a:spAutoFit/>
          </a:bodyPr>
          <a:lstStyle/>
          <a:p>
            <a:pPr algn="ctr"/>
            <a:r>
              <a:rPr lang="en-SG" sz="4800" b="1" spc="80">
                <a:solidFill>
                  <a:schemeClr val="bg1"/>
                </a:solidFill>
                <a:effectLst>
                  <a:reflection blurRad="6350" stA="60000" endA="900" endPos="60000" dist="25400" dir="5400000" sy="-100000" algn="bl" rotWithShape="0"/>
                </a:effectLst>
                <a:latin typeface="Roboto" pitchFamily="2" charset="0"/>
                <a:ea typeface="Roboto" pitchFamily="2" charset="0"/>
                <a:cs typeface="Calibri" panose="020F0502020204030204" pitchFamily="34" charset="0"/>
              </a:rPr>
              <a:t>CDEV</a:t>
            </a:r>
          </a:p>
          <a:p>
            <a:pPr algn="ctr"/>
            <a:r>
              <a:rPr lang="en-SG" sz="4800" b="1" spc="80">
                <a:solidFill>
                  <a:schemeClr val="bg1"/>
                </a:solidFill>
                <a:effectLst>
                  <a:reflection blurRad="6350" stA="60000" endA="900" endPos="60000" dist="25400" dir="5400000" sy="-100000" algn="bl" rotWithShape="0"/>
                </a:effectLst>
                <a:latin typeface="Roboto" pitchFamily="2" charset="0"/>
                <a:ea typeface="Roboto" pitchFamily="2" charset="0"/>
                <a:cs typeface="Calibri" panose="020F0502020204030204" pitchFamily="34" charset="0"/>
              </a:rPr>
              <a:t>DBAV</a:t>
            </a:r>
            <a:endParaRPr lang="en-SG" sz="4800" spc="80">
              <a:solidFill>
                <a:schemeClr val="bg1"/>
              </a:solidFill>
              <a:effectLst>
                <a:reflection blurRad="6350" stA="60000" endA="900" endPos="60000" dist="25400" dir="5400000" sy="-100000" algn="bl" rotWithShape="0"/>
              </a:effectLst>
              <a:latin typeface="Roboto light" pitchFamily="2" charset="0"/>
              <a:ea typeface="Roboto light" pitchFamily="2" charset="0"/>
              <a:cs typeface="Calibri" panose="020F0502020204030204" pitchFamily="34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483724" y="6166170"/>
            <a:ext cx="886601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SG" sz="1400" b="1" spc="8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SOFTWARE</a:t>
            </a:r>
            <a:r>
              <a:rPr lang="en-SG" sz="1400" spc="8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CLUSTER</a:t>
            </a:r>
            <a:r>
              <a:rPr lang="en-SG" sz="1200" spc="8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SG" sz="1200" spc="8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SG" sz="1200" spc="8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 CDEV • Coding and Development Project ] [ DBAV • Database Application Development ]</a:t>
            </a:r>
            <a:endParaRPr lang="en-US" sz="1200" spc="8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7464598" y="2544224"/>
            <a:ext cx="4648963" cy="3765492"/>
            <a:chOff x="7464598" y="2544224"/>
            <a:chExt cx="4648963" cy="3765492"/>
          </a:xfrm>
          <a:effectLst>
            <a:outerShdw blurRad="38100" dist="25400" dir="2700000" algn="tl" rotWithShape="0">
              <a:prstClr val="black">
                <a:alpha val="28000"/>
              </a:prstClr>
            </a:outerShdw>
          </a:effectLst>
        </p:grpSpPr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81551" y="4482380"/>
              <a:ext cx="1032010" cy="850475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64598" y="2544224"/>
              <a:ext cx="3896323" cy="3765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26603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85431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774" y="3917739"/>
            <a:ext cx="10336161" cy="819784"/>
          </a:xfrm>
        </p:spPr>
        <p:txBody>
          <a:bodyPr>
            <a:normAutofit/>
          </a:bodyPr>
          <a:lstStyle>
            <a:lvl1pPr algn="ctr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E9E4023-6F3A-457B-B0BB-8C1F114B424F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5" name="Rectangle 4"/>
          <p:cNvSpPr/>
          <p:nvPr userDrawn="1"/>
        </p:nvSpPr>
        <p:spPr>
          <a:xfrm>
            <a:off x="0" y="5011843"/>
            <a:ext cx="9141619" cy="14973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73476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1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1pPr>
              <a:defRPr>
                <a:latin typeface="Arial Unicode MS" charset="0"/>
                <a:ea typeface="Arial Unicode MS" charset="0"/>
                <a:cs typeface="Arial Unicode MS" charset="0"/>
              </a:defRPr>
            </a:lvl1pPr>
            <a:lvl2pPr>
              <a:defRPr>
                <a:latin typeface="Arial Unicode MS" charset="0"/>
                <a:ea typeface="Arial Unicode MS" charset="0"/>
                <a:cs typeface="Arial Unicode MS" charset="0"/>
              </a:defRPr>
            </a:lvl2pPr>
            <a:lvl3pPr>
              <a:defRPr>
                <a:latin typeface="Arial Unicode MS" charset="0"/>
                <a:ea typeface="Arial Unicode MS" charset="0"/>
                <a:cs typeface="Arial Unicode MS" charset="0"/>
              </a:defRPr>
            </a:lvl3pPr>
            <a:lvl4pPr>
              <a:defRPr>
                <a:latin typeface="Arial Unicode MS" charset="0"/>
                <a:ea typeface="Arial Unicode MS" charset="0"/>
                <a:cs typeface="Arial Unicode MS" charset="0"/>
              </a:defRPr>
            </a:lvl4pPr>
            <a:lvl5pPr>
              <a:defRPr>
                <a:latin typeface="Arial Unicode MS" charset="0"/>
                <a:ea typeface="Arial Unicode MS" charset="0"/>
                <a:cs typeface="Arial Unicode MS" charset="0"/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1pPr>
              <a:defRPr>
                <a:latin typeface="Arial Unicode MS" charset="0"/>
                <a:ea typeface="Arial Unicode MS" charset="0"/>
                <a:cs typeface="Arial Unicode MS" charset="0"/>
              </a:defRPr>
            </a:lvl1pPr>
            <a:lvl2pPr>
              <a:defRPr>
                <a:latin typeface="Arial Unicode MS" charset="0"/>
                <a:ea typeface="Arial Unicode MS" charset="0"/>
                <a:cs typeface="Arial Unicode MS" charset="0"/>
              </a:defRPr>
            </a:lvl2pPr>
            <a:lvl3pPr>
              <a:defRPr>
                <a:latin typeface="Arial Unicode MS" charset="0"/>
                <a:ea typeface="Arial Unicode MS" charset="0"/>
                <a:cs typeface="Arial Unicode MS" charset="0"/>
              </a:defRPr>
            </a:lvl3pPr>
            <a:lvl4pPr>
              <a:defRPr>
                <a:latin typeface="Arial Unicode MS" charset="0"/>
                <a:ea typeface="Arial Unicode MS" charset="0"/>
                <a:cs typeface="Arial Unicode MS" charset="0"/>
              </a:defRPr>
            </a:lvl4pPr>
            <a:lvl5pPr>
              <a:defRPr>
                <a:latin typeface="Arial Unicode MS" charset="0"/>
                <a:ea typeface="Arial Unicode MS" charset="0"/>
                <a:cs typeface="Arial Unicode MS" charset="0"/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/>
          <a:lstStyle/>
          <a:p>
            <a:fld id="{B1F42F74-75E5-42CB-8590-502DC3F95CF0}" type="datetime1">
              <a:rPr lang="en-US" smtClean="0"/>
              <a:t>9/22/2021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 err="1"/>
              <a:t>Temasek</a:t>
            </a:r>
            <a:r>
              <a:rPr lang="en-US"/>
              <a:t> Polytechnic  •  School of Informatics &amp; 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3236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Arial Unicode MS" charset="0"/>
                <a:ea typeface="Arial Unicode MS" charset="0"/>
                <a:cs typeface="Arial Unicode MS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5DC50-FC28-472D-98A7-6638A1527CA2}" type="datetime1">
              <a:rPr lang="en-US" smtClean="0"/>
              <a:t>9/22/2021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 err="1"/>
              <a:t>Temasek</a:t>
            </a:r>
            <a:r>
              <a:rPr lang="en-US"/>
              <a:t> Polytechnic  •  School of Informatics &amp; 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675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184910"/>
            <a:ext cx="9141619" cy="14973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 userDrawn="1"/>
        </p:nvSpPr>
        <p:spPr>
          <a:xfrm>
            <a:off x="9270263" y="1184910"/>
            <a:ext cx="2921737" cy="13843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b="0" i="0" u="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7638" y="1631314"/>
            <a:ext cx="10336162" cy="4586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6358" y="6357456"/>
            <a:ext cx="465217" cy="307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E4023-6F3A-457B-B0BB-8C1F114B424F}" type="slidenum">
              <a:rPr lang="en-SG" smtClean="0"/>
              <a:pPr/>
              <a:t>‹#›</a:t>
            </a:fld>
            <a:endParaRPr lang="en-SG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81" y="0"/>
            <a:ext cx="1269849" cy="104647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7638" y="365126"/>
            <a:ext cx="10336161" cy="819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12" name="Rectangle 11"/>
          <p:cNvSpPr/>
          <p:nvPr userDrawn="1"/>
        </p:nvSpPr>
        <p:spPr>
          <a:xfrm>
            <a:off x="978524" y="6388432"/>
            <a:ext cx="1058783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spc="8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TEMASEK POLYTECHNIC I </a:t>
            </a:r>
            <a:r>
              <a:rPr lang="en-US" sz="1200" b="1" spc="8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School of Informatics &amp; IT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-3077" y="130629"/>
            <a:ext cx="652384" cy="786947"/>
            <a:chOff x="-3077" y="130629"/>
            <a:chExt cx="652384" cy="786947"/>
          </a:xfrm>
        </p:grpSpPr>
        <p:sp>
          <p:nvSpPr>
            <p:cNvPr id="4" name="Rectangle 3"/>
            <p:cNvSpPr/>
            <p:nvPr userDrawn="1"/>
          </p:nvSpPr>
          <p:spPr>
            <a:xfrm>
              <a:off x="255037" y="130629"/>
              <a:ext cx="130628" cy="130628"/>
            </a:xfrm>
            <a:prstGeom prst="rect">
              <a:avLst/>
            </a:prstGeom>
            <a:solidFill>
              <a:srgbClr val="007DDA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127551" y="523239"/>
              <a:ext cx="130628" cy="130628"/>
            </a:xfrm>
            <a:prstGeom prst="rect">
              <a:avLst/>
            </a:prstGeom>
            <a:solidFill>
              <a:srgbClr val="007DDA">
                <a:alpha val="8117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-3077" y="261257"/>
              <a:ext cx="130628" cy="130628"/>
            </a:xfrm>
            <a:prstGeom prst="rect">
              <a:avLst/>
            </a:prstGeom>
            <a:solidFill>
              <a:srgbClr val="007D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518679" y="261257"/>
              <a:ext cx="130628" cy="130628"/>
            </a:xfrm>
            <a:prstGeom prst="rect">
              <a:avLst/>
            </a:prstGeom>
            <a:solidFill>
              <a:srgbClr val="007DDA">
                <a:alpha val="9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388195" y="393884"/>
              <a:ext cx="130628" cy="130628"/>
            </a:xfrm>
            <a:prstGeom prst="rect">
              <a:avLst/>
            </a:prstGeom>
            <a:solidFill>
              <a:srgbClr val="007DDA">
                <a:alpha val="9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387783" y="786948"/>
              <a:ext cx="130628" cy="130628"/>
            </a:xfrm>
            <a:prstGeom prst="rect">
              <a:avLst/>
            </a:prstGeom>
            <a:solidFill>
              <a:srgbClr val="007DDA">
                <a:alpha val="9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758345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4" r:id="rId3"/>
    <p:sldLayoutId id="2147483675" r:id="rId4"/>
    <p:sldLayoutId id="2147483685" r:id="rId5"/>
    <p:sldLayoutId id="2147483686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u="none" kern="1200">
          <a:solidFill>
            <a:srgbClr val="0070C0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cdev-quotes.azurewebsites.net/random" TargetMode="Externa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restfulapi.net/" TargetMode="External"/><Relationship Id="rId2" Type="http://schemas.openxmlformats.org/officeDocument/2006/relationships/hyperlink" Target="https://www.restapitutorial.com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>
            <a:off x="863672" y="3954162"/>
            <a:ext cx="6499654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783462" y="1410689"/>
            <a:ext cx="7928404" cy="2387600"/>
          </a:xfrm>
        </p:spPr>
        <p:txBody>
          <a:bodyPr/>
          <a:lstStyle/>
          <a:p>
            <a:r>
              <a:rPr lang="en-US">
                <a:ea typeface="Calisto MT" charset="0"/>
                <a:cs typeface="Calisto MT" charset="0"/>
              </a:rPr>
              <a:t>Introduction to RESTful Services</a:t>
            </a:r>
            <a:endParaRPr lang="en-SG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815546" y="4106778"/>
            <a:ext cx="7928404" cy="1151021"/>
          </a:xfrm>
        </p:spPr>
        <p:txBody>
          <a:bodyPr/>
          <a:lstStyle/>
          <a:p>
            <a:r>
              <a:rPr lang="en-SG"/>
              <a:t>Week 06.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F056B3-4CEB-4FFD-BE48-F055B70D0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pPr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0979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Objectives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>
                <a:ea typeface="ＭＳ Ｐゴシック" charset="0"/>
              </a:rPr>
              <a:t>Describe the HTTP methods and CRUD operations</a:t>
            </a:r>
          </a:p>
          <a:p>
            <a:pPr>
              <a:lnSpc>
                <a:spcPct val="100000"/>
              </a:lnSpc>
              <a:defRPr/>
            </a:pPr>
            <a:r>
              <a:rPr lang="en-US">
                <a:ea typeface="ＭＳ Ｐゴシック" charset="0"/>
              </a:rPr>
              <a:t>Demonstrate how to test a RESTful API</a:t>
            </a:r>
          </a:p>
          <a:p>
            <a:pPr>
              <a:lnSpc>
                <a:spcPct val="100000"/>
              </a:lnSpc>
            </a:pP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524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Tools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/>
              <a:t>Postman</a:t>
            </a:r>
          </a:p>
          <a:p>
            <a:pPr>
              <a:lnSpc>
                <a:spcPct val="100000"/>
              </a:lnSpc>
            </a:pPr>
            <a:r>
              <a:rPr lang="en-GB"/>
              <a:t>Chrome Browser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21257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RESTful API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83725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7B587-5537-4A24-9A2F-86E2E5E64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is an API?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46B33-CCED-427A-9E46-ACF8C78BEB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API stands for </a:t>
            </a:r>
            <a:r>
              <a:rPr lang="en-US">
                <a:solidFill>
                  <a:srgbClr val="007DDA"/>
                </a:solidFill>
              </a:rPr>
              <a:t>Application Programming Interface</a:t>
            </a:r>
          </a:p>
          <a:p>
            <a:pPr>
              <a:lnSpc>
                <a:spcPct val="100000"/>
              </a:lnSpc>
            </a:pPr>
            <a:r>
              <a:rPr lang="en-US"/>
              <a:t>A set of routines, protocols, and tools for building software applications</a:t>
            </a:r>
            <a:endParaRPr lang="en-GB"/>
          </a:p>
          <a:p>
            <a:pPr>
              <a:lnSpc>
                <a:spcPct val="100000"/>
              </a:lnSpc>
            </a:pPr>
            <a:r>
              <a:rPr lang="en-US"/>
              <a:t>A software intermediary that allows two applications to talk to each other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D314B9-4530-4237-976C-22BFDB172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83409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7B587-5537-4A24-9A2F-86E2E5E64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is a RESTful API?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46B33-CCED-427A-9E46-ACF8C78BEB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 stands for </a:t>
            </a:r>
            <a:r>
              <a:rPr lang="en-US">
                <a:solidFill>
                  <a:srgbClr val="007DDA"/>
                </a:solidFill>
              </a:rPr>
              <a:t>Representational State Transfer</a:t>
            </a:r>
          </a:p>
          <a:p>
            <a:pPr>
              <a:lnSpc>
                <a:spcPct val="100000"/>
              </a:lnSpc>
            </a:pPr>
            <a:r>
              <a:rPr lang="en-GB"/>
              <a:t>Software architecture style that relies on a stateless communications protocol, most commonly </a:t>
            </a:r>
            <a:r>
              <a:rPr lang="en-GB">
                <a:solidFill>
                  <a:srgbClr val="007DDA"/>
                </a:solidFill>
              </a:rPr>
              <a:t>HTTP</a:t>
            </a:r>
          </a:p>
          <a:p>
            <a:pPr>
              <a:lnSpc>
                <a:spcPct val="100000"/>
              </a:lnSpc>
            </a:pPr>
            <a:r>
              <a:rPr lang="en-GB"/>
              <a:t>It can be used to manipulate data in any programming languages e.g. Java, JavaScript</a:t>
            </a:r>
          </a:p>
          <a:p>
            <a:pPr>
              <a:lnSpc>
                <a:spcPct val="100000"/>
              </a:lnSpc>
            </a:pPr>
            <a:r>
              <a:rPr lang="en-GB"/>
              <a:t>Data can be structured in different formats such as HTML, XML, plain text, </a:t>
            </a:r>
            <a:r>
              <a:rPr lang="en-GB">
                <a:solidFill>
                  <a:srgbClr val="007DDA"/>
                </a:solidFill>
              </a:rPr>
              <a:t>JSON</a:t>
            </a:r>
            <a:r>
              <a:rPr lang="en-GB"/>
              <a:t> etc…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D314B9-4530-4237-976C-22BFDB172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81905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B8634-664C-4A9F-9EEF-FA5C8E5C3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is a RESTful API?</a:t>
            </a:r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5E5EB-39E7-43D4-A7F2-BCD60B49D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7</a:t>
            </a:fld>
            <a:endParaRPr lang="en-SG"/>
          </a:p>
        </p:txBody>
      </p:sp>
      <p:pic>
        <p:nvPicPr>
          <p:cNvPr id="1028" name="Picture 4" descr="Image result for rest api">
            <a:extLst>
              <a:ext uri="{FF2B5EF4-FFF2-40B4-BE49-F238E27FC236}">
                <a16:creationId xmlns:a16="http://schemas.microsoft.com/office/drawing/2014/main" id="{E664DFAE-E8F1-4AC3-A60E-B38078AD06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638" y="1885360"/>
            <a:ext cx="6082646" cy="3802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9827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59A35-FA2C-4774-9D2D-0B6A85A0F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/>
              <a:t>HTTP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9BC31-5552-48A2-A0CB-16B8BD37D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/>
              <a:t>RESTful APIs can be used to implement Create, Read, Update, and Delete (CRUD) operations</a:t>
            </a:r>
          </a:p>
          <a:p>
            <a:pPr marL="0" indent="0">
              <a:buNone/>
            </a:pPr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2E80CF-BC2A-466B-933B-775673D24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8</a:t>
            </a:fld>
            <a:endParaRPr lang="en-SG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2B8AD43-8208-4993-816B-5E9A5B80C7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4812059"/>
              </p:ext>
            </p:extLst>
          </p:nvPr>
        </p:nvGraphicFramePr>
        <p:xfrm>
          <a:off x="1272162" y="2689547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6180">
                  <a:extLst>
                    <a:ext uri="{9D8B030D-6E8A-4147-A177-3AD203B41FA5}">
                      <a16:colId xmlns:a16="http://schemas.microsoft.com/office/drawing/2014/main" val="4121545216"/>
                    </a:ext>
                  </a:extLst>
                </a:gridCol>
                <a:gridCol w="1059873">
                  <a:extLst>
                    <a:ext uri="{9D8B030D-6E8A-4147-A177-3AD203B41FA5}">
                      <a16:colId xmlns:a16="http://schemas.microsoft.com/office/drawing/2014/main" val="4073231634"/>
                    </a:ext>
                  </a:extLst>
                </a:gridCol>
                <a:gridCol w="5591946">
                  <a:extLst>
                    <a:ext uri="{9D8B030D-6E8A-4147-A177-3AD203B41FA5}">
                      <a16:colId xmlns:a16="http://schemas.microsoft.com/office/drawing/2014/main" val="27355380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G"/>
                        <a:t>HTTP Verb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/>
                        <a:t>CRUD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/>
                        <a:t>Operations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0450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/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/>
                        <a:t>Create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/>
                        <a:t>To “create” or “insert” new data into the database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14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/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/>
                        <a:t>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/>
                        <a:t>To “read” or “retrieve” data from the database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326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/>
                        <a:t>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/>
                        <a:t>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/>
                        <a:t>To “update” or “overwrite” data in the database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714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/>
                        <a:t>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/>
                        <a:t>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/>
                        <a:t>To “delete” data in the database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7899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0691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4AFF4-D157-4AF1-A4FE-257E8B20C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/>
              <a:t>JSON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518C4-7E64-4F70-81CA-544E43E1D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SG"/>
              <a:t>JSON is one of the common data structure used by REST</a:t>
            </a:r>
          </a:p>
          <a:p>
            <a:r>
              <a:rPr lang="en-SG"/>
              <a:t>JSON: JavaScript Object Notation</a:t>
            </a:r>
          </a:p>
          <a:p>
            <a:r>
              <a:rPr lang="en-SG"/>
              <a:t>Data is in name/value pairs</a:t>
            </a:r>
          </a:p>
          <a:p>
            <a:r>
              <a:rPr lang="en-SG"/>
              <a:t>Data is separated by commas</a:t>
            </a:r>
          </a:p>
          <a:p>
            <a:endParaRPr lang="en-SG"/>
          </a:p>
          <a:p>
            <a:pPr marL="0" indent="0">
              <a:buNone/>
            </a:pPr>
            <a:r>
              <a:rPr lang="en-SG"/>
              <a:t>	</a:t>
            </a:r>
            <a:r>
              <a:rPr lang="en-SG">
                <a:solidFill>
                  <a:srgbClr val="FF0000"/>
                </a:solidFill>
              </a:rPr>
              <a:t>{</a:t>
            </a:r>
            <a:r>
              <a:rPr lang="en-SG">
                <a:solidFill>
                  <a:srgbClr val="0070C0"/>
                </a:solidFill>
              </a:rPr>
              <a:t>“name”</a:t>
            </a:r>
            <a:r>
              <a:rPr lang="en-SG">
                <a:solidFill>
                  <a:srgbClr val="FF0000"/>
                </a:solidFill>
              </a:rPr>
              <a:t>: </a:t>
            </a:r>
            <a:r>
              <a:rPr lang="en-SG">
                <a:solidFill>
                  <a:schemeClr val="accent4">
                    <a:lumMod val="75000"/>
                  </a:schemeClr>
                </a:solidFill>
              </a:rPr>
              <a:t>“Peter Tan”</a:t>
            </a:r>
            <a:r>
              <a:rPr lang="en-SG">
                <a:solidFill>
                  <a:srgbClr val="0070C0"/>
                </a:solidFill>
              </a:rPr>
              <a:t>, “age”: </a:t>
            </a:r>
            <a:r>
              <a:rPr lang="en-SG">
                <a:solidFill>
                  <a:schemeClr val="accent4">
                    <a:lumMod val="75000"/>
                  </a:schemeClr>
                </a:solidFill>
              </a:rPr>
              <a:t>30</a:t>
            </a:r>
            <a:r>
              <a:rPr lang="en-SG">
                <a:solidFill>
                  <a:srgbClr val="FF0000"/>
                </a:solidFill>
              </a:rPr>
              <a:t>}</a:t>
            </a:r>
          </a:p>
          <a:p>
            <a:pPr marL="0" indent="0">
              <a:buNone/>
            </a:pPr>
            <a:endParaRPr lang="en-SG">
              <a:solidFill>
                <a:srgbClr val="FF0000"/>
              </a:solidFill>
            </a:endParaRPr>
          </a:p>
          <a:p>
            <a:r>
              <a:rPr lang="en-SG"/>
              <a:t>In this subject, we will be creating REST API to retrieve data from the database in JSON format too</a:t>
            </a:r>
          </a:p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563BF3-E069-46F6-BB26-D7EA21621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17506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TESTING a restful </a:t>
            </a:r>
            <a:r>
              <a:rPr lang="en-GB" err="1"/>
              <a:t>api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07175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Test REST API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9982199" cy="475725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Search for “</a:t>
            </a:r>
            <a:r>
              <a:rPr lang="en-US" sz="1600">
                <a:solidFill>
                  <a:srgbClr val="007DDA"/>
                </a:solidFill>
              </a:rPr>
              <a:t>Download Postman</a:t>
            </a:r>
            <a:r>
              <a:rPr lang="en-US" sz="1600"/>
              <a:t>” in the web to download the Postman application</a:t>
            </a:r>
          </a:p>
          <a:p>
            <a:pPr>
              <a:lnSpc>
                <a:spcPct val="100000"/>
              </a:lnSpc>
            </a:pPr>
            <a:r>
              <a:rPr lang="en-US" sz="1600"/>
              <a:t>Install Postman after you have downloaded it</a:t>
            </a:r>
          </a:p>
          <a:p>
            <a:pPr>
              <a:lnSpc>
                <a:spcPct val="100000"/>
              </a:lnSpc>
            </a:pPr>
            <a:endParaRPr lang="en-US" sz="1600"/>
          </a:p>
          <a:p>
            <a:pPr>
              <a:lnSpc>
                <a:spcPct val="100000"/>
              </a:lnSpc>
            </a:pPr>
            <a:endParaRPr lang="en-US" sz="1600"/>
          </a:p>
          <a:p>
            <a:pPr>
              <a:lnSpc>
                <a:spcPct val="100000"/>
              </a:lnSpc>
            </a:pPr>
            <a:endParaRPr lang="en-US" sz="1600"/>
          </a:p>
          <a:p>
            <a:pPr>
              <a:lnSpc>
                <a:spcPct val="100000"/>
              </a:lnSpc>
            </a:pPr>
            <a:endParaRPr lang="en-US" sz="1600"/>
          </a:p>
          <a:p>
            <a:pPr>
              <a:lnSpc>
                <a:spcPct val="100000"/>
              </a:lnSpc>
            </a:pPr>
            <a:endParaRPr lang="en-US" sz="1600"/>
          </a:p>
          <a:p>
            <a:pPr>
              <a:lnSpc>
                <a:spcPct val="100000"/>
              </a:lnSpc>
            </a:pPr>
            <a:endParaRPr lang="en-US" sz="1600"/>
          </a:p>
          <a:p>
            <a:pPr>
              <a:lnSpc>
                <a:spcPct val="100000"/>
              </a:lnSpc>
            </a:pPr>
            <a:endParaRPr lang="en-US" sz="1600"/>
          </a:p>
          <a:p>
            <a:pPr>
              <a:lnSpc>
                <a:spcPct val="100000"/>
              </a:lnSpc>
            </a:pPr>
            <a:endParaRPr lang="en-US" sz="1600"/>
          </a:p>
          <a:p>
            <a:pPr>
              <a:lnSpc>
                <a:spcPct val="100000"/>
              </a:lnSpc>
            </a:pPr>
            <a:endParaRPr lang="en-US" sz="1600"/>
          </a:p>
          <a:p>
            <a:pPr>
              <a:lnSpc>
                <a:spcPct val="100000"/>
              </a:lnSpc>
            </a:pPr>
            <a:endParaRPr lang="en-US" sz="1600"/>
          </a:p>
          <a:p>
            <a:pPr>
              <a:lnSpc>
                <a:spcPct val="100000"/>
              </a:lnSpc>
            </a:pPr>
            <a:endParaRPr lang="en-US" sz="1600"/>
          </a:p>
          <a:p>
            <a:pPr marL="0" indent="0">
              <a:lnSpc>
                <a:spcPct val="100000"/>
              </a:lnSpc>
              <a:buNone/>
            </a:pPr>
            <a:endParaRPr lang="en-GB" sz="1200"/>
          </a:p>
          <a:p>
            <a:pPr lvl="1">
              <a:lnSpc>
                <a:spcPct val="100000"/>
              </a:lnSpc>
            </a:pPr>
            <a:endParaRPr lang="en-GB" sz="1200"/>
          </a:p>
          <a:p>
            <a:pPr>
              <a:lnSpc>
                <a:spcPct val="100000"/>
              </a:lnSpc>
            </a:pPr>
            <a:endParaRPr lang="en-US" sz="1600"/>
          </a:p>
          <a:p>
            <a:pPr>
              <a:lnSpc>
                <a:spcPct val="100000"/>
              </a:lnSpc>
            </a:pPr>
            <a:endParaRPr lang="en-GB" sz="1600"/>
          </a:p>
          <a:p>
            <a:pPr>
              <a:lnSpc>
                <a:spcPct val="100000"/>
              </a:lnSpc>
            </a:pPr>
            <a:endParaRPr lang="en-GB" sz="16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11</a:t>
            </a:fld>
            <a:endParaRPr lang="uk-UA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0C0A35-EF3F-4FF8-A940-47F6C6721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2505075"/>
            <a:ext cx="6661150" cy="33147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33517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Test it!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9982199" cy="475725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Launch the Postman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Select the “GET” function and paste the URL </a:t>
            </a:r>
            <a:r>
              <a:rPr lang="en-US" sz="1600" dirty="0">
                <a:hlinkClick r:id="rId2"/>
              </a:rPr>
              <a:t>https://cdev-quotes.azurewebsites.net/random</a:t>
            </a:r>
            <a:r>
              <a:rPr lang="en-US" sz="1600" dirty="0"/>
              <a:t> 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to test the API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Click on the “Send” button</a:t>
            </a:r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endParaRPr lang="en-GB" sz="1200" dirty="0"/>
          </a:p>
          <a:p>
            <a:pPr lvl="1">
              <a:lnSpc>
                <a:spcPct val="100000"/>
              </a:lnSpc>
            </a:pPr>
            <a:endParaRPr lang="en-GB" sz="1200" dirty="0"/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endParaRPr lang="en-GB" sz="1600" dirty="0"/>
          </a:p>
          <a:p>
            <a:pPr>
              <a:lnSpc>
                <a:spcPct val="100000"/>
              </a:lnSpc>
            </a:pPr>
            <a:endParaRPr lang="en-GB" sz="1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12</a:t>
            </a:fld>
            <a:endParaRPr lang="uk-U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C67224-FA6B-4EAF-8D63-670FE2CBC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0810" y="2703038"/>
            <a:ext cx="5844644" cy="3361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630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9982199" cy="475725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You should see the following data in JSON format in the “Body” of the Postman app</a:t>
            </a:r>
          </a:p>
          <a:p>
            <a:pPr>
              <a:lnSpc>
                <a:spcPct val="100000"/>
              </a:lnSpc>
            </a:pPr>
            <a:r>
              <a:rPr lang="en-US" sz="1600"/>
              <a:t>When the retrieval of data is successful, you should see a status “200”</a:t>
            </a:r>
          </a:p>
          <a:p>
            <a:pPr>
              <a:lnSpc>
                <a:spcPct val="100000"/>
              </a:lnSpc>
            </a:pPr>
            <a:endParaRPr lang="en-US" sz="1600"/>
          </a:p>
          <a:p>
            <a:pPr>
              <a:lnSpc>
                <a:spcPct val="100000"/>
              </a:lnSpc>
            </a:pPr>
            <a:endParaRPr lang="en-US" sz="1600"/>
          </a:p>
          <a:p>
            <a:pPr>
              <a:lnSpc>
                <a:spcPct val="100000"/>
              </a:lnSpc>
            </a:pPr>
            <a:endParaRPr lang="en-US" sz="1600"/>
          </a:p>
          <a:p>
            <a:pPr>
              <a:lnSpc>
                <a:spcPct val="100000"/>
              </a:lnSpc>
            </a:pPr>
            <a:endParaRPr lang="en-US" sz="1600"/>
          </a:p>
          <a:p>
            <a:pPr>
              <a:lnSpc>
                <a:spcPct val="100000"/>
              </a:lnSpc>
            </a:pPr>
            <a:endParaRPr lang="en-US" sz="1600"/>
          </a:p>
          <a:p>
            <a:pPr>
              <a:lnSpc>
                <a:spcPct val="100000"/>
              </a:lnSpc>
            </a:pPr>
            <a:endParaRPr lang="en-US" sz="1600"/>
          </a:p>
          <a:p>
            <a:pPr>
              <a:lnSpc>
                <a:spcPct val="100000"/>
              </a:lnSpc>
            </a:pPr>
            <a:endParaRPr lang="en-US" sz="1600"/>
          </a:p>
          <a:p>
            <a:pPr>
              <a:lnSpc>
                <a:spcPct val="100000"/>
              </a:lnSpc>
            </a:pPr>
            <a:endParaRPr lang="en-US" sz="1600"/>
          </a:p>
          <a:p>
            <a:pPr marL="0" indent="0">
              <a:lnSpc>
                <a:spcPct val="100000"/>
              </a:lnSpc>
              <a:buNone/>
            </a:pPr>
            <a:endParaRPr lang="en-GB" sz="1200"/>
          </a:p>
          <a:p>
            <a:pPr lvl="1">
              <a:lnSpc>
                <a:spcPct val="100000"/>
              </a:lnSpc>
            </a:pPr>
            <a:endParaRPr lang="en-GB" sz="1200"/>
          </a:p>
          <a:p>
            <a:pPr>
              <a:lnSpc>
                <a:spcPct val="100000"/>
              </a:lnSpc>
            </a:pPr>
            <a:endParaRPr lang="en-US" sz="1600"/>
          </a:p>
          <a:p>
            <a:pPr>
              <a:lnSpc>
                <a:spcPct val="100000"/>
              </a:lnSpc>
            </a:pPr>
            <a:endParaRPr lang="en-GB" sz="1600"/>
          </a:p>
          <a:p>
            <a:pPr>
              <a:lnSpc>
                <a:spcPct val="100000"/>
              </a:lnSpc>
            </a:pPr>
            <a:endParaRPr lang="en-GB" sz="16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Test it!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13</a:t>
            </a:fld>
            <a:endParaRPr lang="uk-U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B50D76-BE18-4318-95F0-B5E129F82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074" y="2743200"/>
            <a:ext cx="9467850" cy="2552700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DB12902A-1D09-4A29-9963-4156154C2C85}"/>
              </a:ext>
            </a:extLst>
          </p:cNvPr>
          <p:cNvSpPr/>
          <p:nvPr/>
        </p:nvSpPr>
        <p:spPr>
          <a:xfrm>
            <a:off x="6807446" y="2743200"/>
            <a:ext cx="980388" cy="373919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70495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81755-F95D-4047-9615-4DDB07381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Next Episode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797851-851F-428B-B09B-6635D2705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In the next episodes, you will learn how to create APIs to read and retrieve data from the database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4524CC-986C-4DE2-8D01-4FACEF797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F54DE5-C571-48E8-A5BC-B369434E2F44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27942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75C5A-233F-4C52-8792-BFD597CB8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CAB83-5345-4851-A34A-8D9FBABB5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GB" err="1"/>
              <a:t>TutorialsPoint</a:t>
            </a:r>
            <a:r>
              <a:rPr lang="en-GB"/>
              <a:t> – Learn REST API</a:t>
            </a:r>
          </a:p>
          <a:p>
            <a:pPr lvl="1">
              <a:lnSpc>
                <a:spcPct val="100000"/>
              </a:lnSpc>
            </a:pPr>
            <a:r>
              <a:rPr lang="en-GB">
                <a:hlinkClick r:id="rId2"/>
              </a:rPr>
              <a:t>https://www.restapitutorial.com/</a:t>
            </a:r>
            <a:endParaRPr lang="en-GB"/>
          </a:p>
          <a:p>
            <a:pPr marL="0" indent="0">
              <a:lnSpc>
                <a:spcPct val="100000"/>
              </a:lnSpc>
              <a:buNone/>
            </a:pPr>
            <a:r>
              <a:rPr lang="en-GB"/>
              <a:t>REST API Tutorial</a:t>
            </a:r>
          </a:p>
          <a:p>
            <a:pPr lvl="1">
              <a:lnSpc>
                <a:spcPct val="100000"/>
              </a:lnSpc>
            </a:pPr>
            <a:r>
              <a:rPr lang="en-GB">
                <a:hlinkClick r:id="rId3"/>
              </a:rPr>
              <a:t>https://restfulapi.net/</a:t>
            </a:r>
            <a:r>
              <a:rPr lang="en-GB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ACFA0-CAB0-4572-96C1-F05AC6426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15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22016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/>
              <a:t>The End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60D1F0-3F78-4F63-8353-5B213B578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pPr/>
              <a:t>16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754758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0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HTML Form and Controls II&amp;quot;&quot;/&gt;&lt;property id=&quot;20307&quot; value=&quot;256&quot;/&gt;&lt;/object&gt;&lt;object type=&quot;3&quot; unique_id=&quot;13467&quot;&gt;&lt;property id=&quot;20148&quot; value=&quot;5&quot;/&gt;&lt;property id=&quot;20300&quot; value=&quot;Slide 21 - &amp;quot;The End&amp;quot;&quot;/&gt;&lt;property id=&quot;20307&quot; value=&quot;288&quot;/&gt;&lt;/object&gt;&lt;object type=&quot;3&quot; unique_id=&quot;17361&quot;&gt;&lt;property id=&quot;20148&quot; value=&quot;5&quot;/&gt;&lt;property id=&quot;20300&quot; value=&quot;Slide 2 - &amp;quot;Objectives&amp;quot;&quot;/&gt;&lt;property id=&quot;20307&quot; value=&quot;289&quot;/&gt;&lt;/object&gt;&lt;object type=&quot;3&quot; unique_id=&quot;17362&quot;&gt;&lt;property id=&quot;20148&quot; value=&quot;5&quot;/&gt;&lt;property id=&quot;20300&quot; value=&quot;Slide 3 - &amp;quot;Tools Required&amp;quot;&quot;/&gt;&lt;property id=&quot;20307&quot; value=&quot;308&quot;/&gt;&lt;/object&gt;&lt;object type=&quot;3&quot; unique_id=&quot;17363&quot;&gt;&lt;property id=&quot;20148&quot; value=&quot;5&quot;/&gt;&lt;property id=&quot;20300&quot; value=&quot;Slide 4 - &amp;quot;GET AND POST&amp;quot;&quot;/&gt;&lt;property id=&quot;20307&quot; value=&quot;291&quot;/&gt;&lt;/object&gt;&lt;object type=&quot;3&quot; unique_id=&quot;17364&quot;&gt;&lt;property id=&quot;20148&quot; value=&quot;5&quot;/&gt;&lt;property id=&quot;20300&quot; value=&quot;Slide 5 - &amp;quot;HTTP Request Method: GET&amp;quot;&quot;/&gt;&lt;property id=&quot;20307&quot; value=&quot;292&quot;/&gt;&lt;/object&gt;&lt;object type=&quot;3&quot; unique_id=&quot;17365&quot;&gt;&lt;property id=&quot;20148&quot; value=&quot;5&quot;/&gt;&lt;property id=&quot;20300&quot; value=&quot;Slide 6 - &amp;quot;HTTP Request Method: POST&amp;quot;&quot;/&gt;&lt;property id=&quot;20307&quot; value=&quot;293&quot;/&gt;&lt;/object&gt;&lt;object type=&quot;3&quot; unique_id=&quot;17366&quot;&gt;&lt;property id=&quot;20148&quot; value=&quot;5&quot;/&gt;&lt;property id=&quot;20300&quot; value=&quot;Slide 7 - &amp;quot;GET vs POST&amp;quot;&quot;/&gt;&lt;property id=&quot;20307&quot; value=&quot;294&quot;/&gt;&lt;/object&gt;&lt;object type=&quot;3&quot; unique_id=&quot;17367&quot;&gt;&lt;property id=&quot;20148&quot; value=&quot;5&quot;/&gt;&lt;property id=&quot;20300&quot; value=&quot;Slide 8 - &amp;quot;When To Use?&amp;quot;&quot;/&gt;&lt;property id=&quot;20307&quot; value=&quot;295&quot;/&gt;&lt;/object&gt;&lt;object type=&quot;3&quot; unique_id=&quot;17368&quot;&gt;&lt;property id=&quot;20148&quot; value=&quot;5&quot;/&gt;&lt;property id=&quot;20300&quot; value=&quot;Slide 9 - &amp;quot;FORM ELEMENTS&amp;quot;&quot;/&gt;&lt;property id=&quot;20307&quot; value=&quot;296&quot;/&gt;&lt;/object&gt;&lt;object type=&quot;3&quot; unique_id=&quot;17369&quot;&gt;&lt;property id=&quot;20148&quot; value=&quot;5&quot;/&gt;&lt;property id=&quot;20300&quot; value=&quot;Slide 10 - &amp;quot;Label Element&amp;quot;&quot;/&gt;&lt;property id=&quot;20307&quot; value=&quot;297&quot;/&gt;&lt;/object&gt;&lt;object type=&quot;3&quot; unique_id=&quot;17370&quot;&gt;&lt;property id=&quot;20148&quot; value=&quot;5&quot;/&gt;&lt;property id=&quot;20300&quot; value=&quot;Slide 11 - &amp;quot;Input Element: Textbox&amp;quot;&quot;/&gt;&lt;property id=&quot;20307&quot; value=&quot;298&quot;/&gt;&lt;/object&gt;&lt;object type=&quot;3&quot; unique_id=&quot;17371&quot;&gt;&lt;property id=&quot;20148&quot; value=&quot;5&quot;/&gt;&lt;property id=&quot;20300&quot; value=&quot;Slide 12 - &amp;quot;Input Element: Checkbox&amp;quot;&quot;/&gt;&lt;property id=&quot;20307&quot; value=&quot;299&quot;/&gt;&lt;/object&gt;&lt;object type=&quot;3&quot; unique_id=&quot;17372&quot;&gt;&lt;property id=&quot;20148&quot; value=&quot;5&quot;/&gt;&lt;property id=&quot;20300&quot; value=&quot;Slide 13 - &amp;quot;Input Element: Radio Button&amp;quot;&quot;/&gt;&lt;property id=&quot;20307&quot; value=&quot;300&quot;/&gt;&lt;/object&gt;&lt;object type=&quot;3&quot; unique_id=&quot;17373&quot;&gt;&lt;property id=&quot;20148&quot; value=&quot;5&quot;/&gt;&lt;property id=&quot;20300&quot; value=&quot;Slide 14 - &amp;quot;Button Element&amp;quot;&quot;/&gt;&lt;property id=&quot;20307&quot; value=&quot;301&quot;/&gt;&lt;/object&gt;&lt;object type=&quot;3&quot; unique_id=&quot;17374&quot;&gt;&lt;property id=&quot;20148&quot; value=&quot;5&quot;/&gt;&lt;property id=&quot;20300&quot; value=&quot;Slide 15 - &amp;quot;Select Element&amp;quot;&quot;/&gt;&lt;property id=&quot;20307&quot; value=&quot;302&quot;/&gt;&lt;/object&gt;&lt;object type=&quot;3&quot; unique_id=&quot;17375&quot;&gt;&lt;property id=&quot;20148&quot; value=&quot;5&quot;/&gt;&lt;property id=&quot;20300&quot; value=&quot;Slide 16 - &amp;quot;Textarea Element&amp;quot;&quot;/&gt;&lt;property id=&quot;20307&quot; value=&quot;303&quot;/&gt;&lt;/object&gt;&lt;object type=&quot;3&quot; unique_id=&quot;17376&quot;&gt;&lt;property id=&quot;20148&quot; value=&quot;5&quot;/&gt;&lt;property id=&quot;20300&quot; value=&quot;Slide 17 - &amp;quot;Other Elements in HTML5&amp;quot;&quot;/&gt;&lt;property id=&quot;20307&quot; value=&quot;304&quot;/&gt;&lt;/object&gt;&lt;object type=&quot;3&quot; unique_id=&quot;17377&quot;&gt;&lt;property id=&quot;20148&quot; value=&quot;5&quot;/&gt;&lt;property id=&quot;20300&quot; value=&quot;Slide 18 - &amp;quot;Iframe Element&amp;quot;&quot;/&gt;&lt;property id=&quot;20307&quot; value=&quot;305&quot;/&gt;&lt;/object&gt;&lt;object type=&quot;3&quot; unique_id=&quot;17378&quot;&gt;&lt;property id=&quot;20148&quot; value=&quot;5&quot;/&gt;&lt;property id=&quot;20300&quot; value=&quot;Slide 19 - &amp;quot;Compatibilities and Support&amp;quot;&quot;/&gt;&lt;property id=&quot;20307&quot; value=&quot;306&quot;/&gt;&lt;/object&gt;&lt;object type=&quot;3&quot; unique_id=&quot;17379&quot;&gt;&lt;property id=&quot;20148&quot; value=&quot;5&quot;/&gt;&lt;property id=&quot;20300&quot; value=&quot;Slide 20 - &amp;quot;challenge&amp;quot;&quot;/&gt;&lt;property id=&quot;20307&quot; value=&quot;307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439</Words>
  <Application>Microsoft Office PowerPoint</Application>
  <PresentationFormat>Widescreen</PresentationFormat>
  <Paragraphs>117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Arial Unicode MS</vt:lpstr>
      <vt:lpstr>Calibri</vt:lpstr>
      <vt:lpstr>Roboto</vt:lpstr>
      <vt:lpstr>Roboto light</vt:lpstr>
      <vt:lpstr>Verdana</vt:lpstr>
      <vt:lpstr>Office Theme</vt:lpstr>
      <vt:lpstr>Introduction to RESTful Services</vt:lpstr>
      <vt:lpstr>Objectives</vt:lpstr>
      <vt:lpstr>Tools Required</vt:lpstr>
      <vt:lpstr>RESTful API</vt:lpstr>
      <vt:lpstr>What is an API?</vt:lpstr>
      <vt:lpstr>What is a RESTful API?</vt:lpstr>
      <vt:lpstr>What is a RESTful API?</vt:lpstr>
      <vt:lpstr>HTTP Methods</vt:lpstr>
      <vt:lpstr>JSON Data</vt:lpstr>
      <vt:lpstr>TESTING a restful api</vt:lpstr>
      <vt:lpstr>Test REST API</vt:lpstr>
      <vt:lpstr>Test it!</vt:lpstr>
      <vt:lpstr>Test it!</vt:lpstr>
      <vt:lpstr>Next Episode</vt:lpstr>
      <vt:lpstr>Reference</vt:lpstr>
      <vt:lpstr>The End</vt:lpstr>
    </vt:vector>
  </TitlesOfParts>
  <Manager/>
  <Company>Temasek Polytechnic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Creating the Model and Controller</dc:title>
  <dc:subject>Coding and Testing</dc:subject>
  <dc:creator>Tan Sio Poh</dc:creator>
  <cp:keywords>CODT, CIT1C16, ADEV, CIT1C17, Creating the Model and Controller</cp:keywords>
  <dc:description/>
  <cp:lastModifiedBy>temasek poly</cp:lastModifiedBy>
  <cp:revision>2</cp:revision>
  <dcterms:created xsi:type="dcterms:W3CDTF">2016-03-04T00:57:19Z</dcterms:created>
  <dcterms:modified xsi:type="dcterms:W3CDTF">2021-09-22T06:14:21Z</dcterms:modified>
  <cp:category>Software Cluster</cp:category>
</cp:coreProperties>
</file>