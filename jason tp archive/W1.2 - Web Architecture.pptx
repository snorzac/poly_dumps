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>
    <p:extLst>
      <p:ext uri="{19B8F6BF-5375-455C-9EA6-DF929625EA0E}">
        <p15:presenceInfo xmlns:p15="http://schemas.microsoft.com/office/powerpoint/2012/main" userId="S-1-5-21-69290438-237730288-637696952-339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EC3A85-13E9-421E-BBE8-3CE82843BBD3}" v="72" dt="2018-09-28T03:48:24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3772" autoAdjust="0"/>
  </p:normalViewPr>
  <p:slideViewPr>
    <p:cSldViewPr snapToGrid="0">
      <p:cViewPr varScale="1">
        <p:scale>
          <a:sx n="85" d="100"/>
          <a:sy n="85" d="100"/>
        </p:scale>
        <p:origin x="68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BFEC3A85-13E9-421E-BBE8-3CE82843BBD3}"/>
    <pc:docChg chg="modMainMaster">
      <pc:chgData name="Lam Su Yi" userId="43bb02ba-2a64-4c57-886a-7f9577835f3c" providerId="ADAL" clId="{BFEC3A85-13E9-421E-BBE8-3CE82843BBD3}" dt="2018-09-28T03:48:24.505" v="71" actId="6549"/>
      <pc:docMkLst>
        <pc:docMk/>
      </pc:docMkLst>
      <pc:sldMasterChg chg="modSldLayout">
        <pc:chgData name="Lam Su Yi" userId="43bb02ba-2a64-4c57-886a-7f9577835f3c" providerId="ADAL" clId="{BFEC3A85-13E9-421E-BBE8-3CE82843BBD3}" dt="2018-09-28T03:48:24.505" v="71" actId="6549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BFEC3A85-13E9-421E-BBE8-3CE82843BBD3}" dt="2018-09-28T03:48:24.505" v="71" actId="6549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BFEC3A85-13E9-421E-BBE8-3CE82843BBD3}" dt="2018-09-27T08:16:34.592" v="65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BFEC3A85-13E9-421E-BBE8-3CE82843BBD3}" dt="2018-09-28T03:48:24.505" v="71" actId="6549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3EB2DD-59EE-AC46-8D64-999666F6F2AD}" type="doc">
      <dgm:prSet loTypeId="urn:microsoft.com/office/officeart/2005/8/layout/hList1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54F5E0F-18EB-5C4C-A767-F3B14C0E0D7B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Web</a:t>
          </a:r>
          <a:r>
            <a:rPr lang="en-GB" baseline="0" dirty="0">
              <a:latin typeface="Arial Unicode MS" charset="0"/>
              <a:ea typeface="Arial Unicode MS" charset="0"/>
              <a:cs typeface="Arial Unicode MS" charset="0"/>
            </a:rPr>
            <a:t> Browser on Client Device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5120E5AD-4436-894D-98FB-8F73D9E83BB9}" type="parTrans" cxnId="{F0C8B0A4-BF3F-CD42-A3B9-27ACD6D7AE4D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422CAEB6-F88D-A141-85C0-87094EE5DA60}" type="sibTrans" cxnId="{F0C8B0A4-BF3F-CD42-A3B9-27ACD6D7AE4D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DA2FD9D5-D8A1-1E4F-A50A-860C6FC6F617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Input / Output:</a:t>
          </a:r>
        </a:p>
      </dgm:t>
    </dgm:pt>
    <dgm:pt modelId="{9FF962DC-B1FD-F542-B856-75F3DE9BCD8A}" type="parTrans" cxnId="{B7D35CD3-4F54-8D4E-B939-21C4E4510F57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A0C21147-5A58-A841-BDAC-747A499662E2}" type="sibTrans" cxnId="{B7D35CD3-4F54-8D4E-B939-21C4E4510F57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6554D9F4-3164-4845-8B9B-E37EE8E8C692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User Interface</a:t>
          </a:r>
          <a:r>
            <a:rPr lang="en-GB" baseline="0" dirty="0">
              <a:latin typeface="Arial Unicode MS" charset="0"/>
              <a:ea typeface="Arial Unicode MS" charset="0"/>
              <a:cs typeface="Arial Unicode MS" charset="0"/>
            </a:rPr>
            <a:t> (Page layout / look and feel)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2FB81DAA-6B29-AE45-A133-2C4E92AF5EA7}" type="parTrans" cxnId="{04BC7E9A-7454-4C40-9853-DD6A711FB65D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7F1E7FED-72E2-0340-8EC7-A4DEBDB30579}" type="sibTrans" cxnId="{04BC7E9A-7454-4C40-9853-DD6A711FB65D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D5C74C15-7EFD-9F46-A677-220B2AE0ABCA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Web Application on Web Server</a:t>
          </a:r>
        </a:p>
      </dgm:t>
    </dgm:pt>
    <dgm:pt modelId="{AB1BEBAC-D355-AD47-B4AE-FEA7DAA7AE40}" type="parTrans" cxnId="{A82E1514-CA87-AD4C-ACA8-E3F4520D8D5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D6211AAC-A8C3-BB48-B6AE-98F611E47626}" type="sibTrans" cxnId="{A82E1514-CA87-AD4C-ACA8-E3F4520D8D5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336D2602-80B0-FC4F-91A5-FE6A1B4D47DA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Information Processing:</a:t>
          </a:r>
        </a:p>
      </dgm:t>
    </dgm:pt>
    <dgm:pt modelId="{949EE53F-F2C0-6E4C-BCBB-8BC482B3C8C2}" type="parTrans" cxnId="{6413F582-B207-8D40-A1A3-65721E2D0BBA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E737DB42-4627-C440-9F03-ACC7810201DC}" type="sibTrans" cxnId="{6413F582-B207-8D40-A1A3-65721E2D0BBA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5EF636B2-2D69-CE46-BC5E-AD4AAE3BB48E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Application Logic</a:t>
          </a:r>
        </a:p>
      </dgm:t>
    </dgm:pt>
    <dgm:pt modelId="{D623246F-9752-7047-A6D0-7B93928617BE}" type="parTrans" cxnId="{95C0407B-7CD2-C24A-A402-FF388CB82D07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AFB004E4-E714-3448-957B-475FC4347321}" type="sibTrans" cxnId="{95C0407B-7CD2-C24A-A402-FF388CB82D07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E2D94061-0B66-0347-877E-1CB82FCC3463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Database on Database Server</a:t>
          </a:r>
        </a:p>
      </dgm:t>
    </dgm:pt>
    <dgm:pt modelId="{FA30812B-88DD-2444-AC94-C41039C649C8}" type="parTrans" cxnId="{154F076A-4512-BE46-963A-14D901007A15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2D8BDD22-8D21-0C43-9081-CA9E540B886C}" type="sibTrans" cxnId="{154F076A-4512-BE46-963A-14D901007A15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5982A4ED-AC1E-2B44-AD8E-BDD4CAD44A00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Data Access:</a:t>
          </a:r>
        </a:p>
      </dgm:t>
    </dgm:pt>
    <dgm:pt modelId="{F60790F0-474E-5C48-80A5-77F4630D8D3E}" type="parTrans" cxnId="{3E0ACF71-F8A6-F343-A408-711CF98CD02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FAA2DB6B-152E-7C46-803D-597F53ABD1CE}" type="sibTrans" cxnId="{3E0ACF71-F8A6-F343-A408-711CF98CD02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982B613E-A0A6-4B4F-9487-DE876F80427E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Information Storage</a:t>
          </a:r>
        </a:p>
      </dgm:t>
    </dgm:pt>
    <dgm:pt modelId="{D7C9E5D2-16DF-3045-9BAA-40CDCF7614F3}" type="parTrans" cxnId="{2AC7DE94-3DDC-864D-AAD9-F94054BED0BF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4835614B-CBA8-9141-844D-8255E29E090B}" type="sibTrans" cxnId="{2AC7DE94-3DDC-864D-AAD9-F94054BED0BF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C719AFF0-ECCA-4B46-9784-D048C9C6169B}">
      <dgm:prSet phldrT="[Text]"/>
      <dgm:spPr/>
      <dgm:t>
        <a:bodyPr/>
        <a:lstStyle/>
        <a:p>
          <a:r>
            <a:rPr lang="en-GB" baseline="0" dirty="0">
              <a:latin typeface="Arial Unicode MS" charset="0"/>
              <a:ea typeface="Arial Unicode MS" charset="0"/>
              <a:cs typeface="Arial Unicode MS" charset="0"/>
            </a:rPr>
            <a:t>Data Entry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17326F8D-F891-E54E-A9B1-07A8ADB65026}" type="parTrans" cxnId="{12FFAE8C-2DB6-E24B-BA47-82B74A0865C3}">
      <dgm:prSet/>
      <dgm:spPr/>
      <dgm:t>
        <a:bodyPr/>
        <a:lstStyle/>
        <a:p>
          <a:endParaRPr lang="en-GB"/>
        </a:p>
      </dgm:t>
    </dgm:pt>
    <dgm:pt modelId="{B7E50137-AAE5-EC4E-BF23-C77AFF31E2C3}" type="sibTrans" cxnId="{12FFAE8C-2DB6-E24B-BA47-82B74A0865C3}">
      <dgm:prSet/>
      <dgm:spPr/>
      <dgm:t>
        <a:bodyPr/>
        <a:lstStyle/>
        <a:p>
          <a:endParaRPr lang="en-GB"/>
        </a:p>
      </dgm:t>
    </dgm:pt>
    <dgm:pt modelId="{4AC2A0F3-3E94-6447-BE99-433243B9C8A0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Data Validation</a:t>
          </a:r>
        </a:p>
      </dgm:t>
    </dgm:pt>
    <dgm:pt modelId="{3BB60D32-F32B-EE4E-862E-36C28E8FDA32}" type="parTrans" cxnId="{87C2D08A-3FBA-E24C-8017-CF662F1A02CA}">
      <dgm:prSet/>
      <dgm:spPr/>
      <dgm:t>
        <a:bodyPr/>
        <a:lstStyle/>
        <a:p>
          <a:endParaRPr lang="en-GB"/>
        </a:p>
      </dgm:t>
    </dgm:pt>
    <dgm:pt modelId="{D2786C7B-3734-444F-8725-6837BA27107F}" type="sibTrans" cxnId="{87C2D08A-3FBA-E24C-8017-CF662F1A02CA}">
      <dgm:prSet/>
      <dgm:spPr/>
      <dgm:t>
        <a:bodyPr/>
        <a:lstStyle/>
        <a:p>
          <a:endParaRPr lang="en-GB"/>
        </a:p>
      </dgm:t>
    </dgm:pt>
    <dgm:pt modelId="{037BBEEB-F46C-364D-B7C7-38359A227DC1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Output Formatting</a:t>
          </a:r>
        </a:p>
      </dgm:t>
    </dgm:pt>
    <dgm:pt modelId="{35A8470C-59EA-E748-96AC-0591553A357F}" type="parTrans" cxnId="{AB3E6431-54CE-4342-ABA5-03A802739817}">
      <dgm:prSet/>
      <dgm:spPr/>
      <dgm:t>
        <a:bodyPr/>
        <a:lstStyle/>
        <a:p>
          <a:endParaRPr lang="en-GB"/>
        </a:p>
      </dgm:t>
    </dgm:pt>
    <dgm:pt modelId="{A839C642-DD96-9646-A835-055FE2DE132E}" type="sibTrans" cxnId="{AB3E6431-54CE-4342-ABA5-03A802739817}">
      <dgm:prSet/>
      <dgm:spPr/>
      <dgm:t>
        <a:bodyPr/>
        <a:lstStyle/>
        <a:p>
          <a:endParaRPr lang="en-GB"/>
        </a:p>
      </dgm:t>
    </dgm:pt>
    <dgm:pt modelId="{CE338EDA-0CB3-184F-9843-A50445071108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Computational Processing</a:t>
          </a:r>
        </a:p>
      </dgm:t>
    </dgm:pt>
    <dgm:pt modelId="{615BB227-CFF9-BF4A-BD71-30005327E062}" type="parTrans" cxnId="{4C421685-0483-8E46-87DC-391C51F47AA5}">
      <dgm:prSet/>
      <dgm:spPr/>
      <dgm:t>
        <a:bodyPr/>
        <a:lstStyle/>
        <a:p>
          <a:endParaRPr lang="en-GB"/>
        </a:p>
      </dgm:t>
    </dgm:pt>
    <dgm:pt modelId="{6AF9C40C-D8A4-1D4B-B123-E5255E3D13F8}" type="sibTrans" cxnId="{4C421685-0483-8E46-87DC-391C51F47AA5}">
      <dgm:prSet/>
      <dgm:spPr/>
      <dgm:t>
        <a:bodyPr/>
        <a:lstStyle/>
        <a:p>
          <a:endParaRPr lang="en-GB"/>
        </a:p>
      </dgm:t>
    </dgm:pt>
    <dgm:pt modelId="{91B74AB6-C316-D247-B12D-C0039CACF14B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Information Retrieval</a:t>
          </a:r>
        </a:p>
      </dgm:t>
    </dgm:pt>
    <dgm:pt modelId="{F92EF94F-D0FD-344C-8BDE-34626212515B}" type="parTrans" cxnId="{14AF824F-8516-254E-B4FD-B296028D3521}">
      <dgm:prSet/>
      <dgm:spPr/>
      <dgm:t>
        <a:bodyPr/>
        <a:lstStyle/>
        <a:p>
          <a:endParaRPr lang="en-GB"/>
        </a:p>
      </dgm:t>
    </dgm:pt>
    <dgm:pt modelId="{E711F4B8-52B4-844A-905F-0A98D0ABEDC8}" type="sibTrans" cxnId="{14AF824F-8516-254E-B4FD-B296028D3521}">
      <dgm:prSet/>
      <dgm:spPr/>
      <dgm:t>
        <a:bodyPr/>
        <a:lstStyle/>
        <a:p>
          <a:endParaRPr lang="en-GB"/>
        </a:p>
      </dgm:t>
    </dgm:pt>
    <dgm:pt modelId="{63E5066D-B19F-904F-86F9-50169980CFAF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Database Maintenance</a:t>
          </a:r>
        </a:p>
      </dgm:t>
    </dgm:pt>
    <dgm:pt modelId="{B927D0C5-E4C8-1C43-9204-AAA55287DABF}" type="parTrans" cxnId="{F58CD885-485D-B246-8656-6CB77E7A1367}">
      <dgm:prSet/>
      <dgm:spPr/>
      <dgm:t>
        <a:bodyPr/>
        <a:lstStyle/>
        <a:p>
          <a:endParaRPr lang="en-GB"/>
        </a:p>
      </dgm:t>
    </dgm:pt>
    <dgm:pt modelId="{F96F7844-A067-0A47-8107-2003EA08BBF0}" type="sibTrans" cxnId="{F58CD885-485D-B246-8656-6CB77E7A1367}">
      <dgm:prSet/>
      <dgm:spPr/>
      <dgm:t>
        <a:bodyPr/>
        <a:lstStyle/>
        <a:p>
          <a:endParaRPr lang="en-GB"/>
        </a:p>
      </dgm:t>
    </dgm:pt>
    <dgm:pt modelId="{2AADE6E7-935E-E244-8B02-C6C695432691}" type="pres">
      <dgm:prSet presAssocID="{FB3EB2DD-59EE-AC46-8D64-999666F6F2A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DAE770E-6E81-DD49-9FAB-AE6AF25BDD00}" type="pres">
      <dgm:prSet presAssocID="{354F5E0F-18EB-5C4C-A767-F3B14C0E0D7B}" presName="composite" presStyleCnt="0"/>
      <dgm:spPr/>
    </dgm:pt>
    <dgm:pt modelId="{17656568-51FC-824F-A7BB-8E7AC1461C87}" type="pres">
      <dgm:prSet presAssocID="{354F5E0F-18EB-5C4C-A767-F3B14C0E0D7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8038EA-F74A-2948-8452-DFD218B3E0AB}" type="pres">
      <dgm:prSet presAssocID="{354F5E0F-18EB-5C4C-A767-F3B14C0E0D7B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38E91C-A897-8643-A143-012ABE29E3F2}" type="pres">
      <dgm:prSet presAssocID="{422CAEB6-F88D-A141-85C0-87094EE5DA60}" presName="space" presStyleCnt="0"/>
      <dgm:spPr/>
    </dgm:pt>
    <dgm:pt modelId="{DF69D553-ABD2-984F-A77D-F3A3E8E6913E}" type="pres">
      <dgm:prSet presAssocID="{D5C74C15-7EFD-9F46-A677-220B2AE0ABCA}" presName="composite" presStyleCnt="0"/>
      <dgm:spPr/>
    </dgm:pt>
    <dgm:pt modelId="{9F5F995D-84EE-A24C-AEF2-AE6A3EF913C6}" type="pres">
      <dgm:prSet presAssocID="{D5C74C15-7EFD-9F46-A677-220B2AE0ABC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10FF6-24B1-5748-8419-F0384E5D9058}" type="pres">
      <dgm:prSet presAssocID="{D5C74C15-7EFD-9F46-A677-220B2AE0ABCA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018353-A210-E74C-9682-28566242FB3D}" type="pres">
      <dgm:prSet presAssocID="{D6211AAC-A8C3-BB48-B6AE-98F611E47626}" presName="space" presStyleCnt="0"/>
      <dgm:spPr/>
    </dgm:pt>
    <dgm:pt modelId="{DB784E30-BC24-B945-B18A-C2A7F51A8711}" type="pres">
      <dgm:prSet presAssocID="{E2D94061-0B66-0347-877E-1CB82FCC3463}" presName="composite" presStyleCnt="0"/>
      <dgm:spPr/>
    </dgm:pt>
    <dgm:pt modelId="{D37A323F-9C22-7A4B-A9A0-B98E8A266514}" type="pres">
      <dgm:prSet presAssocID="{E2D94061-0B66-0347-877E-1CB82FCC346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7FC1E2-ED2E-8F4C-B955-83D92F9E8400}" type="pres">
      <dgm:prSet presAssocID="{E2D94061-0B66-0347-877E-1CB82FCC3463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5C0407B-7CD2-C24A-A402-FF388CB82D07}" srcId="{336D2602-80B0-FC4F-91A5-FE6A1B4D47DA}" destId="{5EF636B2-2D69-CE46-BC5E-AD4AAE3BB48E}" srcOrd="0" destOrd="0" parTransId="{D623246F-9752-7047-A6D0-7B93928617BE}" sibTransId="{AFB004E4-E714-3448-957B-475FC4347321}"/>
    <dgm:cxn modelId="{F90A6C6A-90D7-4278-B6C3-453EFC19449B}" type="presOf" srcId="{4AC2A0F3-3E94-6447-BE99-433243B9C8A0}" destId="{7F8038EA-F74A-2948-8452-DFD218B3E0AB}" srcOrd="0" destOrd="3" presId="urn:microsoft.com/office/officeart/2005/8/layout/hList1"/>
    <dgm:cxn modelId="{4C421685-0483-8E46-87DC-391C51F47AA5}" srcId="{336D2602-80B0-FC4F-91A5-FE6A1B4D47DA}" destId="{CE338EDA-0CB3-184F-9843-A50445071108}" srcOrd="1" destOrd="0" parTransId="{615BB227-CFF9-BF4A-BD71-30005327E062}" sibTransId="{6AF9C40C-D8A4-1D4B-B123-E5255E3D13F8}"/>
    <dgm:cxn modelId="{B296081E-D159-4A1E-9FE0-A90483CE80B9}" type="presOf" srcId="{91B74AB6-C316-D247-B12D-C0039CACF14B}" destId="{FD7FC1E2-ED2E-8F4C-B955-83D92F9E8400}" srcOrd="0" destOrd="2" presId="urn:microsoft.com/office/officeart/2005/8/layout/hList1"/>
    <dgm:cxn modelId="{B5EBF943-F99C-43E9-B5B1-BD1010ED967E}" type="presOf" srcId="{E2D94061-0B66-0347-877E-1CB82FCC3463}" destId="{D37A323F-9C22-7A4B-A9A0-B98E8A266514}" srcOrd="0" destOrd="0" presId="urn:microsoft.com/office/officeart/2005/8/layout/hList1"/>
    <dgm:cxn modelId="{B7D35CD3-4F54-8D4E-B939-21C4E4510F57}" srcId="{354F5E0F-18EB-5C4C-A767-F3B14C0E0D7B}" destId="{DA2FD9D5-D8A1-1E4F-A50A-860C6FC6F617}" srcOrd="0" destOrd="0" parTransId="{9FF962DC-B1FD-F542-B856-75F3DE9BCD8A}" sibTransId="{A0C21147-5A58-A841-BDAC-747A499662E2}"/>
    <dgm:cxn modelId="{2923AF22-34EA-442D-8179-79C1D4A42923}" type="presOf" srcId="{5982A4ED-AC1E-2B44-AD8E-BDD4CAD44A00}" destId="{FD7FC1E2-ED2E-8F4C-B955-83D92F9E8400}" srcOrd="0" destOrd="0" presId="urn:microsoft.com/office/officeart/2005/8/layout/hList1"/>
    <dgm:cxn modelId="{C88A23BA-321F-40DC-97F1-91E7A6678040}" type="presOf" srcId="{982B613E-A0A6-4B4F-9487-DE876F80427E}" destId="{FD7FC1E2-ED2E-8F4C-B955-83D92F9E8400}" srcOrd="0" destOrd="1" presId="urn:microsoft.com/office/officeart/2005/8/layout/hList1"/>
    <dgm:cxn modelId="{5B8643FE-9960-4E02-8428-85BC6580A604}" type="presOf" srcId="{6554D9F4-3164-4845-8B9B-E37EE8E8C692}" destId="{7F8038EA-F74A-2948-8452-DFD218B3E0AB}" srcOrd="0" destOrd="1" presId="urn:microsoft.com/office/officeart/2005/8/layout/hList1"/>
    <dgm:cxn modelId="{A49E2424-7683-4E55-8130-83244F2B314F}" type="presOf" srcId="{354F5E0F-18EB-5C4C-A767-F3B14C0E0D7B}" destId="{17656568-51FC-824F-A7BB-8E7AC1461C87}" srcOrd="0" destOrd="0" presId="urn:microsoft.com/office/officeart/2005/8/layout/hList1"/>
    <dgm:cxn modelId="{14AF824F-8516-254E-B4FD-B296028D3521}" srcId="{5982A4ED-AC1E-2B44-AD8E-BDD4CAD44A00}" destId="{91B74AB6-C316-D247-B12D-C0039CACF14B}" srcOrd="1" destOrd="0" parTransId="{F92EF94F-D0FD-344C-8BDE-34626212515B}" sibTransId="{E711F4B8-52B4-844A-905F-0A98D0ABEDC8}"/>
    <dgm:cxn modelId="{EB477323-394F-47D1-A0AD-C86F6C1D1399}" type="presOf" srcId="{336D2602-80B0-FC4F-91A5-FE6A1B4D47DA}" destId="{C6710FF6-24B1-5748-8419-F0384E5D9058}" srcOrd="0" destOrd="0" presId="urn:microsoft.com/office/officeart/2005/8/layout/hList1"/>
    <dgm:cxn modelId="{FAD9A007-CAAE-4F05-96B0-AFF543713C79}" type="presOf" srcId="{5EF636B2-2D69-CE46-BC5E-AD4AAE3BB48E}" destId="{C6710FF6-24B1-5748-8419-F0384E5D9058}" srcOrd="0" destOrd="1" presId="urn:microsoft.com/office/officeart/2005/8/layout/hList1"/>
    <dgm:cxn modelId="{3E0ACF71-F8A6-F343-A408-711CF98CD024}" srcId="{E2D94061-0B66-0347-877E-1CB82FCC3463}" destId="{5982A4ED-AC1E-2B44-AD8E-BDD4CAD44A00}" srcOrd="0" destOrd="0" parTransId="{F60790F0-474E-5C48-80A5-77F4630D8D3E}" sibTransId="{FAA2DB6B-152E-7C46-803D-597F53ABD1CE}"/>
    <dgm:cxn modelId="{AB3E6431-54CE-4342-ABA5-03A802739817}" srcId="{DA2FD9D5-D8A1-1E4F-A50A-860C6FC6F617}" destId="{037BBEEB-F46C-364D-B7C7-38359A227DC1}" srcOrd="3" destOrd="0" parTransId="{35A8470C-59EA-E748-96AC-0591553A357F}" sibTransId="{A839C642-DD96-9646-A835-055FE2DE132E}"/>
    <dgm:cxn modelId="{87C2D08A-3FBA-E24C-8017-CF662F1A02CA}" srcId="{DA2FD9D5-D8A1-1E4F-A50A-860C6FC6F617}" destId="{4AC2A0F3-3E94-6447-BE99-433243B9C8A0}" srcOrd="2" destOrd="0" parTransId="{3BB60D32-F32B-EE4E-862E-36C28E8FDA32}" sibTransId="{D2786C7B-3734-444F-8725-6837BA27107F}"/>
    <dgm:cxn modelId="{04BC7E9A-7454-4C40-9853-DD6A711FB65D}" srcId="{DA2FD9D5-D8A1-1E4F-A50A-860C6FC6F617}" destId="{6554D9F4-3164-4845-8B9B-E37EE8E8C692}" srcOrd="0" destOrd="0" parTransId="{2FB81DAA-6B29-AE45-A133-2C4E92AF5EA7}" sibTransId="{7F1E7FED-72E2-0340-8EC7-A4DEBDB30579}"/>
    <dgm:cxn modelId="{F58CD885-485D-B246-8656-6CB77E7A1367}" srcId="{5982A4ED-AC1E-2B44-AD8E-BDD4CAD44A00}" destId="{63E5066D-B19F-904F-86F9-50169980CFAF}" srcOrd="2" destOrd="0" parTransId="{B927D0C5-E4C8-1C43-9204-AAA55287DABF}" sibTransId="{F96F7844-A067-0A47-8107-2003EA08BBF0}"/>
    <dgm:cxn modelId="{A82E1514-CA87-AD4C-ACA8-E3F4520D8D59}" srcId="{FB3EB2DD-59EE-AC46-8D64-999666F6F2AD}" destId="{D5C74C15-7EFD-9F46-A677-220B2AE0ABCA}" srcOrd="1" destOrd="0" parTransId="{AB1BEBAC-D355-AD47-B4AE-FEA7DAA7AE40}" sibTransId="{D6211AAC-A8C3-BB48-B6AE-98F611E47626}"/>
    <dgm:cxn modelId="{12FFAE8C-2DB6-E24B-BA47-82B74A0865C3}" srcId="{DA2FD9D5-D8A1-1E4F-A50A-860C6FC6F617}" destId="{C719AFF0-ECCA-4B46-9784-D048C9C6169B}" srcOrd="1" destOrd="0" parTransId="{17326F8D-F891-E54E-A9B1-07A8ADB65026}" sibTransId="{B7E50137-AAE5-EC4E-BF23-C77AFF31E2C3}"/>
    <dgm:cxn modelId="{60F88873-ECE7-4464-8B1B-BB732CA0C14A}" type="presOf" srcId="{63E5066D-B19F-904F-86F9-50169980CFAF}" destId="{FD7FC1E2-ED2E-8F4C-B955-83D92F9E8400}" srcOrd="0" destOrd="3" presId="urn:microsoft.com/office/officeart/2005/8/layout/hList1"/>
    <dgm:cxn modelId="{154F076A-4512-BE46-963A-14D901007A15}" srcId="{FB3EB2DD-59EE-AC46-8D64-999666F6F2AD}" destId="{E2D94061-0B66-0347-877E-1CB82FCC3463}" srcOrd="2" destOrd="0" parTransId="{FA30812B-88DD-2444-AC94-C41039C649C8}" sibTransId="{2D8BDD22-8D21-0C43-9081-CA9E540B886C}"/>
    <dgm:cxn modelId="{F0C8B0A4-BF3F-CD42-A3B9-27ACD6D7AE4D}" srcId="{FB3EB2DD-59EE-AC46-8D64-999666F6F2AD}" destId="{354F5E0F-18EB-5C4C-A767-F3B14C0E0D7B}" srcOrd="0" destOrd="0" parTransId="{5120E5AD-4436-894D-98FB-8F73D9E83BB9}" sibTransId="{422CAEB6-F88D-A141-85C0-87094EE5DA60}"/>
    <dgm:cxn modelId="{AB03A3D0-342A-435C-B821-458AC46961B4}" type="presOf" srcId="{C719AFF0-ECCA-4B46-9784-D048C9C6169B}" destId="{7F8038EA-F74A-2948-8452-DFD218B3E0AB}" srcOrd="0" destOrd="2" presId="urn:microsoft.com/office/officeart/2005/8/layout/hList1"/>
    <dgm:cxn modelId="{6413F582-B207-8D40-A1A3-65721E2D0BBA}" srcId="{D5C74C15-7EFD-9F46-A677-220B2AE0ABCA}" destId="{336D2602-80B0-FC4F-91A5-FE6A1B4D47DA}" srcOrd="0" destOrd="0" parTransId="{949EE53F-F2C0-6E4C-BCBB-8BC482B3C8C2}" sibTransId="{E737DB42-4627-C440-9F03-ACC7810201DC}"/>
    <dgm:cxn modelId="{2AC7DE94-3DDC-864D-AAD9-F94054BED0BF}" srcId="{5982A4ED-AC1E-2B44-AD8E-BDD4CAD44A00}" destId="{982B613E-A0A6-4B4F-9487-DE876F80427E}" srcOrd="0" destOrd="0" parTransId="{D7C9E5D2-16DF-3045-9BAA-40CDCF7614F3}" sibTransId="{4835614B-CBA8-9141-844D-8255E29E090B}"/>
    <dgm:cxn modelId="{513526F7-FD6A-4A88-B5B2-339F7B36F246}" type="presOf" srcId="{037BBEEB-F46C-364D-B7C7-38359A227DC1}" destId="{7F8038EA-F74A-2948-8452-DFD218B3E0AB}" srcOrd="0" destOrd="4" presId="urn:microsoft.com/office/officeart/2005/8/layout/hList1"/>
    <dgm:cxn modelId="{F9F8CB6F-BD6E-4BA7-8526-5F0EE38AB753}" type="presOf" srcId="{CE338EDA-0CB3-184F-9843-A50445071108}" destId="{C6710FF6-24B1-5748-8419-F0384E5D9058}" srcOrd="0" destOrd="2" presId="urn:microsoft.com/office/officeart/2005/8/layout/hList1"/>
    <dgm:cxn modelId="{DDEC9A8C-5461-407A-88E7-29F802002E58}" type="presOf" srcId="{DA2FD9D5-D8A1-1E4F-A50A-860C6FC6F617}" destId="{7F8038EA-F74A-2948-8452-DFD218B3E0AB}" srcOrd="0" destOrd="0" presId="urn:microsoft.com/office/officeart/2005/8/layout/hList1"/>
    <dgm:cxn modelId="{BC179CD8-BDE5-43B6-9BD1-76C7A8139F0D}" type="presOf" srcId="{D5C74C15-7EFD-9F46-A677-220B2AE0ABCA}" destId="{9F5F995D-84EE-A24C-AEF2-AE6A3EF913C6}" srcOrd="0" destOrd="0" presId="urn:microsoft.com/office/officeart/2005/8/layout/hList1"/>
    <dgm:cxn modelId="{7460A02E-ABD0-4EE0-983D-21DAE9971516}" type="presOf" srcId="{FB3EB2DD-59EE-AC46-8D64-999666F6F2AD}" destId="{2AADE6E7-935E-E244-8B02-C6C695432691}" srcOrd="0" destOrd="0" presId="urn:microsoft.com/office/officeart/2005/8/layout/hList1"/>
    <dgm:cxn modelId="{851FA45F-DD47-4BD5-A528-9E7521DE3876}" type="presParOf" srcId="{2AADE6E7-935E-E244-8B02-C6C695432691}" destId="{EDAE770E-6E81-DD49-9FAB-AE6AF25BDD00}" srcOrd="0" destOrd="0" presId="urn:microsoft.com/office/officeart/2005/8/layout/hList1"/>
    <dgm:cxn modelId="{BA255B7D-A775-40C9-9C16-92629C183856}" type="presParOf" srcId="{EDAE770E-6E81-DD49-9FAB-AE6AF25BDD00}" destId="{17656568-51FC-824F-A7BB-8E7AC1461C87}" srcOrd="0" destOrd="0" presId="urn:microsoft.com/office/officeart/2005/8/layout/hList1"/>
    <dgm:cxn modelId="{371AB780-A439-4D3C-9B48-95CBF5E832AA}" type="presParOf" srcId="{EDAE770E-6E81-DD49-9FAB-AE6AF25BDD00}" destId="{7F8038EA-F74A-2948-8452-DFD218B3E0AB}" srcOrd="1" destOrd="0" presId="urn:microsoft.com/office/officeart/2005/8/layout/hList1"/>
    <dgm:cxn modelId="{C338DF64-3BB7-4A9C-88A5-66C5201CE5BE}" type="presParOf" srcId="{2AADE6E7-935E-E244-8B02-C6C695432691}" destId="{6638E91C-A897-8643-A143-012ABE29E3F2}" srcOrd="1" destOrd="0" presId="urn:microsoft.com/office/officeart/2005/8/layout/hList1"/>
    <dgm:cxn modelId="{0B7CD0E8-F728-4397-B716-AFB55C32D6F7}" type="presParOf" srcId="{2AADE6E7-935E-E244-8B02-C6C695432691}" destId="{DF69D553-ABD2-984F-A77D-F3A3E8E6913E}" srcOrd="2" destOrd="0" presId="urn:microsoft.com/office/officeart/2005/8/layout/hList1"/>
    <dgm:cxn modelId="{37472F2B-49C3-4405-87E5-C4A9942563E7}" type="presParOf" srcId="{DF69D553-ABD2-984F-A77D-F3A3E8E6913E}" destId="{9F5F995D-84EE-A24C-AEF2-AE6A3EF913C6}" srcOrd="0" destOrd="0" presId="urn:microsoft.com/office/officeart/2005/8/layout/hList1"/>
    <dgm:cxn modelId="{AB95A778-9B5B-410B-A921-A9F59BB8E86F}" type="presParOf" srcId="{DF69D553-ABD2-984F-A77D-F3A3E8E6913E}" destId="{C6710FF6-24B1-5748-8419-F0384E5D9058}" srcOrd="1" destOrd="0" presId="urn:microsoft.com/office/officeart/2005/8/layout/hList1"/>
    <dgm:cxn modelId="{E73D6389-F083-4E5C-9B2A-5C4D3815A97B}" type="presParOf" srcId="{2AADE6E7-935E-E244-8B02-C6C695432691}" destId="{39018353-A210-E74C-9682-28566242FB3D}" srcOrd="3" destOrd="0" presId="urn:microsoft.com/office/officeart/2005/8/layout/hList1"/>
    <dgm:cxn modelId="{D9936AD0-DA80-4BEE-B590-3011F7E76626}" type="presParOf" srcId="{2AADE6E7-935E-E244-8B02-C6C695432691}" destId="{DB784E30-BC24-B945-B18A-C2A7F51A8711}" srcOrd="4" destOrd="0" presId="urn:microsoft.com/office/officeart/2005/8/layout/hList1"/>
    <dgm:cxn modelId="{47EC0588-4356-4E8A-8811-2D310E3C6465}" type="presParOf" srcId="{DB784E30-BC24-B945-B18A-C2A7F51A8711}" destId="{D37A323F-9C22-7A4B-A9A0-B98E8A266514}" srcOrd="0" destOrd="0" presId="urn:microsoft.com/office/officeart/2005/8/layout/hList1"/>
    <dgm:cxn modelId="{AA3050A7-BBE8-43B0-AEB2-E1E09F8101B2}" type="presParOf" srcId="{DB784E30-BC24-B945-B18A-C2A7F51A8711}" destId="{FD7FC1E2-ED2E-8F4C-B955-83D92F9E840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14780D-1850-7748-A08E-F9129A09AF81}" type="doc">
      <dgm:prSet loTypeId="urn:microsoft.com/office/officeart/2005/8/layout/vList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691210C-9566-4945-9E16-3FD82F5BA676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Well-defined development goals for each tier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D9E3ABAA-461E-A745-88A4-57A840C0DAA0}" type="parTrans" cxnId="{925A7241-D23D-7B4C-8928-6BDB2BEF6E6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8BFA8498-1041-2246-97AF-661F432D2E2B}" type="sibTrans" cxnId="{925A7241-D23D-7B4C-8928-6BDB2BEF6E6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0E65CFBE-E129-6041-BF74-5622B9FE5B54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Can divide and assign different tier to different development team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2F555C51-9F5A-7949-B449-5BEDEF5AA3FB}" type="parTrans" cxnId="{04F5612E-57F8-1649-A013-88EBAA5AF6ED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FB0EC835-A9AB-3D4A-94CE-7E2C2BB04950}" type="sibTrans" cxnId="{04F5612E-57F8-1649-A013-88EBAA5AF6ED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74B641B4-6EA0-884A-B30D-BCF072177707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Encapsulation/Hiding of functionalities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EB2EFEFD-FEF8-824B-AF50-8A3FD219D441}" type="parTrans" cxnId="{125DE2DF-B066-FE48-B3F9-6AFC8777A83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CDE2F364-CF37-AB43-9E80-71C9B390FA1C}" type="sibTrans" cxnId="{125DE2DF-B066-FE48-B3F9-6AFC8777A83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7E0DFD07-8A4D-F34A-B667-8BE558B6DAB8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Easier to modify or replace any tier without affecting other tiers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59D1A772-81F8-9240-835D-C0445FAD93F1}" type="parTrans" cxnId="{5B957FA9-4891-9340-A82F-623DE3C615A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5D9FDD1B-3FDA-8846-8EAB-82B68D4BE1F9}" type="sibTrans" cxnId="{5B957FA9-4891-9340-A82F-623DE3C615A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78028E0B-0B23-654C-B046-52970278F946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Better load balancing can be achieved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EDD14BC8-FFEE-FA4A-9539-2144DCCE9F3B}" type="parTrans" cxnId="{D02FEAEB-908B-6F49-86A2-C79628A87A95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8F493D84-7161-CF43-BFB8-020076D2E67A}" type="sibTrans" cxnId="{D02FEAEB-908B-6F49-86A2-C79628A87A95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BF0C8261-247E-AD44-8EEB-03C9BD7755BC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Web/Application server and database server can be running on different machines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151FEDBC-A8D8-4D47-BFBB-CF8BCD34B39C}" type="parTrans" cxnId="{F3423655-2AD4-4D4F-BA6D-164D41A25E1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87928D28-5796-1A49-ABB4-85EABC51578D}" type="sibTrans" cxnId="{F3423655-2AD4-4D4F-BA6D-164D41A25E19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F44C5886-F558-0E42-9D15-028FF9140417}" type="pres">
      <dgm:prSet presAssocID="{3114780D-1850-7748-A08E-F9129A09AF8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0C1DEE-4BEB-E14F-9E5E-51829AEA418E}" type="pres">
      <dgm:prSet presAssocID="{6691210C-9566-4945-9E16-3FD82F5BA676}" presName="linNode" presStyleCnt="0"/>
      <dgm:spPr/>
    </dgm:pt>
    <dgm:pt modelId="{8615AF16-D931-5C48-88D5-078BC8F3B69B}" type="pres">
      <dgm:prSet presAssocID="{6691210C-9566-4945-9E16-3FD82F5BA676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D49619-936E-E84E-A809-9D5EDA72E9E5}" type="pres">
      <dgm:prSet presAssocID="{6691210C-9566-4945-9E16-3FD82F5BA676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F19B5A-75E6-0B47-A191-B52A949E3DC9}" type="pres">
      <dgm:prSet presAssocID="{8BFA8498-1041-2246-97AF-661F432D2E2B}" presName="sp" presStyleCnt="0"/>
      <dgm:spPr/>
    </dgm:pt>
    <dgm:pt modelId="{D8083183-816D-1B4B-9483-54CB8B8152A6}" type="pres">
      <dgm:prSet presAssocID="{74B641B4-6EA0-884A-B30D-BCF072177707}" presName="linNode" presStyleCnt="0"/>
      <dgm:spPr/>
    </dgm:pt>
    <dgm:pt modelId="{4715841D-9090-4E4D-8326-D9F3E1CF8974}" type="pres">
      <dgm:prSet presAssocID="{74B641B4-6EA0-884A-B30D-BCF072177707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567A19-CA14-A444-9839-44993F5B397A}" type="pres">
      <dgm:prSet presAssocID="{74B641B4-6EA0-884A-B30D-BCF072177707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0EF050-17E2-EA43-9981-A64927B9C67A}" type="pres">
      <dgm:prSet presAssocID="{CDE2F364-CF37-AB43-9E80-71C9B390FA1C}" presName="sp" presStyleCnt="0"/>
      <dgm:spPr/>
    </dgm:pt>
    <dgm:pt modelId="{407D65AF-410A-B742-B314-7145686BFF48}" type="pres">
      <dgm:prSet presAssocID="{78028E0B-0B23-654C-B046-52970278F946}" presName="linNode" presStyleCnt="0"/>
      <dgm:spPr/>
    </dgm:pt>
    <dgm:pt modelId="{2BA86646-F51D-0A49-9A08-1EE568443ADC}" type="pres">
      <dgm:prSet presAssocID="{78028E0B-0B23-654C-B046-52970278F946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20B77A-1FF1-3247-8A25-DA33A7B6BFA1}" type="pres">
      <dgm:prSet presAssocID="{78028E0B-0B23-654C-B046-52970278F946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6A4B3F-D137-4A82-9F26-5478FC2D9A6D}" type="presOf" srcId="{3114780D-1850-7748-A08E-F9129A09AF81}" destId="{F44C5886-F558-0E42-9D15-028FF9140417}" srcOrd="0" destOrd="0" presId="urn:microsoft.com/office/officeart/2005/8/layout/vList5"/>
    <dgm:cxn modelId="{38FDA648-3067-4874-8D5A-FE1C2F649A43}" type="presOf" srcId="{6691210C-9566-4945-9E16-3FD82F5BA676}" destId="{8615AF16-D931-5C48-88D5-078BC8F3B69B}" srcOrd="0" destOrd="0" presId="urn:microsoft.com/office/officeart/2005/8/layout/vList5"/>
    <dgm:cxn modelId="{3953A952-9478-41C2-BB7E-7A6FAE3514D4}" type="presOf" srcId="{78028E0B-0B23-654C-B046-52970278F946}" destId="{2BA86646-F51D-0A49-9A08-1EE568443ADC}" srcOrd="0" destOrd="0" presId="urn:microsoft.com/office/officeart/2005/8/layout/vList5"/>
    <dgm:cxn modelId="{D02FEAEB-908B-6F49-86A2-C79628A87A95}" srcId="{3114780D-1850-7748-A08E-F9129A09AF81}" destId="{78028E0B-0B23-654C-B046-52970278F946}" srcOrd="2" destOrd="0" parTransId="{EDD14BC8-FFEE-FA4A-9539-2144DCCE9F3B}" sibTransId="{8F493D84-7161-CF43-BFB8-020076D2E67A}"/>
    <dgm:cxn modelId="{CD3FC9AD-97C9-4DEC-8784-D89142B0F34B}" type="presOf" srcId="{74B641B4-6EA0-884A-B30D-BCF072177707}" destId="{4715841D-9090-4E4D-8326-D9F3E1CF8974}" srcOrd="0" destOrd="0" presId="urn:microsoft.com/office/officeart/2005/8/layout/vList5"/>
    <dgm:cxn modelId="{F3423655-2AD4-4D4F-BA6D-164D41A25E19}" srcId="{78028E0B-0B23-654C-B046-52970278F946}" destId="{BF0C8261-247E-AD44-8EEB-03C9BD7755BC}" srcOrd="0" destOrd="0" parTransId="{151FEDBC-A8D8-4D47-BFBB-CF8BCD34B39C}" sibTransId="{87928D28-5796-1A49-ABB4-85EABC51578D}"/>
    <dgm:cxn modelId="{925A7241-D23D-7B4C-8928-6BDB2BEF6E69}" srcId="{3114780D-1850-7748-A08E-F9129A09AF81}" destId="{6691210C-9566-4945-9E16-3FD82F5BA676}" srcOrd="0" destOrd="0" parTransId="{D9E3ABAA-461E-A745-88A4-57A840C0DAA0}" sibTransId="{8BFA8498-1041-2246-97AF-661F432D2E2B}"/>
    <dgm:cxn modelId="{04F5612E-57F8-1649-A013-88EBAA5AF6ED}" srcId="{6691210C-9566-4945-9E16-3FD82F5BA676}" destId="{0E65CFBE-E129-6041-BF74-5622B9FE5B54}" srcOrd="0" destOrd="0" parTransId="{2F555C51-9F5A-7949-B449-5BEDEF5AA3FB}" sibTransId="{FB0EC835-A9AB-3D4A-94CE-7E2C2BB04950}"/>
    <dgm:cxn modelId="{083F9A94-34CB-4963-8AF7-59419E491A68}" type="presOf" srcId="{7E0DFD07-8A4D-F34A-B667-8BE558B6DAB8}" destId="{48567A19-CA14-A444-9839-44993F5B397A}" srcOrd="0" destOrd="0" presId="urn:microsoft.com/office/officeart/2005/8/layout/vList5"/>
    <dgm:cxn modelId="{D8D39EA1-EB25-4CC1-AFF2-2DDDA9FA65F7}" type="presOf" srcId="{BF0C8261-247E-AD44-8EEB-03C9BD7755BC}" destId="{3620B77A-1FF1-3247-8A25-DA33A7B6BFA1}" srcOrd="0" destOrd="0" presId="urn:microsoft.com/office/officeart/2005/8/layout/vList5"/>
    <dgm:cxn modelId="{5B957FA9-4891-9340-A82F-623DE3C615A4}" srcId="{74B641B4-6EA0-884A-B30D-BCF072177707}" destId="{7E0DFD07-8A4D-F34A-B667-8BE558B6DAB8}" srcOrd="0" destOrd="0" parTransId="{59D1A772-81F8-9240-835D-C0445FAD93F1}" sibTransId="{5D9FDD1B-3FDA-8846-8EAB-82B68D4BE1F9}"/>
    <dgm:cxn modelId="{125DE2DF-B066-FE48-B3F9-6AFC8777A839}" srcId="{3114780D-1850-7748-A08E-F9129A09AF81}" destId="{74B641B4-6EA0-884A-B30D-BCF072177707}" srcOrd="1" destOrd="0" parTransId="{EB2EFEFD-FEF8-824B-AF50-8A3FD219D441}" sibTransId="{CDE2F364-CF37-AB43-9E80-71C9B390FA1C}"/>
    <dgm:cxn modelId="{F5F5745D-3B40-4F51-88A9-9442120B0352}" type="presOf" srcId="{0E65CFBE-E129-6041-BF74-5622B9FE5B54}" destId="{B7D49619-936E-E84E-A809-9D5EDA72E9E5}" srcOrd="0" destOrd="0" presId="urn:microsoft.com/office/officeart/2005/8/layout/vList5"/>
    <dgm:cxn modelId="{E321B214-2436-4FB9-A0C8-2236764E0F0C}" type="presParOf" srcId="{F44C5886-F558-0E42-9D15-028FF9140417}" destId="{D60C1DEE-4BEB-E14F-9E5E-51829AEA418E}" srcOrd="0" destOrd="0" presId="urn:microsoft.com/office/officeart/2005/8/layout/vList5"/>
    <dgm:cxn modelId="{421369DC-261E-4D27-8EFD-AAC2C3EA06D9}" type="presParOf" srcId="{D60C1DEE-4BEB-E14F-9E5E-51829AEA418E}" destId="{8615AF16-D931-5C48-88D5-078BC8F3B69B}" srcOrd="0" destOrd="0" presId="urn:microsoft.com/office/officeart/2005/8/layout/vList5"/>
    <dgm:cxn modelId="{5E49B818-0C54-4FE1-8213-1DA6000976B4}" type="presParOf" srcId="{D60C1DEE-4BEB-E14F-9E5E-51829AEA418E}" destId="{B7D49619-936E-E84E-A809-9D5EDA72E9E5}" srcOrd="1" destOrd="0" presId="urn:microsoft.com/office/officeart/2005/8/layout/vList5"/>
    <dgm:cxn modelId="{0D150A78-A890-4BD0-9936-3DD9CF8F42C9}" type="presParOf" srcId="{F44C5886-F558-0E42-9D15-028FF9140417}" destId="{8BF19B5A-75E6-0B47-A191-B52A949E3DC9}" srcOrd="1" destOrd="0" presId="urn:microsoft.com/office/officeart/2005/8/layout/vList5"/>
    <dgm:cxn modelId="{EC2198AF-D8BC-42F9-950E-81C8701A0D9B}" type="presParOf" srcId="{F44C5886-F558-0E42-9D15-028FF9140417}" destId="{D8083183-816D-1B4B-9483-54CB8B8152A6}" srcOrd="2" destOrd="0" presId="urn:microsoft.com/office/officeart/2005/8/layout/vList5"/>
    <dgm:cxn modelId="{DC217829-7C3F-4798-B4F2-58E4F7ECF7BE}" type="presParOf" srcId="{D8083183-816D-1B4B-9483-54CB8B8152A6}" destId="{4715841D-9090-4E4D-8326-D9F3E1CF8974}" srcOrd="0" destOrd="0" presId="urn:microsoft.com/office/officeart/2005/8/layout/vList5"/>
    <dgm:cxn modelId="{1C0B1934-7A55-4D59-B98F-1CA86F56E748}" type="presParOf" srcId="{D8083183-816D-1B4B-9483-54CB8B8152A6}" destId="{48567A19-CA14-A444-9839-44993F5B397A}" srcOrd="1" destOrd="0" presId="urn:microsoft.com/office/officeart/2005/8/layout/vList5"/>
    <dgm:cxn modelId="{5CAB088B-A334-4B7D-AD22-8A351949AAB9}" type="presParOf" srcId="{F44C5886-F558-0E42-9D15-028FF9140417}" destId="{850EF050-17E2-EA43-9981-A64927B9C67A}" srcOrd="3" destOrd="0" presId="urn:microsoft.com/office/officeart/2005/8/layout/vList5"/>
    <dgm:cxn modelId="{68802F45-D7A8-44EE-A0AD-DF730E3C29F5}" type="presParOf" srcId="{F44C5886-F558-0E42-9D15-028FF9140417}" destId="{407D65AF-410A-B742-B314-7145686BFF48}" srcOrd="4" destOrd="0" presId="urn:microsoft.com/office/officeart/2005/8/layout/vList5"/>
    <dgm:cxn modelId="{79BBD3D7-0DFE-4E06-BECA-3CA78488DDD0}" type="presParOf" srcId="{407D65AF-410A-B742-B314-7145686BFF48}" destId="{2BA86646-F51D-0A49-9A08-1EE568443ADC}" srcOrd="0" destOrd="0" presId="urn:microsoft.com/office/officeart/2005/8/layout/vList5"/>
    <dgm:cxn modelId="{3B5C4C90-DF0D-48B4-839B-2AA0A28229A6}" type="presParOf" srcId="{407D65AF-410A-B742-B314-7145686BFF48}" destId="{3620B77A-1FF1-3247-8A25-DA33A7B6BFA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09AE3D-4620-D046-9A63-E76AA9C6B201}" type="doc">
      <dgm:prSet loTypeId="urn:microsoft.com/office/officeart/2005/8/layout/cycle1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D3EAD92-F0DC-A54E-8348-D3EBCA48278D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2. The requested HTML page or output from web application is sent from the server to the client as a HTTP Response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FFF84902-52F4-D74B-A792-6723A0398D85}" type="parTrans" cxnId="{81196AE7-7688-6A42-9433-3F59248EF4EA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056F3DB8-EF8C-8B49-909D-9AACA04FCBD8}" type="sibTrans" cxnId="{81196AE7-7688-6A42-9433-3F59248EF4EA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1E491CF3-A9DF-394F-A90F-EC7EADA390F6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3. Browser displays login page to the user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A97B65EE-9397-AD4D-9A6A-52986EC9BE7F}" type="parTrans" cxnId="{44C60AD4-8CDF-5F44-B55F-BB06E9D653E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FD81AB50-513A-3E4C-A7F9-4CFE6C29AF2F}" type="sibTrans" cxnId="{44C60AD4-8CDF-5F44-B55F-BB06E9D653E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EEB54D69-EA4D-5A4B-8098-A9B59B5A2A53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4. User types in username and password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4117F919-BAB2-D34C-96EC-D4CA290B9DE2}" type="parTrans" cxnId="{8D32A455-65EF-A14D-998D-A270AE65DCA6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636630F5-72F9-0246-BFD2-C8301C58CC07}" type="sibTrans" cxnId="{8D32A455-65EF-A14D-998D-A270AE65DCA6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A00E3FFE-05A2-4D44-99A3-833046DAF445}">
      <dgm:prSet phldrT="[Text]"/>
      <dgm:spPr/>
      <dgm:t>
        <a:bodyPr/>
        <a:lstStyle/>
        <a:p>
          <a:r>
            <a:rPr lang="en-US" dirty="0">
              <a:latin typeface="Arial Unicode MS" charset="0"/>
              <a:ea typeface="Arial Unicode MS" charset="0"/>
              <a:cs typeface="Arial Unicode MS" charset="0"/>
            </a:rPr>
            <a:t>5. User clicks on login button</a:t>
          </a:r>
          <a:endParaRPr lang="en-GB" dirty="0">
            <a:latin typeface="Arial Unicode MS" charset="0"/>
            <a:ea typeface="Arial Unicode MS" charset="0"/>
            <a:cs typeface="Arial Unicode MS" charset="0"/>
          </a:endParaRPr>
        </a:p>
      </dgm:t>
    </dgm:pt>
    <dgm:pt modelId="{088B7154-96C9-6C4C-BCE9-C81001A178FF}" type="parTrans" cxnId="{F6E114E4-6369-6B4D-AC5B-B7D9FDB8260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60B9F2A4-3159-C841-8EF7-7CE0115F00A9}" type="sibTrans" cxnId="{F6E114E4-6369-6B4D-AC5B-B7D9FDB82604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1A51163D-9C6A-1C44-8286-12C36AEF5FAB}">
      <dgm:prSet phldrT="[Text]"/>
      <dgm:spPr/>
      <dgm:t>
        <a:bodyPr/>
        <a:lstStyle/>
        <a:p>
          <a:r>
            <a:rPr lang="en-GB" dirty="0">
              <a:latin typeface="Arial Unicode MS" charset="0"/>
              <a:ea typeface="Arial Unicode MS" charset="0"/>
              <a:cs typeface="Arial Unicode MS" charset="0"/>
            </a:rPr>
            <a:t>1. User access web page via URL</a:t>
          </a:r>
        </a:p>
      </dgm:t>
    </dgm:pt>
    <dgm:pt modelId="{0B0E8AB0-1A25-9C43-9317-16313C44E17B}" type="parTrans" cxnId="{B0ACA053-8D88-3949-AE90-DC867840ABC8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37E2F639-8C66-F849-9425-A0675ADB8F7A}" type="sibTrans" cxnId="{B0ACA053-8D88-3949-AE90-DC867840ABC8}">
      <dgm:prSet/>
      <dgm:spPr/>
      <dgm:t>
        <a:bodyPr/>
        <a:lstStyle/>
        <a:p>
          <a:endParaRPr lang="en-GB">
            <a:latin typeface="Arial Unicode MS" charset="0"/>
            <a:ea typeface="Arial Unicode MS" charset="0"/>
            <a:cs typeface="Arial Unicode MS" charset="0"/>
          </a:endParaRPr>
        </a:p>
      </dgm:t>
    </dgm:pt>
    <dgm:pt modelId="{EBF64268-5732-D841-B526-250D77EF7AFC}" type="pres">
      <dgm:prSet presAssocID="{8909AE3D-4620-D046-9A63-E76AA9C6B20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86620C-3F3A-3240-B93E-6F08EE84A36E}" type="pres">
      <dgm:prSet presAssocID="{CD3EAD92-F0DC-A54E-8348-D3EBCA48278D}" presName="dummy" presStyleCnt="0"/>
      <dgm:spPr/>
    </dgm:pt>
    <dgm:pt modelId="{4FF161EF-0D9A-AB46-89A3-D5152DE4B18E}" type="pres">
      <dgm:prSet presAssocID="{CD3EAD92-F0DC-A54E-8348-D3EBCA48278D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AFB875-D758-9C44-AD73-C389A7BE4FE7}" type="pres">
      <dgm:prSet presAssocID="{056F3DB8-EF8C-8B49-909D-9AACA04FCBD8}" presName="sibTrans" presStyleLbl="node1" presStyleIdx="0" presStyleCnt="5"/>
      <dgm:spPr/>
      <dgm:t>
        <a:bodyPr/>
        <a:lstStyle/>
        <a:p>
          <a:endParaRPr lang="en-US"/>
        </a:p>
      </dgm:t>
    </dgm:pt>
    <dgm:pt modelId="{10BA82C8-2076-EA46-8E48-6A312154700D}" type="pres">
      <dgm:prSet presAssocID="{1E491CF3-A9DF-394F-A90F-EC7EADA390F6}" presName="dummy" presStyleCnt="0"/>
      <dgm:spPr/>
    </dgm:pt>
    <dgm:pt modelId="{9200195B-C5B8-F34E-8E03-465791B312C5}" type="pres">
      <dgm:prSet presAssocID="{1E491CF3-A9DF-394F-A90F-EC7EADA390F6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562479-6773-504B-9678-89F5914AF960}" type="pres">
      <dgm:prSet presAssocID="{FD81AB50-513A-3E4C-A7F9-4CFE6C29AF2F}" presName="sibTrans" presStyleLbl="node1" presStyleIdx="1" presStyleCnt="5"/>
      <dgm:spPr/>
      <dgm:t>
        <a:bodyPr/>
        <a:lstStyle/>
        <a:p>
          <a:endParaRPr lang="en-US"/>
        </a:p>
      </dgm:t>
    </dgm:pt>
    <dgm:pt modelId="{4AE39A72-4489-B04F-9131-6888DB64C264}" type="pres">
      <dgm:prSet presAssocID="{EEB54D69-EA4D-5A4B-8098-A9B59B5A2A53}" presName="dummy" presStyleCnt="0"/>
      <dgm:spPr/>
    </dgm:pt>
    <dgm:pt modelId="{5B515C83-E6FD-4D46-872E-180B03DABE3D}" type="pres">
      <dgm:prSet presAssocID="{EEB54D69-EA4D-5A4B-8098-A9B59B5A2A53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D50941-6A06-DF47-A851-FD6E76A20680}" type="pres">
      <dgm:prSet presAssocID="{636630F5-72F9-0246-BFD2-C8301C58CC07}" presName="sibTrans" presStyleLbl="node1" presStyleIdx="2" presStyleCnt="5"/>
      <dgm:spPr/>
      <dgm:t>
        <a:bodyPr/>
        <a:lstStyle/>
        <a:p>
          <a:endParaRPr lang="en-US"/>
        </a:p>
      </dgm:t>
    </dgm:pt>
    <dgm:pt modelId="{F44D5F09-2A4F-CB49-9C44-99BFFCD3118E}" type="pres">
      <dgm:prSet presAssocID="{A00E3FFE-05A2-4D44-99A3-833046DAF445}" presName="dummy" presStyleCnt="0"/>
      <dgm:spPr/>
    </dgm:pt>
    <dgm:pt modelId="{775AF4E3-29B7-914C-B7C6-E0BE841DE59A}" type="pres">
      <dgm:prSet presAssocID="{A00E3FFE-05A2-4D44-99A3-833046DAF445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7AB46-C57A-5D45-95C3-A37C92A35588}" type="pres">
      <dgm:prSet presAssocID="{60B9F2A4-3159-C841-8EF7-7CE0115F00A9}" presName="sibTrans" presStyleLbl="node1" presStyleIdx="3" presStyleCnt="5"/>
      <dgm:spPr/>
      <dgm:t>
        <a:bodyPr/>
        <a:lstStyle/>
        <a:p>
          <a:endParaRPr lang="en-US"/>
        </a:p>
      </dgm:t>
    </dgm:pt>
    <dgm:pt modelId="{08873C99-28DA-3B41-ABA9-2FF8C694B2C0}" type="pres">
      <dgm:prSet presAssocID="{1A51163D-9C6A-1C44-8286-12C36AEF5FAB}" presName="dummy" presStyleCnt="0"/>
      <dgm:spPr/>
    </dgm:pt>
    <dgm:pt modelId="{A70E3CBE-7DDE-2042-92B1-B9B195B6822D}" type="pres">
      <dgm:prSet presAssocID="{1A51163D-9C6A-1C44-8286-12C36AEF5FAB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99B6D7-C45E-D944-96B2-094BA48E76A1}" type="pres">
      <dgm:prSet presAssocID="{37E2F639-8C66-F849-9425-A0675ADB8F7A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91420DEA-E951-4C54-B1A5-83D51820C61F}" type="presOf" srcId="{37E2F639-8C66-F849-9425-A0675ADB8F7A}" destId="{6499B6D7-C45E-D944-96B2-094BA48E76A1}" srcOrd="0" destOrd="0" presId="urn:microsoft.com/office/officeart/2005/8/layout/cycle1"/>
    <dgm:cxn modelId="{E8C0410F-855D-4EB1-BE83-94EB43E3C4F0}" type="presOf" srcId="{FD81AB50-513A-3E4C-A7F9-4CFE6C29AF2F}" destId="{38562479-6773-504B-9678-89F5914AF960}" srcOrd="0" destOrd="0" presId="urn:microsoft.com/office/officeart/2005/8/layout/cycle1"/>
    <dgm:cxn modelId="{F1E4BC12-50C1-422D-AA8C-D89E0F11319F}" type="presOf" srcId="{8909AE3D-4620-D046-9A63-E76AA9C6B201}" destId="{EBF64268-5732-D841-B526-250D77EF7AFC}" srcOrd="0" destOrd="0" presId="urn:microsoft.com/office/officeart/2005/8/layout/cycle1"/>
    <dgm:cxn modelId="{44C60AD4-8CDF-5F44-B55F-BB06E9D653E4}" srcId="{8909AE3D-4620-D046-9A63-E76AA9C6B201}" destId="{1E491CF3-A9DF-394F-A90F-EC7EADA390F6}" srcOrd="1" destOrd="0" parTransId="{A97B65EE-9397-AD4D-9A6A-52986EC9BE7F}" sibTransId="{FD81AB50-513A-3E4C-A7F9-4CFE6C29AF2F}"/>
    <dgm:cxn modelId="{F5D802A5-BBAA-4737-AE42-1B6FA11FA2C5}" type="presOf" srcId="{A00E3FFE-05A2-4D44-99A3-833046DAF445}" destId="{775AF4E3-29B7-914C-B7C6-E0BE841DE59A}" srcOrd="0" destOrd="0" presId="urn:microsoft.com/office/officeart/2005/8/layout/cycle1"/>
    <dgm:cxn modelId="{9EADA83D-1D9C-48E0-9C14-CA636B1BCEEC}" type="presOf" srcId="{CD3EAD92-F0DC-A54E-8348-D3EBCA48278D}" destId="{4FF161EF-0D9A-AB46-89A3-D5152DE4B18E}" srcOrd="0" destOrd="0" presId="urn:microsoft.com/office/officeart/2005/8/layout/cycle1"/>
    <dgm:cxn modelId="{1CC292BE-4BC0-42E7-BF93-C5E62529309C}" type="presOf" srcId="{1E491CF3-A9DF-394F-A90F-EC7EADA390F6}" destId="{9200195B-C5B8-F34E-8E03-465791B312C5}" srcOrd="0" destOrd="0" presId="urn:microsoft.com/office/officeart/2005/8/layout/cycle1"/>
    <dgm:cxn modelId="{B17D7409-23B9-4675-BE5E-3A73770D5101}" type="presOf" srcId="{636630F5-72F9-0246-BFD2-C8301C58CC07}" destId="{73D50941-6A06-DF47-A851-FD6E76A20680}" srcOrd="0" destOrd="0" presId="urn:microsoft.com/office/officeart/2005/8/layout/cycle1"/>
    <dgm:cxn modelId="{F6E114E4-6369-6B4D-AC5B-B7D9FDB82604}" srcId="{8909AE3D-4620-D046-9A63-E76AA9C6B201}" destId="{A00E3FFE-05A2-4D44-99A3-833046DAF445}" srcOrd="3" destOrd="0" parTransId="{088B7154-96C9-6C4C-BCE9-C81001A178FF}" sibTransId="{60B9F2A4-3159-C841-8EF7-7CE0115F00A9}"/>
    <dgm:cxn modelId="{38187053-B40D-4EEE-BC0C-C46A984AB1F6}" type="presOf" srcId="{1A51163D-9C6A-1C44-8286-12C36AEF5FAB}" destId="{A70E3CBE-7DDE-2042-92B1-B9B195B6822D}" srcOrd="0" destOrd="0" presId="urn:microsoft.com/office/officeart/2005/8/layout/cycle1"/>
    <dgm:cxn modelId="{342BEDB8-5D20-4235-A324-FF8583560786}" type="presOf" srcId="{056F3DB8-EF8C-8B49-909D-9AACA04FCBD8}" destId="{93AFB875-D758-9C44-AD73-C389A7BE4FE7}" srcOrd="0" destOrd="0" presId="urn:microsoft.com/office/officeart/2005/8/layout/cycle1"/>
    <dgm:cxn modelId="{B0ACA053-8D88-3949-AE90-DC867840ABC8}" srcId="{8909AE3D-4620-D046-9A63-E76AA9C6B201}" destId="{1A51163D-9C6A-1C44-8286-12C36AEF5FAB}" srcOrd="4" destOrd="0" parTransId="{0B0E8AB0-1A25-9C43-9317-16313C44E17B}" sibTransId="{37E2F639-8C66-F849-9425-A0675ADB8F7A}"/>
    <dgm:cxn modelId="{8D32A455-65EF-A14D-998D-A270AE65DCA6}" srcId="{8909AE3D-4620-D046-9A63-E76AA9C6B201}" destId="{EEB54D69-EA4D-5A4B-8098-A9B59B5A2A53}" srcOrd="2" destOrd="0" parTransId="{4117F919-BAB2-D34C-96EC-D4CA290B9DE2}" sibTransId="{636630F5-72F9-0246-BFD2-C8301C58CC07}"/>
    <dgm:cxn modelId="{8558046C-8C64-4A86-9C8D-360D9FFA3A3F}" type="presOf" srcId="{60B9F2A4-3159-C841-8EF7-7CE0115F00A9}" destId="{ADC7AB46-C57A-5D45-95C3-A37C92A35588}" srcOrd="0" destOrd="0" presId="urn:microsoft.com/office/officeart/2005/8/layout/cycle1"/>
    <dgm:cxn modelId="{81196AE7-7688-6A42-9433-3F59248EF4EA}" srcId="{8909AE3D-4620-D046-9A63-E76AA9C6B201}" destId="{CD3EAD92-F0DC-A54E-8348-D3EBCA48278D}" srcOrd="0" destOrd="0" parTransId="{FFF84902-52F4-D74B-A792-6723A0398D85}" sibTransId="{056F3DB8-EF8C-8B49-909D-9AACA04FCBD8}"/>
    <dgm:cxn modelId="{9C2E3153-1E2B-4C3D-A0CE-363EFF97405E}" type="presOf" srcId="{EEB54D69-EA4D-5A4B-8098-A9B59B5A2A53}" destId="{5B515C83-E6FD-4D46-872E-180B03DABE3D}" srcOrd="0" destOrd="0" presId="urn:microsoft.com/office/officeart/2005/8/layout/cycle1"/>
    <dgm:cxn modelId="{EB15290E-2CE1-43D6-AB24-5459D3D2C3FE}" type="presParOf" srcId="{EBF64268-5732-D841-B526-250D77EF7AFC}" destId="{8486620C-3F3A-3240-B93E-6F08EE84A36E}" srcOrd="0" destOrd="0" presId="urn:microsoft.com/office/officeart/2005/8/layout/cycle1"/>
    <dgm:cxn modelId="{0BD3DA2E-80F8-4891-A32C-6687FEE6E722}" type="presParOf" srcId="{EBF64268-5732-D841-B526-250D77EF7AFC}" destId="{4FF161EF-0D9A-AB46-89A3-D5152DE4B18E}" srcOrd="1" destOrd="0" presId="urn:microsoft.com/office/officeart/2005/8/layout/cycle1"/>
    <dgm:cxn modelId="{295BB257-EF56-43A5-A5CD-558C3CE59CAD}" type="presParOf" srcId="{EBF64268-5732-D841-B526-250D77EF7AFC}" destId="{93AFB875-D758-9C44-AD73-C389A7BE4FE7}" srcOrd="2" destOrd="0" presId="urn:microsoft.com/office/officeart/2005/8/layout/cycle1"/>
    <dgm:cxn modelId="{FCD7BB1E-3349-4E5E-B2C8-21782FE90A1F}" type="presParOf" srcId="{EBF64268-5732-D841-B526-250D77EF7AFC}" destId="{10BA82C8-2076-EA46-8E48-6A312154700D}" srcOrd="3" destOrd="0" presId="urn:microsoft.com/office/officeart/2005/8/layout/cycle1"/>
    <dgm:cxn modelId="{F18DD481-F173-4D9B-8A4D-B10941228EC2}" type="presParOf" srcId="{EBF64268-5732-D841-B526-250D77EF7AFC}" destId="{9200195B-C5B8-F34E-8E03-465791B312C5}" srcOrd="4" destOrd="0" presId="urn:microsoft.com/office/officeart/2005/8/layout/cycle1"/>
    <dgm:cxn modelId="{E71FE3BA-0D52-4734-9387-F1EB37D833F1}" type="presParOf" srcId="{EBF64268-5732-D841-B526-250D77EF7AFC}" destId="{38562479-6773-504B-9678-89F5914AF960}" srcOrd="5" destOrd="0" presId="urn:microsoft.com/office/officeart/2005/8/layout/cycle1"/>
    <dgm:cxn modelId="{5AD7CDD1-2652-4E30-A041-35A0CEDA637F}" type="presParOf" srcId="{EBF64268-5732-D841-B526-250D77EF7AFC}" destId="{4AE39A72-4489-B04F-9131-6888DB64C264}" srcOrd="6" destOrd="0" presId="urn:microsoft.com/office/officeart/2005/8/layout/cycle1"/>
    <dgm:cxn modelId="{9F9E3538-FD6A-4DEC-AD5A-40DA575622B8}" type="presParOf" srcId="{EBF64268-5732-D841-B526-250D77EF7AFC}" destId="{5B515C83-E6FD-4D46-872E-180B03DABE3D}" srcOrd="7" destOrd="0" presId="urn:microsoft.com/office/officeart/2005/8/layout/cycle1"/>
    <dgm:cxn modelId="{E4E7848C-FA16-4593-B0D2-74117A17D900}" type="presParOf" srcId="{EBF64268-5732-D841-B526-250D77EF7AFC}" destId="{73D50941-6A06-DF47-A851-FD6E76A20680}" srcOrd="8" destOrd="0" presId="urn:microsoft.com/office/officeart/2005/8/layout/cycle1"/>
    <dgm:cxn modelId="{B40ABDCD-5B46-4B07-BE24-043AD4174F12}" type="presParOf" srcId="{EBF64268-5732-D841-B526-250D77EF7AFC}" destId="{F44D5F09-2A4F-CB49-9C44-99BFFCD3118E}" srcOrd="9" destOrd="0" presId="urn:microsoft.com/office/officeart/2005/8/layout/cycle1"/>
    <dgm:cxn modelId="{A0B06467-A44A-41D7-BDB9-21132DF80473}" type="presParOf" srcId="{EBF64268-5732-D841-B526-250D77EF7AFC}" destId="{775AF4E3-29B7-914C-B7C6-E0BE841DE59A}" srcOrd="10" destOrd="0" presId="urn:microsoft.com/office/officeart/2005/8/layout/cycle1"/>
    <dgm:cxn modelId="{8428847B-6B27-455C-A2D5-947B5FEBDCD0}" type="presParOf" srcId="{EBF64268-5732-D841-B526-250D77EF7AFC}" destId="{ADC7AB46-C57A-5D45-95C3-A37C92A35588}" srcOrd="11" destOrd="0" presId="urn:microsoft.com/office/officeart/2005/8/layout/cycle1"/>
    <dgm:cxn modelId="{49596DE4-CAD9-4A63-8EAF-4F3C5BB44FD8}" type="presParOf" srcId="{EBF64268-5732-D841-B526-250D77EF7AFC}" destId="{08873C99-28DA-3B41-ABA9-2FF8C694B2C0}" srcOrd="12" destOrd="0" presId="urn:microsoft.com/office/officeart/2005/8/layout/cycle1"/>
    <dgm:cxn modelId="{62B487AD-205F-401B-AED1-D5E6CD7415F9}" type="presParOf" srcId="{EBF64268-5732-D841-B526-250D77EF7AFC}" destId="{A70E3CBE-7DDE-2042-92B1-B9B195B6822D}" srcOrd="13" destOrd="0" presId="urn:microsoft.com/office/officeart/2005/8/layout/cycle1"/>
    <dgm:cxn modelId="{CBD8D358-889E-48CA-81F9-9DEB7BDC8D25}" type="presParOf" srcId="{EBF64268-5732-D841-B526-250D77EF7AFC}" destId="{6499B6D7-C45E-D944-96B2-094BA48E76A1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56568-51FC-824F-A7BB-8E7AC1461C87}">
      <dsp:nvSpPr>
        <dsp:cNvPr id="0" name=""/>
        <dsp:cNvSpPr/>
      </dsp:nvSpPr>
      <dsp:spPr>
        <a:xfrm>
          <a:off x="2563" y="157909"/>
          <a:ext cx="2499850" cy="7809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Web</a:t>
          </a:r>
          <a:r>
            <a:rPr lang="en-GB" sz="1600" kern="1200" baseline="0" dirty="0">
              <a:latin typeface="Arial Unicode MS" charset="0"/>
              <a:ea typeface="Arial Unicode MS" charset="0"/>
              <a:cs typeface="Arial Unicode MS" charset="0"/>
            </a:rPr>
            <a:t> Browser on Client Device</a:t>
          </a:r>
          <a:endParaRPr lang="en-GB" sz="16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2563" y="157909"/>
        <a:ext cx="2499850" cy="780914"/>
      </dsp:txXfrm>
    </dsp:sp>
    <dsp:sp modelId="{7F8038EA-F74A-2948-8452-DFD218B3E0AB}">
      <dsp:nvSpPr>
        <dsp:cNvPr id="0" name=""/>
        <dsp:cNvSpPr/>
      </dsp:nvSpPr>
      <dsp:spPr>
        <a:xfrm>
          <a:off x="2563" y="938823"/>
          <a:ext cx="2499850" cy="2371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Input / Output: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User Interface</a:t>
          </a:r>
          <a:r>
            <a:rPr lang="en-GB" sz="1600" kern="1200" baseline="0" dirty="0">
              <a:latin typeface="Arial Unicode MS" charset="0"/>
              <a:ea typeface="Arial Unicode MS" charset="0"/>
              <a:cs typeface="Arial Unicode MS" charset="0"/>
            </a:rPr>
            <a:t> (Page layout / look and feel)</a:t>
          </a:r>
          <a:endParaRPr lang="en-GB" sz="1600" kern="1200" dirty="0">
            <a:latin typeface="Arial Unicode MS" charset="0"/>
            <a:ea typeface="Arial Unicode MS" charset="0"/>
            <a:cs typeface="Arial Unicode MS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baseline="0" dirty="0">
              <a:latin typeface="Arial Unicode MS" charset="0"/>
              <a:ea typeface="Arial Unicode MS" charset="0"/>
              <a:cs typeface="Arial Unicode MS" charset="0"/>
            </a:rPr>
            <a:t>Data Entry</a:t>
          </a:r>
          <a:endParaRPr lang="en-GB" sz="1600" kern="1200" dirty="0">
            <a:latin typeface="Arial Unicode MS" charset="0"/>
            <a:ea typeface="Arial Unicode MS" charset="0"/>
            <a:cs typeface="Arial Unicode MS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Data Validation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Output Formatting</a:t>
          </a:r>
        </a:p>
      </dsp:txBody>
      <dsp:txXfrm>
        <a:off x="2563" y="938823"/>
        <a:ext cx="2499850" cy="2371680"/>
      </dsp:txXfrm>
    </dsp:sp>
    <dsp:sp modelId="{9F5F995D-84EE-A24C-AEF2-AE6A3EF913C6}">
      <dsp:nvSpPr>
        <dsp:cNvPr id="0" name=""/>
        <dsp:cNvSpPr/>
      </dsp:nvSpPr>
      <dsp:spPr>
        <a:xfrm>
          <a:off x="2852393" y="157909"/>
          <a:ext cx="2499850" cy="7809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Web Application on Web Server</a:t>
          </a:r>
        </a:p>
      </dsp:txBody>
      <dsp:txXfrm>
        <a:off x="2852393" y="157909"/>
        <a:ext cx="2499850" cy="780914"/>
      </dsp:txXfrm>
    </dsp:sp>
    <dsp:sp modelId="{C6710FF6-24B1-5748-8419-F0384E5D9058}">
      <dsp:nvSpPr>
        <dsp:cNvPr id="0" name=""/>
        <dsp:cNvSpPr/>
      </dsp:nvSpPr>
      <dsp:spPr>
        <a:xfrm>
          <a:off x="2852393" y="938823"/>
          <a:ext cx="2499850" cy="2371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Information Processing: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Application Logic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Computational Processing</a:t>
          </a:r>
        </a:p>
      </dsp:txBody>
      <dsp:txXfrm>
        <a:off x="2852393" y="938823"/>
        <a:ext cx="2499850" cy="2371680"/>
      </dsp:txXfrm>
    </dsp:sp>
    <dsp:sp modelId="{D37A323F-9C22-7A4B-A9A0-B98E8A266514}">
      <dsp:nvSpPr>
        <dsp:cNvPr id="0" name=""/>
        <dsp:cNvSpPr/>
      </dsp:nvSpPr>
      <dsp:spPr>
        <a:xfrm>
          <a:off x="5702223" y="157909"/>
          <a:ext cx="2499850" cy="7809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Database on Database Server</a:t>
          </a:r>
        </a:p>
      </dsp:txBody>
      <dsp:txXfrm>
        <a:off x="5702223" y="157909"/>
        <a:ext cx="2499850" cy="780914"/>
      </dsp:txXfrm>
    </dsp:sp>
    <dsp:sp modelId="{FD7FC1E2-ED2E-8F4C-B955-83D92F9E8400}">
      <dsp:nvSpPr>
        <dsp:cNvPr id="0" name=""/>
        <dsp:cNvSpPr/>
      </dsp:nvSpPr>
      <dsp:spPr>
        <a:xfrm>
          <a:off x="5702223" y="938823"/>
          <a:ext cx="2499850" cy="2371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Data Access: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Information Storage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Information Retrieval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kern="1200" dirty="0">
              <a:latin typeface="Arial Unicode MS" charset="0"/>
              <a:ea typeface="Arial Unicode MS" charset="0"/>
              <a:cs typeface="Arial Unicode MS" charset="0"/>
            </a:rPr>
            <a:t>Database Maintenance</a:t>
          </a:r>
        </a:p>
      </dsp:txBody>
      <dsp:txXfrm>
        <a:off x="5702223" y="938823"/>
        <a:ext cx="2499850" cy="2371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49619-936E-E84E-A809-9D5EDA72E9E5}">
      <dsp:nvSpPr>
        <dsp:cNvPr id="0" name=""/>
        <dsp:cNvSpPr/>
      </dsp:nvSpPr>
      <dsp:spPr>
        <a:xfrm rot="5400000">
          <a:off x="5732796" y="-2291356"/>
          <a:ext cx="1037871" cy="5883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>
              <a:latin typeface="Arial Unicode MS" charset="0"/>
              <a:ea typeface="Arial Unicode MS" charset="0"/>
              <a:cs typeface="Arial Unicode MS" charset="0"/>
            </a:rPr>
            <a:t>Can divide and assign different tier to different development team</a:t>
          </a:r>
          <a:endParaRPr lang="en-GB" sz="21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 rot="-5400000">
        <a:off x="3309741" y="182364"/>
        <a:ext cx="5833318" cy="936541"/>
      </dsp:txXfrm>
    </dsp:sp>
    <dsp:sp modelId="{8615AF16-D931-5C48-88D5-078BC8F3B69B}">
      <dsp:nvSpPr>
        <dsp:cNvPr id="0" name=""/>
        <dsp:cNvSpPr/>
      </dsp:nvSpPr>
      <dsp:spPr>
        <a:xfrm>
          <a:off x="0" y="1965"/>
          <a:ext cx="3309740" cy="12973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Arial Unicode MS" charset="0"/>
              <a:ea typeface="Arial Unicode MS" charset="0"/>
              <a:cs typeface="Arial Unicode MS" charset="0"/>
            </a:rPr>
            <a:t>Well-defined development goals for each tier</a:t>
          </a:r>
          <a:endParaRPr lang="en-GB" sz="20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63331" y="65296"/>
        <a:ext cx="3183078" cy="1170677"/>
      </dsp:txXfrm>
    </dsp:sp>
    <dsp:sp modelId="{48567A19-CA14-A444-9839-44993F5B397A}">
      <dsp:nvSpPr>
        <dsp:cNvPr id="0" name=""/>
        <dsp:cNvSpPr/>
      </dsp:nvSpPr>
      <dsp:spPr>
        <a:xfrm rot="5400000">
          <a:off x="5732796" y="-929149"/>
          <a:ext cx="1037871" cy="5883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>
              <a:latin typeface="Arial Unicode MS" charset="0"/>
              <a:ea typeface="Arial Unicode MS" charset="0"/>
              <a:cs typeface="Arial Unicode MS" charset="0"/>
            </a:rPr>
            <a:t>Easier to modify or replace any tier without affecting other tiers</a:t>
          </a:r>
          <a:endParaRPr lang="en-GB" sz="21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 rot="-5400000">
        <a:off x="3309741" y="1544571"/>
        <a:ext cx="5833318" cy="936541"/>
      </dsp:txXfrm>
    </dsp:sp>
    <dsp:sp modelId="{4715841D-9090-4E4D-8326-D9F3E1CF8974}">
      <dsp:nvSpPr>
        <dsp:cNvPr id="0" name=""/>
        <dsp:cNvSpPr/>
      </dsp:nvSpPr>
      <dsp:spPr>
        <a:xfrm>
          <a:off x="0" y="1364172"/>
          <a:ext cx="3309740" cy="12973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Arial Unicode MS" charset="0"/>
              <a:ea typeface="Arial Unicode MS" charset="0"/>
              <a:cs typeface="Arial Unicode MS" charset="0"/>
            </a:rPr>
            <a:t>Encapsulation/Hiding of functionalities</a:t>
          </a:r>
          <a:endParaRPr lang="en-GB" sz="20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63331" y="1427503"/>
        <a:ext cx="3183078" cy="1170677"/>
      </dsp:txXfrm>
    </dsp:sp>
    <dsp:sp modelId="{3620B77A-1FF1-3247-8A25-DA33A7B6BFA1}">
      <dsp:nvSpPr>
        <dsp:cNvPr id="0" name=""/>
        <dsp:cNvSpPr/>
      </dsp:nvSpPr>
      <dsp:spPr>
        <a:xfrm rot="5400000">
          <a:off x="5732796" y="433057"/>
          <a:ext cx="1037871" cy="5883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>
              <a:latin typeface="Arial Unicode MS" charset="0"/>
              <a:ea typeface="Arial Unicode MS" charset="0"/>
              <a:cs typeface="Arial Unicode MS" charset="0"/>
            </a:rPr>
            <a:t>Web/Application server and database server can be running on different machines</a:t>
          </a:r>
          <a:endParaRPr lang="en-GB" sz="21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 rot="-5400000">
        <a:off x="3309741" y="2906778"/>
        <a:ext cx="5833318" cy="936541"/>
      </dsp:txXfrm>
    </dsp:sp>
    <dsp:sp modelId="{2BA86646-F51D-0A49-9A08-1EE568443ADC}">
      <dsp:nvSpPr>
        <dsp:cNvPr id="0" name=""/>
        <dsp:cNvSpPr/>
      </dsp:nvSpPr>
      <dsp:spPr>
        <a:xfrm>
          <a:off x="0" y="2726379"/>
          <a:ext cx="3309740" cy="12973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Arial Unicode MS" charset="0"/>
              <a:ea typeface="Arial Unicode MS" charset="0"/>
              <a:cs typeface="Arial Unicode MS" charset="0"/>
            </a:rPr>
            <a:t>Better load balancing can be achieved</a:t>
          </a:r>
          <a:endParaRPr lang="en-GB" sz="20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63331" y="2789710"/>
        <a:ext cx="3183078" cy="11706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161EF-0D9A-AB46-89A3-D5152DE4B18E}">
      <dsp:nvSpPr>
        <dsp:cNvPr id="0" name=""/>
        <dsp:cNvSpPr/>
      </dsp:nvSpPr>
      <dsp:spPr>
        <a:xfrm>
          <a:off x="5810094" y="35683"/>
          <a:ext cx="1211904" cy="121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 Unicode MS" charset="0"/>
              <a:ea typeface="Arial Unicode MS" charset="0"/>
              <a:cs typeface="Arial Unicode MS" charset="0"/>
            </a:rPr>
            <a:t>2. The requested HTML page or output from web application is sent from the server to the client as a HTTP Response</a:t>
          </a:r>
          <a:endParaRPr lang="en-GB" sz="9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5810094" y="35683"/>
        <a:ext cx="1211904" cy="1211904"/>
      </dsp:txXfrm>
    </dsp:sp>
    <dsp:sp modelId="{93AFB875-D758-9C44-AD73-C389A7BE4FE7}">
      <dsp:nvSpPr>
        <dsp:cNvPr id="0" name=""/>
        <dsp:cNvSpPr/>
      </dsp:nvSpPr>
      <dsp:spPr>
        <a:xfrm>
          <a:off x="2958131" y="488"/>
          <a:ext cx="4545195" cy="4545195"/>
        </a:xfrm>
        <a:prstGeom prst="circularArrow">
          <a:avLst>
            <a:gd name="adj1" fmla="val 5199"/>
            <a:gd name="adj2" fmla="val 335856"/>
            <a:gd name="adj3" fmla="val 21293476"/>
            <a:gd name="adj4" fmla="val 19766033"/>
            <a:gd name="adj5" fmla="val 606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200195B-C5B8-F34E-8E03-465791B312C5}">
      <dsp:nvSpPr>
        <dsp:cNvPr id="0" name=""/>
        <dsp:cNvSpPr/>
      </dsp:nvSpPr>
      <dsp:spPr>
        <a:xfrm>
          <a:off x="6542661" y="2290291"/>
          <a:ext cx="1211904" cy="121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 Unicode MS" charset="0"/>
              <a:ea typeface="Arial Unicode MS" charset="0"/>
              <a:cs typeface="Arial Unicode MS" charset="0"/>
            </a:rPr>
            <a:t>3. Browser displays login page to the user</a:t>
          </a:r>
          <a:endParaRPr lang="en-GB" sz="9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6542661" y="2290291"/>
        <a:ext cx="1211904" cy="1211904"/>
      </dsp:txXfrm>
    </dsp:sp>
    <dsp:sp modelId="{38562479-6773-504B-9678-89F5914AF960}">
      <dsp:nvSpPr>
        <dsp:cNvPr id="0" name=""/>
        <dsp:cNvSpPr/>
      </dsp:nvSpPr>
      <dsp:spPr>
        <a:xfrm>
          <a:off x="2958131" y="488"/>
          <a:ext cx="4545195" cy="4545195"/>
        </a:xfrm>
        <a:prstGeom prst="circularArrow">
          <a:avLst>
            <a:gd name="adj1" fmla="val 5199"/>
            <a:gd name="adj2" fmla="val 335856"/>
            <a:gd name="adj3" fmla="val 4014941"/>
            <a:gd name="adj4" fmla="val 2253209"/>
            <a:gd name="adj5" fmla="val 606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515C83-E6FD-4D46-872E-180B03DABE3D}">
      <dsp:nvSpPr>
        <dsp:cNvPr id="0" name=""/>
        <dsp:cNvSpPr/>
      </dsp:nvSpPr>
      <dsp:spPr>
        <a:xfrm>
          <a:off x="4624777" y="3683715"/>
          <a:ext cx="1211904" cy="121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 Unicode MS" charset="0"/>
              <a:ea typeface="Arial Unicode MS" charset="0"/>
              <a:cs typeface="Arial Unicode MS" charset="0"/>
            </a:rPr>
            <a:t>4. User types in username and password</a:t>
          </a:r>
          <a:endParaRPr lang="en-GB" sz="9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4624777" y="3683715"/>
        <a:ext cx="1211904" cy="1211904"/>
      </dsp:txXfrm>
    </dsp:sp>
    <dsp:sp modelId="{73D50941-6A06-DF47-A851-FD6E76A20680}">
      <dsp:nvSpPr>
        <dsp:cNvPr id="0" name=""/>
        <dsp:cNvSpPr/>
      </dsp:nvSpPr>
      <dsp:spPr>
        <a:xfrm>
          <a:off x="2958131" y="488"/>
          <a:ext cx="4545195" cy="4545195"/>
        </a:xfrm>
        <a:prstGeom prst="circularArrow">
          <a:avLst>
            <a:gd name="adj1" fmla="val 5199"/>
            <a:gd name="adj2" fmla="val 335856"/>
            <a:gd name="adj3" fmla="val 8210935"/>
            <a:gd name="adj4" fmla="val 6449203"/>
            <a:gd name="adj5" fmla="val 606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75AF4E3-29B7-914C-B7C6-E0BE841DE59A}">
      <dsp:nvSpPr>
        <dsp:cNvPr id="0" name=""/>
        <dsp:cNvSpPr/>
      </dsp:nvSpPr>
      <dsp:spPr>
        <a:xfrm>
          <a:off x="2706893" y="2290291"/>
          <a:ext cx="1211904" cy="121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 Unicode MS" charset="0"/>
              <a:ea typeface="Arial Unicode MS" charset="0"/>
              <a:cs typeface="Arial Unicode MS" charset="0"/>
            </a:rPr>
            <a:t>5. User clicks on login button</a:t>
          </a:r>
          <a:endParaRPr lang="en-GB" sz="900" kern="1200" dirty="0">
            <a:latin typeface="Arial Unicode MS" charset="0"/>
            <a:ea typeface="Arial Unicode MS" charset="0"/>
            <a:cs typeface="Arial Unicode MS" charset="0"/>
          </a:endParaRPr>
        </a:p>
      </dsp:txBody>
      <dsp:txXfrm>
        <a:off x="2706893" y="2290291"/>
        <a:ext cx="1211904" cy="1211904"/>
      </dsp:txXfrm>
    </dsp:sp>
    <dsp:sp modelId="{ADC7AB46-C57A-5D45-95C3-A37C92A35588}">
      <dsp:nvSpPr>
        <dsp:cNvPr id="0" name=""/>
        <dsp:cNvSpPr/>
      </dsp:nvSpPr>
      <dsp:spPr>
        <a:xfrm>
          <a:off x="2958131" y="488"/>
          <a:ext cx="4545195" cy="4545195"/>
        </a:xfrm>
        <a:prstGeom prst="circularArrow">
          <a:avLst>
            <a:gd name="adj1" fmla="val 5199"/>
            <a:gd name="adj2" fmla="val 335856"/>
            <a:gd name="adj3" fmla="val 12298111"/>
            <a:gd name="adj4" fmla="val 10770668"/>
            <a:gd name="adj5" fmla="val 606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0E3CBE-7DDE-2042-92B1-B9B195B6822D}">
      <dsp:nvSpPr>
        <dsp:cNvPr id="0" name=""/>
        <dsp:cNvSpPr/>
      </dsp:nvSpPr>
      <dsp:spPr>
        <a:xfrm>
          <a:off x="3439459" y="35683"/>
          <a:ext cx="1211904" cy="121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>
              <a:latin typeface="Arial Unicode MS" charset="0"/>
              <a:ea typeface="Arial Unicode MS" charset="0"/>
              <a:cs typeface="Arial Unicode MS" charset="0"/>
            </a:rPr>
            <a:t>1. User access web page via URL</a:t>
          </a:r>
        </a:p>
      </dsp:txBody>
      <dsp:txXfrm>
        <a:off x="3439459" y="35683"/>
        <a:ext cx="1211904" cy="1211904"/>
      </dsp:txXfrm>
    </dsp:sp>
    <dsp:sp modelId="{6499B6D7-C45E-D944-96B2-094BA48E76A1}">
      <dsp:nvSpPr>
        <dsp:cNvPr id="0" name=""/>
        <dsp:cNvSpPr/>
      </dsp:nvSpPr>
      <dsp:spPr>
        <a:xfrm>
          <a:off x="2958131" y="488"/>
          <a:ext cx="4545195" cy="4545195"/>
        </a:xfrm>
        <a:prstGeom prst="circularArrow">
          <a:avLst>
            <a:gd name="adj1" fmla="val 5199"/>
            <a:gd name="adj2" fmla="val 335856"/>
            <a:gd name="adj3" fmla="val 16865929"/>
            <a:gd name="adj4" fmla="val 15198216"/>
            <a:gd name="adj5" fmla="val 606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8/10/2019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970A17FA-30DB-4EF9-8F32-DA04C5B7B39C}" type="datetime1">
              <a:rPr lang="en-US" smtClean="0"/>
              <a:t>10/8/2019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523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D7655924-73DA-44E6-B1B8-34FC7E7B94AF}" type="datetime1">
              <a:rPr lang="en-US" smtClean="0"/>
              <a:t>10/8/2019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822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lms.tp.ed.s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SG" dirty="0"/>
              <a:t>Web Architecture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01.</a:t>
            </a:r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Describe the structure of a web application and its life cycle;</a:t>
            </a:r>
            <a:endParaRPr lang="en-US" sz="1800" dirty="0"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Describe the objectives, characteristics and functions of a 3-tier web architecture;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Demonstrate an awareness of trends in web development technologies;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Describe how web protocols work.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6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 is a Web Application?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It is a software program that 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runs on a web server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uses HTTP (Hypertext Transfer Protocol) for its core communication protocol 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delivers information to the user in the HTML language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is accessed from a web browser (client)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accessed by many clients at the same time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In this subject, we will learn how to develop web applications using: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HTML5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CSS3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JavaScript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Node.js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SQL 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051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/>
              <a:t>Compared with non-web applications, more resources are required to support running web applications.</a:t>
            </a:r>
          </a:p>
          <a:p>
            <a:pPr>
              <a:lnSpc>
                <a:spcPct val="100000"/>
              </a:lnSpc>
              <a:defRPr/>
            </a:pPr>
            <a:r>
              <a:rPr lang="en-US" dirty="0"/>
              <a:t>The required resources together is known as </a:t>
            </a:r>
            <a:r>
              <a:rPr lang="en-US" u="sng" dirty="0"/>
              <a:t>Web Architecture.</a:t>
            </a:r>
            <a:endParaRPr lang="en-US" dirty="0"/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137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Stand-Alone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Need just a PC / laptop to work</a:t>
            </a:r>
          </a:p>
          <a:p>
            <a:r>
              <a:rPr lang="en-GB" dirty="0"/>
              <a:t>No communication to any server, i.e. no need for computer to be connected to a network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Microsoft Word</a:t>
            </a:r>
          </a:p>
          <a:p>
            <a:pPr lvl="1"/>
            <a:r>
              <a:rPr lang="en-GB" dirty="0"/>
              <a:t>Notepad</a:t>
            </a:r>
          </a:p>
          <a:p>
            <a:pPr lvl="1"/>
            <a:r>
              <a:rPr lang="en-GB" dirty="0"/>
              <a:t>Microsoft Excel</a:t>
            </a:r>
          </a:p>
          <a:p>
            <a:pPr lvl="1"/>
            <a:r>
              <a:rPr lang="en-GB" dirty="0"/>
              <a:t>Adobe Photoshop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  <p:pic>
        <p:nvPicPr>
          <p:cNvPr id="6" name="Picture 7" descr="j02857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019" y="3109037"/>
            <a:ext cx="3814763" cy="234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02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Client-Server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GB" sz="2400" dirty="0"/>
              <a:t>The application needs to communicate with a server to work</a:t>
            </a:r>
          </a:p>
          <a:p>
            <a:pPr lvl="1">
              <a:lnSpc>
                <a:spcPct val="100000"/>
              </a:lnSpc>
              <a:defRPr/>
            </a:pPr>
            <a:r>
              <a:rPr lang="en-GB" sz="2100" dirty="0"/>
              <a:t>E.g. Skype, Outlook</a:t>
            </a:r>
          </a:p>
          <a:p>
            <a:pPr lvl="1">
              <a:lnSpc>
                <a:spcPct val="100000"/>
              </a:lnSpc>
              <a:defRPr/>
            </a:pPr>
            <a:r>
              <a:rPr lang="en-GB" sz="2100" dirty="0"/>
              <a:t>Web browsers</a:t>
            </a:r>
          </a:p>
          <a:p>
            <a:pPr>
              <a:lnSpc>
                <a:spcPct val="100000"/>
              </a:lnSpc>
              <a:defRPr/>
            </a:pPr>
            <a:r>
              <a:rPr lang="en-GB" sz="2400" dirty="0"/>
              <a:t>Client – the program running on the user</a:t>
            </a:r>
            <a:r>
              <a:rPr lang="en-GB" altLang="en-US" sz="2400" dirty="0"/>
              <a:t>’</a:t>
            </a:r>
            <a:r>
              <a:rPr lang="en-GB" sz="2400" dirty="0"/>
              <a:t>s PC i.e. the one that you </a:t>
            </a:r>
            <a:r>
              <a:rPr lang="en-GB" altLang="en-US" sz="2400" dirty="0"/>
              <a:t>“</a:t>
            </a:r>
            <a:r>
              <a:rPr lang="en-GB" sz="2400" dirty="0"/>
              <a:t>run</a:t>
            </a:r>
            <a:r>
              <a:rPr lang="en-GB" altLang="en-US" sz="2400" dirty="0"/>
              <a:t>”</a:t>
            </a:r>
            <a:endParaRPr lang="en-GB" sz="2400" dirty="0"/>
          </a:p>
          <a:p>
            <a:pPr lvl="1">
              <a:lnSpc>
                <a:spcPct val="100000"/>
              </a:lnSpc>
              <a:defRPr/>
            </a:pPr>
            <a:r>
              <a:rPr lang="en-GB" sz="2100" dirty="0"/>
              <a:t>e.g. browser, Skype</a:t>
            </a:r>
          </a:p>
          <a:p>
            <a:pPr>
              <a:lnSpc>
                <a:spcPct val="100000"/>
              </a:lnSpc>
              <a:defRPr/>
            </a:pPr>
            <a:r>
              <a:rPr lang="en-GB" sz="2400" dirty="0"/>
              <a:t>Server – the machine that the client get contents from</a:t>
            </a:r>
          </a:p>
          <a:p>
            <a:pPr lvl="1">
              <a:lnSpc>
                <a:spcPct val="100000"/>
              </a:lnSpc>
              <a:defRPr/>
            </a:pPr>
            <a:r>
              <a:rPr lang="en-GB" sz="2100" dirty="0"/>
              <a:t>The server is usually not obvious to the user</a:t>
            </a:r>
          </a:p>
          <a:p>
            <a:pPr lvl="1">
              <a:lnSpc>
                <a:spcPct val="100000"/>
              </a:lnSpc>
              <a:defRPr/>
            </a:pPr>
            <a:r>
              <a:rPr lang="en-GB" sz="2100" dirty="0"/>
              <a:t>e.g. web server, messaging server, email server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994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Client-Server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4725179"/>
            <a:ext cx="9982200" cy="168040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Examples:</a:t>
            </a:r>
          </a:p>
          <a:p>
            <a:pPr lvl="1">
              <a:lnSpc>
                <a:spcPct val="120000"/>
              </a:lnSpc>
              <a:defRPr/>
            </a:pPr>
            <a:r>
              <a:rPr lang="en-GB" dirty="0">
                <a:ea typeface="ＭＳ Ｐゴシック" charset="0"/>
              </a:rPr>
              <a:t>1 Mail server, many Mail Clients such as Outlook, Gmail, Yahoo Mail</a:t>
            </a:r>
          </a:p>
          <a:p>
            <a:pPr lvl="1">
              <a:lnSpc>
                <a:spcPct val="120000"/>
              </a:lnSpc>
              <a:defRPr/>
            </a:pPr>
            <a:r>
              <a:rPr lang="en-GB" dirty="0">
                <a:ea typeface="ＭＳ Ｐゴシック" charset="0"/>
              </a:rPr>
              <a:t>1 Skype server, many Skype Clients</a:t>
            </a:r>
          </a:p>
          <a:p>
            <a:pPr lvl="1">
              <a:lnSpc>
                <a:spcPct val="120000"/>
              </a:lnSpc>
              <a:defRPr/>
            </a:pPr>
            <a:r>
              <a:rPr lang="en-GB" dirty="0">
                <a:ea typeface="ＭＳ Ｐゴシック" charset="0"/>
              </a:rPr>
              <a:t>1 Website, many browsers</a:t>
            </a:r>
          </a:p>
          <a:p>
            <a:pPr lvl="1">
              <a:lnSpc>
                <a:spcPct val="12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pic>
        <p:nvPicPr>
          <p:cNvPr id="6" name="Picture 9" descr="client_ser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40" y="1645088"/>
            <a:ext cx="3208429" cy="3031965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f25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593" y="1649664"/>
            <a:ext cx="2867025" cy="2990850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13674" y="1447937"/>
            <a:ext cx="2627642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1 server, many clients</a:t>
            </a:r>
          </a:p>
        </p:txBody>
      </p:sp>
    </p:spTree>
    <p:extLst>
      <p:ext uri="{BB962C8B-B14F-4D97-AF65-F5344CB8AC3E}">
        <p14:creationId xmlns:p14="http://schemas.microsoft.com/office/powerpoint/2010/main" val="201193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3-Tier Web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A web application usually need a database to store information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Client-Server-Database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3-tier architecture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For this semester, we will use: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Client: Google Chrome Browser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Web Server: Node.js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Database: MySQL Server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265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3-Tier Web 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  <p:pic>
        <p:nvPicPr>
          <p:cNvPr id="6" name="Picture 7" descr="firefox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485" y="4503737"/>
            <a:ext cx="601663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6" descr="lenovo5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723" y="2554287"/>
            <a:ext cx="10477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2512395" y="1628774"/>
            <a:ext cx="186089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pPr algn="l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Web Browser on</a:t>
            </a:r>
          </a:p>
          <a:p>
            <a:pPr algn="l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Client Device</a:t>
            </a: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5071445" y="1600199"/>
            <a:ext cx="18502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pPr algn="l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Web Application</a:t>
            </a:r>
          </a:p>
          <a:p>
            <a:pPr algn="l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on Web Server</a:t>
            </a:r>
          </a:p>
        </p:txBody>
      </p:sp>
      <p:pic>
        <p:nvPicPr>
          <p:cNvPr id="10" name="Picture 17" descr="new_serv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373" y="2410206"/>
            <a:ext cx="1624012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7802967" y="1593849"/>
            <a:ext cx="18294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pPr algn="l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Database on </a:t>
            </a:r>
          </a:p>
          <a:p>
            <a:pPr algn="l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Database Server</a:t>
            </a:r>
          </a:p>
        </p:txBody>
      </p:sp>
      <p:pic>
        <p:nvPicPr>
          <p:cNvPr id="12" name="Picture 18" descr="new_serv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173" y="2440946"/>
            <a:ext cx="1624013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164685" y="2730499"/>
            <a:ext cx="1081088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Line 25"/>
          <p:cNvSpPr>
            <a:spLocks noChangeShapeType="1"/>
          </p:cNvSpPr>
          <p:nvPr/>
        </p:nvSpPr>
        <p:spPr bwMode="auto">
          <a:xfrm flipH="1">
            <a:off x="4226598" y="4665662"/>
            <a:ext cx="993775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" name="Line 26"/>
          <p:cNvSpPr>
            <a:spLocks noChangeShapeType="1"/>
          </p:cNvSpPr>
          <p:nvPr/>
        </p:nvSpPr>
        <p:spPr bwMode="auto">
          <a:xfrm>
            <a:off x="6571335" y="2659062"/>
            <a:ext cx="1368425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" name="Line 27"/>
          <p:cNvSpPr>
            <a:spLocks noChangeShapeType="1"/>
          </p:cNvSpPr>
          <p:nvPr/>
        </p:nvSpPr>
        <p:spPr bwMode="auto">
          <a:xfrm flipH="1">
            <a:off x="6571335" y="3019424"/>
            <a:ext cx="13668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" name="Line 25"/>
          <p:cNvSpPr>
            <a:spLocks noChangeShapeType="1"/>
          </p:cNvSpPr>
          <p:nvPr/>
        </p:nvSpPr>
        <p:spPr bwMode="auto">
          <a:xfrm flipH="1">
            <a:off x="6844385" y="4665662"/>
            <a:ext cx="1152525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8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473" y="4475162"/>
            <a:ext cx="6318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485" y="5057774"/>
            <a:ext cx="601663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148" y="5019674"/>
            <a:ext cx="736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2466060" y="1584324"/>
            <a:ext cx="2089150" cy="43878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>
              <a:solidFill>
                <a:srgbClr val="FFFFFF"/>
              </a:solidFill>
              <a:ea typeface="ＭＳ Ｐゴシック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8285" y="1593849"/>
            <a:ext cx="2089150" cy="43878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>
              <a:solidFill>
                <a:srgbClr val="FFFFFF"/>
              </a:solidFill>
              <a:ea typeface="ＭＳ Ｐゴシック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44498" y="1600199"/>
            <a:ext cx="2089150" cy="43878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>
              <a:solidFill>
                <a:srgbClr val="FFFFFF"/>
              </a:solidFill>
              <a:ea typeface="ＭＳ Ｐゴシック" charset="0"/>
            </a:endParaRPr>
          </a:p>
        </p:txBody>
      </p:sp>
      <p:sp>
        <p:nvSpPr>
          <p:cNvPr id="3" name="AutoShape 2" descr="data:image/png;base64,iVBORw0KGgoAAAANSUhEUgAAATgAAAChCAMAAABkv1NnAAAAvVBMVEX///8AYYrkjgDkjAAAXojjiAAAVoMAW4bjiQDihAAAWIS5zdgAVILooD8AUYCEp7wyd5l7nrT11rbxxpVbiaX34s377+HmmCDqq2PnnDARapGrwM5qla/01K8/fJ3hgADvv4f++vDo7/PQ3uXf6e7++vXuun71+fq1ytbF1t/ss2v34cjl7fGeuclOhKKUssTzzqMAS33vvYNjkawmb5Ppp1fookbxyZ7nnTfttXLgeAD23L/669vppFAARHkMHee8AAAOoklEQVR4nO1dCXeiOhtmDYgUdx2lal3Rti4z2k572/n+/8/6kgBJWA2Wtlp4zrnnjJRc8Tlv3j0vgvAjMLdrtc3a+e7HuDZMR6ahaQYw65vpdz/LNWGqaKILxTAPs+9+nOvBVkOUeeRpVnv+3Q90JZhZomg0NrWjqXnU3ZbKjgc7QzSr6B/zmgYUTJ2x+u6HugbcauLA/7ctutRZte98oisBJE6kn2zRQMyBbbldTwFtVdaU7kwkdArQBvXtbcMuTUUS5paobNkL05HhOieKomnAFA926d3Foq6I5jpw5dYUGUDyRvY3PdtFYw1FbhC8tDEAMIEB4wnFFT6gbL7n4S4abU3U2sFLznS6Xtm72u3ANFzuwLGMKcJwFEUEu4Q/Pm4GlusZl45xBCh4sNbJfz641JWOcQQbaA20FHmaNtx4zCzduxAOUM1t0254PFiu0FW/6pGuBAOo/tMN5/pouJrui57oSgDdYNE8ESW4MYUxKIMJFhsgKqPAlWlEn83rADl1ZmkjWGwVL73kYvU/y4rGCzus6azGFz7XxWMKpenIfG4bcdmlGc6zg1RDUjSE0yQwhrWi4b0zQttVO5Z+CYFjiBprMh1NNOISmg2UAlDEMmVCALWcxX7eGUash7LBzCmPX/NUV4CNIQLWYDqmFR/YV5GJULTSLfEAfTntwF5oHBLuXLthRLlbPQygR8J+TjYAMyxzSmkhXEC7Cjhj0RnWc4PTNxYCj1bQrqZhjZjTRqdvLASg66bw3rtCu9UoQ34MaFfN5IRmCDskc2ZZi0BwMuxVQbhFeaYEj6VoaCupmeAQ4M6GIURpWiGqQDT4a6gOErn0zHFhAK3D8fRdPrAjXKo5hA2/K4dQw2qujFohtGxuLVZzpTcn4BR6YnE6BnOUnTtR5ikIoJ20MuQ9dmizgjLchxEB9GsHGVyMY2lZPWyhmsuQGceJkpQGiuIAeWdZovcDKt9k8GF+LuZKJhGaYmeubI2AWIP4Mk0CkDNXuiQIczNL4CU4yCU51T9RCNxqwQrrKdSgltPKoxEoemCPPpzGHGeDP+tprgeQBy1bdwgKvEDZimMbWdOTME4rzQNUcUqW1BICNg9ZArWfiYFiZAjzMRrIPBS9cDO3svsWj9gJLniovzGy2VSMdumRwNjzjE2HQ/0MdZ6fiKMS392Vji30SM5Z93PgaJmqDj6wyGXf4j8I0zNsA8IIOcFFPp45A+eZR9SFU+j2pTUk7iwlfyx43FU1RHAWcauCi9wKiID9POIuN4tQ5Ap86qYa3Kq139zhF/KcCyxy1YBxqFr8WQ8HH7oprMhB60jdEXROiT/rUSt0vWtmioBk43AIyp3UnIIi17sck263OQ4H+I0sGjdU3IQmk+bAjSEZQlBcfODvIv5hGClkZNDRHdfCH4Jikat/znNdPKCKN9x/OabLG7+lxFX9zPnjHwLoAXtV1TVS9qOjksE5wy2aYFvI3QrlzFNyNmq/qaFQgt85G3izmHYFTGqOfBFDfhmwYSiVQcvNLHcWk2E0Clf1soFnGQ8K7gmBnzPkdmdkSqnZLtjhEQd4o/hQoshwcPSepcFh1hBd7hRrWyypa2huKd/0suF2trYviFnN5U4p1phS6FQgZ8yx/DhAjB0IkY71wUIjXo1BkfbrDqB+6KnpB6rr8BxNPqzqZtGEDmo3TUM9SF6DYQOcF0lVRbhhjXpxSvyPAB8MpMeN6tp5KUrnFronSoGGp63x5C4R+HMgHPjrz9tyayR0Bdqu86NpGBZVbFPt3DZfpw01nTEqTiSx3u1Ygzg3tHOTuzYUX00plkvHYK6Z5264aR361FZxFF0IU/H32T6ZDaBTXdB0E9RW9fNby50t9GiKO7Dv8IGCQg2IMTMQi4LdB4SmcbZh/gmwsyqq2WrX2I7qR4hiD9uwM7RdTjdbwwSGpijo7RBuounznuzSseKUOcfeWt5ofjwzTTOAtbWLPDFizsXc5jfwWdOAZRzbjU2REkzn41bzSTvW1sVJj3wc+MyIKO6qJWkZgRp2RKO4/sfZwL1LSpZJHCVc4JmGiljKXGbUsMxZqY7fvGrbq1kWsZytbLs6/9mCfAD4hS31BKGD/jEwATCAaW45XZXHW2AaBlpR3+UtypPOW3P/t5WGYWTRovvWjEdnEv2KPfk/vac/S81yC9ONOAG5NRn/mO/NJDtLIysMa5ujwe4seyqEngr1V3DR27Kvq8mQnv52gwte/C+oNE88z9p9JZqmRdt23Fe5EBgciZdG4BV18P+aF3PDnqrL0knI98ya7lI+sUiWdbUfENIb/371FHHoBdX4R1rh8d+NIG88o3FtK7QkpznE7z2Vg7UQcX+4qJZktdehizIQh8be4u1lHIPiAcQwTk1QcMK85TQHoFnho40lbtFXOddIcqVFvioTccLjFrd+KRpLzMyMsHCqWaCmRZbkcVzxocJLASVuIfFyjUCZy0YcZGmLlLrCNgOsoxJ3Qn4cSjWxKVoOZQyGA1lP0/WqWvGNw5PO0inHrNJlhtqKv1uzEgfdNfwaPmZGWJUQd6QqK1XLbYhSVOok7/LxQveQ7jm1v9y/ddLgOREdRkhlVf7V2g9D2P+9l6jilG+8L8tOnPcaPqrGCHHKlm7B1BMVRM7gihyJ+0d+nv7Gu+aVEVI56tt5aFJZrniMn0McpK5tKmSaJiVuRJV+Wr/6ioiouSZU50Ac2XR66/TNHug2lKUYN9cH1YT63r1yHnGQLcXwW3cocXU0KNzXXclryfZUBng+TE7ETchOVbun7w6vkdRUKX3wb9Rf3QvnEic4W8tzvVjiZkTkkscoMPfYn0TcgndNl6yR5fQ7fZGTPatyNnHQq/vtMscSh5uNvX2btI5IJTqG/DnEpWy6IBjieul39vMjDjpwOIYIEEdNbNLAvznxRVC3WSGJExwNVboCxFGLmeSREKpEy4klbkqQZpmnMwLvyhURJzgo4A8SR320+AkUDhFJzGwMcQPLdPE7rSlq9Ru4MP1XzHxQx30pcRhB4hwiUPEeyY4Si6KLGOKI0QVpvcr0W33rfk0ShxEkjolDYxuiaN4Ox7MxxI0+Thy3/3tJxE3JXow7cMc6v+hzjsQJlIRn3me/JOLcwd/M5wBoOOt20+ZJ3DOJAtQl57NfFHFz4uBGPZI18UU8ccyTOCarpEuth24QkziLcVHE4QF0LhmRV0WSP/lz1vIkTrinAVRcfki+WTZDZuOyiKNiFR4mNo8kAXIlTnhKTebibNtNIAVyWcShd22G2XDRiKSd8iVOaJ0sOciqtKf3XxhxNk1UBu5knF+/jzZn4oTuU+VU5UVW+yR7cmHECVSwApUE6vyS91jlTRzk4k4Kpbuj1Ol+EfnSiKMMBY7w+BdFpe1fyp84iO5w+SxVglDZGqCse0bi0ohzYj0SOyZz8inEeZgw6L4PlzKty+hekevSiKN8UNlinN+4G8+OVUX+Q6R/qNGtuF7dxRFHk24m6bFmnF+a9vhS4oQlkTnV1XIXRxzjBNcil9h6xNcSx+QBLpU4Wt73x3RS55d9T18McWRH50/c4vIljpEbzyO5pekmJsNZEhcmbuWLnGf1qKENhBNxxH3eVuUibri88/GH1hlzIq75+u9p+RD6CcE0Eik+uIk3JvPLBrAXSJxwP6b9h6TdMhfimvpYf76pjKVO4CcEiSPFBzfVSzdqoIjzceKyzLTg3Kp3JD8lV/xkch7EtcZ9zFhTGjeFROKcQHxFw9dgI1MqcWnFmryJk9iC9J5hzsum9ELEkUYVNbHjJIy38ZPQat21hsKiX+kmEkeLDyiiJwmTUOtcXJXr8yQu4o6wLRBMu6XQpFkWtyWO3Og31j2RZhLebDPkXpiM/70+6fpiUvmXTNyUJt/YFF2QjTQ/LnXQ5FnEvRKJq3hqn5G4G/bODmUO5+HJSv3OvaHlX5BlzmJkZ7yHxEHDMIH/eB1PEomjxQfDps04oZ8ZQxxN2qV1VJ9DHBtyeZdonULSA43oXZpfUX8Jd1RUPZVGG+vkF75qZGvcdYl7h8S9jd+SiaPdNbTxMvwKyRjiqKesKMn9rVmJm3RaPSbI93qO2GZESZf2TJvTok+Yk5n0AKnZ0pY5uXLffD9N3l1lAnd8r9cb9xaQvGEycXTTUYRrrXG9Iw3aG2tYx8NtLLYRGX4fV9IQSCvRkjXbAizrlYrU89Fn/kLJJU3Xb4FeTjXtq8dLQlzlbjhGGegOtKvJxFUjbdURtRXbdDNi+v8VRYsFLWwT4ri7xyXmUEe44VqmiFkoy1Syltzf5+rF4biDt+pSgh/28EMyce5gVxaRfpL4bqVDtJE9EdmJkwMexJ67xZ9NHWPmeFe6xE3G9/A/6Bcia/OiJ1tVAY/5CwBETtEltHmtRCO6zfMhTlb7wdNXb7J+ehVeWXkOarKmzHccxbPE9+PO4j9IXPO/9/24lUqcUAuIjhE9/pDYH7c5mnzcZSJOltVexGFdLE8WePDa3kNkZUviOZXjEbeQKg/essqLgDSZ4kKLaXmoMWfdrHb07w3DWwwijYXz3VbDRxJjoUWJq8jp0FVVvo/8ePxL/vajBR53jc6Y4n3M0gd85E7X075YdYkTJtL4qfneGb6Mb5Dvt66PPMQQI8wOlgnQ6UprFBdB7fzF9Vhvdzqr2vGgyXmfuG7/JgXPT/d3w5QTkpPmnydJZ22h1Hv+db9s/WWCiLv4pZ1h6/X+6Tnxu19IF3xLH0NInFHafL1aVTOdAObAyggT91l4p5tRvT99+wl0HzrcPfGfApI1yPrq3ezoUl9P/ffZX/bpsM+JVc/EgsYc+gt3m+yF4gslDuKGMCf3uPtkLxPthDzVJ4H2Qcny9+qoD4J2BXzR24dfVepddE7ffqFYt6ljnXQQJW+0en0PPSnWGfx27LbtdBwtk8YUOR3m/wloAOUE2IALlJOyfNAMMEeg+lUb9RqQgTgwKMc9UfASpwCt0O9Wj4CHOEUD5qi4o4jjwUHc8bBbX/0QsP8DxwI6RntNtAg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27" name="AutoShape 6" descr="data:image/png;base64,iVBORw0KGgoAAAANSUhEUgAAATgAAAChCAMAAABkv1NnAAAAvVBMVEX///8AYYrkjgDkjAAAXojjiAAAVoMAW4bjiQDihAAAWIS5zdgAVILooD8AUYCEp7wyd5l7nrT11rbxxpVbiaX34s377+HmmCDqq2PnnDARapGrwM5qla/01K8/fJ3hgADvv4f++vDo7/PQ3uXf6e7++vXuun71+fq1ytbF1t/ss2v34cjl7fGeuclOhKKUssTzzqMAS33vvYNjkawmb5Ppp1fookbxyZ7nnTfttXLgeAD23L/669vppFAARHkMHee8AAAOoklEQVR4nO1dCXeiOhtmDYgUdx2lal3Rti4z2k572/n+/8/6kgBJWA2Wtlp4zrnnjJRc8Tlv3j0vgvAjMLdrtc3a+e7HuDZMR6ahaQYw65vpdz/LNWGqaKILxTAPs+9+nOvBVkOUeeRpVnv+3Q90JZhZomg0NrWjqXnU3ZbKjgc7QzSr6B/zmgYUTJ2x+u6HugbcauLA/7ctutRZte98oisBJE6kn2zRQMyBbbldTwFtVdaU7kwkdArQBvXtbcMuTUUS5paobNkL05HhOieKomnAFA926d3Foq6I5jpw5dYUGUDyRvY3PdtFYw1FbhC8tDEAMIEB4wnFFT6gbL7n4S4abU3U2sFLznS6Xtm72u3ANFzuwLGMKcJwFEUEu4Q/Pm4GlusZl45xBCh4sNbJfz641JWOcQQbaA20FHmaNtx4zCzduxAOUM1t0254PFiu0FW/6pGuBAOo/tMN5/pouJrui57oSgDdYNE8ESW4MYUxKIMJFhsgKqPAlWlEn83rADl1ZmkjWGwVL73kYvU/y4rGCzus6azGFz7XxWMKpenIfG4bcdmlGc6zg1RDUjSE0yQwhrWi4b0zQttVO5Z+CYFjiBprMh1NNOISmg2UAlDEMmVCALWcxX7eGUash7LBzCmPX/NUV4CNIQLWYDqmFR/YV5GJULTSLfEAfTntwF5oHBLuXLthRLlbPQygR8J+TjYAMyxzSmkhXEC7Cjhj0RnWc4PTNxYCj1bQrqZhjZjTRqdvLASg66bw3rtCu9UoQ34MaFfN5IRmCDskc2ZZi0BwMuxVQbhFeaYEj6VoaCupmeAQ4M6GIURpWiGqQDT4a6gOErn0zHFhAK3D8fRdPrAjXKo5hA2/K4dQw2qujFohtGxuLVZzpTcn4BR6YnE6BnOUnTtR5ikIoJ20MuQ9dmizgjLchxEB9GsHGVyMY2lZPWyhmsuQGceJkpQGiuIAeWdZovcDKt9k8GF+LuZKJhGaYmeubI2AWIP4Mk0CkDNXuiQIczNL4CU4yCU51T9RCNxqwQrrKdSgltPKoxEoemCPPpzGHGeDP+tprgeQBy1bdwgKvEDZimMbWdOTME4rzQNUcUqW1BICNg9ZArWfiYFiZAjzMRrIPBS9cDO3svsWj9gJLniovzGy2VSMdumRwNjzjE2HQ/0MdZ6fiKMS392Vji30SM5Z93PgaJmqDj6wyGXf4j8I0zNsA8IIOcFFPp45A+eZR9SFU+j2pTUk7iwlfyx43FU1RHAWcauCi9wKiID9POIuN4tQ5Ap86qYa3Kq139zhF/KcCyxy1YBxqFr8WQ8HH7oprMhB60jdEXROiT/rUSt0vWtmioBk43AIyp3UnIIi17sck263OQ4H+I0sGjdU3IQmk+bAjSEZQlBcfODvIv5hGClkZNDRHdfCH4Jikat/znNdPKCKN9x/OabLG7+lxFX9zPnjHwLoAXtV1TVS9qOjksE5wy2aYFvI3QrlzFNyNmq/qaFQgt85G3izmHYFTGqOfBFDfhmwYSiVQcvNLHcWk2E0Clf1soFnGQ8K7gmBnzPkdmdkSqnZLtjhEQd4o/hQoshwcPSepcFh1hBd7hRrWyypa2huKd/0suF2trYviFnN5U4p1phS6FQgZ8yx/DhAjB0IkY71wUIjXo1BkfbrDqB+6KnpB6rr8BxNPqzqZtGEDmo3TUM9SF6DYQOcF0lVRbhhjXpxSvyPAB8MpMeN6tp5KUrnFronSoGGp63x5C4R+HMgHPjrz9tyayR0Bdqu86NpGBZVbFPt3DZfpw01nTEqTiSx3u1Ygzg3tHOTuzYUX00plkvHYK6Z5264aR361FZxFF0IU/H32T6ZDaBTXdB0E9RW9fNby50t9GiKO7Dv8IGCQg2IMTMQi4LdB4SmcbZh/gmwsyqq2WrX2I7qR4hiD9uwM7RdTjdbwwSGpijo7RBuounznuzSseKUOcfeWt5ofjwzTTOAtbWLPDFizsXc5jfwWdOAZRzbjU2REkzn41bzSTvW1sVJj3wc+MyIKO6qJWkZgRp2RKO4/sfZwL1LSpZJHCVc4JmGiljKXGbUsMxZqY7fvGrbq1kWsZytbLs6/9mCfAD4hS31BKGD/jEwATCAaW45XZXHW2AaBlpR3+UtypPOW3P/t5WGYWTRovvWjEdnEv2KPfk/vac/S81yC9ONOAG5NRn/mO/NJDtLIysMa5ujwe4seyqEngr1V3DR27Kvq8mQnv52gwte/C+oNE88z9p9JZqmRdt23Fe5EBgciZdG4BV18P+aF3PDnqrL0knI98ya7lI+sUiWdbUfENIb/371FHHoBdX4R1rh8d+NIG88o3FtK7QkpznE7z2Vg7UQcX+4qJZktdehizIQh8be4u1lHIPiAcQwTk1QcMK85TQHoFnho40lbtFXOddIcqVFvioTccLjFrd+KRpLzMyMsHCqWaCmRZbkcVzxocJLASVuIfFyjUCZy0YcZGmLlLrCNgOsoxJ3Qn4cSjWxKVoOZQyGA1lP0/WqWvGNw5PO0inHrNJlhtqKv1uzEgfdNfwaPmZGWJUQd6QqK1XLbYhSVOok7/LxQveQ7jm1v9y/ddLgOREdRkhlVf7V2g9D2P+9l6jilG+8L8tOnPcaPqrGCHHKlm7B1BMVRM7gihyJ+0d+nv7Gu+aVEVI56tt5aFJZrniMn0McpK5tKmSaJiVuRJV+Wr/6ioiouSZU50Ac2XR66/TNHug2lKUYN9cH1YT63r1yHnGQLcXwW3cocXU0KNzXXclryfZUBng+TE7ETchOVbun7w6vkdRUKX3wb9Rf3QvnEic4W8tzvVjiZkTkkscoMPfYn0TcgndNl6yR5fQ7fZGTPatyNnHQq/vtMscSh5uNvX2btI5IJTqG/DnEpWy6IBjieul39vMjDjpwOIYIEEdNbNLAvznxRVC3WSGJExwNVboCxFGLmeSREKpEy4klbkqQZpmnMwLvyhURJzgo4A8SR320+AkUDhFJzGwMcQPLdPE7rSlq9Ru4MP1XzHxQx30pcRhB4hwiUPEeyY4Si6KLGOKI0QVpvcr0W33rfk0ShxEkjolDYxuiaN4Ox7MxxI0+Thy3/3tJxE3JXow7cMc6v+hzjsQJlIRn3me/JOLcwd/M5wBoOOt20+ZJ3DOJAtQl57NfFHFz4uBGPZI18UU8ccyTOCarpEuth24QkziLcVHE4QF0LhmRV0WSP/lz1vIkTrinAVRcfki+WTZDZuOyiKNiFR4mNo8kAXIlTnhKTebibNtNIAVyWcShd22G2XDRiKSd8iVOaJ0sOciqtKf3XxhxNk1UBu5knF+/jzZn4oTuU+VU5UVW+yR7cmHECVSwApUE6vyS91jlTRzk4k4Kpbuj1Ol+EfnSiKMMBY7w+BdFpe1fyp84iO5w+SxVglDZGqCse0bi0ohzYj0SOyZz8inEeZgw6L4PlzKty+hekevSiKN8UNlinN+4G8+OVUX+Q6R/qNGtuF7dxRFHk24m6bFmnF+a9vhS4oQlkTnV1XIXRxzjBNcil9h6xNcSx+QBLpU4Wt73x3RS55d9T18McWRH50/c4vIljpEbzyO5pekmJsNZEhcmbuWLnGf1qKENhBNxxH3eVuUibri88/GH1hlzIq75+u9p+RD6CcE0Eik+uIk3JvPLBrAXSJxwP6b9h6TdMhfimvpYf76pjKVO4CcEiSPFBzfVSzdqoIjzceKyzLTg3Kp3JD8lV/xkch7EtcZ9zFhTGjeFROKcQHxFw9dgI1MqcWnFmryJk9iC9J5hzsum9ELEkUYVNbHjJIy38ZPQat21hsKiX+kmEkeLDyiiJwmTUOtcXJXr8yQu4o6wLRBMu6XQpFkWtyWO3Og31j2RZhLebDPkXpiM/70+6fpiUvmXTNyUJt/YFF2QjTQ/LnXQ5FnEvRKJq3hqn5G4G/bODmUO5+HJSv3OvaHlX5BlzmJkZ7yHxEHDMIH/eB1PEomjxQfDps04oZ8ZQxxN2qV1VJ9DHBtyeZdonULSA43oXZpfUX8Jd1RUPZVGG+vkF75qZGvcdYl7h8S9jd+SiaPdNbTxMvwKyRjiqKesKMn9rVmJm3RaPSbI93qO2GZESZf2TJvTok+Yk5n0AKnZ0pY5uXLffD9N3l1lAnd8r9cb9xaQvGEycXTTUYRrrXG9Iw3aG2tYx8NtLLYRGX4fV9IQSCvRkjXbAizrlYrU89Fn/kLJJU3Xb4FeTjXtq8dLQlzlbjhGGegOtKvJxFUjbdURtRXbdDNi+v8VRYsFLWwT4ri7xyXmUEe44VqmiFkoy1Syltzf5+rF4biDt+pSgh/28EMyce5gVxaRfpL4bqVDtJE9EdmJkwMexJ67xZ9NHWPmeFe6xE3G9/A/6Bcia/OiJ1tVAY/5CwBETtEltHmtRCO6zfMhTlb7wdNXb7J+ehVeWXkOarKmzHccxbPE9+PO4j9IXPO/9/24lUqcUAuIjhE9/pDYH7c5mnzcZSJOltVexGFdLE8WePDa3kNkZUviOZXjEbeQKg/essqLgDSZ4kKLaXmoMWfdrHb07w3DWwwijYXz3VbDRxJjoUWJq8jp0FVVvo/8ePxL/vajBR53jc6Y4n3M0gd85E7X075YdYkTJtL4qfneGb6Mb5Dvt66PPMQQI8wOlgnQ6UprFBdB7fzF9Vhvdzqr2vGgyXmfuG7/JgXPT/d3w5QTkpPmnydJZ22h1Hv+db9s/WWCiLv4pZ1h6/X+6Tnxu19IF3xLH0NInFHafL1aVTOdAObAyggT91l4p5tRvT99+wl0HzrcPfGfApI1yPrq3ezoUl9P/ffZX/bpsM+JVc/EgsYc+gt3m+yF4gslDuKGMCf3uPtkLxPthDzVJ4H2Qcny9+qoD4J2BXzR24dfVepddE7ffqFYt6ljnXQQJW+0en0PPSnWGfx27LbtdBwtk8YUOR3m/wloAOUE2IALlJOyfNAMMEeg+lUb9RqQgTgwKMc9UfASpwCt0O9Wj4CHOEUD5qi4o4jjwUHc8bBbX/0QsP8DxwI6RntNtAg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1175" y="4240780"/>
            <a:ext cx="1183703" cy="61082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4021" y="4813167"/>
            <a:ext cx="956716" cy="78311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9821" y="4210105"/>
            <a:ext cx="1046078" cy="64149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1736" y="5556496"/>
            <a:ext cx="1193757" cy="39587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6231" y="4961165"/>
            <a:ext cx="1515049" cy="38472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3267" y="5392716"/>
            <a:ext cx="1151611" cy="56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5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3-Tier Web Architecture</a:t>
            </a:r>
          </a:p>
        </p:txBody>
      </p:sp>
      <p:graphicFrame>
        <p:nvGraphicFramePr>
          <p:cNvPr id="29" name="Content Placeholder 28"/>
          <p:cNvGraphicFramePr>
            <a:graphicFrameLocks noGrp="1"/>
          </p:cNvGraphicFramePr>
          <p:nvPr>
            <p:ph idx="1"/>
            <p:extLst/>
          </p:nvPr>
        </p:nvGraphicFramePr>
        <p:xfrm>
          <a:off x="2011417" y="1513490"/>
          <a:ext cx="8204638" cy="3468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  <p:sp>
        <p:nvSpPr>
          <p:cNvPr id="30" name="TextBox 29"/>
          <p:cNvSpPr txBox="1"/>
          <p:nvPr/>
        </p:nvSpPr>
        <p:spPr>
          <a:xfrm>
            <a:off x="2417736" y="5052447"/>
            <a:ext cx="177455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Using HTML, CSS, JavaScript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8709" y="5075068"/>
            <a:ext cx="1774556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Using JavaScript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4923" y="5060196"/>
            <a:ext cx="1774556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Using SQL</a:t>
            </a:r>
          </a:p>
        </p:txBody>
      </p:sp>
    </p:spTree>
    <p:extLst>
      <p:ext uri="{BB962C8B-B14F-4D97-AF65-F5344CB8AC3E}">
        <p14:creationId xmlns:p14="http://schemas.microsoft.com/office/powerpoint/2010/main" val="231417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3-Tier Web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The client (browser), server and database can be located separately in any part of the world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They will work as long as the network connection is up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For performance reasons, the web server and database server are usually located very close to each other</a:t>
            </a:r>
          </a:p>
          <a:p>
            <a:pPr lvl="1">
              <a:lnSpc>
                <a:spcPct val="100000"/>
              </a:lnSpc>
              <a:defRPr/>
            </a:pPr>
            <a:endParaRPr lang="en-US" dirty="0">
              <a:ea typeface="ＭＳ Ｐゴシック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Where does the web application run on? </a:t>
            </a:r>
          </a:p>
          <a:p>
            <a:pPr>
              <a:lnSpc>
                <a:spcPct val="100000"/>
              </a:lnSpc>
              <a:buNone/>
              <a:defRPr/>
            </a:pPr>
            <a:r>
              <a:rPr lang="en-US" dirty="0">
                <a:ea typeface="ＭＳ Ｐゴシック" charset="0"/>
              </a:rPr>
              <a:t>		browser / server / database?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873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3-Tier Architecture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422972"/>
              </p:ext>
            </p:extLst>
          </p:nvPr>
        </p:nvGraphicFramePr>
        <p:xfrm>
          <a:off x="1492358" y="1713038"/>
          <a:ext cx="9193724" cy="4025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139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Application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web application</a:t>
            </a:r>
            <a:r>
              <a:rPr lang="en-GB" dirty="0"/>
              <a:t> (web forms and C# code) runs on the web server, but the user accesses the web application through the client (browser).</a:t>
            </a:r>
          </a:p>
          <a:p>
            <a:pPr>
              <a:lnSpc>
                <a:spcPct val="120000"/>
              </a:lnSpc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browser</a:t>
            </a:r>
            <a:r>
              <a:rPr lang="en-GB" dirty="0"/>
              <a:t> is also known as the </a:t>
            </a:r>
            <a:r>
              <a:rPr lang="en-GB" i="1" dirty="0"/>
              <a:t>front-end</a:t>
            </a:r>
            <a:r>
              <a:rPr lang="en-GB" dirty="0"/>
              <a:t> or the </a:t>
            </a:r>
            <a:r>
              <a:rPr lang="en-GB" dirty="0">
                <a:solidFill>
                  <a:srgbClr val="FF0000"/>
                </a:solidFill>
              </a:rPr>
              <a:t>client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It displays the web pages and prompts user for input.</a:t>
            </a:r>
          </a:p>
          <a:p>
            <a:pPr>
              <a:lnSpc>
                <a:spcPct val="120000"/>
              </a:lnSpc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web server</a:t>
            </a:r>
            <a:r>
              <a:rPr lang="en-GB" dirty="0"/>
              <a:t> is also known as the </a:t>
            </a:r>
            <a:r>
              <a:rPr lang="en-GB" i="1" dirty="0"/>
              <a:t>backend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It hosts websites, runs the web application.</a:t>
            </a:r>
          </a:p>
          <a:p>
            <a:pPr>
              <a:lnSpc>
                <a:spcPct val="120000"/>
              </a:lnSpc>
            </a:pPr>
            <a:r>
              <a:rPr lang="en-GB" dirty="0"/>
              <a:t>It serves the front-end clients by fulfilling their requests.</a:t>
            </a:r>
          </a:p>
          <a:p>
            <a:pPr>
              <a:lnSpc>
                <a:spcPct val="120000"/>
              </a:lnSpc>
            </a:pPr>
            <a:r>
              <a:rPr lang="en-GB" dirty="0"/>
              <a:t>The browser talks to the server using </a:t>
            </a:r>
            <a:r>
              <a:rPr lang="en-GB" dirty="0">
                <a:solidFill>
                  <a:srgbClr val="FF0000"/>
                </a:solidFill>
              </a:rPr>
              <a:t>Hypertext Transfer Protocol</a:t>
            </a:r>
            <a:r>
              <a:rPr lang="en-GB" dirty="0"/>
              <a:t> (HTTP).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/>
          </p:nvPr>
        </p:nvGraphicFramePr>
        <p:xfrm>
          <a:off x="6840607" y="1784350"/>
          <a:ext cx="3330575" cy="396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3" imgW="2120900" imgH="2527300" progId="Visio.Drawing.11">
                  <p:embed/>
                </p:oleObj>
              </mc:Choice>
              <mc:Fallback>
                <p:oleObj name="Visio" r:id="rId3" imgW="2120900" imgH="2527300" progId="Visio.Drawing.11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607" y="1784350"/>
                        <a:ext cx="3330575" cy="396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393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Communication Between Client &amp; Server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04900" y="4290016"/>
            <a:ext cx="9982200" cy="206744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Uses an industry standard protocol - HTTP</a:t>
            </a:r>
          </a:p>
          <a:p>
            <a:r>
              <a:rPr lang="en-GB" dirty="0"/>
              <a:t>HTTP stands for Hypertext Transfer Protocol</a:t>
            </a:r>
          </a:p>
          <a:p>
            <a:r>
              <a:rPr lang="en-GB" dirty="0"/>
              <a:t>The HTTP protocol is a request-response protocol</a:t>
            </a:r>
          </a:p>
          <a:p>
            <a:r>
              <a:rPr lang="en-GB" dirty="0"/>
              <a:t>The browser starts the communication by making a request</a:t>
            </a:r>
          </a:p>
          <a:p>
            <a:r>
              <a:rPr lang="en-GB" dirty="0"/>
              <a:t>The server responds by sending the client a resource e.g. webpage, image etc.</a:t>
            </a:r>
          </a:p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  <p:grpSp>
        <p:nvGrpSpPr>
          <p:cNvPr id="8" name="Group 17"/>
          <p:cNvGrpSpPr>
            <a:grpSpLocks/>
          </p:cNvGrpSpPr>
          <p:nvPr/>
        </p:nvGrpSpPr>
        <p:grpSpPr bwMode="auto">
          <a:xfrm>
            <a:off x="2398782" y="1521416"/>
            <a:ext cx="7210165" cy="2507247"/>
            <a:chOff x="609600" y="4191000"/>
            <a:chExt cx="7210165" cy="2507247"/>
          </a:xfrm>
        </p:grpSpPr>
        <p:pic>
          <p:nvPicPr>
            <p:cNvPr id="9" name="Picture 10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4572000"/>
              <a:ext cx="1600200" cy="1193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10" name="Picture 102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200" y="4191000"/>
              <a:ext cx="841375" cy="210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11" name="Text Box 1030"/>
            <p:cNvSpPr txBox="1">
              <a:spLocks noChangeArrowheads="1"/>
            </p:cNvSpPr>
            <p:nvPr/>
          </p:nvSpPr>
          <p:spPr bwMode="auto">
            <a:xfrm>
              <a:off x="923439" y="5904855"/>
              <a:ext cx="103021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Font typeface="Wingdings" charset="2"/>
                <a:buNone/>
              </a:pPr>
              <a:r>
                <a:rPr kumimoji="1" lang="en-US" altLang="en-US" sz="1600" dirty="0">
                  <a:latin typeface="Tahoma" charset="0"/>
                </a:rPr>
                <a:t>Browser</a:t>
              </a:r>
            </a:p>
            <a:p>
              <a:pPr algn="ctr">
                <a:spcBef>
                  <a:spcPct val="50000"/>
                </a:spcBef>
                <a:buClr>
                  <a:schemeClr val="accent2"/>
                </a:buClr>
                <a:buFont typeface="Wingdings" charset="2"/>
                <a:buNone/>
              </a:pPr>
              <a:r>
                <a:rPr kumimoji="1" lang="en-US" altLang="en-US" sz="1600" dirty="0">
                  <a:latin typeface="Tahoma" charset="0"/>
                </a:rPr>
                <a:t>(client)</a:t>
              </a:r>
              <a:endParaRPr kumimoji="1" lang="en-GB" altLang="en-US" sz="1600" dirty="0">
                <a:latin typeface="Tahoma" charset="0"/>
              </a:endParaRPr>
            </a:p>
          </p:txBody>
        </p:sp>
        <p:sp>
          <p:nvSpPr>
            <p:cNvPr id="12" name="Text Box 1031"/>
            <p:cNvSpPr txBox="1">
              <a:spLocks noChangeArrowheads="1"/>
            </p:cNvSpPr>
            <p:nvPr/>
          </p:nvSpPr>
          <p:spPr bwMode="auto">
            <a:xfrm>
              <a:off x="6989733" y="6359693"/>
              <a:ext cx="8300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Font typeface="Wingdings" charset="2"/>
                <a:buNone/>
              </a:pPr>
              <a:r>
                <a:rPr kumimoji="1" lang="en-US" altLang="en-US" sz="1600">
                  <a:latin typeface="Tahoma" charset="0"/>
                </a:rPr>
                <a:t>server</a:t>
              </a:r>
              <a:endParaRPr kumimoji="1" lang="en-GB" altLang="en-US" sz="1600" dirty="0">
                <a:latin typeface="Tahoma" charset="0"/>
              </a:endParaRPr>
            </a:p>
          </p:txBody>
        </p:sp>
        <p:sp>
          <p:nvSpPr>
            <p:cNvPr id="13" name="Line 1034"/>
            <p:cNvSpPr>
              <a:spLocks noChangeShapeType="1"/>
            </p:cNvSpPr>
            <p:nvPr/>
          </p:nvSpPr>
          <p:spPr bwMode="auto">
            <a:xfrm>
              <a:off x="2357438" y="5180013"/>
              <a:ext cx="43418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" name="Text Box 1035"/>
            <p:cNvSpPr txBox="1">
              <a:spLocks noChangeArrowheads="1"/>
            </p:cNvSpPr>
            <p:nvPr/>
          </p:nvSpPr>
          <p:spPr bwMode="auto">
            <a:xfrm>
              <a:off x="3395886" y="4732776"/>
              <a:ext cx="226491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accent2"/>
                </a:buClr>
                <a:buFont typeface="Wingdings" charset="2"/>
                <a:buNone/>
              </a:pPr>
              <a:r>
                <a:rPr kumimoji="1" lang="en-US" altLang="en-US" sz="1600" dirty="0">
                  <a:latin typeface="Tahoma" charset="0"/>
                </a:rPr>
                <a:t>Browser sends request</a:t>
              </a:r>
              <a:endParaRPr kumimoji="1" lang="en-GB" altLang="en-US" sz="1600" dirty="0">
                <a:latin typeface="Tahoma" charset="0"/>
              </a:endParaRPr>
            </a:p>
          </p:txBody>
        </p:sp>
        <p:sp>
          <p:nvSpPr>
            <p:cNvPr id="15" name="Line 1036"/>
            <p:cNvSpPr>
              <a:spLocks noChangeShapeType="1"/>
            </p:cNvSpPr>
            <p:nvPr/>
          </p:nvSpPr>
          <p:spPr bwMode="auto">
            <a:xfrm>
              <a:off x="2357438" y="5942013"/>
              <a:ext cx="43418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6" name="Text Box 1037"/>
            <p:cNvSpPr txBox="1">
              <a:spLocks noChangeArrowheads="1"/>
            </p:cNvSpPr>
            <p:nvPr/>
          </p:nvSpPr>
          <p:spPr bwMode="auto">
            <a:xfrm>
              <a:off x="2849079" y="5443190"/>
              <a:ext cx="34458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50000"/>
                </a:spcBef>
                <a:buClr>
                  <a:schemeClr val="accent2"/>
                </a:buClr>
                <a:buFont typeface="Wingdings" charset="2"/>
                <a:buNone/>
              </a:pPr>
              <a:r>
                <a:rPr kumimoji="1" lang="en-US" altLang="en-US" sz="1600" dirty="0">
                  <a:latin typeface="Tahoma" charset="0"/>
                </a:rPr>
                <a:t>Server responds with webpage/data</a:t>
              </a:r>
              <a:endParaRPr kumimoji="1" lang="en-GB" altLang="en-US" sz="1600" dirty="0"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45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Browser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Browser starts by requesting for a HTML page using a URL </a:t>
            </a:r>
          </a:p>
          <a:p>
            <a:pPr>
              <a:buNone/>
              <a:defRPr/>
            </a:pPr>
            <a:r>
              <a:rPr lang="en-US" dirty="0">
                <a:ea typeface="ＭＳ Ｐゴシック" charset="0"/>
              </a:rPr>
              <a:t>		e.g. </a:t>
            </a:r>
            <a:r>
              <a:rPr lang="en-US" dirty="0">
                <a:solidFill>
                  <a:schemeClr val="accent2"/>
                </a:solidFill>
                <a:ea typeface="ＭＳ Ｐゴシック" charset="0"/>
                <a:hlinkClick r:id="rId2"/>
              </a:rPr>
              <a:t>http</a:t>
            </a:r>
            <a:r>
              <a:rPr lang="en-US" smtClean="0">
                <a:solidFill>
                  <a:schemeClr val="accent2"/>
                </a:solidFill>
                <a:ea typeface="ＭＳ Ｐゴシック" charset="0"/>
                <a:hlinkClick r:id="rId2"/>
              </a:rPr>
              <a:t>://lms.tp.ed.sg</a:t>
            </a:r>
            <a:r>
              <a:rPr lang="en-US" smtClean="0">
                <a:solidFill>
                  <a:schemeClr val="accent2"/>
                </a:solidFill>
                <a:ea typeface="ＭＳ Ｐゴシック" charset="0"/>
              </a:rPr>
              <a:t> </a:t>
            </a:r>
            <a:endParaRPr lang="en-US" dirty="0">
              <a:solidFill>
                <a:schemeClr val="accent2"/>
              </a:solidFill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ea typeface="ＭＳ Ｐゴシック" charset="0"/>
              </a:rPr>
              <a:t>Browser sends the HTTP request to web server using either of the following four HTTP methods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GET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POST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PUT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DELETE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112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 Side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/>
              <a:t>Web server receives the request and looks at the URL</a:t>
            </a:r>
          </a:p>
          <a:p>
            <a:pPr>
              <a:lnSpc>
                <a:spcPct val="100000"/>
              </a:lnSpc>
              <a:defRPr/>
            </a:pPr>
            <a:r>
              <a:rPr lang="en-US" dirty="0"/>
              <a:t>If the URL is for a static webpage/image:</a:t>
            </a:r>
          </a:p>
          <a:p>
            <a:pPr marL="457200" lvl="1" indent="0">
              <a:lnSpc>
                <a:spcPct val="100000"/>
              </a:lnSpc>
              <a:defRPr/>
            </a:pPr>
            <a:r>
              <a:rPr lang="en-US" dirty="0"/>
              <a:t> The webpage/image is sent immediately to the browser</a:t>
            </a:r>
          </a:p>
          <a:p>
            <a:pPr>
              <a:lnSpc>
                <a:spcPct val="100000"/>
              </a:lnSpc>
              <a:defRPr/>
            </a:pPr>
            <a:r>
              <a:rPr lang="en-US" dirty="0"/>
              <a:t>If the URL is for a web functionality:</a:t>
            </a:r>
          </a:p>
          <a:p>
            <a:pPr marL="457200" lvl="1" indent="0">
              <a:lnSpc>
                <a:spcPct val="100000"/>
              </a:lnSpc>
              <a:defRPr/>
            </a:pPr>
            <a:r>
              <a:rPr lang="en-US" dirty="0"/>
              <a:t> The web functionality is executed</a:t>
            </a:r>
          </a:p>
          <a:p>
            <a:pPr marL="457200" lvl="1" indent="0">
              <a:lnSpc>
                <a:spcPct val="100000"/>
              </a:lnSpc>
              <a:defRPr/>
            </a:pPr>
            <a:r>
              <a:rPr lang="en-US" dirty="0"/>
              <a:t> The output of the program/function execution is sent to the browser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129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 Response (Login Scenario)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6430746"/>
              </p:ext>
            </p:extLst>
          </p:nvPr>
        </p:nvGraphicFramePr>
        <p:xfrm>
          <a:off x="954988" y="1459832"/>
          <a:ext cx="10461459" cy="4897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  <p:pic>
        <p:nvPicPr>
          <p:cNvPr id="7" name="Picture 205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226" y="2809066"/>
            <a:ext cx="2258232" cy="187759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691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Request-Response (Login Scenario)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847" y="3123958"/>
            <a:ext cx="1246188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6118560" y="4393958"/>
            <a:ext cx="17278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pPr algn="ctr"/>
            <a:r>
              <a:rPr lang="en-US" altLang="en-US" sz="1600" b="1" u="sng" dirty="0">
                <a:latin typeface="Trebuchet MS" charset="0"/>
              </a:rPr>
              <a:t>Web application</a:t>
            </a:r>
          </a:p>
          <a:p>
            <a:pPr algn="ctr"/>
            <a:r>
              <a:rPr lang="en-US" altLang="en-US" sz="1600" b="1" u="sng" dirty="0">
                <a:latin typeface="Trebuchet MS" charset="0"/>
              </a:rPr>
              <a:t>(Web Server)</a:t>
            </a:r>
          </a:p>
        </p:txBody>
      </p: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8875871" y="4140291"/>
            <a:ext cx="1739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pPr algn="ctr"/>
            <a:r>
              <a:rPr lang="en-US" altLang="en-US" sz="1600" b="1" u="sng" dirty="0">
                <a:latin typeface="Trebuchet MS" charset="0"/>
              </a:rPr>
              <a:t>Database Server</a:t>
            </a:r>
          </a:p>
        </p:txBody>
      </p: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>
            <a:off x="3959560" y="2193683"/>
            <a:ext cx="2427287" cy="1550987"/>
          </a:xfrm>
          <a:prstGeom prst="straightConnector1">
            <a:avLst/>
          </a:prstGeom>
          <a:noFill/>
          <a:ln w="63500" cap="sq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6"/>
          <p:cNvCxnSpPr>
            <a:cxnSpLocks noChangeShapeType="1"/>
          </p:cNvCxnSpPr>
          <p:nvPr/>
        </p:nvCxnSpPr>
        <p:spPr bwMode="auto">
          <a:xfrm flipV="1">
            <a:off x="7485057" y="3742495"/>
            <a:ext cx="1678367" cy="725"/>
          </a:xfrm>
          <a:prstGeom prst="straightConnector1">
            <a:avLst/>
          </a:prstGeom>
          <a:noFill/>
          <a:ln w="63500" cap="sq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1"/>
          <p:cNvCxnSpPr>
            <a:cxnSpLocks noChangeShapeType="1"/>
          </p:cNvCxnSpPr>
          <p:nvPr/>
        </p:nvCxnSpPr>
        <p:spPr bwMode="auto">
          <a:xfrm flipH="1">
            <a:off x="3945272" y="3744670"/>
            <a:ext cx="2441575" cy="1827213"/>
          </a:xfrm>
          <a:prstGeom prst="straightConnector1">
            <a:avLst/>
          </a:prstGeom>
          <a:noFill/>
          <a:ln w="63500" cap="sq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22"/>
          <p:cNvSpPr txBox="1">
            <a:spLocks noChangeArrowheads="1"/>
          </p:cNvSpPr>
          <p:nvPr/>
        </p:nvSpPr>
        <p:spPr bwMode="auto">
          <a:xfrm>
            <a:off x="4385010" y="1963495"/>
            <a:ext cx="34483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r>
              <a:rPr lang="en-US" altLang="en-US" sz="1600" b="1" dirty="0">
                <a:latin typeface="Trebuchet MS" charset="0"/>
              </a:rPr>
              <a:t>1. Request (send login credential)</a:t>
            </a:r>
          </a:p>
        </p:txBody>
      </p:sp>
      <p:sp>
        <p:nvSpPr>
          <p:cNvPr id="13" name="TextBox 23"/>
          <p:cNvSpPr txBox="1">
            <a:spLocks noChangeArrowheads="1"/>
          </p:cNvSpPr>
          <p:nvPr/>
        </p:nvSpPr>
        <p:spPr bwMode="auto">
          <a:xfrm>
            <a:off x="4261185" y="5341695"/>
            <a:ext cx="14013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r>
              <a:rPr lang="en-US" altLang="en-US" sz="1600" b="1">
                <a:latin typeface="Trebuchet MS" charset="0"/>
              </a:rPr>
              <a:t>3. Response </a:t>
            </a:r>
          </a:p>
        </p:txBody>
      </p:sp>
      <p:sp>
        <p:nvSpPr>
          <p:cNvPr id="14" name="TextBox 24"/>
          <p:cNvSpPr txBox="1">
            <a:spLocks noChangeArrowheads="1"/>
          </p:cNvSpPr>
          <p:nvPr/>
        </p:nvSpPr>
        <p:spPr bwMode="auto">
          <a:xfrm>
            <a:off x="7582421" y="3221170"/>
            <a:ext cx="14526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MS PGothic" charset="-128"/>
              </a:defRPr>
            </a:lvl9pPr>
          </a:lstStyle>
          <a:p>
            <a:r>
              <a:rPr lang="en-US" altLang="en-US" sz="1600" b="1" dirty="0">
                <a:latin typeface="Trebuchet MS" charset="0"/>
              </a:rPr>
              <a:t>2. Processing</a:t>
            </a:r>
          </a:p>
        </p:txBody>
      </p:sp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172" y="3239845"/>
            <a:ext cx="91598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627265">
            <a:off x="3453147" y="3009658"/>
            <a:ext cx="2930525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05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885" y="1439957"/>
            <a:ext cx="2033587" cy="169068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600" y="4047547"/>
            <a:ext cx="2154237" cy="202406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690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Uniform Resource Locator (URL)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/>
              <a:t>All resources on a website including your webpages, images, stylesheets </a:t>
            </a:r>
            <a:r>
              <a:rPr lang="en-US" sz="2400" dirty="0" err="1"/>
              <a:t>etc</a:t>
            </a:r>
            <a:r>
              <a:rPr lang="en-US" sz="2400" dirty="0"/>
              <a:t> are accessed by specifying their URL(Uniform Resource Locator)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2100" dirty="0"/>
              <a:t>The URL is shown in the Address field of the browser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/>
              <a:t>URL format: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protocol://hostname[:port]/</a:t>
            </a:r>
            <a:r>
              <a:rPr lang="en-US" sz="2400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-path/resource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/>
              <a:t>e.g.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2200" dirty="0">
                <a:latin typeface="Courier" charset="0"/>
                <a:ea typeface="Courier" charset="0"/>
                <a:cs typeface="Courier" charset="0"/>
              </a:rPr>
              <a:t>http://www.tp.edu.sg:8080/home/life/</a:t>
            </a:r>
            <a:r>
              <a:rPr lang="en-US" sz="2200" dirty="0" err="1">
                <a:latin typeface="Courier" charset="0"/>
                <a:ea typeface="Courier" charset="0"/>
                <a:cs typeface="Courier" charset="0"/>
              </a:rPr>
              <a:t>stu_cca.htm</a:t>
            </a:r>
            <a:r>
              <a:rPr lang="en-US" sz="2100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 lvl="1">
              <a:lnSpc>
                <a:spcPct val="110000"/>
              </a:lnSpc>
              <a:defRPr/>
            </a:pPr>
            <a:endParaRPr lang="en-US" sz="2100" dirty="0"/>
          </a:p>
          <a:p>
            <a:pPr>
              <a:lnSpc>
                <a:spcPct val="110000"/>
              </a:lnSpc>
              <a:defRPr/>
            </a:pPr>
            <a:r>
              <a:rPr lang="en-US" sz="2400" dirty="0"/>
              <a:t>The host name </a:t>
            </a:r>
            <a:r>
              <a:rPr lang="ja-JP" altLang="en-US" sz="2400" dirty="0"/>
              <a:t>“</a:t>
            </a:r>
            <a:r>
              <a:rPr lang="en-US" altLang="ja-JP" sz="2400" b="1" dirty="0"/>
              <a:t>localhost</a:t>
            </a:r>
            <a:r>
              <a:rPr lang="ja-JP" altLang="en-US" sz="2400" dirty="0"/>
              <a:t>”</a:t>
            </a:r>
            <a:r>
              <a:rPr lang="en-US" altLang="ja-JP" sz="2400" dirty="0"/>
              <a:t> means the server is on the same machine as the browser. The IP address will be </a:t>
            </a:r>
            <a:r>
              <a:rPr lang="en-US" altLang="ja-JP" sz="2400" b="1" dirty="0"/>
              <a:t>127.0.0.1</a:t>
            </a:r>
            <a:r>
              <a:rPr lang="en-US" altLang="ja-JP" sz="2400" dirty="0"/>
              <a:t>.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/>
              <a:t>Port number is optional. Default is port </a:t>
            </a:r>
            <a:r>
              <a:rPr lang="en-US" sz="2400" b="1" dirty="0"/>
              <a:t>80</a:t>
            </a:r>
            <a:r>
              <a:rPr lang="en-US" sz="2400" dirty="0"/>
              <a:t>.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19</a:t>
            </a:fld>
            <a:endParaRPr lang="uk-UA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1901824" y="3424237"/>
            <a:ext cx="652615" cy="62388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3260725" y="3424237"/>
            <a:ext cx="901762" cy="5762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V="1">
            <a:off x="6110343" y="3424237"/>
            <a:ext cx="770636" cy="5762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V="1">
            <a:off x="7573382" y="3424237"/>
            <a:ext cx="796066" cy="5762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1759059" y="4000499"/>
            <a:ext cx="7298880" cy="360363"/>
            <a:chOff x="1836865" y="4029380"/>
            <a:chExt cx="5235891" cy="360363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1836865" y="4077005"/>
              <a:ext cx="466752" cy="28892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4691687" y="4029380"/>
              <a:ext cx="1019077" cy="36036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5789136" y="4029380"/>
              <a:ext cx="1283620" cy="36036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2600426" y="4029380"/>
              <a:ext cx="1458980" cy="36036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130849" y="4061464"/>
              <a:ext cx="505482" cy="28892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charset="0"/>
                  <a:ea typeface="MS PGothic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6" name="Line 15"/>
          <p:cNvSpPr>
            <a:spLocks noChangeShapeType="1"/>
          </p:cNvSpPr>
          <p:nvPr/>
        </p:nvSpPr>
        <p:spPr bwMode="auto">
          <a:xfrm flipV="1">
            <a:off x="5105274" y="3424236"/>
            <a:ext cx="714611" cy="5762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15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Cloud Computing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dirty="0">
                <a:ea typeface="ＭＳ Ｐゴシック" charset="0"/>
              </a:rPr>
              <a:t>Internet based computing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en-GB" sz="1800" dirty="0">
                <a:ea typeface="ＭＳ Ｐゴシック" charset="0"/>
              </a:rPr>
              <a:t>Shared resources are made available to devices on demand like a public utility</a:t>
            </a:r>
          </a:p>
          <a:p>
            <a:pPr algn="just">
              <a:lnSpc>
                <a:spcPct val="120000"/>
              </a:lnSpc>
              <a:defRPr/>
            </a:pPr>
            <a:r>
              <a:rPr lang="en-GB" dirty="0">
                <a:ea typeface="ＭＳ Ｐゴシック" charset="0"/>
              </a:rPr>
              <a:t>Technology infrastructure are abstracted from users</a:t>
            </a:r>
          </a:p>
          <a:p>
            <a:pPr algn="just">
              <a:lnSpc>
                <a:spcPct val="120000"/>
              </a:lnSpc>
              <a:defRPr/>
            </a:pPr>
            <a:r>
              <a:rPr lang="en-GB" dirty="0">
                <a:ea typeface="ＭＳ Ｐゴシック" charset="0"/>
              </a:rPr>
              <a:t>Typical cloud computing provides common business applications which are accessed from a web service or web browser while software and data are stored in servers.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dirty="0">
                <a:ea typeface="ＭＳ Ｐゴシック" charset="0"/>
              </a:rPr>
              <a:t>Why cloud computing?</a:t>
            </a:r>
          </a:p>
          <a:p>
            <a:pPr marL="800100" lvl="1" indent="-342900" algn="just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dirty="0">
                <a:ea typeface="ＭＳ Ｐゴシック" charset="0"/>
              </a:rPr>
              <a:t>Users can avoid capital expenditure on hardware, software;</a:t>
            </a:r>
          </a:p>
          <a:p>
            <a:pPr marL="800100" lvl="1" indent="-342900" algn="just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dirty="0">
                <a:ea typeface="ＭＳ Ｐゴシック" charset="0"/>
              </a:rPr>
              <a:t>Costs are based on utility or subscription basis with little or no upfront costs;</a:t>
            </a:r>
          </a:p>
          <a:p>
            <a:pPr marL="800100" lvl="1" indent="-342900" algn="just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dirty="0">
                <a:ea typeface="ＭＳ Ｐゴシック" charset="0"/>
              </a:rPr>
              <a:t>Immediate access to wide range of services.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20</a:t>
            </a:fld>
            <a:endParaRPr lang="uk-UA"/>
          </a:p>
        </p:txBody>
      </p:sp>
      <p:pic>
        <p:nvPicPr>
          <p:cNvPr id="8" name="Picture 4" descr="File:Cloud computing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217" y="2227880"/>
            <a:ext cx="4395374" cy="304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1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5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Web Architecture&amp;quot;&quot;/&gt;&lt;property id=&quot;20307&quot; value=&quot;256&quot;/&gt;&lt;/object&gt;&lt;object type=&quot;3&quot; unique_id=&quot;10691&quot;&gt;&lt;property id=&quot;20148&quot; value=&quot;5&quot;/&gt;&lt;property id=&quot;20300&quot; value=&quot;Slide 2 - &amp;quot;Objectives&amp;quot;&quot;/&gt;&lt;property id=&quot;20307&quot; value=&quot;282&quot;/&gt;&lt;/object&gt;&lt;object type=&quot;3&quot; unique_id=&quot;10692&quot;&gt;&lt;property id=&quot;20148&quot; value=&quot;5&quot;/&gt;&lt;property id=&quot;20300&quot; value=&quot;Slide 3 - &amp;quot;What  is a Web Application?&amp;quot;&quot;/&gt;&lt;property id=&quot;20307&quot; value=&quot;283&quot;/&gt;&lt;/object&gt;&lt;object type=&quot;3&quot; unique_id=&quot;10693&quot;&gt;&lt;property id=&quot;20148&quot; value=&quot;5&quot;/&gt;&lt;property id=&quot;20300&quot; value=&quot;Slide 4 - &amp;quot;Web Architecture&amp;quot;&quot;/&gt;&lt;property id=&quot;20307&quot; value=&quot;284&quot;/&gt;&lt;/object&gt;&lt;object type=&quot;3&quot; unique_id=&quot;10694&quot;&gt;&lt;property id=&quot;20148&quot; value=&quot;5&quot;/&gt;&lt;property id=&quot;20300&quot; value=&quot;Slide 5 - &amp;quot;Stand-Alone Application&amp;quot;&quot;/&gt;&lt;property id=&quot;20307&quot; value=&quot;285&quot;/&gt;&lt;/object&gt;&lt;object type=&quot;3&quot; unique_id=&quot;10695&quot;&gt;&lt;property id=&quot;20148&quot; value=&quot;5&quot;/&gt;&lt;property id=&quot;20300&quot; value=&quot;Slide 6 - &amp;quot;Client-Server Application&amp;quot;&quot;/&gt;&lt;property id=&quot;20307&quot; value=&quot;286&quot;/&gt;&lt;/object&gt;&lt;object type=&quot;3&quot; unique_id=&quot;10696&quot;&gt;&lt;property id=&quot;20148&quot; value=&quot;5&quot;/&gt;&lt;property id=&quot;20300&quot; value=&quot;Slide 7 - &amp;quot;Client-Server Model&amp;quot;&quot;/&gt;&lt;property id=&quot;20307&quot; value=&quot;287&quot;/&gt;&lt;/object&gt;&lt;object type=&quot;3&quot; unique_id=&quot;10697&quot;&gt;&lt;property id=&quot;20148&quot; value=&quot;5&quot;/&gt;&lt;property id=&quot;20300&quot; value=&quot;Slide 8 - &amp;quot;3-Tier Web Architecture&amp;quot;&quot;/&gt;&lt;property id=&quot;20307&quot; value=&quot;288&quot;/&gt;&lt;/object&gt;&lt;object type=&quot;3&quot; unique_id=&quot;10698&quot;&gt;&lt;property id=&quot;20148&quot; value=&quot;5&quot;/&gt;&lt;property id=&quot;20300&quot; value=&quot;Slide 9 - &amp;quot;3-Tier Web Architecture&amp;quot;&quot;/&gt;&lt;property id=&quot;20307&quot; value=&quot;289&quot;/&gt;&lt;/object&gt;&lt;object type=&quot;3&quot; unique_id=&quot;10699&quot;&gt;&lt;property id=&quot;20148&quot; value=&quot;5&quot;/&gt;&lt;property id=&quot;20300&quot; value=&quot;Slide 10 - &amp;quot;3-Tier Web Architecture&amp;quot;&quot;/&gt;&lt;property id=&quot;20307&quot; value=&quot;290&quot;/&gt;&lt;/object&gt;&lt;object type=&quot;3&quot; unique_id=&quot;10700&quot;&gt;&lt;property id=&quot;20148&quot; value=&quot;5&quot;/&gt;&lt;property id=&quot;20300&quot; value=&quot;Slide 11 - &amp;quot;3-Tier Web Architecture&amp;quot;&quot;/&gt;&lt;property id=&quot;20307&quot; value=&quot;291&quot;/&gt;&lt;/object&gt;&lt;object type=&quot;3&quot; unique_id=&quot;10701&quot;&gt;&lt;property id=&quot;20148&quot; value=&quot;5&quot;/&gt;&lt;property id=&quot;20300&quot; value=&quot;Slide 12 - &amp;quot;Benefits of 3-Tier Architecture&amp;quot;&quot;/&gt;&lt;property id=&quot;20307&quot; value=&quot;292&quot;/&gt;&lt;/object&gt;&lt;object type=&quot;3&quot; unique_id=&quot;10702&quot;&gt;&lt;property id=&quot;20148&quot; value=&quot;5&quot;/&gt;&lt;property id=&quot;20300&quot; value=&quot;Slide 13 - &amp;quot;Web Application&amp;quot;&quot;/&gt;&lt;property id=&quot;20307&quot; value=&quot;293&quot;/&gt;&lt;/object&gt;&lt;object type=&quot;3&quot; unique_id=&quot;10703&quot;&gt;&lt;property id=&quot;20148&quot; value=&quot;5&quot;/&gt;&lt;property id=&quot;20300&quot; value=&quot;Slide 14 - &amp;quot;Communication Between Client &amp;amp; Server&amp;quot;&quot;/&gt;&lt;property id=&quot;20307&quot; value=&quot;294&quot;/&gt;&lt;/object&gt;&lt;object type=&quot;3&quot; unique_id=&quot;10704&quot;&gt;&lt;property id=&quot;20148&quot; value=&quot;5&quot;/&gt;&lt;property id=&quot;20300&quot; value=&quot;Slide 15 - &amp;quot;Browser Request&amp;quot;&quot;/&gt;&lt;property id=&quot;20307&quot; value=&quot;295&quot;/&gt;&lt;/object&gt;&lt;object type=&quot;3&quot; unique_id=&quot;10705&quot;&gt;&lt;property id=&quot;20148&quot; value=&quot;5&quot;/&gt;&lt;property id=&quot;20300&quot; value=&quot;Slide 16 - &amp;quot;Server Side Processing&amp;quot;&quot;/&gt;&lt;property id=&quot;20307&quot; value=&quot;296&quot;/&gt;&lt;/object&gt;&lt;object type=&quot;3&quot; unique_id=&quot;10706&quot;&gt;&lt;property id=&quot;20148&quot; value=&quot;5&quot;/&gt;&lt;property id=&quot;20300&quot; value=&quot;Slide 17 - &amp;quot;Server Response (Login Scenario)&amp;quot;&quot;/&gt;&lt;property id=&quot;20307&quot; value=&quot;297&quot;/&gt;&lt;/object&gt;&lt;object type=&quot;3&quot; unique_id=&quot;10707&quot;&gt;&lt;property id=&quot;20148&quot; value=&quot;5&quot;/&gt;&lt;property id=&quot;20300&quot; value=&quot;Slide 18 - &amp;quot;Request-Response (Login Scenario)&amp;quot;&quot;/&gt;&lt;property id=&quot;20307&quot; value=&quot;298&quot;/&gt;&lt;/object&gt;&lt;object type=&quot;3&quot; unique_id=&quot;10708&quot;&gt;&lt;property id=&quot;20148&quot; value=&quot;5&quot;/&gt;&lt;property id=&quot;20300&quot; value=&quot;Slide 19 - &amp;quot;Uniform Resource Locator (URL)&amp;quot;&quot;/&gt;&lt;property id=&quot;20307&quot; value=&quot;299&quot;/&gt;&lt;/object&gt;&lt;object type=&quot;3&quot; unique_id=&quot;10709&quot;&gt;&lt;property id=&quot;20148&quot; value=&quot;5&quot;/&gt;&lt;property id=&quot;20300&quot; value=&quot;Slide 20 - &amp;quot;Cloud Computing&amp;quot;&quot;/&gt;&lt;property id=&quot;20307&quot; value=&quot;300&quot;/&gt;&lt;/object&gt;&lt;object type=&quot;3&quot; unique_id=&quot;10710&quot;&gt;&lt;property id=&quot;20148&quot; value=&quot;5&quot;/&gt;&lt;property id=&quot;20300&quot; value=&quot;Slide 21 - &amp;quot;THE END&amp;quot;&quot;/&gt;&lt;property id=&quot;20307&quot; value=&quot;301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</TotalTime>
  <Words>987</Words>
  <Application>Microsoft Office PowerPoint</Application>
  <PresentationFormat>Widescreen</PresentationFormat>
  <Paragraphs>180</Paragraphs>
  <Slides>21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Arial Unicode MS</vt:lpstr>
      <vt:lpstr>Courier</vt:lpstr>
      <vt:lpstr>MS PGothic</vt:lpstr>
      <vt:lpstr>MS PGothic</vt:lpstr>
      <vt:lpstr>Arial</vt:lpstr>
      <vt:lpstr>Calibri</vt:lpstr>
      <vt:lpstr>Calibri Light</vt:lpstr>
      <vt:lpstr>Roboto</vt:lpstr>
      <vt:lpstr>Roboto light</vt:lpstr>
      <vt:lpstr>Tahoma</vt:lpstr>
      <vt:lpstr>Times New Roman</vt:lpstr>
      <vt:lpstr>Trebuchet MS</vt:lpstr>
      <vt:lpstr>Verdana</vt:lpstr>
      <vt:lpstr>Wingdings</vt:lpstr>
      <vt:lpstr>Office Theme</vt:lpstr>
      <vt:lpstr>Visio</vt:lpstr>
      <vt:lpstr>Web Architecture</vt:lpstr>
      <vt:lpstr>Objectives</vt:lpstr>
      <vt:lpstr>What  is a Web Application?</vt:lpstr>
      <vt:lpstr>Web Architecture</vt:lpstr>
      <vt:lpstr>Stand-Alone Application</vt:lpstr>
      <vt:lpstr>Client-Server Application</vt:lpstr>
      <vt:lpstr>Client-Server Model</vt:lpstr>
      <vt:lpstr>3-Tier Web Architecture</vt:lpstr>
      <vt:lpstr>3-Tier Web Architecture</vt:lpstr>
      <vt:lpstr>3-Tier Web Architecture</vt:lpstr>
      <vt:lpstr>3-Tier Web Architecture</vt:lpstr>
      <vt:lpstr>Benefits of 3-Tier Architecture</vt:lpstr>
      <vt:lpstr>Web Application</vt:lpstr>
      <vt:lpstr>Communication Between Client &amp; Server</vt:lpstr>
      <vt:lpstr>Browser Request</vt:lpstr>
      <vt:lpstr>Server Side Processing</vt:lpstr>
      <vt:lpstr>Server Response (Login Scenario)</vt:lpstr>
      <vt:lpstr>Request-Response (Login Scenario)</vt:lpstr>
      <vt:lpstr>Uniform Resource Locator (URL)</vt:lpstr>
      <vt:lpstr>Cloud Computing</vt:lpstr>
      <vt:lpstr>THE END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ARCHITECTURE</dc:title>
  <dc:creator>siopoh@TP.EDU.SG</dc:creator>
  <cp:keywords>CODT, CIT1C16, ADEV, CIT1C17, DBAV, CIA1C06, Introduction, Web Architecture</cp:keywords>
  <cp:lastModifiedBy>Lam Su Yi</cp:lastModifiedBy>
  <cp:revision>148</cp:revision>
  <dcterms:created xsi:type="dcterms:W3CDTF">2016-03-04T00:57:19Z</dcterms:created>
  <dcterms:modified xsi:type="dcterms:W3CDTF">2019-10-08T06:38:29Z</dcterms:modified>
  <cp:category>Software Cluster</cp:category>
</cp:coreProperties>
</file>