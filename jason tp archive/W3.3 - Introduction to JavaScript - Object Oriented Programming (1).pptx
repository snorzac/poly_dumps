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handoutMasterIdLst>
    <p:handoutMasterId r:id="rId28"/>
  </p:handoutMasterIdLst>
  <p:sldIdLst>
    <p:sldId id="256" r:id="rId2"/>
    <p:sldId id="289" r:id="rId3"/>
    <p:sldId id="373" r:id="rId4"/>
    <p:sldId id="374" r:id="rId5"/>
    <p:sldId id="375" r:id="rId6"/>
    <p:sldId id="402" r:id="rId7"/>
    <p:sldId id="405" r:id="rId8"/>
    <p:sldId id="377" r:id="rId9"/>
    <p:sldId id="403" r:id="rId10"/>
    <p:sldId id="406" r:id="rId11"/>
    <p:sldId id="404" r:id="rId12"/>
    <p:sldId id="382" r:id="rId13"/>
    <p:sldId id="383" r:id="rId14"/>
    <p:sldId id="384" r:id="rId15"/>
    <p:sldId id="412" r:id="rId16"/>
    <p:sldId id="413" r:id="rId17"/>
    <p:sldId id="385" r:id="rId18"/>
    <p:sldId id="407" r:id="rId19"/>
    <p:sldId id="386" r:id="rId20"/>
    <p:sldId id="408" r:id="rId21"/>
    <p:sldId id="388" r:id="rId22"/>
    <p:sldId id="409" r:id="rId23"/>
    <p:sldId id="387" r:id="rId24"/>
    <p:sldId id="410" r:id="rId25"/>
    <p:sldId id="288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3B891-6361-4EF5-8AEF-4183D36EBA05}" v="8" dt="2018-10-29T04:13:39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82" autoAdjust="0"/>
    <p:restoredTop sz="93875" autoAdjust="0"/>
  </p:normalViewPr>
  <p:slideViewPr>
    <p:cSldViewPr snapToGrid="0">
      <p:cViewPr varScale="1">
        <p:scale>
          <a:sx n="107" d="100"/>
          <a:sy n="107" d="100"/>
        </p:scale>
        <p:origin x="115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05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ADBA76D2-0E90-475D-BCAE-AEFD68DBE7FE}"/>
    <pc:docChg chg="modMainMaster">
      <pc:chgData name="Lam Su Yi" userId="43bb02ba-2a64-4c57-886a-7f9577835f3c" providerId="ADAL" clId="{ADBA76D2-0E90-475D-BCAE-AEFD68DBE7FE}" dt="2018-09-28T07:04:37.228" v="9" actId="20577"/>
      <pc:docMkLst>
        <pc:docMk/>
      </pc:docMkLst>
      <pc:sldMasterChg chg="modSldLayout">
        <pc:chgData name="Lam Su Yi" userId="43bb02ba-2a64-4c57-886a-7f9577835f3c" providerId="ADAL" clId="{ADBA76D2-0E90-475D-BCAE-AEFD68DBE7FE}" dt="2018-09-28T07:04:37.228" v="9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ADBA76D2-0E90-475D-BCAE-AEFD68DBE7FE}" dt="2018-09-28T07:04:37.228" v="9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ADBA76D2-0E90-475D-BCAE-AEFD68DBE7FE}" dt="2018-09-27T08:25:28.986" v="4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ADBA76D2-0E90-475D-BCAE-AEFD68DBE7FE}" dt="2018-09-28T07:04:37.228" v="9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  <pc:docChgLst>
    <pc:chgData name="Lam Su Yi" userId="43bb02ba-2a64-4c57-886a-7f9577835f3c" providerId="ADAL" clId="{1C83B891-6361-4EF5-8AEF-4183D36EBA05}"/>
    <pc:docChg chg="custSel addSld modSld">
      <pc:chgData name="Lam Su Yi" userId="43bb02ba-2a64-4c57-886a-7f9577835f3c" providerId="ADAL" clId="{1C83B891-6361-4EF5-8AEF-4183D36EBA05}" dt="2018-10-29T04:13:39.742" v="16" actId="11529"/>
      <pc:docMkLst>
        <pc:docMk/>
      </pc:docMkLst>
      <pc:sldChg chg="addSp delSp modSp add">
        <pc:chgData name="Lam Su Yi" userId="43bb02ba-2a64-4c57-886a-7f9577835f3c" providerId="ADAL" clId="{1C83B891-6361-4EF5-8AEF-4183D36EBA05}" dt="2018-10-29T04:13:39.742" v="16" actId="11529"/>
        <pc:sldMkLst>
          <pc:docMk/>
          <pc:sldMk cId="2044575213" sldId="411"/>
        </pc:sldMkLst>
        <pc:spChg chg="del">
          <ac:chgData name="Lam Su Yi" userId="43bb02ba-2a64-4c57-886a-7f9577835f3c" providerId="ADAL" clId="{1C83B891-6361-4EF5-8AEF-4183D36EBA05}" dt="2018-10-29T04:12:41.504" v="1" actId="478"/>
          <ac:spMkLst>
            <pc:docMk/>
            <pc:sldMk cId="2044575213" sldId="411"/>
            <ac:spMk id="3" creationId="{10FF3667-DF51-446D-AD03-BADE5FD8208D}"/>
          </ac:spMkLst>
        </pc:spChg>
        <pc:spChg chg="add mod">
          <ac:chgData name="Lam Su Yi" userId="43bb02ba-2a64-4c57-886a-7f9577835f3c" providerId="ADAL" clId="{1C83B891-6361-4EF5-8AEF-4183D36EBA05}" dt="2018-10-29T04:13:16.861" v="7" actId="14100"/>
          <ac:spMkLst>
            <pc:docMk/>
            <pc:sldMk cId="2044575213" sldId="411"/>
            <ac:spMk id="5" creationId="{8D160CE0-8B26-4544-8B55-B10BE0AB81F4}"/>
          </ac:spMkLst>
        </pc:spChg>
        <pc:spChg chg="add del mod">
          <ac:chgData name="Lam Su Yi" userId="43bb02ba-2a64-4c57-886a-7f9577835f3c" providerId="ADAL" clId="{1C83B891-6361-4EF5-8AEF-4183D36EBA05}" dt="2018-10-29T04:13:19.240" v="8" actId="478"/>
          <ac:spMkLst>
            <pc:docMk/>
            <pc:sldMk cId="2044575213" sldId="411"/>
            <ac:spMk id="6" creationId="{97E02098-C848-41FF-8F4A-DEFAA3680DAB}"/>
          </ac:spMkLst>
        </pc:spChg>
        <pc:spChg chg="add del mod">
          <ac:chgData name="Lam Su Yi" userId="43bb02ba-2a64-4c57-886a-7f9577835f3c" providerId="ADAL" clId="{1C83B891-6361-4EF5-8AEF-4183D36EBA05}" dt="2018-10-29T04:13:19.744" v="9" actId="478"/>
          <ac:spMkLst>
            <pc:docMk/>
            <pc:sldMk cId="2044575213" sldId="411"/>
            <ac:spMk id="7" creationId="{1FC386EE-4F4E-4E44-B3FF-5C681C658395}"/>
          </ac:spMkLst>
        </pc:spChg>
        <pc:spChg chg="add mod">
          <ac:chgData name="Lam Su Yi" userId="43bb02ba-2a64-4c57-886a-7f9577835f3c" providerId="ADAL" clId="{1C83B891-6361-4EF5-8AEF-4183D36EBA05}" dt="2018-10-29T04:13:22.575" v="11" actId="1076"/>
          <ac:spMkLst>
            <pc:docMk/>
            <pc:sldMk cId="2044575213" sldId="411"/>
            <ac:spMk id="8" creationId="{3AC2FFE8-2766-4ADB-9F49-9339057694B9}"/>
          </ac:spMkLst>
        </pc:spChg>
        <pc:spChg chg="add mod">
          <ac:chgData name="Lam Su Yi" userId="43bb02ba-2a64-4c57-886a-7f9577835f3c" providerId="ADAL" clId="{1C83B891-6361-4EF5-8AEF-4183D36EBA05}" dt="2018-10-29T04:13:24.725" v="13" actId="1076"/>
          <ac:spMkLst>
            <pc:docMk/>
            <pc:sldMk cId="2044575213" sldId="411"/>
            <ac:spMk id="9" creationId="{EDFBD482-63BE-4D99-8431-EC83EF38A8E5}"/>
          </ac:spMkLst>
        </pc:spChg>
        <pc:spChg chg="add mod">
          <ac:chgData name="Lam Su Yi" userId="43bb02ba-2a64-4c57-886a-7f9577835f3c" providerId="ADAL" clId="{1C83B891-6361-4EF5-8AEF-4183D36EBA05}" dt="2018-10-29T04:13:26.958" v="15" actId="1076"/>
          <ac:spMkLst>
            <pc:docMk/>
            <pc:sldMk cId="2044575213" sldId="411"/>
            <ac:spMk id="10" creationId="{E3E1CE6D-11CB-4053-A335-D3EDDA257B45}"/>
          </ac:spMkLst>
        </pc:spChg>
        <pc:cxnChg chg="add mod">
          <ac:chgData name="Lam Su Yi" userId="43bb02ba-2a64-4c57-886a-7f9577835f3c" providerId="ADAL" clId="{1C83B891-6361-4EF5-8AEF-4183D36EBA05}" dt="2018-10-29T04:13:39.742" v="16" actId="11529"/>
          <ac:cxnSpMkLst>
            <pc:docMk/>
            <pc:sldMk cId="2044575213" sldId="411"/>
            <ac:cxnSpMk id="12" creationId="{B40750BB-1CD1-4A59-827D-752120B1507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CBB3F-66F8-5F4F-9759-A21C681491FE}" type="datetimeFigureOut">
              <a:rPr lang="en-GB" smtClean="0"/>
              <a:t>22/09/2021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CED30-5B62-CC49-8250-BB0B01CC2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217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22/9/2021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281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403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369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radius = 3; 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circumference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Math.PI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* 2*radius; </a:t>
            </a:r>
          </a:p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console.log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("The circumference is " + circumference);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area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Math.PI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* radius*radius; </a:t>
            </a:r>
          </a:p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console.log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("The area is " + area);</a:t>
            </a:r>
          </a:p>
          <a:p>
            <a:endParaRPr lang="en-GB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923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radius = 3; 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circumference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Math.PI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* 2*radius; </a:t>
            </a:r>
          </a:p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console.log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("The circumference is " + circumference);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area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Math.PI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* radius*radius; </a:t>
            </a:r>
          </a:p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console.log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("The area is " + area);</a:t>
            </a:r>
          </a:p>
          <a:p>
            <a:endParaRPr lang="en-GB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995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developerworks/library/j-perry-object-oriented-programming-concepts-and-principles/index.html" TargetMode="External"/><Relationship Id="rId2" Type="http://schemas.openxmlformats.org/officeDocument/2006/relationships/hyperlink" Target="https://en.wikipedia.org/wiki/Object-oriented_programm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rGiiYVtElS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Introduction to JavaScript: Object- Oriented Programming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03.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Describe the basic structure of a </a:t>
            </a:r>
            <a:r>
              <a:rPr lang="en-US" b="1" dirty="0">
                <a:ea typeface="Courier" charset="0"/>
                <a:cs typeface="Courier" charset="0"/>
              </a:rPr>
              <a:t>Class</a:t>
            </a:r>
            <a:r>
              <a:rPr lang="en-US" dirty="0">
                <a:ea typeface="ＭＳ Ｐゴシック" charset="0"/>
              </a:rPr>
              <a:t> in JavaScript;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Describe the concept of </a:t>
            </a:r>
            <a:r>
              <a:rPr lang="en-US" b="1" dirty="0">
                <a:ea typeface="ＭＳ Ｐゴシック" charset="0"/>
              </a:rPr>
              <a:t>Object </a:t>
            </a:r>
            <a:r>
              <a:rPr lang="en-US" dirty="0">
                <a:ea typeface="ＭＳ Ｐゴシック" charset="0"/>
              </a:rPr>
              <a:t>and its usage in Object-Oriented Programming;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create and use custom objects in JavaScript.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Object-Oriented Programming?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661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the Use of Computers…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1017637" y="4282032"/>
            <a:ext cx="10336162" cy="212171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Before the use of computers, transferring money from one bank account to another required the use of paper and pen. </a:t>
            </a:r>
          </a:p>
          <a:p>
            <a:pPr>
              <a:lnSpc>
                <a:spcPct val="120000"/>
              </a:lnSpc>
            </a:pPr>
            <a:r>
              <a:rPr lang="en-US" dirty="0"/>
              <a:t>Tons of papers were used to store information such as customers’ bank account(s) details, transactions of money transferred, etc.</a:t>
            </a:r>
          </a:p>
          <a:p>
            <a:pPr>
              <a:lnSpc>
                <a:spcPct val="120000"/>
              </a:lnSpc>
            </a:pPr>
            <a:r>
              <a:rPr lang="en-US" dirty="0"/>
              <a:t>It was a tedious, slow and painful job, and easily prone to human errors.  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5</a:t>
            </a:fld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2E6BCA-5B17-41EB-A8D5-85323C8826C0}"/>
              </a:ext>
            </a:extLst>
          </p:cNvPr>
          <p:cNvSpPr txBox="1"/>
          <p:nvPr/>
        </p:nvSpPr>
        <p:spPr>
          <a:xfrm>
            <a:off x="2060580" y="3818850"/>
            <a:ext cx="3013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Monthly statements of rates collected (1912 – 1920)</a:t>
            </a:r>
          </a:p>
        </p:txBody>
      </p:sp>
      <p:pic>
        <p:nvPicPr>
          <p:cNvPr id="1028" name="Picture 4" descr="http://www.scarning.info/records/P1000906.JPG">
            <a:extLst>
              <a:ext uri="{FF2B5EF4-FFF2-40B4-BE49-F238E27FC236}">
                <a16:creationId xmlns:a16="http://schemas.microsoft.com/office/drawing/2014/main" id="{E627EBEB-706C-4980-952F-DD9CADDE5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32" y="1415345"/>
            <a:ext cx="3520622" cy="236585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8AD747-A76F-49F0-9800-8A7307626F34}"/>
              </a:ext>
            </a:extLst>
          </p:cNvPr>
          <p:cNvSpPr txBox="1"/>
          <p:nvPr/>
        </p:nvSpPr>
        <p:spPr>
          <a:xfrm>
            <a:off x="6364533" y="3840330"/>
            <a:ext cx="3520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Old Barclays bank book. The page shown here shows all transactions in 1913!</a:t>
            </a:r>
          </a:p>
        </p:txBody>
      </p:sp>
      <p:pic>
        <p:nvPicPr>
          <p:cNvPr id="1030" name="Picture 6" descr="http://www.scarning.info/records/P1000908.JPG">
            <a:extLst>
              <a:ext uri="{FF2B5EF4-FFF2-40B4-BE49-F238E27FC236}">
                <a16:creationId xmlns:a16="http://schemas.microsoft.com/office/drawing/2014/main" id="{560AEA59-9224-4161-9A6D-EBC8A2A7E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80" y="1415345"/>
            <a:ext cx="2857315" cy="236585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With the Use of Computers…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With the use of computers, transferring money from one bank account to another requires a way to represent such real world process in digital form. </a:t>
            </a:r>
          </a:p>
          <a:p>
            <a:pPr>
              <a:lnSpc>
                <a:spcPct val="110000"/>
              </a:lnSpc>
            </a:pPr>
            <a:r>
              <a:rPr lang="en-US" dirty="0"/>
              <a:t>There is no need for tons of papers to be used but there is still a need to store, manipulate and transfer data/information.</a:t>
            </a:r>
          </a:p>
          <a:p>
            <a:pPr>
              <a:lnSpc>
                <a:spcPct val="110000"/>
              </a:lnSpc>
            </a:pPr>
            <a:r>
              <a:rPr lang="en-US" dirty="0"/>
              <a:t>There is no need for using pen to record information but there is now a need to write computer programs to automate the whole process of money transfer.  </a:t>
            </a:r>
          </a:p>
          <a:p>
            <a:pPr>
              <a:lnSpc>
                <a:spcPct val="110000"/>
              </a:lnSpc>
            </a:pPr>
            <a:r>
              <a:rPr lang="en-GB" b="1" dirty="0"/>
              <a:t>Object-Oriented Programming</a:t>
            </a:r>
            <a:r>
              <a:rPr lang="en-GB" dirty="0"/>
              <a:t> provides a way to implement real world processes, such as the above, in the digital medium.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302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5036-93AB-4FF2-ADB6-19FD577E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Object-Oriented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6305-6548-4BD9-B612-1AFC11580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many languages that supports Object-Oriented Programming.</a:t>
            </a:r>
          </a:p>
          <a:p>
            <a:r>
              <a:rPr lang="en-GB" dirty="0"/>
              <a:t>The following lists some of these languages:</a:t>
            </a:r>
          </a:p>
          <a:p>
            <a:pPr lvl="1"/>
            <a:r>
              <a:rPr lang="en-GB" dirty="0" err="1"/>
              <a:t>Simula</a:t>
            </a:r>
            <a:r>
              <a:rPr lang="en-GB" dirty="0"/>
              <a:t> 67</a:t>
            </a:r>
          </a:p>
          <a:p>
            <a:pPr lvl="1"/>
            <a:r>
              <a:rPr lang="en-GB" dirty="0"/>
              <a:t>Smalltalk</a:t>
            </a:r>
          </a:p>
          <a:p>
            <a:pPr lvl="1"/>
            <a:r>
              <a:rPr lang="en-GB" dirty="0"/>
              <a:t>Java</a:t>
            </a:r>
          </a:p>
          <a:p>
            <a:pPr lvl="1"/>
            <a:r>
              <a:rPr lang="en-GB" dirty="0"/>
              <a:t>C++</a:t>
            </a:r>
          </a:p>
          <a:p>
            <a:pPr lvl="1"/>
            <a:r>
              <a:rPr lang="en-GB" dirty="0"/>
              <a:t>JavaScript</a:t>
            </a:r>
          </a:p>
          <a:p>
            <a:pPr lvl="1"/>
            <a:r>
              <a:rPr lang="en-GB" dirty="0"/>
              <a:t>Python</a:t>
            </a:r>
          </a:p>
          <a:p>
            <a:pPr lvl="1"/>
            <a:r>
              <a:rPr lang="en-GB" dirty="0"/>
              <a:t>C#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492B6-41C1-44EA-99F1-B5A0540B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796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Object?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An </a:t>
            </a:r>
            <a:r>
              <a:rPr lang="en-GB" b="1" dirty="0"/>
              <a:t>Object</a:t>
            </a:r>
            <a:r>
              <a:rPr lang="en-GB" dirty="0"/>
              <a:t> is something that we perceived in the real world that has </a:t>
            </a:r>
            <a:r>
              <a:rPr lang="en-GB" b="1" dirty="0"/>
              <a:t>states</a:t>
            </a:r>
            <a:r>
              <a:rPr lang="en-GB" dirty="0"/>
              <a:t> and </a:t>
            </a:r>
            <a:r>
              <a:rPr lang="en-GB" b="1" dirty="0"/>
              <a:t>behaviours</a:t>
            </a:r>
            <a:r>
              <a:rPr lang="en-GB" dirty="0"/>
              <a:t>. </a:t>
            </a:r>
          </a:p>
          <a:p>
            <a:pPr>
              <a:lnSpc>
                <a:spcPct val="120000"/>
              </a:lnSpc>
            </a:pPr>
            <a:r>
              <a:rPr lang="en-GB" dirty="0"/>
              <a:t>For instance, in the previous example a </a:t>
            </a:r>
            <a:r>
              <a:rPr lang="en-GB" u="sng" dirty="0"/>
              <a:t>Bank Account</a:t>
            </a:r>
            <a:r>
              <a:rPr lang="en-GB" dirty="0"/>
              <a:t> is an object that could have the following states: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Customer Name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NRIC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Account Number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Account Type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Amount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Activation</a:t>
            </a:r>
          </a:p>
          <a:p>
            <a:pPr>
              <a:lnSpc>
                <a:spcPct val="120000"/>
              </a:lnSpc>
            </a:pPr>
            <a:r>
              <a:rPr lang="en-GB" dirty="0"/>
              <a:t>And the following behaviours: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Activate Account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Deactivate Account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Debit Amount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Credit Amount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90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Object?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Another example of an </a:t>
            </a:r>
            <a:r>
              <a:rPr lang="en-GB" b="1" dirty="0"/>
              <a:t>Object</a:t>
            </a:r>
            <a:r>
              <a:rPr lang="en-GB" dirty="0"/>
              <a:t> is a </a:t>
            </a:r>
            <a:r>
              <a:rPr lang="en-GB" u="sng" dirty="0"/>
              <a:t>Dog</a:t>
            </a:r>
            <a:r>
              <a:rPr lang="en-GB" dirty="0"/>
              <a:t>. </a:t>
            </a:r>
          </a:p>
          <a:p>
            <a:pPr>
              <a:lnSpc>
                <a:spcPct val="110000"/>
              </a:lnSpc>
            </a:pPr>
            <a:r>
              <a:rPr lang="en-GB" dirty="0"/>
              <a:t>For instance, a </a:t>
            </a:r>
            <a:r>
              <a:rPr lang="en-GB" u="sng" dirty="0"/>
              <a:t>Dog</a:t>
            </a:r>
            <a:r>
              <a:rPr lang="en-GB" dirty="0"/>
              <a:t> could have the following states: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Name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Breed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Gender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Age</a:t>
            </a:r>
          </a:p>
          <a:p>
            <a:pPr>
              <a:lnSpc>
                <a:spcPct val="110000"/>
              </a:lnSpc>
            </a:pPr>
            <a:r>
              <a:rPr lang="en-GB" dirty="0"/>
              <a:t>And the following behaviours: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Barking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Wag the tail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Drinking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Jumping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107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F1A8-2A60-4EBC-9A47-F9EA4A96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4FDC-4CCF-4A4E-94D4-D7F45630C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For documentation purpose, we can use a </a:t>
            </a:r>
            <a:r>
              <a:rPr lang="en-GB" b="1" dirty="0"/>
              <a:t>Class Diagram</a:t>
            </a:r>
            <a:r>
              <a:rPr lang="en-GB" dirty="0"/>
              <a:t> to represent Objects (so that it is easier to read) as shown in the following examples: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3535C-CA32-49C7-8C1D-38C72E8F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10</a:t>
            </a:fld>
            <a:endParaRPr lang="en-SG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C7DC83-6AB7-4DE0-8F47-4D1E74574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899806"/>
              </p:ext>
            </p:extLst>
          </p:nvPr>
        </p:nvGraphicFramePr>
        <p:xfrm>
          <a:off x="2610250" y="3235123"/>
          <a:ext cx="3332866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866">
                  <a:extLst>
                    <a:ext uri="{9D8B030D-6E8A-4147-A177-3AD203B41FA5}">
                      <a16:colId xmlns:a16="http://schemas.microsoft.com/office/drawing/2014/main" val="500305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latin typeface="Courier"/>
                        </a:rPr>
                        <a:t>BankAccount</a:t>
                      </a:r>
                      <a:endParaRPr lang="en-GB" sz="1400" b="1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767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Courier"/>
                        </a:rPr>
                        <a:t>Name: String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NRIC: String</a:t>
                      </a:r>
                    </a:p>
                    <a:p>
                      <a:r>
                        <a:rPr lang="en-GB" sz="1400" b="1" dirty="0" err="1">
                          <a:latin typeface="Courier"/>
                        </a:rPr>
                        <a:t>AccountNumber</a:t>
                      </a:r>
                      <a:r>
                        <a:rPr lang="en-GB" sz="1400" b="1" dirty="0">
                          <a:latin typeface="Courier"/>
                        </a:rPr>
                        <a:t>: String</a:t>
                      </a:r>
                    </a:p>
                    <a:p>
                      <a:r>
                        <a:rPr lang="en-GB" sz="1400" b="1" dirty="0" err="1">
                          <a:latin typeface="Courier"/>
                        </a:rPr>
                        <a:t>AccountType</a:t>
                      </a:r>
                      <a:r>
                        <a:rPr lang="en-GB" sz="1400" b="1" dirty="0">
                          <a:latin typeface="Courier"/>
                        </a:rPr>
                        <a:t>: String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Amount: double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Activation: </a:t>
                      </a:r>
                      <a:r>
                        <a:rPr lang="en-GB" sz="1400" b="1" dirty="0" err="1">
                          <a:latin typeface="Courier"/>
                        </a:rPr>
                        <a:t>boolean</a:t>
                      </a:r>
                      <a:endParaRPr lang="en-GB" sz="1400" b="1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201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 err="1">
                          <a:latin typeface="Courier"/>
                        </a:rPr>
                        <a:t>ActivateAccount</a:t>
                      </a:r>
                      <a:r>
                        <a:rPr lang="en-GB" sz="1400" b="1" dirty="0">
                          <a:latin typeface="Courier"/>
                        </a:rPr>
                        <a:t>()</a:t>
                      </a:r>
                    </a:p>
                    <a:p>
                      <a:r>
                        <a:rPr lang="en-GB" sz="1400" b="1" dirty="0" err="1">
                          <a:latin typeface="Courier"/>
                        </a:rPr>
                        <a:t>DeactivateAccount</a:t>
                      </a:r>
                      <a:r>
                        <a:rPr lang="en-GB" sz="1400" b="1" dirty="0">
                          <a:latin typeface="Courier"/>
                        </a:rPr>
                        <a:t>()</a:t>
                      </a:r>
                    </a:p>
                    <a:p>
                      <a:r>
                        <a:rPr lang="en-GB" sz="1400" b="1" dirty="0" err="1">
                          <a:latin typeface="Courier"/>
                        </a:rPr>
                        <a:t>DebitAmount</a:t>
                      </a:r>
                      <a:r>
                        <a:rPr lang="en-GB" sz="1400" b="1" dirty="0">
                          <a:latin typeface="Courier"/>
                        </a:rPr>
                        <a:t>()</a:t>
                      </a:r>
                    </a:p>
                    <a:p>
                      <a:r>
                        <a:rPr lang="en-GB" sz="1400" b="1" dirty="0" err="1">
                          <a:latin typeface="Courier"/>
                        </a:rPr>
                        <a:t>CreditAmount</a:t>
                      </a:r>
                      <a:r>
                        <a:rPr lang="en-GB" sz="1400" b="1" dirty="0">
                          <a:latin typeface="Courier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911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CED51A-4D77-4046-AD9A-F379D1ED0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75659"/>
              </p:ext>
            </p:extLst>
          </p:nvPr>
        </p:nvGraphicFramePr>
        <p:xfrm>
          <a:off x="6391314" y="3235123"/>
          <a:ext cx="3332866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866">
                  <a:extLst>
                    <a:ext uri="{9D8B030D-6E8A-4147-A177-3AD203B41FA5}">
                      <a16:colId xmlns:a16="http://schemas.microsoft.com/office/drawing/2014/main" val="500305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Courier"/>
                        </a:rPr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767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Courier"/>
                        </a:rPr>
                        <a:t>Name: String</a:t>
                      </a:r>
                    </a:p>
                    <a:p>
                      <a:r>
                        <a:rPr lang="en-GB" sz="1400" b="1" dirty="0" err="1">
                          <a:latin typeface="Courier"/>
                        </a:rPr>
                        <a:t>RegistrationNumber</a:t>
                      </a:r>
                      <a:r>
                        <a:rPr lang="en-GB" sz="1400" b="1" dirty="0">
                          <a:latin typeface="Courier"/>
                        </a:rPr>
                        <a:t>: String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Breed: String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Gender: char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Age: </a:t>
                      </a:r>
                      <a:r>
                        <a:rPr lang="en-GB" sz="1400" b="1" dirty="0" err="1">
                          <a:latin typeface="Courier"/>
                        </a:rPr>
                        <a:t>int</a:t>
                      </a:r>
                      <a:endParaRPr lang="en-GB" sz="1400" b="1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201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Courier"/>
                        </a:rPr>
                        <a:t>Barking()</a:t>
                      </a:r>
                    </a:p>
                    <a:p>
                      <a:r>
                        <a:rPr lang="en-GB" sz="1400" b="1" dirty="0" err="1">
                          <a:latin typeface="Courier"/>
                        </a:rPr>
                        <a:t>WagTheTail</a:t>
                      </a:r>
                      <a:r>
                        <a:rPr lang="en-GB" sz="1400" b="1" dirty="0">
                          <a:latin typeface="Courier"/>
                        </a:rPr>
                        <a:t>()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Drinking()</a:t>
                      </a:r>
                    </a:p>
                    <a:p>
                      <a:r>
                        <a:rPr lang="en-GB" sz="1400" b="1" dirty="0">
                          <a:latin typeface="Courier"/>
                        </a:rPr>
                        <a:t>Jumping()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91118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7A33FDB-2674-4D3B-9431-BB2DFF7E8FF6}"/>
              </a:ext>
            </a:extLst>
          </p:cNvPr>
          <p:cNvSpPr/>
          <p:nvPr/>
        </p:nvSpPr>
        <p:spPr>
          <a:xfrm>
            <a:off x="2390172" y="3605514"/>
            <a:ext cx="127322" cy="13600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20486CE-B425-4DE0-B825-3A88C2551CE9}"/>
              </a:ext>
            </a:extLst>
          </p:cNvPr>
          <p:cNvSpPr/>
          <p:nvPr/>
        </p:nvSpPr>
        <p:spPr>
          <a:xfrm>
            <a:off x="2390172" y="4988689"/>
            <a:ext cx="127321" cy="9221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81FA4EA9-895D-4406-B9EA-A5DA2B903479}"/>
              </a:ext>
            </a:extLst>
          </p:cNvPr>
          <p:cNvSpPr/>
          <p:nvPr/>
        </p:nvSpPr>
        <p:spPr>
          <a:xfrm>
            <a:off x="1532663" y="4165481"/>
            <a:ext cx="709624" cy="240090"/>
          </a:xfrm>
          <a:prstGeom prst="wedgeRectCallout">
            <a:avLst>
              <a:gd name="adj1" fmla="val 48669"/>
              <a:gd name="adj2" fmla="val -762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Unicode MS" charset="0"/>
                <a:ea typeface="Arial Unicode MS" charset="0"/>
                <a:cs typeface="Arial Unicode MS" charset="0"/>
              </a:rPr>
              <a:t>States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6F3A9AD6-1526-487D-98C1-5C8E27858A03}"/>
              </a:ext>
            </a:extLst>
          </p:cNvPr>
          <p:cNvSpPr/>
          <p:nvPr/>
        </p:nvSpPr>
        <p:spPr>
          <a:xfrm>
            <a:off x="1205361" y="5329235"/>
            <a:ext cx="1092054" cy="241087"/>
          </a:xfrm>
          <a:prstGeom prst="wedgeRectCallout">
            <a:avLst>
              <a:gd name="adj1" fmla="val 48669"/>
              <a:gd name="adj2" fmla="val -762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Arial Unicode MS" charset="0"/>
                <a:ea typeface="Arial Unicode MS" charset="0"/>
                <a:cs typeface="Arial Unicode MS" charset="0"/>
              </a:rPr>
              <a:t>Behaviours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2" name="Rectangular Callout 21">
            <a:extLst>
              <a:ext uri="{FF2B5EF4-FFF2-40B4-BE49-F238E27FC236}">
                <a16:creationId xmlns:a16="http://schemas.microsoft.com/office/drawing/2014/main" id="{EA6A00D3-4EF2-4C1B-9722-66A69AA6526F}"/>
              </a:ext>
            </a:extLst>
          </p:cNvPr>
          <p:cNvSpPr/>
          <p:nvPr/>
        </p:nvSpPr>
        <p:spPr>
          <a:xfrm>
            <a:off x="1082215" y="3292836"/>
            <a:ext cx="1165841" cy="237113"/>
          </a:xfrm>
          <a:prstGeom prst="wedgeRectCallout">
            <a:avLst>
              <a:gd name="adj1" fmla="val 48669"/>
              <a:gd name="adj2" fmla="val -762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Unicode MS" charset="0"/>
                <a:ea typeface="Arial Unicode MS" charset="0"/>
                <a:cs typeface="Arial Unicode MS" charset="0"/>
              </a:rPr>
              <a:t>Class Name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D047D4F-DAF4-47A0-858F-BFC76881579D}"/>
              </a:ext>
            </a:extLst>
          </p:cNvPr>
          <p:cNvSpPr/>
          <p:nvPr/>
        </p:nvSpPr>
        <p:spPr>
          <a:xfrm>
            <a:off x="2390171" y="3252165"/>
            <a:ext cx="127322" cy="3184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971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use Objects?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In Object-Oriented Programming, we make use of Objects to group, transfer and manipulate data.</a:t>
            </a:r>
          </a:p>
          <a:p>
            <a:pPr>
              <a:lnSpc>
                <a:spcPct val="110000"/>
              </a:lnSpc>
            </a:pPr>
            <a:r>
              <a:rPr lang="en-GB" dirty="0"/>
              <a:t>As you can see from the previous examples, the data/information of </a:t>
            </a:r>
            <a:r>
              <a:rPr lang="en-GB" u="sng" dirty="0"/>
              <a:t>Bank Account</a:t>
            </a:r>
            <a:r>
              <a:rPr lang="en-GB" dirty="0"/>
              <a:t> and </a:t>
            </a:r>
            <a:r>
              <a:rPr lang="en-GB" u="sng" dirty="0"/>
              <a:t>Dog</a:t>
            </a:r>
            <a:r>
              <a:rPr lang="en-GB" dirty="0"/>
              <a:t> are contained in their respective states.</a:t>
            </a:r>
          </a:p>
          <a:p>
            <a:pPr>
              <a:lnSpc>
                <a:spcPct val="110000"/>
              </a:lnSpc>
            </a:pPr>
            <a:r>
              <a:rPr lang="en-GB" dirty="0"/>
              <a:t>The behaviours in each of them can be created to manipulate their data.</a:t>
            </a:r>
          </a:p>
          <a:p>
            <a:pPr>
              <a:lnSpc>
                <a:spcPct val="110000"/>
              </a:lnSpc>
            </a:pPr>
            <a:r>
              <a:rPr lang="en-GB" dirty="0"/>
              <a:t>So how do we create Objects in our program to use them?</a:t>
            </a:r>
          </a:p>
          <a:p>
            <a:pPr>
              <a:lnSpc>
                <a:spcPct val="110000"/>
              </a:lnSpc>
            </a:pPr>
            <a:r>
              <a:rPr lang="en-GB" dirty="0"/>
              <a:t>We will talk about this in the next section.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574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Object-Oriented Programming References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Wikipedia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2"/>
              </a:rPr>
              <a:t>https://en.wikipedia.org/wiki/Object-oriented_programming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b="1" dirty="0"/>
              <a:t>IBM: </a:t>
            </a:r>
            <a:r>
              <a:rPr lang="en-US" b="1" dirty="0"/>
              <a:t>Object-oriented programming concepts and principles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3"/>
              </a:rPr>
              <a:t>https://www.ibm.com/developerworks/library/j-perry-object-oriented-programming-concepts-and-principles/index.html</a:t>
            </a: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692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 IN </a:t>
            </a:r>
            <a:r>
              <a:rPr lang="en-US" dirty="0" err="1"/>
              <a:t>jAVAsCRIPT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406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Create Objects?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dirty="0"/>
              <a:t>JavaScript has different ways to create Object.</a:t>
            </a:r>
          </a:p>
          <a:p>
            <a:pPr>
              <a:lnSpc>
                <a:spcPct val="120000"/>
              </a:lnSpc>
            </a:pPr>
            <a:r>
              <a:rPr lang="en-GB" dirty="0"/>
              <a:t>We will use 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declaration</a:t>
            </a:r>
            <a:r>
              <a:rPr lang="en-GB" dirty="0"/>
              <a:t> that is similar to Java, to implement Objects in JavaScript.</a:t>
            </a:r>
          </a:p>
          <a:p>
            <a:pPr>
              <a:lnSpc>
                <a:spcPct val="120000"/>
              </a:lnSpc>
            </a:pPr>
            <a:r>
              <a:rPr lang="en-GB" dirty="0"/>
              <a:t>A </a:t>
            </a:r>
            <a:r>
              <a:rPr lang="en-GB" b="1" dirty="0"/>
              <a:t>Class</a:t>
            </a:r>
            <a:r>
              <a:rPr lang="en-GB" dirty="0"/>
              <a:t> is a blueprint for an Object that we write in code form.</a:t>
            </a:r>
          </a:p>
          <a:p>
            <a:pPr>
              <a:lnSpc>
                <a:spcPct val="120000"/>
              </a:lnSpc>
            </a:pPr>
            <a:r>
              <a:rPr lang="en-GB" dirty="0"/>
              <a:t>We represent the </a:t>
            </a:r>
            <a:r>
              <a:rPr lang="en-GB" b="1" dirty="0"/>
              <a:t>states</a:t>
            </a:r>
            <a:r>
              <a:rPr lang="en-GB" dirty="0"/>
              <a:t> and </a:t>
            </a:r>
            <a:r>
              <a:rPr lang="en-GB" b="1" dirty="0"/>
              <a:t>behaviours</a:t>
            </a:r>
            <a:r>
              <a:rPr lang="en-GB" dirty="0"/>
              <a:t> of an Object using a </a:t>
            </a:r>
            <a:r>
              <a:rPr lang="en-GB" b="1" dirty="0"/>
              <a:t>Class</a:t>
            </a:r>
            <a:r>
              <a:rPr lang="en-GB" dirty="0"/>
              <a:t> in code form.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1987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Server-side </a:t>
            </a:r>
            <a:r>
              <a:rPr lang="en-GB" dirty="0" err="1"/>
              <a:t>js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GB" dirty="0" err="1"/>
              <a:t>Javascript</a:t>
            </a:r>
            <a:r>
              <a:rPr lang="en-GB" dirty="0"/>
              <a:t> as a programming can be used in the client-side or the server-side</a:t>
            </a:r>
          </a:p>
          <a:p>
            <a:pPr>
              <a:lnSpc>
                <a:spcPct val="120000"/>
              </a:lnSpc>
            </a:pPr>
            <a:r>
              <a:rPr lang="en-GB" dirty="0"/>
              <a:t>Until now, we had been trying out </a:t>
            </a:r>
            <a:r>
              <a:rPr lang="en-GB" dirty="0" err="1"/>
              <a:t>javascript</a:t>
            </a:r>
            <a:r>
              <a:rPr lang="en-GB" dirty="0"/>
              <a:t> in the browser. This is known as </a:t>
            </a:r>
            <a:r>
              <a:rPr lang="en-GB" b="1" u="sng" dirty="0"/>
              <a:t>client-side </a:t>
            </a:r>
            <a:r>
              <a:rPr lang="en-GB" b="1" u="sng" dirty="0" err="1"/>
              <a:t>javascript</a:t>
            </a:r>
            <a:r>
              <a:rPr lang="en-GB" b="1" u="sng" dirty="0"/>
              <a:t> </a:t>
            </a:r>
            <a:r>
              <a:rPr lang="en-GB" dirty="0"/>
              <a:t>because it is the browser that process the </a:t>
            </a:r>
            <a:r>
              <a:rPr lang="en-GB" dirty="0" err="1"/>
              <a:t>javascript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We will now be trying out </a:t>
            </a:r>
            <a:r>
              <a:rPr lang="en-GB" b="1" u="sng" dirty="0"/>
              <a:t>server-side </a:t>
            </a:r>
            <a:r>
              <a:rPr lang="en-GB" b="1" u="sng" dirty="0" err="1"/>
              <a:t>javascript</a:t>
            </a:r>
            <a:r>
              <a:rPr lang="en-GB" b="1" u="sng" dirty="0"/>
              <a:t> </a:t>
            </a:r>
            <a:r>
              <a:rPr lang="en-GB" dirty="0"/>
              <a:t>and it will be </a:t>
            </a:r>
            <a:r>
              <a:rPr lang="en-GB" dirty="0" err="1"/>
              <a:t>nodejs</a:t>
            </a:r>
            <a:r>
              <a:rPr lang="en-GB" dirty="0"/>
              <a:t> that will be running the </a:t>
            </a:r>
            <a:r>
              <a:rPr lang="en-GB" dirty="0" err="1"/>
              <a:t>javascript</a:t>
            </a:r>
            <a:r>
              <a:rPr lang="en-GB" dirty="0"/>
              <a:t> file instead of the browser</a:t>
            </a:r>
          </a:p>
          <a:p>
            <a:pPr>
              <a:lnSpc>
                <a:spcPct val="120000"/>
              </a:lnSpc>
            </a:pPr>
            <a:r>
              <a:rPr lang="en-GB" dirty="0"/>
              <a:t>For that we would need to use the </a:t>
            </a:r>
            <a:r>
              <a:rPr lang="en-GB" dirty="0" err="1"/>
              <a:t>nodejs</a:t>
            </a:r>
            <a:r>
              <a:rPr lang="en-GB" dirty="0"/>
              <a:t> that you had previously installed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6439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Server-side </a:t>
            </a:r>
            <a:r>
              <a:rPr lang="en-GB" dirty="0" err="1"/>
              <a:t>js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712838" y="1443055"/>
            <a:ext cx="10336162" cy="458660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dirty="0"/>
              <a:t>Create a folder in your </a:t>
            </a:r>
            <a:r>
              <a:rPr lang="en-GB" dirty="0" err="1"/>
              <a:t>cdev</a:t>
            </a:r>
            <a:r>
              <a:rPr lang="en-GB" dirty="0"/>
              <a:t> folder and name it as “</a:t>
            </a:r>
            <a:r>
              <a:rPr lang="en-GB" dirty="0" err="1"/>
              <a:t>serverJS</a:t>
            </a:r>
            <a:r>
              <a:rPr lang="en-GB" dirty="0"/>
              <a:t>”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r>
              <a:rPr lang="en-GB" dirty="0"/>
              <a:t>Open VS code and choose open Folder and browse to “</a:t>
            </a:r>
            <a:r>
              <a:rPr lang="en-GB" dirty="0" err="1"/>
              <a:t>serverJS</a:t>
            </a:r>
            <a:endParaRPr lang="en-GB" dirty="0"/>
          </a:p>
          <a:p>
            <a:pPr>
              <a:lnSpc>
                <a:spcPct val="120000"/>
              </a:lnSpc>
            </a:pPr>
            <a:r>
              <a:rPr lang="en-GB" dirty="0"/>
              <a:t>Run the following command in the terminal “</a:t>
            </a:r>
            <a:r>
              <a:rPr lang="en-GB" dirty="0" err="1"/>
              <a:t>npm</a:t>
            </a:r>
            <a:r>
              <a:rPr lang="en-GB" dirty="0"/>
              <a:t> </a:t>
            </a:r>
            <a:r>
              <a:rPr lang="en-GB" dirty="0" err="1"/>
              <a:t>init</a:t>
            </a:r>
            <a:r>
              <a:rPr lang="en-GB" dirty="0"/>
              <a:t>”</a:t>
            </a:r>
          </a:p>
          <a:p>
            <a:pPr>
              <a:lnSpc>
                <a:spcPct val="120000"/>
              </a:lnSpc>
            </a:pPr>
            <a:r>
              <a:rPr lang="en-GB" dirty="0"/>
              <a:t>Watch the demo video </a:t>
            </a:r>
            <a:r>
              <a:rPr lang="en-GB" dirty="0">
                <a:hlinkClick r:id="rId2"/>
              </a:rPr>
              <a:t>here</a:t>
            </a: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5FA77B-8046-465F-A069-518E954A9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944" y="2154050"/>
            <a:ext cx="2362480" cy="19083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32814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Create Object States?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Let’s start with creating a </a:t>
            </a:r>
            <a:r>
              <a:rPr lang="en-GB" b="1" dirty="0" err="1">
                <a:solidFill>
                  <a:srgbClr val="FF0000"/>
                </a:solidFill>
                <a:latin typeface="Courier"/>
              </a:rPr>
              <a:t>BankAccount</a:t>
            </a:r>
            <a:r>
              <a:rPr lang="en-GB" dirty="0"/>
              <a:t> class and its states first.</a:t>
            </a:r>
          </a:p>
          <a:p>
            <a:pPr>
              <a:lnSpc>
                <a:spcPct val="120000"/>
              </a:lnSpc>
            </a:pPr>
            <a:r>
              <a:rPr lang="en-GB" dirty="0"/>
              <a:t>Under your website folder, create a folder called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models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Under the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models</a:t>
            </a:r>
            <a:r>
              <a:rPr lang="en-GB" dirty="0"/>
              <a:t> folder, create a file called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BankAccount.js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Object </a:t>
            </a:r>
            <a:r>
              <a:rPr lang="en-GB" b="1" dirty="0"/>
              <a:t>states</a:t>
            </a:r>
            <a:r>
              <a:rPr lang="en-GB" dirty="0"/>
              <a:t> are created using variables.</a:t>
            </a:r>
          </a:p>
          <a:p>
            <a:pPr>
              <a:lnSpc>
                <a:spcPct val="120000"/>
              </a:lnSpc>
            </a:pPr>
            <a:r>
              <a:rPr lang="en-GB" dirty="0"/>
              <a:t>Add the code on the right to the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BankAccount.js</a:t>
            </a:r>
            <a:r>
              <a:rPr lang="en-GB" dirty="0"/>
              <a:t> file.</a:t>
            </a:r>
          </a:p>
          <a:p>
            <a:pPr>
              <a:lnSpc>
                <a:spcPct val="120000"/>
              </a:lnSpc>
            </a:pPr>
            <a:r>
              <a:rPr lang="en-GB" dirty="0"/>
              <a:t>Notice that in JavaScript, the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constructor</a:t>
            </a:r>
            <a:r>
              <a:rPr lang="en-GB" dirty="0"/>
              <a:t> is a keyword and the state variables are created in the constructor.</a:t>
            </a:r>
          </a:p>
          <a:p>
            <a:pPr>
              <a:lnSpc>
                <a:spcPct val="120000"/>
              </a:lnSpc>
            </a:pPr>
            <a:r>
              <a:rPr lang="en-GB" dirty="0"/>
              <a:t>In the next slide, we will compare the differences between Java and JavaScript.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B2C01A-8B3C-4B19-B3CD-14C2D317DB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26764"/>
            <a:ext cx="4914900" cy="2318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6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Create Object States?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B2C01A-8B3C-4B19-B3CD-14C2D317DB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419" y="2319731"/>
            <a:ext cx="4914900" cy="231887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2134B-D0A4-49FC-909E-1192D0D92A1D}"/>
              </a:ext>
            </a:extLst>
          </p:cNvPr>
          <p:cNvSpPr txBox="1"/>
          <p:nvPr/>
        </p:nvSpPr>
        <p:spPr>
          <a:xfrm>
            <a:off x="1270304" y="1735724"/>
            <a:ext cx="57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B84EF-2635-4501-8181-F1D138F5D64C}"/>
              </a:ext>
            </a:extLst>
          </p:cNvPr>
          <p:cNvSpPr txBox="1"/>
          <p:nvPr/>
        </p:nvSpPr>
        <p:spPr>
          <a:xfrm>
            <a:off x="6157419" y="1773960"/>
            <a:ext cx="111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JavaScript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183E805-A960-4388-B2FB-D9D6D84FE8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319731"/>
            <a:ext cx="4914900" cy="313293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12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Create Object Behaviours?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Object </a:t>
            </a:r>
            <a:r>
              <a:rPr lang="en-GB" b="1" dirty="0"/>
              <a:t>behaviours</a:t>
            </a:r>
            <a:r>
              <a:rPr lang="en-GB" dirty="0"/>
              <a:t> are created using method / function.</a:t>
            </a:r>
          </a:p>
          <a:p>
            <a:pPr>
              <a:lnSpc>
                <a:spcPct val="110000"/>
              </a:lnSpc>
            </a:pPr>
            <a:r>
              <a:rPr lang="en-GB" dirty="0"/>
              <a:t>Let’s now add the behaviours as shown on the right into the class.</a:t>
            </a:r>
          </a:p>
          <a:p>
            <a:pPr>
              <a:lnSpc>
                <a:spcPct val="110000"/>
              </a:lnSpc>
            </a:pPr>
            <a:r>
              <a:rPr lang="en-GB" dirty="0"/>
              <a:t>In the next slide, we will compare the differences between Java and JavaScript.</a:t>
            </a:r>
          </a:p>
          <a:p>
            <a:pPr>
              <a:lnSpc>
                <a:spcPct val="110000"/>
              </a:lnSpc>
            </a:pPr>
            <a:endParaRPr lang="en-GB" dirty="0"/>
          </a:p>
          <a:p>
            <a:pPr>
              <a:lnSpc>
                <a:spcPct val="110000"/>
              </a:lnSpc>
            </a:pPr>
            <a:endParaRPr lang="en-GB" dirty="0"/>
          </a:p>
          <a:p>
            <a:pPr>
              <a:lnSpc>
                <a:spcPct val="110000"/>
              </a:lnSpc>
            </a:pPr>
            <a:endParaRPr lang="en-GB" dirty="0"/>
          </a:p>
          <a:p>
            <a:pPr>
              <a:lnSpc>
                <a:spcPct val="11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19</a:t>
            </a:fld>
            <a:endParaRPr lang="uk-UA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4D00ABC-5527-47C6-8209-08DEEF3F3013}"/>
              </a:ext>
            </a:extLst>
          </p:cNvPr>
          <p:cNvSpPr/>
          <p:nvPr/>
        </p:nvSpPr>
        <p:spPr>
          <a:xfrm>
            <a:off x="7068805" y="3104579"/>
            <a:ext cx="98552" cy="28855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ular Callout 21">
            <a:extLst>
              <a:ext uri="{FF2B5EF4-FFF2-40B4-BE49-F238E27FC236}">
                <a16:creationId xmlns:a16="http://schemas.microsoft.com/office/drawing/2014/main" id="{F518A674-2FBF-4F75-8B25-7110C71358C5}"/>
              </a:ext>
            </a:extLst>
          </p:cNvPr>
          <p:cNvSpPr/>
          <p:nvPr/>
        </p:nvSpPr>
        <p:spPr>
          <a:xfrm>
            <a:off x="5881395" y="4424077"/>
            <a:ext cx="1092054" cy="241087"/>
          </a:xfrm>
          <a:prstGeom prst="wedgeRectCallout">
            <a:avLst>
              <a:gd name="adj1" fmla="val 48669"/>
              <a:gd name="adj2" fmla="val -762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Arial Unicode MS" charset="0"/>
                <a:ea typeface="Arial Unicode MS" charset="0"/>
                <a:cs typeface="Arial Unicode MS" charset="0"/>
              </a:rPr>
              <a:t>Behaviours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D4B8750-4E59-453B-BFBD-A1560D9140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978" y="1600199"/>
            <a:ext cx="3248526" cy="4572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8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Create Object Behaviours?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20</a:t>
            </a:fld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2134B-D0A4-49FC-909E-1192D0D92A1D}"/>
              </a:ext>
            </a:extLst>
          </p:cNvPr>
          <p:cNvSpPr txBox="1"/>
          <p:nvPr/>
        </p:nvSpPr>
        <p:spPr>
          <a:xfrm>
            <a:off x="1292206" y="1404628"/>
            <a:ext cx="57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B84EF-2635-4501-8181-F1D138F5D64C}"/>
              </a:ext>
            </a:extLst>
          </p:cNvPr>
          <p:cNvSpPr txBox="1"/>
          <p:nvPr/>
        </p:nvSpPr>
        <p:spPr>
          <a:xfrm>
            <a:off x="6185718" y="1404628"/>
            <a:ext cx="111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JavaScript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A862E4F6-DEC7-400C-BDD4-95325661F8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847" y="1856085"/>
            <a:ext cx="3125065" cy="439824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80D6CB76-7433-4A3B-A03C-5562BE606D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716" y="1773959"/>
            <a:ext cx="4087923" cy="448036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402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To test if your class works, it is good practice to create a separate testing file.</a:t>
            </a:r>
          </a:p>
          <a:p>
            <a:pPr>
              <a:lnSpc>
                <a:spcPct val="120000"/>
              </a:lnSpc>
            </a:pPr>
            <a:r>
              <a:rPr lang="en-US" dirty="0"/>
              <a:t>create a new file called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test.js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In JavaScript, in order to use the </a:t>
            </a:r>
            <a:r>
              <a:rPr lang="en-US" b="1" dirty="0" err="1">
                <a:solidFill>
                  <a:srgbClr val="FF0000"/>
                </a:solidFill>
                <a:latin typeface="Courier"/>
              </a:rPr>
              <a:t>BankAccount</a:t>
            </a:r>
            <a:r>
              <a:rPr lang="en-US" dirty="0"/>
              <a:t> class in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test.js</a:t>
            </a:r>
            <a:r>
              <a:rPr lang="en-US" dirty="0"/>
              <a:t>, you need to export the class from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BankAccount.js</a:t>
            </a:r>
            <a:r>
              <a:rPr lang="en-US" dirty="0"/>
              <a:t>. </a:t>
            </a:r>
          </a:p>
          <a:p>
            <a:pPr>
              <a:lnSpc>
                <a:spcPct val="120000"/>
              </a:lnSpc>
            </a:pPr>
            <a:r>
              <a:rPr lang="en-US" dirty="0"/>
              <a:t>Open the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BankAccount.js</a:t>
            </a:r>
            <a:r>
              <a:rPr lang="en-US" dirty="0"/>
              <a:t> file to add the highlighted line as shown on the right.</a:t>
            </a:r>
          </a:p>
          <a:p>
            <a:pPr>
              <a:lnSpc>
                <a:spcPct val="120000"/>
              </a:lnSpc>
            </a:pPr>
            <a:r>
              <a:rPr lang="en-US" dirty="0"/>
              <a:t>Continue to next slide… 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21</a:t>
            </a:fld>
            <a:endParaRPr lang="uk-UA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79FD915-5067-4D73-9605-A3D4A91E0E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527" y="1600200"/>
            <a:ext cx="3006246" cy="4572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ular Callout 21">
            <a:extLst>
              <a:ext uri="{FF2B5EF4-FFF2-40B4-BE49-F238E27FC236}">
                <a16:creationId xmlns:a16="http://schemas.microsoft.com/office/drawing/2014/main" id="{150B0618-C837-4FBA-A085-A34EC3789443}"/>
              </a:ext>
            </a:extLst>
          </p:cNvPr>
          <p:cNvSpPr/>
          <p:nvPr/>
        </p:nvSpPr>
        <p:spPr>
          <a:xfrm>
            <a:off x="10212475" y="5575630"/>
            <a:ext cx="930064" cy="507594"/>
          </a:xfrm>
          <a:prstGeom prst="wedgeRectCallout">
            <a:avLst>
              <a:gd name="adj1" fmla="val -175934"/>
              <a:gd name="adj2" fmla="val 47464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Unicode MS" charset="0"/>
                <a:ea typeface="Arial Unicode MS" charset="0"/>
                <a:cs typeface="Arial Unicode MS" charset="0"/>
              </a:rPr>
              <a:t>Add this line here.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8C114-BA93-4C3F-928D-1D5EF40334AF}"/>
              </a:ext>
            </a:extLst>
          </p:cNvPr>
          <p:cNvSpPr/>
          <p:nvPr/>
        </p:nvSpPr>
        <p:spPr>
          <a:xfrm>
            <a:off x="7107133" y="5968241"/>
            <a:ext cx="1719291" cy="187533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75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Open the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test.js</a:t>
            </a:r>
            <a:r>
              <a:rPr lang="en-US" dirty="0"/>
              <a:t> file to add the codes on the right to test your class.</a:t>
            </a:r>
          </a:p>
          <a:p>
            <a:pPr>
              <a:lnSpc>
                <a:spcPct val="120000"/>
              </a:lnSpc>
            </a:pPr>
            <a:r>
              <a:rPr lang="en-US" dirty="0"/>
              <a:t>After you save the file, open up your Command Prompt or Terminal and change directory to your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models</a:t>
            </a:r>
            <a:r>
              <a:rPr lang="en-US" dirty="0"/>
              <a:t> folder.</a:t>
            </a:r>
          </a:p>
          <a:p>
            <a:pPr>
              <a:lnSpc>
                <a:spcPct val="120000"/>
              </a:lnSpc>
            </a:pPr>
            <a:r>
              <a:rPr lang="en-US" dirty="0"/>
              <a:t>Type the following to run your program: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FF0000"/>
                </a:solidFill>
                <a:latin typeface="Courier"/>
              </a:rPr>
              <a:t>node test.js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22</a:t>
            </a:fld>
            <a:endParaRPr lang="uk-UA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AD81AF9-37FD-4243-93D0-B918F75999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718" y="1701759"/>
            <a:ext cx="4914900" cy="165305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031F8B-3076-408D-88FC-9886C21D3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8" y="4597710"/>
            <a:ext cx="3048000" cy="14478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937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It Out!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23</a:t>
            </a:fld>
            <a:endParaRPr lang="uk-U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Add additional functions to BankAccount.js to do the following</a:t>
            </a:r>
            <a:r>
              <a:rPr lang="en-GB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Get the name of the account holder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Get the account type of the account holder</a:t>
            </a:r>
          </a:p>
          <a:p>
            <a:pPr>
              <a:lnSpc>
                <a:spcPct val="100000"/>
              </a:lnSpc>
            </a:pPr>
            <a:r>
              <a:rPr lang="en-GB" dirty="0"/>
              <a:t>In your test.js file, write the codes to debit $250.00 from the amount of John </a:t>
            </a:r>
            <a:r>
              <a:rPr lang="en-GB" dirty="0" err="1"/>
              <a:t>Loh</a:t>
            </a:r>
            <a:r>
              <a:rPr lang="en-GB" dirty="0"/>
              <a:t> in the example.</a:t>
            </a:r>
          </a:p>
          <a:p>
            <a:pPr>
              <a:lnSpc>
                <a:spcPct val="100000"/>
              </a:lnSpc>
            </a:pPr>
            <a:r>
              <a:rPr lang="en-GB" dirty="0"/>
              <a:t>Print out the name of the account holder, the account type and the balance to the console.</a:t>
            </a:r>
          </a:p>
        </p:txBody>
      </p:sp>
    </p:spTree>
    <p:extLst>
      <p:ext uri="{BB962C8B-B14F-4D97-AF65-F5344CB8AC3E}">
        <p14:creationId xmlns:p14="http://schemas.microsoft.com/office/powerpoint/2010/main" val="85943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24</a:t>
            </a:fld>
            <a:endParaRPr lang="uk-U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Add an additional function to 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BankAccount.js</a:t>
            </a:r>
            <a:r>
              <a:rPr lang="en-US" dirty="0"/>
              <a:t> to t</a:t>
            </a:r>
            <a:r>
              <a:rPr lang="en-GB" dirty="0" err="1"/>
              <a:t>ransfer</a:t>
            </a:r>
            <a:r>
              <a:rPr lang="en-GB" dirty="0"/>
              <a:t> amount to another account. The function name can be “</a:t>
            </a:r>
            <a:r>
              <a:rPr lang="en-GB" b="1" dirty="0" err="1">
                <a:solidFill>
                  <a:srgbClr val="FF0000"/>
                </a:solidFill>
                <a:latin typeface="Courier"/>
              </a:rPr>
              <a:t>transferAmount</a:t>
            </a:r>
            <a:r>
              <a:rPr lang="en-GB" dirty="0"/>
              <a:t>”.</a:t>
            </a:r>
          </a:p>
          <a:p>
            <a:pPr>
              <a:lnSpc>
                <a:spcPct val="100000"/>
              </a:lnSpc>
            </a:pPr>
            <a:r>
              <a:rPr lang="en-GB" dirty="0"/>
              <a:t>The function should have two parameters: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/>
              <a:t>Amount to transfer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/>
              <a:t>The account to transfer to</a:t>
            </a:r>
          </a:p>
          <a:p>
            <a:pPr>
              <a:lnSpc>
                <a:spcPct val="100000"/>
              </a:lnSpc>
            </a:pPr>
            <a:r>
              <a:rPr lang="en-GB" dirty="0"/>
              <a:t>In your test.js file, write the codes to create another instance of </a:t>
            </a:r>
            <a:r>
              <a:rPr lang="en-GB" u="sng" dirty="0" err="1"/>
              <a:t>BankAccount</a:t>
            </a:r>
            <a:r>
              <a:rPr lang="en-GB" dirty="0"/>
              <a:t> with the following info: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Name: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Elsa Goh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NRIC: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S7654321D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Account Number: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113-113-113-2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Account Type: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Saving</a:t>
            </a:r>
          </a:p>
          <a:p>
            <a:pPr>
              <a:lnSpc>
                <a:spcPct val="100000"/>
              </a:lnSpc>
            </a:pPr>
            <a:r>
              <a:rPr lang="en-GB" dirty="0"/>
              <a:t>Activate Elsa Goh’s account</a:t>
            </a:r>
          </a:p>
          <a:p>
            <a:pPr>
              <a:lnSpc>
                <a:spcPct val="100000"/>
              </a:lnSpc>
            </a:pPr>
            <a:r>
              <a:rPr lang="en-GB" dirty="0"/>
              <a:t>Credit $5000.00 into Elsa Goh’s account</a:t>
            </a:r>
          </a:p>
          <a:p>
            <a:pPr>
              <a:lnSpc>
                <a:spcPct val="100000"/>
              </a:lnSpc>
            </a:pPr>
            <a:r>
              <a:rPr lang="en-GB" dirty="0"/>
              <a:t>Transfer $50.00 from John </a:t>
            </a:r>
            <a:r>
              <a:rPr lang="en-GB" dirty="0" err="1"/>
              <a:t>Loh’s</a:t>
            </a:r>
            <a:r>
              <a:rPr lang="en-GB" dirty="0"/>
              <a:t> account to Elsa Goh’s account.</a:t>
            </a:r>
          </a:p>
          <a:p>
            <a:pPr>
              <a:lnSpc>
                <a:spcPct val="100000"/>
              </a:lnSpc>
            </a:pPr>
            <a:r>
              <a:rPr lang="en-GB" dirty="0"/>
              <a:t>Print out the balance of both accounts to the console.</a:t>
            </a:r>
          </a:p>
        </p:txBody>
      </p:sp>
    </p:spTree>
    <p:extLst>
      <p:ext uri="{BB962C8B-B14F-4D97-AF65-F5344CB8AC3E}">
        <p14:creationId xmlns:p14="http://schemas.microsoft.com/office/powerpoint/2010/main" val="157770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7102</TotalTime>
  <Words>1417</Words>
  <Application>Microsoft Office PowerPoint</Application>
  <PresentationFormat>Widescreen</PresentationFormat>
  <Paragraphs>211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Unicode MS</vt:lpstr>
      <vt:lpstr>Calibri</vt:lpstr>
      <vt:lpstr>Courier</vt:lpstr>
      <vt:lpstr>Roboto</vt:lpstr>
      <vt:lpstr>Roboto light</vt:lpstr>
      <vt:lpstr>Times New Roman</vt:lpstr>
      <vt:lpstr>Verdana</vt:lpstr>
      <vt:lpstr>Office Theme</vt:lpstr>
      <vt:lpstr>Introduction to JavaScript: Object- Oriented Programming</vt:lpstr>
      <vt:lpstr>Objectives</vt:lpstr>
      <vt:lpstr>Tools Required</vt:lpstr>
      <vt:lpstr>What is Object-Oriented Programming?</vt:lpstr>
      <vt:lpstr>Before the Use of Computers…</vt:lpstr>
      <vt:lpstr>With the Use of Computers…</vt:lpstr>
      <vt:lpstr>Object-Oriented Programming Languages</vt:lpstr>
      <vt:lpstr>What is an Object?</vt:lpstr>
      <vt:lpstr>What is an Object?</vt:lpstr>
      <vt:lpstr>Class Diagram</vt:lpstr>
      <vt:lpstr>How to use Objects?</vt:lpstr>
      <vt:lpstr>Object-Oriented Programming References</vt:lpstr>
      <vt:lpstr>Object-Oriented Programming IN jAVAsCRIPT</vt:lpstr>
      <vt:lpstr>How to Create Objects?</vt:lpstr>
      <vt:lpstr>Running Server-side js</vt:lpstr>
      <vt:lpstr>Running Server-side js</vt:lpstr>
      <vt:lpstr>How to Create Object States?</vt:lpstr>
      <vt:lpstr>How to Create Object States?</vt:lpstr>
      <vt:lpstr>How to Create Object Behaviours?</vt:lpstr>
      <vt:lpstr>How to Create Object Behaviours?</vt:lpstr>
      <vt:lpstr>Test It Out</vt:lpstr>
      <vt:lpstr>Test It Out</vt:lpstr>
      <vt:lpstr>Try It Out!</vt:lpstr>
      <vt:lpstr>Challenge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JavaScript: Object Oriented Programming</dc:title>
  <dc:subject>CODT</dc:subject>
  <dc:creator>Tan Sio Poh</dc:creator>
  <cp:keywords>CODT, CIT1C16, ADEV, CIT1C17, Introduction to JavaScript: Object Oriented Programming</cp:keywords>
  <dc:description/>
  <cp:lastModifiedBy>temasek poly</cp:lastModifiedBy>
  <cp:revision>323</cp:revision>
  <dcterms:created xsi:type="dcterms:W3CDTF">2016-03-04T00:57:19Z</dcterms:created>
  <dcterms:modified xsi:type="dcterms:W3CDTF">2021-09-22T05:20:04Z</dcterms:modified>
  <cp:category>Software Cluster</cp:category>
</cp:coreProperties>
</file>