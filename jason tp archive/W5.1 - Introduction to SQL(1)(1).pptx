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5"/>
  </p:notesMasterIdLst>
  <p:sldIdLst>
    <p:sldId id="256" r:id="rId2"/>
    <p:sldId id="289" r:id="rId3"/>
    <p:sldId id="373" r:id="rId4"/>
    <p:sldId id="402" r:id="rId5"/>
    <p:sldId id="426" r:id="rId6"/>
    <p:sldId id="377" r:id="rId7"/>
    <p:sldId id="445" r:id="rId8"/>
    <p:sldId id="458" r:id="rId9"/>
    <p:sldId id="447" r:id="rId10"/>
    <p:sldId id="441" r:id="rId11"/>
    <p:sldId id="477" r:id="rId12"/>
    <p:sldId id="478" r:id="rId13"/>
    <p:sldId id="446" r:id="rId14"/>
    <p:sldId id="448" r:id="rId15"/>
    <p:sldId id="406" r:id="rId16"/>
    <p:sldId id="452" r:id="rId17"/>
    <p:sldId id="453" r:id="rId18"/>
    <p:sldId id="460" r:id="rId19"/>
    <p:sldId id="454" r:id="rId20"/>
    <p:sldId id="455" r:id="rId21"/>
    <p:sldId id="431" r:id="rId22"/>
    <p:sldId id="449" r:id="rId23"/>
    <p:sldId id="433" r:id="rId24"/>
    <p:sldId id="434" r:id="rId25"/>
    <p:sldId id="451" r:id="rId26"/>
    <p:sldId id="456" r:id="rId27"/>
    <p:sldId id="457" r:id="rId28"/>
    <p:sldId id="436" r:id="rId29"/>
    <p:sldId id="439" r:id="rId30"/>
    <p:sldId id="461" r:id="rId31"/>
    <p:sldId id="438" r:id="rId32"/>
    <p:sldId id="462" r:id="rId33"/>
    <p:sldId id="463" r:id="rId34"/>
    <p:sldId id="464" r:id="rId35"/>
    <p:sldId id="466" r:id="rId36"/>
    <p:sldId id="465" r:id="rId37"/>
    <p:sldId id="467" r:id="rId38"/>
    <p:sldId id="468" r:id="rId39"/>
    <p:sldId id="469" r:id="rId40"/>
    <p:sldId id="470" r:id="rId41"/>
    <p:sldId id="471" r:id="rId42"/>
    <p:sldId id="472" r:id="rId43"/>
    <p:sldId id="473" r:id="rId44"/>
    <p:sldId id="474" r:id="rId45"/>
    <p:sldId id="475" r:id="rId46"/>
    <p:sldId id="476" r:id="rId47"/>
    <p:sldId id="482" r:id="rId48"/>
    <p:sldId id="480" r:id="rId49"/>
    <p:sldId id="481" r:id="rId50"/>
    <p:sldId id="483" r:id="rId51"/>
    <p:sldId id="484" r:id="rId52"/>
    <p:sldId id="423" r:id="rId53"/>
    <p:sldId id="288" r:id="rId54"/>
  </p:sldIdLst>
  <p:sldSz cx="12192000" cy="6858000"/>
  <p:notesSz cx="6858000" cy="9144000"/>
  <p:custDataLst>
    <p:tags r:id="rId5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lena Saleh" initials="SS"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1CADE4"/>
    <a:srgbClr val="007DDA"/>
    <a:srgbClr val="FAD22C"/>
    <a:srgbClr val="61C5FF"/>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243EBD-49B6-F003-70C6-53413BF393DD}" v="507" dt="2020-11-17T04:44:40.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47" autoAdjust="0"/>
    <p:restoredTop sz="93887" autoAdjust="0"/>
  </p:normalViewPr>
  <p:slideViewPr>
    <p:cSldViewPr snapToGrid="0">
      <p:cViewPr varScale="1">
        <p:scale>
          <a:sx n="120" d="100"/>
          <a:sy n="120" d="100"/>
        </p:scale>
        <p:origin x="426"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CHOY (TP)" userId="S::pchoy@tp.edu.sg::8735232f-b789-4ca8-8ad6-d7a23ffc53c0" providerId="AD" clId="Web-{2E243EBD-49B6-F003-70C6-53413BF393DD}"/>
    <pc:docChg chg="modSld">
      <pc:chgData name="Peter CHOY (TP)" userId="S::pchoy@tp.edu.sg::8735232f-b789-4ca8-8ad6-d7a23ffc53c0" providerId="AD" clId="Web-{2E243EBD-49B6-F003-70C6-53413BF393DD}" dt="2020-11-17T04:44:07.383" v="500"/>
      <pc:docMkLst>
        <pc:docMk/>
      </pc:docMkLst>
      <pc:sldChg chg="modSp">
        <pc:chgData name="Peter CHOY (TP)" userId="S::pchoy@tp.edu.sg::8735232f-b789-4ca8-8ad6-d7a23ffc53c0" providerId="AD" clId="Web-{2E243EBD-49B6-F003-70C6-53413BF393DD}" dt="2020-11-17T03:57:41.699" v="244" actId="20577"/>
        <pc:sldMkLst>
          <pc:docMk/>
          <pc:sldMk cId="3584145860" sldId="470"/>
        </pc:sldMkLst>
        <pc:spChg chg="mod">
          <ac:chgData name="Peter CHOY (TP)" userId="S::pchoy@tp.edu.sg::8735232f-b789-4ca8-8ad6-d7a23ffc53c0" providerId="AD" clId="Web-{2E243EBD-49B6-F003-70C6-53413BF393DD}" dt="2020-11-17T03:57:41.699" v="244" actId="20577"/>
          <ac:spMkLst>
            <pc:docMk/>
            <pc:sldMk cId="3584145860" sldId="470"/>
            <ac:spMk id="3" creationId="{717A47C5-7773-4787-966B-EC81B8A8265F}"/>
          </ac:spMkLst>
        </pc:spChg>
      </pc:sldChg>
      <pc:sldChg chg="modSp">
        <pc:chgData name="Peter CHOY (TP)" userId="S::pchoy@tp.edu.sg::8735232f-b789-4ca8-8ad6-d7a23ffc53c0" providerId="AD" clId="Web-{2E243EBD-49B6-F003-70C6-53413BF393DD}" dt="2020-11-17T04:12:03.015" v="474" actId="20577"/>
        <pc:sldMkLst>
          <pc:docMk/>
          <pc:sldMk cId="4151423210" sldId="472"/>
        </pc:sldMkLst>
        <pc:spChg chg="mod">
          <ac:chgData name="Peter CHOY (TP)" userId="S::pchoy@tp.edu.sg::8735232f-b789-4ca8-8ad6-d7a23ffc53c0" providerId="AD" clId="Web-{2E243EBD-49B6-F003-70C6-53413BF393DD}" dt="2020-11-17T04:12:03.015" v="474" actId="20577"/>
          <ac:spMkLst>
            <pc:docMk/>
            <pc:sldMk cId="4151423210" sldId="472"/>
            <ac:spMk id="3" creationId="{F96FFC0B-96AA-4E03-BEB3-89E22DB45595}"/>
          </ac:spMkLst>
        </pc:spChg>
      </pc:sldChg>
      <pc:sldChg chg="modSp">
        <pc:chgData name="Peter CHOY (TP)" userId="S::pchoy@tp.edu.sg::8735232f-b789-4ca8-8ad6-d7a23ffc53c0" providerId="AD" clId="Web-{2E243EBD-49B6-F003-70C6-53413BF393DD}" dt="2020-11-17T04:44:07.383" v="500"/>
        <pc:sldMkLst>
          <pc:docMk/>
          <pc:sldMk cId="127810758" sldId="484"/>
        </pc:sldMkLst>
        <pc:graphicFrameChg chg="mod modGraphic">
          <ac:chgData name="Peter CHOY (TP)" userId="S::pchoy@tp.edu.sg::8735232f-b789-4ca8-8ad6-d7a23ffc53c0" providerId="AD" clId="Web-{2E243EBD-49B6-F003-70C6-53413BF393DD}" dt="2020-11-17T04:41:02.366" v="495"/>
          <ac:graphicFrameMkLst>
            <pc:docMk/>
            <pc:sldMk cId="127810758" sldId="484"/>
            <ac:graphicFrameMk id="9" creationId="{320FF06B-77F8-444B-9E4C-E6D107D7CFBD}"/>
          </ac:graphicFrameMkLst>
        </pc:graphicFrameChg>
        <pc:graphicFrameChg chg="mod modGraphic">
          <ac:chgData name="Peter CHOY (TP)" userId="S::pchoy@tp.edu.sg::8735232f-b789-4ca8-8ad6-d7a23ffc53c0" providerId="AD" clId="Web-{2E243EBD-49B6-F003-70C6-53413BF393DD}" dt="2020-11-17T04:44:07.383" v="500"/>
          <ac:graphicFrameMkLst>
            <pc:docMk/>
            <pc:sldMk cId="127810758" sldId="484"/>
            <ac:graphicFrameMk id="10" creationId="{0EB0E273-F692-4ECB-9BD0-F843206090AA}"/>
          </ac:graphicFrameMkLst>
        </pc:graphicFrameChg>
      </pc:sldChg>
    </pc:docChg>
  </pc:docChgLst>
  <pc:docChgLst>
    <pc:chgData name="Lam Su Yi" userId="43bb02ba-2a64-4c57-886a-7f9577835f3c" providerId="ADAL" clId="{4B0429C1-2E37-433A-AFC2-CE82FB484D8B}"/>
    <pc:docChg chg="modMainMaster">
      <pc:chgData name="Lam Su Yi" userId="43bb02ba-2a64-4c57-886a-7f9577835f3c" providerId="ADAL" clId="{4B0429C1-2E37-433A-AFC2-CE82FB484D8B}" dt="2018-09-28T07:05:48.155" v="9" actId="20577"/>
      <pc:docMkLst>
        <pc:docMk/>
      </pc:docMkLst>
      <pc:sldMasterChg chg="modSldLayout">
        <pc:chgData name="Lam Su Yi" userId="43bb02ba-2a64-4c57-886a-7f9577835f3c" providerId="ADAL" clId="{4B0429C1-2E37-433A-AFC2-CE82FB484D8B}" dt="2018-09-28T07:05:48.155" v="9" actId="20577"/>
        <pc:sldMasterMkLst>
          <pc:docMk/>
          <pc:sldMasterMk cId="758345117" sldId="2147483672"/>
        </pc:sldMasterMkLst>
        <pc:sldLayoutChg chg="modSp">
          <pc:chgData name="Lam Su Yi" userId="43bb02ba-2a64-4c57-886a-7f9577835f3c" providerId="ADAL" clId="{4B0429C1-2E37-433A-AFC2-CE82FB484D8B}" dt="2018-09-28T07:05:48.155" v="9" actId="20577"/>
          <pc:sldLayoutMkLst>
            <pc:docMk/>
            <pc:sldMasterMk cId="758345117" sldId="2147483672"/>
            <pc:sldLayoutMk cId="1526603819" sldId="2147483673"/>
          </pc:sldLayoutMkLst>
          <pc:spChg chg="mod">
            <ac:chgData name="Lam Su Yi" userId="43bb02ba-2a64-4c57-886a-7f9577835f3c" providerId="ADAL" clId="{4B0429C1-2E37-433A-AFC2-CE82FB484D8B}" dt="2018-09-27T08:27:07.659" v="4" actId="20577"/>
            <ac:spMkLst>
              <pc:docMk/>
              <pc:sldMasterMk cId="758345117" sldId="2147483672"/>
              <pc:sldLayoutMk cId="1526603819" sldId="2147483673"/>
              <ac:spMk id="12" creationId="{00000000-0000-0000-0000-000000000000}"/>
            </ac:spMkLst>
          </pc:spChg>
          <pc:spChg chg="mod">
            <ac:chgData name="Lam Su Yi" userId="43bb02ba-2a64-4c57-886a-7f9577835f3c" providerId="ADAL" clId="{4B0429C1-2E37-433A-AFC2-CE82FB484D8B}" dt="2018-09-28T07:05:48.155" v="9" actId="20577"/>
            <ac:spMkLst>
              <pc:docMk/>
              <pc:sldMasterMk cId="758345117" sldId="2147483672"/>
              <pc:sldLayoutMk cId="1526603819" sldId="2147483673"/>
              <ac:spMk id="16"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97268A-7AE4-432A-9318-AFE0CD5AF515}" type="datetimeFigureOut">
              <a:rPr lang="en-SG" smtClean="0"/>
              <a:t>14/11/2021</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443D8-64E2-477C-8585-147863024541}" type="slidenum">
              <a:rPr lang="en-SG" smtClean="0"/>
              <a:t>‹#›</a:t>
            </a:fld>
            <a:endParaRPr lang="en-SG"/>
          </a:p>
        </p:txBody>
      </p:sp>
    </p:spTree>
    <p:extLst>
      <p:ext uri="{BB962C8B-B14F-4D97-AF65-F5344CB8AC3E}">
        <p14:creationId xmlns:p14="http://schemas.microsoft.com/office/powerpoint/2010/main" val="851762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0" y="1"/>
            <a:ext cx="9269729" cy="6096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userDrawn="1"/>
        </p:nvSpPr>
        <p:spPr>
          <a:xfrm>
            <a:off x="9349740" y="2"/>
            <a:ext cx="2845841" cy="6096000"/>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79119" y="1445341"/>
            <a:ext cx="6770539" cy="2195327"/>
          </a:xfrm>
        </p:spPr>
        <p:txBody>
          <a:bodyPr anchor="b">
            <a:normAutofit/>
          </a:bodyPr>
          <a:lstStyle>
            <a:lvl1pPr algn="l">
              <a:defRPr sz="4000" b="0">
                <a:solidFill>
                  <a:schemeClr val="bg1"/>
                </a:solidFill>
                <a:latin typeface="+mn-lt"/>
              </a:defRPr>
            </a:lvl1pPr>
          </a:lstStyle>
          <a:p>
            <a:r>
              <a:rPr lang="en-US" dirty="0"/>
              <a:t>Click to edit Master title style</a:t>
            </a:r>
            <a:endParaRPr lang="en-SG" dirty="0"/>
          </a:p>
        </p:txBody>
      </p:sp>
      <p:sp>
        <p:nvSpPr>
          <p:cNvPr id="3" name="Subtitle 2"/>
          <p:cNvSpPr>
            <a:spLocks noGrp="1"/>
          </p:cNvSpPr>
          <p:nvPr>
            <p:ph type="subTitle" idx="1"/>
          </p:nvPr>
        </p:nvSpPr>
        <p:spPr>
          <a:xfrm>
            <a:off x="579119" y="3732744"/>
            <a:ext cx="6735463" cy="1655762"/>
          </a:xfrm>
        </p:spPr>
        <p:txBody>
          <a:bodyPr>
            <a:normAutofit/>
          </a:bodyPr>
          <a:lstStyle>
            <a:lvl1pPr marL="0" indent="0" algn="l">
              <a:buNone/>
              <a:defRPr sz="22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SG" dirty="0"/>
          </a:p>
        </p:txBody>
      </p:sp>
      <p:sp>
        <p:nvSpPr>
          <p:cNvPr id="6" name="Slide Number Placeholder 5"/>
          <p:cNvSpPr>
            <a:spLocks noGrp="1"/>
          </p:cNvSpPr>
          <p:nvPr>
            <p:ph type="sldNum" sz="quarter" idx="12"/>
          </p:nvPr>
        </p:nvSpPr>
        <p:spPr>
          <a:xfrm>
            <a:off x="10441857" y="6356350"/>
            <a:ext cx="1692869" cy="365125"/>
          </a:xfrm>
        </p:spPr>
        <p:txBody>
          <a:bodyPr/>
          <a:lstStyle>
            <a:lvl1pPr algn="ctr">
              <a:defRPr/>
            </a:lvl1pPr>
          </a:lstStyle>
          <a:p>
            <a:fld id="{8E9E4023-6F3A-457B-B0BB-8C1F114B424F}" type="slidenum">
              <a:rPr lang="en-SG" smtClean="0"/>
              <a:pPr/>
              <a:t>‹#›</a:t>
            </a:fld>
            <a:endParaRPr lang="en-SG"/>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3912" y="593958"/>
            <a:ext cx="4324551" cy="533504"/>
          </a:xfrm>
          <a:prstGeom prst="rect">
            <a:avLst/>
          </a:prstGeom>
          <a:effectLst>
            <a:outerShdw blurRad="50800" dist="25400" dir="2700000" algn="tl" rotWithShape="0">
              <a:prstClr val="black">
                <a:alpha val="33000"/>
              </a:prstClr>
            </a:outerShdw>
          </a:effectLst>
        </p:spPr>
      </p:pic>
      <p:sp>
        <p:nvSpPr>
          <p:cNvPr id="16" name="Rectangle 15"/>
          <p:cNvSpPr/>
          <p:nvPr userDrawn="1"/>
        </p:nvSpPr>
        <p:spPr>
          <a:xfrm>
            <a:off x="9352667" y="291179"/>
            <a:ext cx="2782059" cy="1569660"/>
          </a:xfrm>
          <a:prstGeom prst="rect">
            <a:avLst/>
          </a:prstGeom>
          <a:effectLst>
            <a:reflection blurRad="6350" stA="50000" endA="300" endPos="55500" dist="50800" dir="5400000" sy="-100000" algn="bl" rotWithShape="0"/>
          </a:effectLst>
        </p:spPr>
        <p:txBody>
          <a:bodyPr wrap="square">
            <a:spAutoFit/>
          </a:bodyPr>
          <a:lstStyle/>
          <a:p>
            <a:pPr algn="ctr"/>
            <a:r>
              <a:rPr lang="en-SG" sz="4800" b="1" spc="80" dirty="0">
                <a:solidFill>
                  <a:schemeClr val="bg1"/>
                </a:solidFill>
                <a:effectLst>
                  <a:reflection blurRad="6350" stA="60000" endA="900" endPos="60000" dist="25400" dir="5400000" sy="-100000" algn="bl" rotWithShape="0"/>
                </a:effectLst>
                <a:latin typeface="Roboto" pitchFamily="2" charset="0"/>
                <a:ea typeface="Roboto" pitchFamily="2" charset="0"/>
                <a:cs typeface="Calibri" panose="020F0502020204030204" pitchFamily="34" charset="0"/>
              </a:rPr>
              <a:t>CDEV</a:t>
            </a:r>
          </a:p>
          <a:p>
            <a:pPr algn="ctr"/>
            <a:r>
              <a:rPr lang="en-SG" sz="4800" b="1" spc="80" dirty="0">
                <a:solidFill>
                  <a:schemeClr val="bg1"/>
                </a:solidFill>
                <a:effectLst>
                  <a:reflection blurRad="6350" stA="60000" endA="900" endPos="60000" dist="25400" dir="5400000" sy="-100000" algn="bl" rotWithShape="0"/>
                </a:effectLst>
                <a:latin typeface="Roboto" pitchFamily="2" charset="0"/>
                <a:ea typeface="Roboto" pitchFamily="2" charset="0"/>
                <a:cs typeface="Calibri" panose="020F0502020204030204" pitchFamily="34" charset="0"/>
              </a:rPr>
              <a:t>DBAV</a:t>
            </a:r>
            <a:endParaRPr lang="en-SG" sz="4800" spc="80" dirty="0">
              <a:solidFill>
                <a:schemeClr val="bg1"/>
              </a:solidFill>
              <a:effectLst>
                <a:reflection blurRad="6350" stA="60000" endA="900" endPos="60000" dist="25400" dir="5400000" sy="-100000" algn="bl" rotWithShape="0"/>
              </a:effectLst>
              <a:latin typeface="Roboto light" pitchFamily="2" charset="0"/>
              <a:ea typeface="Roboto light" pitchFamily="2" charset="0"/>
              <a:cs typeface="Calibri" panose="020F0502020204030204" pitchFamily="34" charset="0"/>
            </a:endParaRPr>
          </a:p>
        </p:txBody>
      </p:sp>
      <p:sp>
        <p:nvSpPr>
          <p:cNvPr id="12" name="Rectangle 11"/>
          <p:cNvSpPr/>
          <p:nvPr userDrawn="1"/>
        </p:nvSpPr>
        <p:spPr>
          <a:xfrm>
            <a:off x="483724" y="6166170"/>
            <a:ext cx="8866016" cy="507831"/>
          </a:xfrm>
          <a:prstGeom prst="rect">
            <a:avLst/>
          </a:prstGeom>
        </p:spPr>
        <p:txBody>
          <a:bodyPr wrap="square">
            <a:spAutoFit/>
          </a:bodyPr>
          <a:lstStyle/>
          <a:p>
            <a:pPr algn="r"/>
            <a:r>
              <a:rPr lang="en-SG" sz="1400" b="1" spc="80" dirty="0">
                <a:solidFill>
                  <a:schemeClr val="bg2">
                    <a:lumMod val="50000"/>
                  </a:schemeClr>
                </a:solidFill>
                <a:latin typeface="Calibri" panose="020F0502020204030204" pitchFamily="34" charset="0"/>
                <a:cs typeface="Calibri" panose="020F0502020204030204" pitchFamily="34" charset="0"/>
              </a:rPr>
              <a:t>SOFTWARE</a:t>
            </a:r>
            <a:r>
              <a:rPr lang="en-SG" sz="1400" spc="80" dirty="0">
                <a:solidFill>
                  <a:schemeClr val="bg2">
                    <a:lumMod val="50000"/>
                  </a:schemeClr>
                </a:solidFill>
                <a:latin typeface="Calibri" panose="020F0502020204030204" pitchFamily="34" charset="0"/>
                <a:cs typeface="Calibri" panose="020F0502020204030204" pitchFamily="34" charset="0"/>
              </a:rPr>
              <a:t> CLUSTER</a:t>
            </a:r>
            <a:r>
              <a:rPr lang="en-SG" sz="1200" spc="80" dirty="0">
                <a:solidFill>
                  <a:srgbClr val="0070C0"/>
                </a:solidFill>
                <a:latin typeface="Calibri" panose="020F0502020204030204" pitchFamily="34" charset="0"/>
                <a:cs typeface="Calibri" panose="020F0502020204030204" pitchFamily="34" charset="0"/>
              </a:rPr>
              <a:t> </a:t>
            </a:r>
            <a:br>
              <a:rPr lang="en-SG" sz="1200" spc="80" dirty="0">
                <a:solidFill>
                  <a:srgbClr val="0070C0"/>
                </a:solidFill>
                <a:latin typeface="Calibri" panose="020F0502020204030204" pitchFamily="34" charset="0"/>
                <a:cs typeface="Calibri" panose="020F0502020204030204" pitchFamily="34" charset="0"/>
              </a:rPr>
            </a:br>
            <a:r>
              <a:rPr lang="en-SG" sz="1200" spc="80" dirty="0">
                <a:solidFill>
                  <a:srgbClr val="0070C0"/>
                </a:solidFill>
                <a:latin typeface="Calibri" panose="020F0502020204030204" pitchFamily="34" charset="0"/>
                <a:cs typeface="Calibri" panose="020F0502020204030204" pitchFamily="34" charset="0"/>
              </a:rPr>
              <a:t>[ CDEV • Coding and Development Project ] [ DBAV • Database Application Development ]</a:t>
            </a:r>
            <a:endParaRPr lang="en-US" sz="1200" spc="80" dirty="0">
              <a:solidFill>
                <a:srgbClr val="0070C0"/>
              </a:solidFill>
              <a:latin typeface="Calibri" panose="020F0502020204030204" pitchFamily="34" charset="0"/>
              <a:cs typeface="Calibri" panose="020F0502020204030204" pitchFamily="34" charset="0"/>
            </a:endParaRPr>
          </a:p>
        </p:txBody>
      </p:sp>
      <p:grpSp>
        <p:nvGrpSpPr>
          <p:cNvPr id="13" name="Group 12"/>
          <p:cNvGrpSpPr/>
          <p:nvPr userDrawn="1"/>
        </p:nvGrpSpPr>
        <p:grpSpPr>
          <a:xfrm>
            <a:off x="7464598" y="2544224"/>
            <a:ext cx="4648963" cy="3765492"/>
            <a:chOff x="7464598" y="2544224"/>
            <a:chExt cx="4648963" cy="3765492"/>
          </a:xfrm>
          <a:effectLst>
            <a:outerShdw blurRad="38100" dist="25400" dir="2700000" algn="tl" rotWithShape="0">
              <a:prstClr val="black">
                <a:alpha val="28000"/>
              </a:prstClr>
            </a:outerShdw>
          </a:effectLst>
        </p:grpSpPr>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081551" y="4482380"/>
              <a:ext cx="1032010" cy="850475"/>
            </a:xfrm>
            <a:prstGeom prst="rect">
              <a:avLst/>
            </a:prstGeom>
          </p:spPr>
        </p:pic>
        <p:pic>
          <p:nvPicPr>
            <p:cNvPr id="17" name="Picture 1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464598" y="2544224"/>
              <a:ext cx="3896323" cy="3765492"/>
            </a:xfrm>
            <a:prstGeom prst="rect">
              <a:avLst/>
            </a:prstGeom>
          </p:spPr>
        </p:pic>
      </p:grpSp>
    </p:spTree>
    <p:extLst>
      <p:ext uri="{BB962C8B-B14F-4D97-AF65-F5344CB8AC3E}">
        <p14:creationId xmlns:p14="http://schemas.microsoft.com/office/powerpoint/2010/main" val="1526603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0C0"/>
                </a:solidFill>
              </a:defRPr>
            </a:lvl1pPr>
          </a:lstStyle>
          <a:p>
            <a:r>
              <a:rPr lang="en-US" dirty="0"/>
              <a:t>Click to edit Master title style</a:t>
            </a:r>
            <a:endParaRPr lang="en-SG"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6" name="Slide Number Placeholder 5"/>
          <p:cNvSpPr>
            <a:spLocks noGrp="1"/>
          </p:cNvSpPr>
          <p:nvPr>
            <p:ph type="sldNum" sz="quarter" idx="12"/>
          </p:nvPr>
        </p:nvSpPr>
        <p:spPr/>
        <p:txBody>
          <a:bodyPr/>
          <a:lstStyle/>
          <a:p>
            <a:fld id="{8E9E4023-6F3A-457B-B0BB-8C1F114B424F}" type="slidenum">
              <a:rPr lang="en-SG" smtClean="0"/>
              <a:t>‹#›</a:t>
            </a:fld>
            <a:endParaRPr lang="en-SG"/>
          </a:p>
        </p:txBody>
      </p:sp>
    </p:spTree>
    <p:extLst>
      <p:ext uri="{BB962C8B-B14F-4D97-AF65-F5344CB8AC3E}">
        <p14:creationId xmlns:p14="http://schemas.microsoft.com/office/powerpoint/2010/main" val="485431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bg>
      <p:bgPr>
        <a:solidFill>
          <a:srgbClr val="0070C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2774" y="3917739"/>
            <a:ext cx="10336161" cy="819784"/>
          </a:xfrm>
        </p:spPr>
        <p:txBody>
          <a:bodyPr>
            <a:normAutofit/>
          </a:bodyPr>
          <a:lstStyle>
            <a:lvl1pPr algn="ctr">
              <a:defRPr sz="4800" b="1">
                <a:solidFill>
                  <a:schemeClr val="bg1"/>
                </a:solidFill>
              </a:defRPr>
            </a:lvl1pPr>
          </a:lstStyle>
          <a:p>
            <a:r>
              <a:rPr lang="en-US" dirty="0"/>
              <a:t>Click to edit Master title style</a:t>
            </a:r>
            <a:endParaRPr lang="en-SG"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8E9E4023-6F3A-457B-B0BB-8C1F114B424F}" type="slidenum">
              <a:rPr lang="en-SG" smtClean="0"/>
              <a:pPr/>
              <a:t>‹#›</a:t>
            </a:fld>
            <a:endParaRPr lang="en-SG"/>
          </a:p>
        </p:txBody>
      </p:sp>
      <p:sp>
        <p:nvSpPr>
          <p:cNvPr id="5" name="Rectangle 4"/>
          <p:cNvSpPr/>
          <p:nvPr userDrawn="1"/>
        </p:nvSpPr>
        <p:spPr>
          <a:xfrm>
            <a:off x="0" y="5011843"/>
            <a:ext cx="9141619" cy="14973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73476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12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1pPr>
              <a:defRPr>
                <a:latin typeface="Arial Unicode MS" charset="0"/>
                <a:ea typeface="Arial Unicode MS" charset="0"/>
                <a:cs typeface="Arial Unicode MS" charset="0"/>
              </a:defRPr>
            </a:lvl1pPr>
            <a:lvl2pPr>
              <a:defRPr>
                <a:latin typeface="Arial Unicode MS" charset="0"/>
                <a:ea typeface="Arial Unicode MS" charset="0"/>
                <a:cs typeface="Arial Unicode MS" charset="0"/>
              </a:defRPr>
            </a:lvl2pPr>
            <a:lvl3pPr>
              <a:defRPr>
                <a:latin typeface="Arial Unicode MS" charset="0"/>
                <a:ea typeface="Arial Unicode MS" charset="0"/>
                <a:cs typeface="Arial Unicode MS" charset="0"/>
              </a:defRPr>
            </a:lvl3pPr>
            <a:lvl4pPr>
              <a:defRPr>
                <a:latin typeface="Arial Unicode MS" charset="0"/>
                <a:ea typeface="Arial Unicode MS" charset="0"/>
                <a:cs typeface="Arial Unicode MS" charset="0"/>
              </a:defRPr>
            </a:lvl4pPr>
            <a:lvl5pPr>
              <a:defRPr>
                <a:latin typeface="Arial Unicode MS" charset="0"/>
                <a:ea typeface="Arial Unicode MS" charset="0"/>
                <a:cs typeface="Arial Unicode MS" charset="0"/>
              </a:defRPr>
            </a:lvl5pPr>
            <a:lvl6pPr>
              <a:defRPr/>
            </a:lvl6pPr>
            <a:lvl7pPr>
              <a:defRPr/>
            </a:lvl7pPr>
            <a:lvl8pPr>
              <a:defRPr/>
            </a:lvl8pPr>
            <a:lvl9pPr>
              <a:defRPr/>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172200" y="1600200"/>
            <a:ext cx="4914900" cy="4571999"/>
          </a:xfrm>
        </p:spPr>
        <p:txBody>
          <a:bodyPr/>
          <a:lstStyle>
            <a:lvl1pPr>
              <a:defRPr>
                <a:latin typeface="Arial Unicode MS" charset="0"/>
                <a:ea typeface="Arial Unicode MS" charset="0"/>
                <a:cs typeface="Arial Unicode MS" charset="0"/>
              </a:defRPr>
            </a:lvl1pPr>
            <a:lvl2pPr>
              <a:defRPr>
                <a:latin typeface="Arial Unicode MS" charset="0"/>
                <a:ea typeface="Arial Unicode MS" charset="0"/>
                <a:cs typeface="Arial Unicode MS" charset="0"/>
              </a:defRPr>
            </a:lvl2pPr>
            <a:lvl3pPr>
              <a:defRPr>
                <a:latin typeface="Arial Unicode MS" charset="0"/>
                <a:ea typeface="Arial Unicode MS" charset="0"/>
                <a:cs typeface="Arial Unicode MS" charset="0"/>
              </a:defRPr>
            </a:lvl3pPr>
            <a:lvl4pPr>
              <a:defRPr>
                <a:latin typeface="Arial Unicode MS" charset="0"/>
                <a:ea typeface="Arial Unicode MS" charset="0"/>
                <a:cs typeface="Arial Unicode MS" charset="0"/>
              </a:defRPr>
            </a:lvl4pPr>
            <a:lvl5pPr>
              <a:defRPr>
                <a:latin typeface="Arial Unicode MS" charset="0"/>
                <a:ea typeface="Arial Unicode MS" charset="0"/>
                <a:cs typeface="Arial Unicode MS" charset="0"/>
              </a:defRPr>
            </a:lvl5pPr>
            <a:lvl6pPr>
              <a:defRPr/>
            </a:lvl6pPr>
            <a:lvl7pPr>
              <a:defRPr/>
            </a:lvl7pPr>
            <a:lvl8pPr>
              <a:defRPr/>
            </a:lvl8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a:xfrm>
            <a:off x="1104899" y="6356351"/>
            <a:ext cx="1829559" cy="365125"/>
          </a:xfrm>
          <a:prstGeom prst="rect">
            <a:avLst/>
          </a:prstGeom>
        </p:spPr>
        <p:txBody>
          <a:bodyPr/>
          <a:lstStyle/>
          <a:p>
            <a:fld id="{B1F42F74-75E5-42CB-8590-502DC3F95CF0}" type="datetime1">
              <a:rPr lang="en-US" smtClean="0"/>
              <a:t>11/14/2021</a:t>
            </a:fld>
            <a:endParaRPr/>
          </a:p>
        </p:txBody>
      </p:sp>
      <p:sp>
        <p:nvSpPr>
          <p:cNvPr id="6" name="Footer Placeholder 5"/>
          <p:cNvSpPr>
            <a:spLocks noGrp="1"/>
          </p:cNvSpPr>
          <p:nvPr>
            <p:ph type="ftr" sz="quarter" idx="11"/>
          </p:nvPr>
        </p:nvSpPr>
        <p:spPr>
          <a:xfrm>
            <a:off x="2934459" y="6356350"/>
            <a:ext cx="6323082" cy="365126"/>
          </a:xfrm>
          <a:prstGeom prst="rect">
            <a:avLst/>
          </a:prstGeom>
        </p:spPr>
        <p:txBody>
          <a:bodyPr/>
          <a:lstStyle>
            <a:lvl1pPr>
              <a:defRPr>
                <a:latin typeface="Verdana" charset="0"/>
                <a:ea typeface="Verdana" charset="0"/>
                <a:cs typeface="Verdana" charset="0"/>
              </a:defRPr>
            </a:lvl1pPr>
          </a:lstStyle>
          <a:p>
            <a:r>
              <a:rPr lang="en-US" dirty="0" err="1"/>
              <a:t>Temasek</a:t>
            </a:r>
            <a:r>
              <a:rPr lang="en-US" dirty="0"/>
              <a:t> Polytechnic  •  School of Informatics &amp; IT</a:t>
            </a: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833236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cSld name="1_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dirty="0"/>
              <a:t>Click to edit Master title style</a:t>
            </a:r>
            <a:endParaRPr dirty="0"/>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latin typeface="Arial Unicode MS" charset="0"/>
                <a:ea typeface="Arial Unicode MS" charset="0"/>
                <a:cs typeface="Arial Unicode MS"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72D5DC50-FC28-472D-98A7-6638A1527CA2}" type="datetime1">
              <a:rPr lang="en-US" smtClean="0"/>
              <a:t>11/14/2021</a:t>
            </a:fld>
            <a:endParaRPr/>
          </a:p>
        </p:txBody>
      </p:sp>
      <p:sp>
        <p:nvSpPr>
          <p:cNvPr id="5" name="Footer Placeholder 4"/>
          <p:cNvSpPr>
            <a:spLocks noGrp="1"/>
          </p:cNvSpPr>
          <p:nvPr>
            <p:ph type="ftr" sz="quarter" idx="11"/>
          </p:nvPr>
        </p:nvSpPr>
        <p:spPr/>
        <p:txBody>
          <a:bodyPr/>
          <a:lstStyle>
            <a:lvl1pPr>
              <a:defRPr>
                <a:latin typeface="Verdana" charset="0"/>
                <a:ea typeface="Verdana" charset="0"/>
                <a:cs typeface="Verdana" charset="0"/>
              </a:defRPr>
            </a:lvl1pPr>
          </a:lstStyle>
          <a:p>
            <a:r>
              <a:rPr lang="en-US" dirty="0" err="1"/>
              <a:t>Temasek</a:t>
            </a:r>
            <a:r>
              <a:rPr lang="en-US" dirty="0"/>
              <a:t> Polytechnic  •  School of Informatics &amp; IT</a:t>
            </a: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813675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1184910"/>
            <a:ext cx="9141619" cy="14973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userDrawn="1"/>
        </p:nvSpPr>
        <p:spPr>
          <a:xfrm>
            <a:off x="9270263" y="1184910"/>
            <a:ext cx="2921737" cy="13843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b="0" i="0" u="none"/>
          </a:p>
        </p:txBody>
      </p:sp>
      <p:sp>
        <p:nvSpPr>
          <p:cNvPr id="3" name="Text Placeholder 2"/>
          <p:cNvSpPr>
            <a:spLocks noGrp="1"/>
          </p:cNvSpPr>
          <p:nvPr>
            <p:ph type="body" idx="1"/>
          </p:nvPr>
        </p:nvSpPr>
        <p:spPr>
          <a:xfrm>
            <a:off x="1017638" y="1631314"/>
            <a:ext cx="10336162" cy="458660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6" name="Slide Number Placeholder 5"/>
          <p:cNvSpPr>
            <a:spLocks noGrp="1"/>
          </p:cNvSpPr>
          <p:nvPr>
            <p:ph type="sldNum" sz="quarter" idx="4"/>
          </p:nvPr>
        </p:nvSpPr>
        <p:spPr>
          <a:xfrm>
            <a:off x="11566358" y="6357456"/>
            <a:ext cx="465217" cy="307975"/>
          </a:xfrm>
          <a:prstGeom prst="rect">
            <a:avLst/>
          </a:prstGeom>
        </p:spPr>
        <p:txBody>
          <a:bodyPr vert="horz" lIns="91440" tIns="45720" rIns="91440" bIns="45720" rtlCol="0" anchor="ctr"/>
          <a:lstStyle>
            <a:lvl1pPr algn="r">
              <a:defRPr sz="1100">
                <a:solidFill>
                  <a:schemeClr val="tx1">
                    <a:tint val="75000"/>
                  </a:schemeClr>
                </a:solidFill>
              </a:defRPr>
            </a:lvl1pPr>
          </a:lstStyle>
          <a:p>
            <a:fld id="{8E9E4023-6F3A-457B-B0BB-8C1F114B424F}" type="slidenum">
              <a:rPr lang="en-SG" smtClean="0"/>
              <a:pPr/>
              <a:t>‹#›</a:t>
            </a:fld>
            <a:endParaRPr lang="en-SG"/>
          </a:p>
        </p:txBody>
      </p:sp>
      <p:pic>
        <p:nvPicPr>
          <p:cNvPr id="10" name="Picture 9"/>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3581" y="0"/>
            <a:ext cx="1269849" cy="1046478"/>
          </a:xfrm>
          <a:prstGeom prst="rect">
            <a:avLst/>
          </a:prstGeom>
        </p:spPr>
      </p:pic>
      <p:sp>
        <p:nvSpPr>
          <p:cNvPr id="2" name="Title Placeholder 1"/>
          <p:cNvSpPr>
            <a:spLocks noGrp="1"/>
          </p:cNvSpPr>
          <p:nvPr>
            <p:ph type="title"/>
          </p:nvPr>
        </p:nvSpPr>
        <p:spPr>
          <a:xfrm>
            <a:off x="1017638" y="365126"/>
            <a:ext cx="10336161" cy="819784"/>
          </a:xfrm>
          <a:prstGeom prst="rect">
            <a:avLst/>
          </a:prstGeom>
        </p:spPr>
        <p:txBody>
          <a:bodyPr vert="horz" lIns="91440" tIns="45720" rIns="91440" bIns="45720" rtlCol="0" anchor="ctr">
            <a:normAutofit/>
          </a:bodyPr>
          <a:lstStyle/>
          <a:p>
            <a:r>
              <a:rPr lang="en-US" dirty="0"/>
              <a:t>Click to edit Master title style</a:t>
            </a:r>
            <a:endParaRPr lang="en-SG" dirty="0"/>
          </a:p>
        </p:txBody>
      </p:sp>
      <p:sp>
        <p:nvSpPr>
          <p:cNvPr id="12" name="Rectangle 11"/>
          <p:cNvSpPr/>
          <p:nvPr userDrawn="1"/>
        </p:nvSpPr>
        <p:spPr>
          <a:xfrm>
            <a:off x="978524" y="6388432"/>
            <a:ext cx="10587834" cy="276999"/>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spc="80" dirty="0">
                <a:solidFill>
                  <a:schemeClr val="bg2">
                    <a:lumMod val="50000"/>
                  </a:schemeClr>
                </a:solidFill>
                <a:latin typeface="Calibri" panose="020F0502020204030204" pitchFamily="34" charset="0"/>
                <a:cs typeface="Calibri" panose="020F0502020204030204" pitchFamily="34" charset="0"/>
              </a:rPr>
              <a:t>TEMASEK POLYTECHNIC I </a:t>
            </a:r>
            <a:r>
              <a:rPr lang="en-US" sz="1200" b="1" spc="80" dirty="0">
                <a:solidFill>
                  <a:schemeClr val="bg2">
                    <a:lumMod val="50000"/>
                  </a:schemeClr>
                </a:solidFill>
                <a:latin typeface="Calibri" panose="020F0502020204030204" pitchFamily="34" charset="0"/>
                <a:cs typeface="Calibri" panose="020F0502020204030204" pitchFamily="34" charset="0"/>
              </a:rPr>
              <a:t>School of Informatics &amp; IT</a:t>
            </a:r>
          </a:p>
        </p:txBody>
      </p:sp>
      <p:grpSp>
        <p:nvGrpSpPr>
          <p:cNvPr id="5" name="Group 4"/>
          <p:cNvGrpSpPr/>
          <p:nvPr userDrawn="1"/>
        </p:nvGrpSpPr>
        <p:grpSpPr>
          <a:xfrm>
            <a:off x="-3077" y="130629"/>
            <a:ext cx="652384" cy="786947"/>
            <a:chOff x="-3077" y="130629"/>
            <a:chExt cx="652384" cy="786947"/>
          </a:xfrm>
        </p:grpSpPr>
        <p:sp>
          <p:nvSpPr>
            <p:cNvPr id="4" name="Rectangle 3"/>
            <p:cNvSpPr/>
            <p:nvPr userDrawn="1"/>
          </p:nvSpPr>
          <p:spPr>
            <a:xfrm>
              <a:off x="255037" y="130629"/>
              <a:ext cx="130628" cy="130628"/>
            </a:xfrm>
            <a:prstGeom prst="rect">
              <a:avLst/>
            </a:prstGeom>
            <a:solidFill>
              <a:srgbClr val="007DDA">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Rectangle 10"/>
            <p:cNvSpPr/>
            <p:nvPr userDrawn="1"/>
          </p:nvSpPr>
          <p:spPr>
            <a:xfrm>
              <a:off x="127551" y="523239"/>
              <a:ext cx="130628" cy="130628"/>
            </a:xfrm>
            <a:prstGeom prst="rect">
              <a:avLst/>
            </a:prstGeom>
            <a:solidFill>
              <a:srgbClr val="007DDA">
                <a:alpha val="8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Rectangle 12"/>
            <p:cNvSpPr/>
            <p:nvPr userDrawn="1"/>
          </p:nvSpPr>
          <p:spPr>
            <a:xfrm>
              <a:off x="-3077" y="261257"/>
              <a:ext cx="130628" cy="130628"/>
            </a:xfrm>
            <a:prstGeom prst="rect">
              <a:avLst/>
            </a:prstGeom>
            <a:solidFill>
              <a:srgbClr val="007D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Rectangle 13"/>
            <p:cNvSpPr/>
            <p:nvPr userDrawn="1"/>
          </p:nvSpPr>
          <p:spPr>
            <a:xfrm>
              <a:off x="518679" y="261257"/>
              <a:ext cx="130628" cy="130628"/>
            </a:xfrm>
            <a:prstGeom prst="rect">
              <a:avLst/>
            </a:prstGeom>
            <a:solidFill>
              <a:srgbClr val="007DDA">
                <a:alpha val="9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Rectangle 14"/>
            <p:cNvSpPr/>
            <p:nvPr userDrawn="1"/>
          </p:nvSpPr>
          <p:spPr>
            <a:xfrm>
              <a:off x="388195" y="393884"/>
              <a:ext cx="130628" cy="130628"/>
            </a:xfrm>
            <a:prstGeom prst="rect">
              <a:avLst/>
            </a:prstGeom>
            <a:solidFill>
              <a:srgbClr val="007DDA">
                <a:alpha val="9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Rectangle 15"/>
            <p:cNvSpPr/>
            <p:nvPr userDrawn="1"/>
          </p:nvSpPr>
          <p:spPr>
            <a:xfrm>
              <a:off x="387783" y="786948"/>
              <a:ext cx="130628" cy="130628"/>
            </a:xfrm>
            <a:prstGeom prst="rect">
              <a:avLst/>
            </a:prstGeom>
            <a:solidFill>
              <a:srgbClr val="007DDA">
                <a:alpha val="9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Tree>
    <p:extLst>
      <p:ext uri="{BB962C8B-B14F-4D97-AF65-F5344CB8AC3E}">
        <p14:creationId xmlns:p14="http://schemas.microsoft.com/office/powerpoint/2010/main" val="7583451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84" r:id="rId3"/>
    <p:sldLayoutId id="2147483675" r:id="rId4"/>
    <p:sldLayoutId id="2147483685" r:id="rId5"/>
    <p:sldLayoutId id="2147483686" r:id="rId6"/>
  </p:sldLayoutIdLst>
  <p:hf hdr="0" ftr="0" dt="0"/>
  <p:txStyles>
    <p:titleStyle>
      <a:lvl1pPr algn="l" defTabSz="914400" rtl="0" eaLnBrk="1" latinLnBrk="0" hangingPunct="1">
        <a:lnSpc>
          <a:spcPct val="90000"/>
        </a:lnSpc>
        <a:spcBef>
          <a:spcPct val="0"/>
        </a:spcBef>
        <a:buNone/>
        <a:defRPr sz="3600" b="0" i="0" u="none" kern="1200">
          <a:solidFill>
            <a:srgbClr val="0070C0"/>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youtube.com/watch?v=OJOe78hZZKU" TargetMode="Externa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www.tutorialspoint.com/mysql/index.htm"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p:cNvCxnSpPr/>
          <p:nvPr/>
        </p:nvCxnSpPr>
        <p:spPr>
          <a:xfrm>
            <a:off x="863672" y="3954162"/>
            <a:ext cx="649965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7"/>
          <p:cNvSpPr>
            <a:spLocks noGrp="1"/>
          </p:cNvSpPr>
          <p:nvPr>
            <p:ph type="ctrTitle"/>
          </p:nvPr>
        </p:nvSpPr>
        <p:spPr>
          <a:xfrm>
            <a:off x="783462" y="1410689"/>
            <a:ext cx="7928404" cy="2387600"/>
          </a:xfrm>
        </p:spPr>
        <p:txBody>
          <a:bodyPr/>
          <a:lstStyle/>
          <a:p>
            <a:r>
              <a:rPr lang="en-US" dirty="0">
                <a:ea typeface="Calisto MT" charset="0"/>
                <a:cs typeface="Calisto MT" charset="0"/>
              </a:rPr>
              <a:t>Introduction to SQL</a:t>
            </a:r>
            <a:endParaRPr lang="en-SG" dirty="0"/>
          </a:p>
        </p:txBody>
      </p:sp>
      <p:sp>
        <p:nvSpPr>
          <p:cNvPr id="9" name="Subtitle 8"/>
          <p:cNvSpPr>
            <a:spLocks noGrp="1"/>
          </p:cNvSpPr>
          <p:nvPr>
            <p:ph type="subTitle" idx="1"/>
          </p:nvPr>
        </p:nvSpPr>
        <p:spPr>
          <a:xfrm>
            <a:off x="815546" y="4106778"/>
            <a:ext cx="7928404" cy="1151021"/>
          </a:xfrm>
        </p:spPr>
        <p:txBody>
          <a:bodyPr/>
          <a:lstStyle/>
          <a:p>
            <a:r>
              <a:rPr lang="en-SG"/>
              <a:t>Week 05.</a:t>
            </a:r>
            <a:endParaRPr lang="en-SG" dirty="0"/>
          </a:p>
        </p:txBody>
      </p:sp>
      <p:sp>
        <p:nvSpPr>
          <p:cNvPr id="2" name="Slide Number Placeholder 1">
            <a:extLst>
              <a:ext uri="{FF2B5EF4-FFF2-40B4-BE49-F238E27FC236}">
                <a16:creationId xmlns:a16="http://schemas.microsoft.com/office/drawing/2014/main" id="{18F056B3-4CEB-4FFD-BE48-F055B70D029C}"/>
              </a:ext>
            </a:extLst>
          </p:cNvPr>
          <p:cNvSpPr>
            <a:spLocks noGrp="1"/>
          </p:cNvSpPr>
          <p:nvPr>
            <p:ph type="sldNum" sz="quarter" idx="12"/>
          </p:nvPr>
        </p:nvSpPr>
        <p:spPr/>
        <p:txBody>
          <a:bodyPr/>
          <a:lstStyle/>
          <a:p>
            <a:fld id="{8E9E4023-6F3A-457B-B0BB-8C1F114B424F}" type="slidenum">
              <a:rPr lang="en-SG" smtClean="0"/>
              <a:pPr/>
              <a:t>1</a:t>
            </a:fld>
            <a:endParaRPr lang="en-SG"/>
          </a:p>
        </p:txBody>
      </p:sp>
    </p:spTree>
    <p:extLst>
      <p:ext uri="{BB962C8B-B14F-4D97-AF65-F5344CB8AC3E}">
        <p14:creationId xmlns:p14="http://schemas.microsoft.com/office/powerpoint/2010/main" val="520979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Objectives</a:t>
            </a:r>
          </a:p>
        </p:txBody>
      </p:sp>
      <p:sp>
        <p:nvSpPr>
          <p:cNvPr id="14" name="Content Placeholder 13"/>
          <p:cNvSpPr>
            <a:spLocks noGrp="1"/>
          </p:cNvSpPr>
          <p:nvPr>
            <p:ph idx="1"/>
          </p:nvPr>
        </p:nvSpPr>
        <p:spPr/>
        <p:txBody>
          <a:bodyPr/>
          <a:lstStyle/>
          <a:p>
            <a:pPr>
              <a:lnSpc>
                <a:spcPct val="100000"/>
              </a:lnSpc>
              <a:defRPr/>
            </a:pPr>
            <a:r>
              <a:rPr lang="en-US" dirty="0">
                <a:ea typeface="ＭＳ Ｐゴシック" charset="0"/>
              </a:rPr>
              <a:t>Describe the concept of CRUD in database;</a:t>
            </a:r>
          </a:p>
          <a:p>
            <a:pPr>
              <a:lnSpc>
                <a:spcPct val="100000"/>
              </a:lnSpc>
              <a:defRPr/>
            </a:pPr>
            <a:r>
              <a:rPr lang="en-US" dirty="0">
                <a:ea typeface="ＭＳ Ｐゴシック" charset="0"/>
              </a:rPr>
              <a:t>Demonstrate how to write SQL codes to perform CRUD.</a:t>
            </a:r>
          </a:p>
          <a:p>
            <a:pPr>
              <a:lnSpc>
                <a:spcPct val="100000"/>
              </a:lnSpc>
            </a:pPr>
            <a:endParaRPr lang="en-US" dirty="0"/>
          </a:p>
        </p:txBody>
      </p:sp>
      <p:sp>
        <p:nvSpPr>
          <p:cNvPr id="3" name="Slide Number Placeholder 2"/>
          <p:cNvSpPr>
            <a:spLocks noGrp="1"/>
          </p:cNvSpPr>
          <p:nvPr>
            <p:ph type="sldNum" sz="quarter" idx="12"/>
          </p:nvPr>
        </p:nvSpPr>
        <p:spPr/>
        <p:txBody>
          <a:bodyPr/>
          <a:lstStyle/>
          <a:p>
            <a:fld id="{0FF54DE5-C571-48E8-A5BC-B369434E2F44}" type="slidenum">
              <a:rPr lang="en-US" smtClean="0"/>
              <a:t>2</a:t>
            </a:fld>
            <a:endParaRPr lang="en-US"/>
          </a:p>
        </p:txBody>
      </p:sp>
    </p:spTree>
    <p:extLst>
      <p:ext uri="{BB962C8B-B14F-4D97-AF65-F5344CB8AC3E}">
        <p14:creationId xmlns:p14="http://schemas.microsoft.com/office/powerpoint/2010/main" val="115652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Tools Required</a:t>
            </a:r>
          </a:p>
        </p:txBody>
      </p:sp>
      <p:sp>
        <p:nvSpPr>
          <p:cNvPr id="3" name="Content Placeholder 2"/>
          <p:cNvSpPr>
            <a:spLocks noGrp="1"/>
          </p:cNvSpPr>
          <p:nvPr>
            <p:ph sz="half" idx="1"/>
          </p:nvPr>
        </p:nvSpPr>
        <p:spPr/>
        <p:txBody>
          <a:bodyPr>
            <a:normAutofit/>
          </a:bodyPr>
          <a:lstStyle/>
          <a:p>
            <a:pPr>
              <a:lnSpc>
                <a:spcPct val="100000"/>
              </a:lnSpc>
            </a:pPr>
            <a:r>
              <a:rPr lang="en-GB" dirty="0"/>
              <a:t>MySQL DB</a:t>
            </a:r>
          </a:p>
          <a:p>
            <a:pPr>
              <a:lnSpc>
                <a:spcPct val="100000"/>
              </a:lnSpc>
            </a:pPr>
            <a:r>
              <a:rPr lang="en-GB" dirty="0"/>
              <a:t>MySQL Workbench</a:t>
            </a:r>
          </a:p>
        </p:txBody>
      </p:sp>
      <p:sp>
        <p:nvSpPr>
          <p:cNvPr id="6" name="Content Placeholder 5"/>
          <p:cNvSpPr>
            <a:spLocks noGrp="1"/>
          </p:cNvSpPr>
          <p:nvPr>
            <p:ph sz="half" idx="2"/>
          </p:nvPr>
        </p:nvSpPr>
        <p:spPr/>
        <p:txBody>
          <a:bodyPr>
            <a:normAutofit/>
          </a:bodyPr>
          <a:lstStyle/>
          <a:p>
            <a:endParaRPr lang="en-GB" dirty="0"/>
          </a:p>
        </p:txBody>
      </p:sp>
      <p:sp>
        <p:nvSpPr>
          <p:cNvPr id="5" name="Slide Number Placeholder 4"/>
          <p:cNvSpPr>
            <a:spLocks noGrp="1"/>
          </p:cNvSpPr>
          <p:nvPr>
            <p:ph type="sldNum" sz="quarter" idx="12"/>
          </p:nvPr>
        </p:nvSpPr>
        <p:spPr/>
        <p:txBody>
          <a:bodyPr/>
          <a:lstStyle/>
          <a:p>
            <a:fld id="{0FF54DE5-C571-48E8-A5BC-B369434E2F44}" type="slidenum">
              <a:rPr lang="uk-UA" smtClean="0"/>
              <a:t>3</a:t>
            </a:fld>
            <a:endParaRPr lang="uk-UA"/>
          </a:p>
        </p:txBody>
      </p:sp>
    </p:spTree>
    <p:extLst>
      <p:ext uri="{BB962C8B-B14F-4D97-AF65-F5344CB8AC3E}">
        <p14:creationId xmlns:p14="http://schemas.microsoft.com/office/powerpoint/2010/main" val="52125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 TO DATABASE</a:t>
            </a:r>
          </a:p>
        </p:txBody>
      </p:sp>
      <p:sp>
        <p:nvSpPr>
          <p:cNvPr id="3" name="Text Placeholder 2"/>
          <p:cNvSpPr>
            <a:spLocks noGrp="1"/>
          </p:cNvSpPr>
          <p:nvPr>
            <p:ph type="body" idx="1"/>
          </p:nvPr>
        </p:nvSpPr>
        <p:spPr/>
        <p:txBody>
          <a:bodyPr/>
          <a:lstStyle/>
          <a:p>
            <a:endParaRPr lang="en-GB"/>
          </a:p>
        </p:txBody>
      </p:sp>
      <p:sp>
        <p:nvSpPr>
          <p:cNvPr id="5" name="Slide Number Placeholder 4"/>
          <p:cNvSpPr>
            <a:spLocks noGrp="1"/>
          </p:cNvSpPr>
          <p:nvPr>
            <p:ph type="sldNum" sz="quarter" idx="12"/>
          </p:nvPr>
        </p:nvSpPr>
        <p:spPr/>
        <p:txBody>
          <a:bodyPr/>
          <a:lstStyle/>
          <a:p>
            <a:fld id="{0FF54DE5-C571-48E8-A5BC-B369434E2F44}" type="slidenum">
              <a:rPr lang="uk-UA" smtClean="0"/>
              <a:t>4</a:t>
            </a:fld>
            <a:endParaRPr lang="uk-UA"/>
          </a:p>
        </p:txBody>
      </p:sp>
    </p:spTree>
    <p:extLst>
      <p:ext uri="{BB962C8B-B14F-4D97-AF65-F5344CB8AC3E}">
        <p14:creationId xmlns:p14="http://schemas.microsoft.com/office/powerpoint/2010/main" val="783725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7B587-5537-4A24-9A2F-86E2E5E64A1A}"/>
              </a:ext>
            </a:extLst>
          </p:cNvPr>
          <p:cNvSpPr>
            <a:spLocks noGrp="1"/>
          </p:cNvSpPr>
          <p:nvPr>
            <p:ph type="title"/>
          </p:nvPr>
        </p:nvSpPr>
        <p:spPr/>
        <p:txBody>
          <a:bodyPr/>
          <a:lstStyle/>
          <a:p>
            <a:r>
              <a:rPr lang="en-GB" dirty="0"/>
              <a:t>What is a Database?</a:t>
            </a:r>
          </a:p>
        </p:txBody>
      </p:sp>
      <p:sp>
        <p:nvSpPr>
          <p:cNvPr id="3" name="Content Placeholder 2">
            <a:extLst>
              <a:ext uri="{FF2B5EF4-FFF2-40B4-BE49-F238E27FC236}">
                <a16:creationId xmlns:a16="http://schemas.microsoft.com/office/drawing/2014/main" id="{9D946B33-CCED-427A-9E46-ACF8C78BEBE7}"/>
              </a:ext>
            </a:extLst>
          </p:cNvPr>
          <p:cNvSpPr>
            <a:spLocks noGrp="1"/>
          </p:cNvSpPr>
          <p:nvPr>
            <p:ph idx="1"/>
          </p:nvPr>
        </p:nvSpPr>
        <p:spPr/>
        <p:txBody>
          <a:bodyPr/>
          <a:lstStyle/>
          <a:p>
            <a:r>
              <a:rPr lang="en-GB" dirty="0"/>
              <a:t>The next part of the Movie Review website that we are going to create is the </a:t>
            </a:r>
            <a:r>
              <a:rPr lang="en-GB" b="1" dirty="0"/>
              <a:t>Model</a:t>
            </a:r>
            <a:r>
              <a:rPr lang="en-GB" dirty="0"/>
              <a:t>. </a:t>
            </a:r>
          </a:p>
          <a:p>
            <a:r>
              <a:rPr lang="en-GB" dirty="0"/>
              <a:t>However, before you go on you will need to understand what is a Database.</a:t>
            </a:r>
          </a:p>
          <a:p>
            <a:r>
              <a:rPr lang="en-GB" dirty="0"/>
              <a:t>A Database is an application that stores a collection of data. It has a set of built-in library or APIs for creating, accessing, managing, searching and replicating the data that it stores.</a:t>
            </a:r>
          </a:p>
        </p:txBody>
      </p:sp>
      <p:sp>
        <p:nvSpPr>
          <p:cNvPr id="4" name="Slide Number Placeholder 3">
            <a:extLst>
              <a:ext uri="{FF2B5EF4-FFF2-40B4-BE49-F238E27FC236}">
                <a16:creationId xmlns:a16="http://schemas.microsoft.com/office/drawing/2014/main" id="{17D314B9-4530-4237-976C-22BFDB172FE0}"/>
              </a:ext>
            </a:extLst>
          </p:cNvPr>
          <p:cNvSpPr>
            <a:spLocks noGrp="1"/>
          </p:cNvSpPr>
          <p:nvPr>
            <p:ph type="sldNum" sz="quarter" idx="12"/>
          </p:nvPr>
        </p:nvSpPr>
        <p:spPr/>
        <p:txBody>
          <a:bodyPr/>
          <a:lstStyle/>
          <a:p>
            <a:fld id="{8E9E4023-6F3A-457B-B0BB-8C1F114B424F}" type="slidenum">
              <a:rPr lang="en-SG" smtClean="0"/>
              <a:t>5</a:t>
            </a:fld>
            <a:endParaRPr lang="en-SG"/>
          </a:p>
        </p:txBody>
      </p:sp>
    </p:spTree>
    <p:extLst>
      <p:ext uri="{BB962C8B-B14F-4D97-AF65-F5344CB8AC3E}">
        <p14:creationId xmlns:p14="http://schemas.microsoft.com/office/powerpoint/2010/main" val="4181905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Relational Database</a:t>
            </a:r>
          </a:p>
        </p:txBody>
      </p:sp>
      <p:sp>
        <p:nvSpPr>
          <p:cNvPr id="7" name="Content Placeholder 6"/>
          <p:cNvSpPr>
            <a:spLocks noGrp="1"/>
          </p:cNvSpPr>
          <p:nvPr>
            <p:ph idx="1"/>
          </p:nvPr>
        </p:nvSpPr>
        <p:spPr/>
        <p:txBody>
          <a:bodyPr>
            <a:normAutofit/>
          </a:bodyPr>
          <a:lstStyle/>
          <a:p>
            <a:pPr>
              <a:lnSpc>
                <a:spcPct val="100000"/>
              </a:lnSpc>
            </a:pPr>
            <a:r>
              <a:rPr lang="en-GB" dirty="0"/>
              <a:t>Today, we use </a:t>
            </a:r>
            <a:r>
              <a:rPr lang="en-GB" b="1" dirty="0"/>
              <a:t>Relational Database Management Systems (RDBMS)</a:t>
            </a:r>
            <a:r>
              <a:rPr lang="en-GB" dirty="0"/>
              <a:t> to store and manage huge volume of data.</a:t>
            </a:r>
          </a:p>
          <a:p>
            <a:pPr>
              <a:lnSpc>
                <a:spcPct val="100000"/>
              </a:lnSpc>
            </a:pPr>
            <a:r>
              <a:rPr lang="en-GB" dirty="0"/>
              <a:t>It is called </a:t>
            </a:r>
            <a:r>
              <a:rPr lang="en-GB" b="1" dirty="0"/>
              <a:t>Relational Database</a:t>
            </a:r>
            <a:r>
              <a:rPr lang="en-GB" dirty="0"/>
              <a:t> because all the data are stored into different tables and relations are created using </a:t>
            </a:r>
            <a:r>
              <a:rPr lang="en-GB" b="1" dirty="0"/>
              <a:t>Primary Keys</a:t>
            </a:r>
            <a:r>
              <a:rPr lang="en-GB" dirty="0"/>
              <a:t> and/or </a:t>
            </a:r>
            <a:r>
              <a:rPr lang="en-GB" b="1" dirty="0"/>
              <a:t>Foreign Keys</a:t>
            </a:r>
            <a:r>
              <a:rPr lang="en-GB" dirty="0"/>
              <a:t>.</a:t>
            </a:r>
          </a:p>
          <a:p>
            <a:pPr>
              <a:lnSpc>
                <a:spcPct val="100000"/>
              </a:lnSpc>
            </a:pPr>
            <a:r>
              <a:rPr lang="en-GB" dirty="0"/>
              <a:t>Let’s look at how a </a:t>
            </a:r>
            <a:r>
              <a:rPr lang="en-GB" b="1" dirty="0"/>
              <a:t>table</a:t>
            </a:r>
            <a:r>
              <a:rPr lang="en-GB" dirty="0"/>
              <a:t> looks like in a relational database on the next slide. </a:t>
            </a:r>
          </a:p>
          <a:p>
            <a:pPr>
              <a:lnSpc>
                <a:spcPct val="100000"/>
              </a:lnSpc>
            </a:pPr>
            <a:endParaRPr lang="en-US" dirty="0"/>
          </a:p>
          <a:p>
            <a:pPr>
              <a:lnSpc>
                <a:spcPct val="100000"/>
              </a:lnSpc>
            </a:pPr>
            <a:endParaRPr lang="en-GB" dirty="0"/>
          </a:p>
          <a:p>
            <a:pPr>
              <a:lnSpc>
                <a:spcPct val="100000"/>
              </a:lnSpc>
            </a:pPr>
            <a:endParaRPr lang="en-GB" dirty="0"/>
          </a:p>
        </p:txBody>
      </p:sp>
      <p:sp>
        <p:nvSpPr>
          <p:cNvPr id="6" name="Slide Number Placeholder 5"/>
          <p:cNvSpPr>
            <a:spLocks noGrp="1"/>
          </p:cNvSpPr>
          <p:nvPr>
            <p:ph type="sldNum" sz="quarter" idx="12"/>
          </p:nvPr>
        </p:nvSpPr>
        <p:spPr/>
        <p:txBody>
          <a:bodyPr/>
          <a:lstStyle/>
          <a:p>
            <a:fld id="{0FF54DE5-C571-48E8-A5BC-B369434E2F44}" type="slidenum">
              <a:rPr lang="uk-UA" smtClean="0"/>
              <a:t>6</a:t>
            </a:fld>
            <a:endParaRPr lang="uk-UA"/>
          </a:p>
        </p:txBody>
      </p:sp>
    </p:spTree>
    <p:extLst>
      <p:ext uri="{BB962C8B-B14F-4D97-AF65-F5344CB8AC3E}">
        <p14:creationId xmlns:p14="http://schemas.microsoft.com/office/powerpoint/2010/main" val="1846904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Table</a:t>
            </a:r>
          </a:p>
        </p:txBody>
      </p:sp>
      <p:sp>
        <p:nvSpPr>
          <p:cNvPr id="7" name="Content Placeholder 6"/>
          <p:cNvSpPr>
            <a:spLocks noGrp="1"/>
          </p:cNvSpPr>
          <p:nvPr>
            <p:ph idx="1"/>
          </p:nvPr>
        </p:nvSpPr>
        <p:spPr/>
        <p:txBody>
          <a:bodyPr>
            <a:normAutofit/>
          </a:bodyPr>
          <a:lstStyle/>
          <a:p>
            <a:pPr>
              <a:lnSpc>
                <a:spcPct val="100000"/>
              </a:lnSpc>
            </a:pPr>
            <a:r>
              <a:rPr lang="en-GB" dirty="0"/>
              <a:t>A table contains data in a matrix form and it looks like a spreadsheet. </a:t>
            </a:r>
          </a:p>
          <a:p>
            <a:pPr>
              <a:lnSpc>
                <a:spcPct val="100000"/>
              </a:lnSpc>
            </a:pPr>
            <a:endParaRPr lang="en-US" dirty="0"/>
          </a:p>
          <a:p>
            <a:pPr>
              <a:lnSpc>
                <a:spcPct val="100000"/>
              </a:lnSpc>
            </a:pPr>
            <a:endParaRPr lang="en-GB" dirty="0"/>
          </a:p>
          <a:p>
            <a:pPr>
              <a:lnSpc>
                <a:spcPct val="100000"/>
              </a:lnSpc>
            </a:pPr>
            <a:endParaRPr lang="en-GB" dirty="0"/>
          </a:p>
        </p:txBody>
      </p:sp>
      <p:sp>
        <p:nvSpPr>
          <p:cNvPr id="6" name="Slide Number Placeholder 5"/>
          <p:cNvSpPr>
            <a:spLocks noGrp="1"/>
          </p:cNvSpPr>
          <p:nvPr>
            <p:ph type="sldNum" sz="quarter" idx="12"/>
          </p:nvPr>
        </p:nvSpPr>
        <p:spPr/>
        <p:txBody>
          <a:bodyPr/>
          <a:lstStyle/>
          <a:p>
            <a:fld id="{0FF54DE5-C571-48E8-A5BC-B369434E2F44}" type="slidenum">
              <a:rPr lang="uk-UA" smtClean="0"/>
              <a:t>7</a:t>
            </a:fld>
            <a:endParaRPr lang="uk-UA"/>
          </a:p>
        </p:txBody>
      </p:sp>
      <p:pic>
        <p:nvPicPr>
          <p:cNvPr id="1026" name="Picture 2" descr="https://www.w3resource.com/w3r_images/component-of-a-database-table.gif">
            <a:extLst>
              <a:ext uri="{FF2B5EF4-FFF2-40B4-BE49-F238E27FC236}">
                <a16:creationId xmlns:a16="http://schemas.microsoft.com/office/drawing/2014/main" id="{DD7DD2C0-3BC4-4103-94B7-1A1366D106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0119" y="2635435"/>
            <a:ext cx="5431198" cy="3582484"/>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6792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3E970-A3D3-41A0-8E73-4FBA5327C6EF}"/>
              </a:ext>
            </a:extLst>
          </p:cNvPr>
          <p:cNvSpPr>
            <a:spLocks noGrp="1"/>
          </p:cNvSpPr>
          <p:nvPr>
            <p:ph type="title"/>
          </p:nvPr>
        </p:nvSpPr>
        <p:spPr/>
        <p:txBody>
          <a:bodyPr/>
          <a:lstStyle/>
          <a:p>
            <a:r>
              <a:rPr lang="en-GB" dirty="0"/>
              <a:t>MySQL Database</a:t>
            </a:r>
          </a:p>
        </p:txBody>
      </p:sp>
      <p:sp>
        <p:nvSpPr>
          <p:cNvPr id="3" name="Content Placeholder 2">
            <a:extLst>
              <a:ext uri="{FF2B5EF4-FFF2-40B4-BE49-F238E27FC236}">
                <a16:creationId xmlns:a16="http://schemas.microsoft.com/office/drawing/2014/main" id="{D0759970-AAC5-4DDF-964F-0CACBE6B3784}"/>
              </a:ext>
            </a:extLst>
          </p:cNvPr>
          <p:cNvSpPr>
            <a:spLocks noGrp="1"/>
          </p:cNvSpPr>
          <p:nvPr>
            <p:ph idx="1"/>
          </p:nvPr>
        </p:nvSpPr>
        <p:spPr/>
        <p:txBody>
          <a:bodyPr/>
          <a:lstStyle/>
          <a:p>
            <a:r>
              <a:rPr lang="en-GB" dirty="0"/>
              <a:t>There are many Relational Database Servers available in the market. Some are free (such as MySQL and PostgreSQL) and some are rather costly (such as Microsoft SQL and Oracle).</a:t>
            </a:r>
          </a:p>
          <a:p>
            <a:r>
              <a:rPr lang="en-GB" dirty="0"/>
              <a:t>In this course, we will be using a free database server called MySQL.</a:t>
            </a:r>
          </a:p>
          <a:p>
            <a:r>
              <a:rPr lang="en-GB" dirty="0"/>
              <a:t>MySQL is released under an open-source license.</a:t>
            </a:r>
          </a:p>
          <a:p>
            <a:r>
              <a:rPr lang="en-GB" dirty="0"/>
              <a:t>Although being free, MySQL is a powerful database server that can handle large data sets, up to 50 million rows or more in a table.</a:t>
            </a:r>
          </a:p>
          <a:p>
            <a:r>
              <a:rPr lang="en-GB" dirty="0"/>
              <a:t>It uses a standard form of SQL, and works on many operating systems and with many languages such as PHP, Java, C, C++, JavaScript, etc.</a:t>
            </a:r>
          </a:p>
        </p:txBody>
      </p:sp>
      <p:sp>
        <p:nvSpPr>
          <p:cNvPr id="4" name="Slide Number Placeholder 3">
            <a:extLst>
              <a:ext uri="{FF2B5EF4-FFF2-40B4-BE49-F238E27FC236}">
                <a16:creationId xmlns:a16="http://schemas.microsoft.com/office/drawing/2014/main" id="{C8D8F7FC-D8D6-4111-9EC8-3D91BD50E4D7}"/>
              </a:ext>
            </a:extLst>
          </p:cNvPr>
          <p:cNvSpPr>
            <a:spLocks noGrp="1"/>
          </p:cNvSpPr>
          <p:nvPr>
            <p:ph type="sldNum" sz="quarter" idx="12"/>
          </p:nvPr>
        </p:nvSpPr>
        <p:spPr/>
        <p:txBody>
          <a:bodyPr/>
          <a:lstStyle/>
          <a:p>
            <a:fld id="{8E9E4023-6F3A-457B-B0BB-8C1F114B424F}" type="slidenum">
              <a:rPr lang="en-SG" smtClean="0"/>
              <a:t>8</a:t>
            </a:fld>
            <a:endParaRPr lang="en-SG"/>
          </a:p>
        </p:txBody>
      </p:sp>
    </p:spTree>
    <p:extLst>
      <p:ext uri="{BB962C8B-B14F-4D97-AF65-F5344CB8AC3E}">
        <p14:creationId xmlns:p14="http://schemas.microsoft.com/office/powerpoint/2010/main" val="2450493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a Database Schema</a:t>
            </a:r>
          </a:p>
        </p:txBody>
      </p:sp>
      <p:sp>
        <p:nvSpPr>
          <p:cNvPr id="7" name="Content Placeholder 6"/>
          <p:cNvSpPr>
            <a:spLocks noGrp="1"/>
          </p:cNvSpPr>
          <p:nvPr>
            <p:ph idx="1"/>
          </p:nvPr>
        </p:nvSpPr>
        <p:spPr>
          <a:xfrm>
            <a:off x="1017638" y="1631314"/>
            <a:ext cx="10336162" cy="4726142"/>
          </a:xfrm>
        </p:spPr>
        <p:txBody>
          <a:bodyPr>
            <a:normAutofit fontScale="92500" lnSpcReduction="10000"/>
          </a:bodyPr>
          <a:lstStyle/>
          <a:p>
            <a:pPr>
              <a:lnSpc>
                <a:spcPct val="100000"/>
              </a:lnSpc>
            </a:pPr>
            <a:r>
              <a:rPr lang="en-GB" dirty="0"/>
              <a:t>In order to store data in a database, we need to first create a </a:t>
            </a:r>
            <a:r>
              <a:rPr lang="en-GB" b="1" dirty="0"/>
              <a:t>database schema</a:t>
            </a:r>
            <a:r>
              <a:rPr lang="en-GB" dirty="0"/>
              <a:t>.</a:t>
            </a:r>
          </a:p>
          <a:p>
            <a:pPr>
              <a:lnSpc>
                <a:spcPct val="100000"/>
              </a:lnSpc>
            </a:pPr>
            <a:r>
              <a:rPr lang="en-US" dirty="0"/>
              <a:t>A </a:t>
            </a:r>
            <a:r>
              <a:rPr lang="en-US" b="1" dirty="0"/>
              <a:t>database schema</a:t>
            </a:r>
            <a:r>
              <a:rPr lang="en-US" dirty="0"/>
              <a:t> is a structure that represents the logical view of the entire database of an application. The application can be web based, mobile based, or desktop based.</a:t>
            </a:r>
          </a:p>
          <a:p>
            <a:pPr>
              <a:lnSpc>
                <a:spcPct val="100000"/>
              </a:lnSpc>
            </a:pPr>
            <a:r>
              <a:rPr lang="en-GB" dirty="0"/>
              <a:t>The database schema is created through the design of tables and fields, and their constraints.</a:t>
            </a:r>
          </a:p>
          <a:p>
            <a:pPr>
              <a:lnSpc>
                <a:spcPct val="100000"/>
              </a:lnSpc>
            </a:pPr>
            <a:r>
              <a:rPr lang="en-GB" dirty="0"/>
              <a:t>After a database schema is created, a </a:t>
            </a:r>
            <a:r>
              <a:rPr lang="en-GB" b="1" dirty="0"/>
              <a:t>database instance</a:t>
            </a:r>
            <a:r>
              <a:rPr lang="en-GB" dirty="0"/>
              <a:t> can be started to allow for the operation of data.</a:t>
            </a:r>
          </a:p>
          <a:p>
            <a:pPr>
              <a:lnSpc>
                <a:spcPct val="100000"/>
              </a:lnSpc>
            </a:pPr>
            <a:r>
              <a:rPr lang="en-GB" dirty="0"/>
              <a:t>Once the database instance is operational, it is very difficult to make any changes to it. </a:t>
            </a:r>
          </a:p>
          <a:p>
            <a:pPr>
              <a:lnSpc>
                <a:spcPct val="100000"/>
              </a:lnSpc>
            </a:pPr>
            <a:endParaRPr lang="en-GB" dirty="0"/>
          </a:p>
        </p:txBody>
      </p:sp>
      <p:sp>
        <p:nvSpPr>
          <p:cNvPr id="6" name="Slide Number Placeholder 5"/>
          <p:cNvSpPr>
            <a:spLocks noGrp="1"/>
          </p:cNvSpPr>
          <p:nvPr>
            <p:ph type="sldNum" sz="quarter" idx="12"/>
          </p:nvPr>
        </p:nvSpPr>
        <p:spPr/>
        <p:txBody>
          <a:bodyPr/>
          <a:lstStyle/>
          <a:p>
            <a:fld id="{0FF54DE5-C571-48E8-A5BC-B369434E2F44}" type="slidenum">
              <a:rPr lang="uk-UA" smtClean="0"/>
              <a:t>9</a:t>
            </a:fld>
            <a:endParaRPr lang="uk-UA"/>
          </a:p>
        </p:txBody>
      </p:sp>
    </p:spTree>
    <p:extLst>
      <p:ext uri="{BB962C8B-B14F-4D97-AF65-F5344CB8AC3E}">
        <p14:creationId xmlns:p14="http://schemas.microsoft.com/office/powerpoint/2010/main" val="2695696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a Database Schema</a:t>
            </a:r>
          </a:p>
        </p:txBody>
      </p:sp>
      <p:sp>
        <p:nvSpPr>
          <p:cNvPr id="7" name="Content Placeholder 6"/>
          <p:cNvSpPr>
            <a:spLocks noGrp="1"/>
          </p:cNvSpPr>
          <p:nvPr>
            <p:ph sz="half" idx="1"/>
          </p:nvPr>
        </p:nvSpPr>
        <p:spPr>
          <a:xfrm>
            <a:off x="1104900" y="1600200"/>
            <a:ext cx="10248899" cy="1213833"/>
          </a:xfrm>
        </p:spPr>
        <p:txBody>
          <a:bodyPr>
            <a:normAutofit/>
          </a:bodyPr>
          <a:lstStyle/>
          <a:p>
            <a:pPr>
              <a:lnSpc>
                <a:spcPct val="100000"/>
              </a:lnSpc>
            </a:pPr>
            <a:r>
              <a:rPr lang="en-GB" sz="1600" dirty="0"/>
              <a:t>Your MySQL DB should have already automatically started. MySQL server runs on port 3306 by default.</a:t>
            </a:r>
          </a:p>
          <a:p>
            <a:pPr>
              <a:lnSpc>
                <a:spcPct val="100000"/>
              </a:lnSpc>
            </a:pPr>
            <a:r>
              <a:rPr lang="en-GB" sz="1600" dirty="0"/>
              <a:t>Refer to the demo </a:t>
            </a:r>
            <a:r>
              <a:rPr lang="en-GB" sz="1600" dirty="0">
                <a:hlinkClick r:id="rId2"/>
              </a:rPr>
              <a:t>here</a:t>
            </a:r>
            <a:endParaRPr lang="en-GB" sz="1600" dirty="0"/>
          </a:p>
          <a:p>
            <a:pPr>
              <a:lnSpc>
                <a:spcPct val="100000"/>
              </a:lnSpc>
            </a:pPr>
            <a:endParaRPr lang="en-US" sz="1600" dirty="0"/>
          </a:p>
          <a:p>
            <a:pPr>
              <a:lnSpc>
                <a:spcPct val="100000"/>
              </a:lnSpc>
            </a:pPr>
            <a:endParaRPr lang="en-GB" sz="1600" dirty="0"/>
          </a:p>
          <a:p>
            <a:pPr>
              <a:lnSpc>
                <a:spcPct val="100000"/>
              </a:lnSpc>
            </a:pPr>
            <a:endParaRPr lang="en-GB" sz="1600" dirty="0"/>
          </a:p>
        </p:txBody>
      </p:sp>
      <p:sp>
        <p:nvSpPr>
          <p:cNvPr id="6" name="Slide Number Placeholder 5"/>
          <p:cNvSpPr>
            <a:spLocks noGrp="1"/>
          </p:cNvSpPr>
          <p:nvPr>
            <p:ph type="sldNum" sz="quarter" idx="12"/>
          </p:nvPr>
        </p:nvSpPr>
        <p:spPr/>
        <p:txBody>
          <a:bodyPr/>
          <a:lstStyle/>
          <a:p>
            <a:fld id="{0FF54DE5-C571-48E8-A5BC-B369434E2F44}" type="slidenum">
              <a:rPr lang="uk-UA" smtClean="0"/>
              <a:t>10</a:t>
            </a:fld>
            <a:endParaRPr lang="uk-UA"/>
          </a:p>
        </p:txBody>
      </p:sp>
      <p:pic>
        <p:nvPicPr>
          <p:cNvPr id="8" name="Content Placeholder 7">
            <a:extLst>
              <a:ext uri="{FF2B5EF4-FFF2-40B4-BE49-F238E27FC236}">
                <a16:creationId xmlns:a16="http://schemas.microsoft.com/office/drawing/2014/main" id="{D6040CD4-0DF0-4645-B5AD-4FAF5EF63F9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3771899" y="2814033"/>
            <a:ext cx="4914900" cy="3409262"/>
          </a:xfrm>
          <a:effectLst>
            <a:outerShdw blurRad="50800" dist="38100" dir="5400000" algn="t" rotWithShape="0">
              <a:prstClr val="black">
                <a:alpha val="40000"/>
              </a:prstClr>
            </a:outerShdw>
          </a:effectLst>
        </p:spPr>
      </p:pic>
      <p:sp>
        <p:nvSpPr>
          <p:cNvPr id="10" name="Rectangular Callout 21">
            <a:extLst>
              <a:ext uri="{FF2B5EF4-FFF2-40B4-BE49-F238E27FC236}">
                <a16:creationId xmlns:a16="http://schemas.microsoft.com/office/drawing/2014/main" id="{9EFDC52B-99F4-4848-8434-641220B4FFFF}"/>
              </a:ext>
            </a:extLst>
          </p:cNvPr>
          <p:cNvSpPr/>
          <p:nvPr/>
        </p:nvSpPr>
        <p:spPr>
          <a:xfrm>
            <a:off x="1365886" y="5042080"/>
            <a:ext cx="2143608" cy="764360"/>
          </a:xfrm>
          <a:prstGeom prst="wedgeRectCallout">
            <a:avLst>
              <a:gd name="adj1" fmla="val 86402"/>
              <a:gd name="adj2" fmla="val -40997"/>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Click on this and go to slide 15. If you do not see this, go to next slide.</a:t>
            </a:r>
          </a:p>
        </p:txBody>
      </p:sp>
    </p:spTree>
    <p:extLst>
      <p:ext uri="{BB962C8B-B14F-4D97-AF65-F5344CB8AC3E}">
        <p14:creationId xmlns:p14="http://schemas.microsoft.com/office/powerpoint/2010/main" val="2088970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B644A-BEE6-411B-8523-F7F808E16503}"/>
              </a:ext>
            </a:extLst>
          </p:cNvPr>
          <p:cNvSpPr>
            <a:spLocks noGrp="1"/>
          </p:cNvSpPr>
          <p:nvPr>
            <p:ph type="title"/>
          </p:nvPr>
        </p:nvSpPr>
        <p:spPr/>
        <p:txBody>
          <a:bodyPr/>
          <a:lstStyle/>
          <a:p>
            <a:r>
              <a:rPr lang="en-GB" dirty="0"/>
              <a:t>Connecting to Database</a:t>
            </a:r>
          </a:p>
        </p:txBody>
      </p:sp>
      <p:sp>
        <p:nvSpPr>
          <p:cNvPr id="3" name="Content Placeholder 2">
            <a:extLst>
              <a:ext uri="{FF2B5EF4-FFF2-40B4-BE49-F238E27FC236}">
                <a16:creationId xmlns:a16="http://schemas.microsoft.com/office/drawing/2014/main" id="{D3079ED3-0E6C-4C55-9084-E8171E2AF1D3}"/>
              </a:ext>
            </a:extLst>
          </p:cNvPr>
          <p:cNvSpPr>
            <a:spLocks noGrp="1"/>
          </p:cNvSpPr>
          <p:nvPr>
            <p:ph sz="half" idx="1"/>
          </p:nvPr>
        </p:nvSpPr>
        <p:spPr/>
        <p:txBody>
          <a:bodyPr/>
          <a:lstStyle/>
          <a:p>
            <a:pPr>
              <a:lnSpc>
                <a:spcPct val="100000"/>
              </a:lnSpc>
            </a:pPr>
            <a:r>
              <a:rPr lang="en-GB" dirty="0"/>
              <a:t>Click on the “</a:t>
            </a:r>
            <a:r>
              <a:rPr lang="en-GB" dirty="0">
                <a:solidFill>
                  <a:srgbClr val="FF0000"/>
                </a:solidFill>
              </a:rPr>
              <a:t>+</a:t>
            </a:r>
            <a:r>
              <a:rPr lang="en-GB" dirty="0"/>
              <a:t>” sign as shown in the diagram.</a:t>
            </a:r>
          </a:p>
          <a:p>
            <a:pPr>
              <a:lnSpc>
                <a:spcPct val="100000"/>
              </a:lnSpc>
            </a:pPr>
            <a:r>
              <a:rPr lang="en-GB" dirty="0"/>
              <a:t>Go to the next slide.</a:t>
            </a:r>
          </a:p>
        </p:txBody>
      </p:sp>
      <p:sp>
        <p:nvSpPr>
          <p:cNvPr id="5" name="Slide Number Placeholder 4">
            <a:extLst>
              <a:ext uri="{FF2B5EF4-FFF2-40B4-BE49-F238E27FC236}">
                <a16:creationId xmlns:a16="http://schemas.microsoft.com/office/drawing/2014/main" id="{B1FEA3E4-F9F9-4601-80D5-89B608811094}"/>
              </a:ext>
            </a:extLst>
          </p:cNvPr>
          <p:cNvSpPr>
            <a:spLocks noGrp="1"/>
          </p:cNvSpPr>
          <p:nvPr>
            <p:ph type="sldNum" sz="quarter" idx="12"/>
          </p:nvPr>
        </p:nvSpPr>
        <p:spPr/>
        <p:txBody>
          <a:bodyPr/>
          <a:lstStyle/>
          <a:p>
            <a:fld id="{0FF54DE5-C571-48E8-A5BC-B369434E2F44}" type="slidenum">
              <a:rPr lang="en-US" smtClean="0"/>
              <a:t>11</a:t>
            </a:fld>
            <a:endParaRPr lang="en-US"/>
          </a:p>
        </p:txBody>
      </p:sp>
      <p:pic>
        <p:nvPicPr>
          <p:cNvPr id="13" name="Content Placeholder 12">
            <a:extLst>
              <a:ext uri="{FF2B5EF4-FFF2-40B4-BE49-F238E27FC236}">
                <a16:creationId xmlns:a16="http://schemas.microsoft.com/office/drawing/2014/main" id="{93E324F5-52D5-4593-8061-6447040B51E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20685" y="1701585"/>
            <a:ext cx="4914900" cy="2089668"/>
          </a:xfrm>
          <a:effectLst>
            <a:outerShdw blurRad="50800" dist="38100" dir="5400000" algn="t" rotWithShape="0">
              <a:prstClr val="black">
                <a:alpha val="40000"/>
              </a:prstClr>
            </a:outerShdw>
          </a:effectLst>
        </p:spPr>
      </p:pic>
      <p:sp>
        <p:nvSpPr>
          <p:cNvPr id="14" name="Rectangle 13">
            <a:extLst>
              <a:ext uri="{FF2B5EF4-FFF2-40B4-BE49-F238E27FC236}">
                <a16:creationId xmlns:a16="http://schemas.microsoft.com/office/drawing/2014/main" id="{0E42F11E-F111-4FEE-AAB1-BE058D389E01}"/>
              </a:ext>
            </a:extLst>
          </p:cNvPr>
          <p:cNvSpPr/>
          <p:nvPr/>
        </p:nvSpPr>
        <p:spPr>
          <a:xfrm>
            <a:off x="7959144" y="2533915"/>
            <a:ext cx="283335" cy="305876"/>
          </a:xfrm>
          <a:prstGeom prst="rect">
            <a:avLst/>
          </a:prstGeom>
          <a:noFill/>
          <a:ln>
            <a:solidFill>
              <a:srgbClr val="FF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91540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E363-3559-4A45-83B4-A7DFE89B76D4}"/>
              </a:ext>
            </a:extLst>
          </p:cNvPr>
          <p:cNvSpPr>
            <a:spLocks noGrp="1"/>
          </p:cNvSpPr>
          <p:nvPr>
            <p:ph type="title"/>
          </p:nvPr>
        </p:nvSpPr>
        <p:spPr/>
        <p:txBody>
          <a:bodyPr/>
          <a:lstStyle/>
          <a:p>
            <a:r>
              <a:rPr lang="en-GB" dirty="0"/>
              <a:t>Connecting to Database</a:t>
            </a:r>
          </a:p>
        </p:txBody>
      </p:sp>
      <p:sp>
        <p:nvSpPr>
          <p:cNvPr id="3" name="Content Placeholder 2">
            <a:extLst>
              <a:ext uri="{FF2B5EF4-FFF2-40B4-BE49-F238E27FC236}">
                <a16:creationId xmlns:a16="http://schemas.microsoft.com/office/drawing/2014/main" id="{A8A0E659-E8DD-4E21-AC07-8310A56EBD5A}"/>
              </a:ext>
            </a:extLst>
          </p:cNvPr>
          <p:cNvSpPr>
            <a:spLocks noGrp="1"/>
          </p:cNvSpPr>
          <p:nvPr>
            <p:ph sz="half" idx="1"/>
          </p:nvPr>
        </p:nvSpPr>
        <p:spPr/>
        <p:txBody>
          <a:bodyPr>
            <a:normAutofit fontScale="77500" lnSpcReduction="20000"/>
          </a:bodyPr>
          <a:lstStyle/>
          <a:p>
            <a:pPr>
              <a:lnSpc>
                <a:spcPct val="120000"/>
              </a:lnSpc>
            </a:pPr>
            <a:r>
              <a:rPr lang="en-GB" dirty="0"/>
              <a:t>A new window will appear to setup a new connection.</a:t>
            </a:r>
          </a:p>
          <a:p>
            <a:pPr>
              <a:lnSpc>
                <a:spcPct val="120000"/>
              </a:lnSpc>
            </a:pPr>
            <a:r>
              <a:rPr lang="en-GB" dirty="0"/>
              <a:t>For the </a:t>
            </a:r>
            <a:r>
              <a:rPr lang="en-GB" b="1" dirty="0"/>
              <a:t>Connection Name</a:t>
            </a:r>
            <a:r>
              <a:rPr lang="en-GB" dirty="0"/>
              <a:t>, enter “</a:t>
            </a:r>
            <a:r>
              <a:rPr lang="en-GB" dirty="0">
                <a:solidFill>
                  <a:srgbClr val="FF0000"/>
                </a:solidFill>
              </a:rPr>
              <a:t>Local instance 3306</a:t>
            </a:r>
            <a:r>
              <a:rPr lang="en-GB" dirty="0"/>
              <a:t>”.</a:t>
            </a:r>
          </a:p>
          <a:p>
            <a:pPr>
              <a:lnSpc>
                <a:spcPct val="120000"/>
              </a:lnSpc>
            </a:pPr>
            <a:r>
              <a:rPr lang="en-GB" dirty="0"/>
              <a:t>Click on </a:t>
            </a:r>
            <a:r>
              <a:rPr lang="en-GB" b="1" dirty="0"/>
              <a:t>Test Connection</a:t>
            </a:r>
            <a:r>
              <a:rPr lang="en-GB" dirty="0"/>
              <a:t> button to check if connection to database is successful.</a:t>
            </a:r>
          </a:p>
          <a:p>
            <a:pPr>
              <a:lnSpc>
                <a:spcPct val="120000"/>
              </a:lnSpc>
            </a:pPr>
            <a:r>
              <a:rPr lang="en-GB" dirty="0"/>
              <a:t>If unsuccessful, check if your database server is up and running.</a:t>
            </a:r>
          </a:p>
          <a:p>
            <a:pPr>
              <a:lnSpc>
                <a:spcPct val="120000"/>
              </a:lnSpc>
            </a:pPr>
            <a:r>
              <a:rPr lang="en-GB" dirty="0"/>
              <a:t>If successful, click on </a:t>
            </a:r>
            <a:r>
              <a:rPr lang="en-GB" b="1" dirty="0"/>
              <a:t>OK</a:t>
            </a:r>
            <a:r>
              <a:rPr lang="en-GB" dirty="0"/>
              <a:t> button then go to slide 12.</a:t>
            </a:r>
          </a:p>
        </p:txBody>
      </p:sp>
      <p:sp>
        <p:nvSpPr>
          <p:cNvPr id="5" name="Slide Number Placeholder 4">
            <a:extLst>
              <a:ext uri="{FF2B5EF4-FFF2-40B4-BE49-F238E27FC236}">
                <a16:creationId xmlns:a16="http://schemas.microsoft.com/office/drawing/2014/main" id="{50ACC3B8-F384-4368-9F2D-766877449A88}"/>
              </a:ext>
            </a:extLst>
          </p:cNvPr>
          <p:cNvSpPr>
            <a:spLocks noGrp="1"/>
          </p:cNvSpPr>
          <p:nvPr>
            <p:ph type="sldNum" sz="quarter" idx="12"/>
          </p:nvPr>
        </p:nvSpPr>
        <p:spPr/>
        <p:txBody>
          <a:bodyPr/>
          <a:lstStyle/>
          <a:p>
            <a:fld id="{0FF54DE5-C571-48E8-A5BC-B369434E2F44}" type="slidenum">
              <a:rPr lang="en-US" smtClean="0"/>
              <a:t>12</a:t>
            </a:fld>
            <a:endParaRPr lang="en-US"/>
          </a:p>
        </p:txBody>
      </p:sp>
      <p:pic>
        <p:nvPicPr>
          <p:cNvPr id="6" name="Content Placeholder 5">
            <a:extLst>
              <a:ext uri="{FF2B5EF4-FFF2-40B4-BE49-F238E27FC236}">
                <a16:creationId xmlns:a16="http://schemas.microsoft.com/office/drawing/2014/main" id="{39F1FFF9-3829-45AE-B650-AB7E721ED07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345989"/>
            <a:ext cx="4914900" cy="3080421"/>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14954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a Database Schema</a:t>
            </a:r>
          </a:p>
        </p:txBody>
      </p:sp>
      <p:sp>
        <p:nvSpPr>
          <p:cNvPr id="7" name="Content Placeholder 6"/>
          <p:cNvSpPr>
            <a:spLocks noGrp="1"/>
          </p:cNvSpPr>
          <p:nvPr>
            <p:ph sz="half" idx="1"/>
          </p:nvPr>
        </p:nvSpPr>
        <p:spPr>
          <a:xfrm>
            <a:off x="1104900" y="1600200"/>
            <a:ext cx="10248899" cy="1394137"/>
          </a:xfrm>
        </p:spPr>
        <p:txBody>
          <a:bodyPr>
            <a:normAutofit/>
          </a:bodyPr>
          <a:lstStyle/>
          <a:p>
            <a:pPr>
              <a:lnSpc>
                <a:spcPct val="100000"/>
              </a:lnSpc>
            </a:pPr>
            <a:r>
              <a:rPr lang="en-GB" sz="1600" dirty="0"/>
              <a:t>Once connected, you will see a similar window as shown here.</a:t>
            </a:r>
          </a:p>
          <a:p>
            <a:pPr>
              <a:lnSpc>
                <a:spcPct val="100000"/>
              </a:lnSpc>
            </a:pPr>
            <a:r>
              <a:rPr lang="en-GB" sz="1600" dirty="0"/>
              <a:t>As a practice, create a new schema by clicking on the icon as shown.</a:t>
            </a:r>
          </a:p>
          <a:p>
            <a:pPr>
              <a:lnSpc>
                <a:spcPct val="100000"/>
              </a:lnSpc>
            </a:pPr>
            <a:endParaRPr lang="en-US" sz="1600" dirty="0"/>
          </a:p>
          <a:p>
            <a:pPr>
              <a:lnSpc>
                <a:spcPct val="100000"/>
              </a:lnSpc>
            </a:pPr>
            <a:endParaRPr lang="en-GB" sz="1600" dirty="0"/>
          </a:p>
          <a:p>
            <a:pPr>
              <a:lnSpc>
                <a:spcPct val="100000"/>
              </a:lnSpc>
            </a:pPr>
            <a:endParaRPr lang="en-GB" sz="1600" dirty="0"/>
          </a:p>
        </p:txBody>
      </p:sp>
      <p:sp>
        <p:nvSpPr>
          <p:cNvPr id="6" name="Slide Number Placeholder 5"/>
          <p:cNvSpPr>
            <a:spLocks noGrp="1"/>
          </p:cNvSpPr>
          <p:nvPr>
            <p:ph type="sldNum" sz="quarter" idx="12"/>
          </p:nvPr>
        </p:nvSpPr>
        <p:spPr/>
        <p:txBody>
          <a:bodyPr/>
          <a:lstStyle/>
          <a:p>
            <a:fld id="{0FF54DE5-C571-48E8-A5BC-B369434E2F44}" type="slidenum">
              <a:rPr lang="uk-UA" smtClean="0"/>
              <a:t>13</a:t>
            </a:fld>
            <a:endParaRPr lang="uk-UA"/>
          </a:p>
        </p:txBody>
      </p:sp>
      <p:pic>
        <p:nvPicPr>
          <p:cNvPr id="8" name="Content Placeholder 7">
            <a:extLst>
              <a:ext uri="{FF2B5EF4-FFF2-40B4-BE49-F238E27FC236}">
                <a16:creationId xmlns:a16="http://schemas.microsoft.com/office/drawing/2014/main" id="{9CFE18E9-D0F4-440E-A3D8-C19470F38DB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459270" y="3396074"/>
            <a:ext cx="5460794" cy="2229496"/>
          </a:xfrm>
          <a:effectLst>
            <a:outerShdw blurRad="50800" dist="38100" dir="5400000" algn="t" rotWithShape="0">
              <a:prstClr val="black">
                <a:alpha val="40000"/>
              </a:prstClr>
            </a:outerShdw>
          </a:effectLst>
        </p:spPr>
      </p:pic>
      <p:sp>
        <p:nvSpPr>
          <p:cNvPr id="10" name="Rectangular Callout 21">
            <a:extLst>
              <a:ext uri="{FF2B5EF4-FFF2-40B4-BE49-F238E27FC236}">
                <a16:creationId xmlns:a16="http://schemas.microsoft.com/office/drawing/2014/main" id="{7D7C4220-D48A-49FD-8E8B-8D17CBE86C3F}"/>
              </a:ext>
            </a:extLst>
          </p:cNvPr>
          <p:cNvSpPr/>
          <p:nvPr/>
        </p:nvSpPr>
        <p:spPr>
          <a:xfrm>
            <a:off x="3664040" y="2776642"/>
            <a:ext cx="1223493" cy="418564"/>
          </a:xfrm>
          <a:prstGeom prst="wedgeRectCallout">
            <a:avLst>
              <a:gd name="adj1" fmla="val 35414"/>
              <a:gd name="adj2" fmla="val 204898"/>
            </a:avLst>
          </a:prstGeom>
          <a:solidFill>
            <a:schemeClr val="accent5">
              <a:lumMod val="75000"/>
            </a:schemeClr>
          </a:solidFill>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latin typeface="Arial Unicode MS" charset="0"/>
                <a:ea typeface="Arial Unicode MS" charset="0"/>
                <a:cs typeface="Arial Unicode MS" charset="0"/>
              </a:rPr>
              <a:t>Click on this.</a:t>
            </a:r>
          </a:p>
        </p:txBody>
      </p:sp>
    </p:spTree>
    <p:extLst>
      <p:ext uri="{BB962C8B-B14F-4D97-AF65-F5344CB8AC3E}">
        <p14:creationId xmlns:p14="http://schemas.microsoft.com/office/powerpoint/2010/main" val="3137784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a Database Schema</a:t>
            </a:r>
          </a:p>
        </p:txBody>
      </p:sp>
      <p:sp>
        <p:nvSpPr>
          <p:cNvPr id="7" name="Content Placeholder 6"/>
          <p:cNvSpPr>
            <a:spLocks noGrp="1"/>
          </p:cNvSpPr>
          <p:nvPr>
            <p:ph sz="half" idx="1"/>
          </p:nvPr>
        </p:nvSpPr>
        <p:spPr>
          <a:xfrm>
            <a:off x="1104901" y="1600200"/>
            <a:ext cx="3762664" cy="4757255"/>
          </a:xfrm>
        </p:spPr>
        <p:txBody>
          <a:bodyPr>
            <a:normAutofit/>
          </a:bodyPr>
          <a:lstStyle/>
          <a:p>
            <a:pPr>
              <a:lnSpc>
                <a:spcPct val="100000"/>
              </a:lnSpc>
            </a:pPr>
            <a:r>
              <a:rPr lang="en-GB" sz="1600" dirty="0"/>
              <a:t>A “</a:t>
            </a:r>
            <a:r>
              <a:rPr lang="en-GB" sz="1600" b="1" dirty="0"/>
              <a:t>new_schema</a:t>
            </a:r>
            <a:r>
              <a:rPr lang="en-GB" sz="1600" dirty="0"/>
              <a:t>” tab will appear.</a:t>
            </a:r>
          </a:p>
          <a:p>
            <a:pPr>
              <a:lnSpc>
                <a:spcPct val="100000"/>
              </a:lnSpc>
            </a:pPr>
            <a:r>
              <a:rPr lang="en-US" sz="1600" dirty="0"/>
              <a:t>For </a:t>
            </a:r>
            <a:r>
              <a:rPr lang="en-US" sz="1600" b="1" dirty="0"/>
              <a:t>Schema Name</a:t>
            </a:r>
            <a:r>
              <a:rPr lang="en-US" sz="1600" dirty="0"/>
              <a:t>, enter </a:t>
            </a:r>
            <a:r>
              <a:rPr lang="en-US" sz="1600" b="1" dirty="0">
                <a:solidFill>
                  <a:srgbClr val="FF0000"/>
                </a:solidFill>
                <a:latin typeface="Courier"/>
              </a:rPr>
              <a:t>my_database</a:t>
            </a:r>
            <a:r>
              <a:rPr lang="en-US" sz="1600" dirty="0"/>
              <a:t>.</a:t>
            </a:r>
          </a:p>
          <a:p>
            <a:pPr>
              <a:lnSpc>
                <a:spcPct val="100000"/>
              </a:lnSpc>
            </a:pPr>
            <a:r>
              <a:rPr lang="en-US" sz="1600" dirty="0"/>
              <a:t>For </a:t>
            </a:r>
            <a:r>
              <a:rPr lang="en-US" sz="1600" b="1" dirty="0"/>
              <a:t>Default Collation</a:t>
            </a:r>
            <a:r>
              <a:rPr lang="en-US" sz="1600" dirty="0"/>
              <a:t>, select </a:t>
            </a:r>
            <a:r>
              <a:rPr lang="en-US" sz="1600" dirty="0">
                <a:solidFill>
                  <a:srgbClr val="FF0000"/>
                </a:solidFill>
              </a:rPr>
              <a:t>utf8mb4 – utf8mb4_Unicode_ci</a:t>
            </a:r>
            <a:r>
              <a:rPr lang="en-US" sz="1600" dirty="0"/>
              <a:t>.</a:t>
            </a:r>
          </a:p>
          <a:p>
            <a:pPr>
              <a:lnSpc>
                <a:spcPct val="100000"/>
              </a:lnSpc>
            </a:pPr>
            <a:r>
              <a:rPr lang="en-US" sz="1600" dirty="0"/>
              <a:t>The </a:t>
            </a:r>
            <a:r>
              <a:rPr lang="en-US" sz="1600" b="1" dirty="0"/>
              <a:t>Default Collation</a:t>
            </a:r>
            <a:r>
              <a:rPr lang="en-US" sz="1600" dirty="0"/>
              <a:t> allows you to store data in different character encodings.</a:t>
            </a:r>
          </a:p>
          <a:p>
            <a:pPr>
              <a:lnSpc>
                <a:spcPct val="100000"/>
              </a:lnSpc>
            </a:pPr>
            <a:r>
              <a:rPr lang="en-US" sz="1600" dirty="0"/>
              <a:t>By selecting </a:t>
            </a:r>
            <a:r>
              <a:rPr lang="en-US" sz="1600" dirty="0">
                <a:solidFill>
                  <a:srgbClr val="FF0000"/>
                </a:solidFill>
              </a:rPr>
              <a:t>utf8mb4 – utf8mb4_Unicode_ci</a:t>
            </a:r>
            <a:r>
              <a:rPr lang="en-US" sz="1600" dirty="0"/>
              <a:t>, your database will be able to store Asian characters such as Chinese, Korean and Japanese.</a:t>
            </a:r>
          </a:p>
          <a:p>
            <a:pPr>
              <a:lnSpc>
                <a:spcPct val="100000"/>
              </a:lnSpc>
            </a:pPr>
            <a:r>
              <a:rPr lang="en-US" sz="1600" dirty="0"/>
              <a:t>Click the </a:t>
            </a:r>
            <a:r>
              <a:rPr lang="en-US" sz="1600" b="1" dirty="0"/>
              <a:t>Apply</a:t>
            </a:r>
            <a:r>
              <a:rPr lang="en-US" sz="1600" dirty="0"/>
              <a:t> button.</a:t>
            </a:r>
          </a:p>
          <a:p>
            <a:pPr marL="0" indent="0">
              <a:lnSpc>
                <a:spcPct val="100000"/>
              </a:lnSpc>
              <a:buNone/>
            </a:pPr>
            <a:endParaRPr lang="en-GB" sz="1200" dirty="0"/>
          </a:p>
          <a:p>
            <a:pPr lvl="1">
              <a:lnSpc>
                <a:spcPct val="100000"/>
              </a:lnSpc>
            </a:pPr>
            <a:endParaRPr lang="en-GB" sz="1200" dirty="0"/>
          </a:p>
          <a:p>
            <a:pPr>
              <a:lnSpc>
                <a:spcPct val="100000"/>
              </a:lnSpc>
            </a:pPr>
            <a:endParaRPr lang="en-US" sz="1600" dirty="0"/>
          </a:p>
          <a:p>
            <a:pPr>
              <a:lnSpc>
                <a:spcPct val="100000"/>
              </a:lnSpc>
            </a:pPr>
            <a:endParaRPr lang="en-GB" sz="1600" dirty="0"/>
          </a:p>
          <a:p>
            <a:pPr>
              <a:lnSpc>
                <a:spcPct val="100000"/>
              </a:lnSpc>
            </a:pPr>
            <a:endParaRPr lang="en-GB" sz="1600" dirty="0"/>
          </a:p>
        </p:txBody>
      </p:sp>
      <p:sp>
        <p:nvSpPr>
          <p:cNvPr id="6" name="Slide Number Placeholder 5"/>
          <p:cNvSpPr>
            <a:spLocks noGrp="1"/>
          </p:cNvSpPr>
          <p:nvPr>
            <p:ph type="sldNum" sz="quarter" idx="12"/>
          </p:nvPr>
        </p:nvSpPr>
        <p:spPr/>
        <p:txBody>
          <a:bodyPr/>
          <a:lstStyle/>
          <a:p>
            <a:fld id="{0FF54DE5-C571-48E8-A5BC-B369434E2F44}" type="slidenum">
              <a:rPr lang="uk-UA" smtClean="0"/>
              <a:t>14</a:t>
            </a:fld>
            <a:endParaRPr lang="uk-UA"/>
          </a:p>
        </p:txBody>
      </p:sp>
      <p:pic>
        <p:nvPicPr>
          <p:cNvPr id="13" name="Content Placeholder 12">
            <a:extLst>
              <a:ext uri="{FF2B5EF4-FFF2-40B4-BE49-F238E27FC236}">
                <a16:creationId xmlns:a16="http://schemas.microsoft.com/office/drawing/2014/main" id="{A453BB60-BD8A-44A9-9697-EBEB673AA70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478968" y="1600200"/>
            <a:ext cx="5646768" cy="3916306"/>
          </a:xfr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380025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53F9C-DDB0-4098-936A-6595AF715340}"/>
              </a:ext>
            </a:extLst>
          </p:cNvPr>
          <p:cNvSpPr>
            <a:spLocks noGrp="1"/>
          </p:cNvSpPr>
          <p:nvPr>
            <p:ph type="title"/>
          </p:nvPr>
        </p:nvSpPr>
        <p:spPr/>
        <p:txBody>
          <a:bodyPr/>
          <a:lstStyle/>
          <a:p>
            <a:r>
              <a:rPr lang="en-GB" dirty="0"/>
              <a:t>Creating a Database Schema</a:t>
            </a:r>
          </a:p>
        </p:txBody>
      </p:sp>
      <p:sp>
        <p:nvSpPr>
          <p:cNvPr id="5" name="Slide Number Placeholder 4">
            <a:extLst>
              <a:ext uri="{FF2B5EF4-FFF2-40B4-BE49-F238E27FC236}">
                <a16:creationId xmlns:a16="http://schemas.microsoft.com/office/drawing/2014/main" id="{58EAD1C9-F1F5-40BB-808C-4284638A5D48}"/>
              </a:ext>
            </a:extLst>
          </p:cNvPr>
          <p:cNvSpPr>
            <a:spLocks noGrp="1"/>
          </p:cNvSpPr>
          <p:nvPr>
            <p:ph type="sldNum" sz="quarter" idx="12"/>
          </p:nvPr>
        </p:nvSpPr>
        <p:spPr/>
        <p:txBody>
          <a:bodyPr/>
          <a:lstStyle/>
          <a:p>
            <a:fld id="{0FF54DE5-C571-48E8-A5BC-B369434E2F44}" type="slidenum">
              <a:rPr lang="en-US" smtClean="0"/>
              <a:t>15</a:t>
            </a:fld>
            <a:endParaRPr lang="en-US"/>
          </a:p>
        </p:txBody>
      </p:sp>
      <p:sp>
        <p:nvSpPr>
          <p:cNvPr id="11" name="Content Placeholder 6">
            <a:extLst>
              <a:ext uri="{FF2B5EF4-FFF2-40B4-BE49-F238E27FC236}">
                <a16:creationId xmlns:a16="http://schemas.microsoft.com/office/drawing/2014/main" id="{591E7C91-E0E0-4192-85E2-AAB5A7B25232}"/>
              </a:ext>
            </a:extLst>
          </p:cNvPr>
          <p:cNvSpPr txBox="1">
            <a:spLocks/>
          </p:cNvSpPr>
          <p:nvPr/>
        </p:nvSpPr>
        <p:spPr>
          <a:xfrm>
            <a:off x="1104900" y="1600201"/>
            <a:ext cx="10248899" cy="6811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sz="1600" dirty="0"/>
              <a:t>In this window the SQL codes for creating schema is shown. Study the codes and </a:t>
            </a:r>
            <a:r>
              <a:rPr lang="en-US" sz="1600" dirty="0"/>
              <a:t>click the </a:t>
            </a:r>
            <a:r>
              <a:rPr lang="en-US" sz="1600" b="1" dirty="0"/>
              <a:t>Apply</a:t>
            </a:r>
            <a:r>
              <a:rPr lang="en-US" sz="1600" dirty="0"/>
              <a:t> button when you’re done</a:t>
            </a:r>
            <a:r>
              <a:rPr lang="en-GB" sz="1600" dirty="0"/>
              <a:t>.</a:t>
            </a:r>
          </a:p>
          <a:p>
            <a:pPr>
              <a:lnSpc>
                <a:spcPct val="100000"/>
              </a:lnSpc>
            </a:pPr>
            <a:endParaRPr lang="en-US" sz="1600" dirty="0"/>
          </a:p>
          <a:p>
            <a:pPr>
              <a:lnSpc>
                <a:spcPct val="100000"/>
              </a:lnSpc>
            </a:pPr>
            <a:endParaRPr lang="en-GB" sz="1600" dirty="0"/>
          </a:p>
          <a:p>
            <a:pPr>
              <a:lnSpc>
                <a:spcPct val="100000"/>
              </a:lnSpc>
            </a:pPr>
            <a:endParaRPr lang="en-GB" sz="1600" dirty="0"/>
          </a:p>
        </p:txBody>
      </p:sp>
      <p:pic>
        <p:nvPicPr>
          <p:cNvPr id="7" name="Content Placeholder 6">
            <a:extLst>
              <a:ext uri="{FF2B5EF4-FFF2-40B4-BE49-F238E27FC236}">
                <a16:creationId xmlns:a16="http://schemas.microsoft.com/office/drawing/2014/main" id="{3B4D31D2-6548-45F1-B279-91847D0624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15713" y="2348110"/>
            <a:ext cx="5427272" cy="3863687"/>
          </a:xfrm>
          <a:effectLst>
            <a:outerShdw blurRad="50800" dist="38100" dir="5400000" algn="t" rotWithShape="0">
              <a:prstClr val="black">
                <a:alpha val="40000"/>
              </a:prstClr>
            </a:outerShdw>
          </a:effectLst>
        </p:spPr>
      </p:pic>
      <p:sp>
        <p:nvSpPr>
          <p:cNvPr id="10" name="Speech Bubble: Rectangle 9">
            <a:extLst>
              <a:ext uri="{FF2B5EF4-FFF2-40B4-BE49-F238E27FC236}">
                <a16:creationId xmlns:a16="http://schemas.microsoft.com/office/drawing/2014/main" id="{8D8A625A-CBDB-464F-896E-452831B00CE8}"/>
              </a:ext>
            </a:extLst>
          </p:cNvPr>
          <p:cNvSpPr/>
          <p:nvPr/>
        </p:nvSpPr>
        <p:spPr>
          <a:xfrm>
            <a:off x="2685244" y="3754191"/>
            <a:ext cx="6703455" cy="1300767"/>
          </a:xfrm>
          <a:prstGeom prst="wedgeRectCallout">
            <a:avLst>
              <a:gd name="adj1" fmla="val 20481"/>
              <a:gd name="adj2" fmla="val -877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b="1" dirty="0">
                <a:latin typeface="Courier"/>
              </a:rPr>
              <a:t>CREATE SCHEMA ‘my_database’ DEFAULT CHARACTER SET utf8mb4 COLLATE utf8mb4_unicode_ci;</a:t>
            </a:r>
          </a:p>
        </p:txBody>
      </p:sp>
    </p:spTree>
    <p:extLst>
      <p:ext uri="{BB962C8B-B14F-4D97-AF65-F5344CB8AC3E}">
        <p14:creationId xmlns:p14="http://schemas.microsoft.com/office/powerpoint/2010/main" val="752832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58464-84B5-4275-883A-9F6BF579ED48}"/>
              </a:ext>
            </a:extLst>
          </p:cNvPr>
          <p:cNvSpPr>
            <a:spLocks noGrp="1"/>
          </p:cNvSpPr>
          <p:nvPr>
            <p:ph type="title"/>
          </p:nvPr>
        </p:nvSpPr>
        <p:spPr/>
        <p:txBody>
          <a:bodyPr/>
          <a:lstStyle/>
          <a:p>
            <a:r>
              <a:rPr lang="en-GB" dirty="0"/>
              <a:t>Creating a Database Schema</a:t>
            </a:r>
          </a:p>
        </p:txBody>
      </p:sp>
      <p:sp>
        <p:nvSpPr>
          <p:cNvPr id="3" name="Content Placeholder 2">
            <a:extLst>
              <a:ext uri="{FF2B5EF4-FFF2-40B4-BE49-F238E27FC236}">
                <a16:creationId xmlns:a16="http://schemas.microsoft.com/office/drawing/2014/main" id="{75FA7E56-6B24-42B3-AD09-F99624CC0A16}"/>
              </a:ext>
            </a:extLst>
          </p:cNvPr>
          <p:cNvSpPr>
            <a:spLocks noGrp="1"/>
          </p:cNvSpPr>
          <p:nvPr>
            <p:ph idx="1"/>
          </p:nvPr>
        </p:nvSpPr>
        <p:spPr>
          <a:xfrm>
            <a:off x="1017638" y="1631314"/>
            <a:ext cx="10336162" cy="1105447"/>
          </a:xfrm>
        </p:spPr>
        <p:txBody>
          <a:bodyPr>
            <a:normAutofit/>
          </a:bodyPr>
          <a:lstStyle/>
          <a:p>
            <a:r>
              <a:rPr lang="en-GB" dirty="0"/>
              <a:t>In this window, click on the </a:t>
            </a:r>
            <a:r>
              <a:rPr lang="en-GB" b="1" dirty="0"/>
              <a:t>Close</a:t>
            </a:r>
            <a:r>
              <a:rPr lang="en-GB" dirty="0"/>
              <a:t> button.</a:t>
            </a:r>
          </a:p>
        </p:txBody>
      </p:sp>
      <p:sp>
        <p:nvSpPr>
          <p:cNvPr id="4" name="Slide Number Placeholder 3">
            <a:extLst>
              <a:ext uri="{FF2B5EF4-FFF2-40B4-BE49-F238E27FC236}">
                <a16:creationId xmlns:a16="http://schemas.microsoft.com/office/drawing/2014/main" id="{1B1AF702-972D-4CD1-AC85-7871C44CFAAC}"/>
              </a:ext>
            </a:extLst>
          </p:cNvPr>
          <p:cNvSpPr>
            <a:spLocks noGrp="1"/>
          </p:cNvSpPr>
          <p:nvPr>
            <p:ph type="sldNum" sz="quarter" idx="12"/>
          </p:nvPr>
        </p:nvSpPr>
        <p:spPr/>
        <p:txBody>
          <a:bodyPr/>
          <a:lstStyle/>
          <a:p>
            <a:fld id="{8E9E4023-6F3A-457B-B0BB-8C1F114B424F}" type="slidenum">
              <a:rPr lang="en-SG" smtClean="0"/>
              <a:t>16</a:t>
            </a:fld>
            <a:endParaRPr lang="en-SG"/>
          </a:p>
        </p:txBody>
      </p:sp>
      <p:pic>
        <p:nvPicPr>
          <p:cNvPr id="7" name="Picture 6">
            <a:extLst>
              <a:ext uri="{FF2B5EF4-FFF2-40B4-BE49-F238E27FC236}">
                <a16:creationId xmlns:a16="http://schemas.microsoft.com/office/drawing/2014/main" id="{D7785438-21AA-434E-8E64-53178C202F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8014" y="2316930"/>
            <a:ext cx="5335408" cy="3804223"/>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595241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58464-84B5-4275-883A-9F6BF579ED48}"/>
              </a:ext>
            </a:extLst>
          </p:cNvPr>
          <p:cNvSpPr>
            <a:spLocks noGrp="1"/>
          </p:cNvSpPr>
          <p:nvPr>
            <p:ph type="title"/>
          </p:nvPr>
        </p:nvSpPr>
        <p:spPr/>
        <p:txBody>
          <a:bodyPr/>
          <a:lstStyle/>
          <a:p>
            <a:r>
              <a:rPr lang="en-GB" dirty="0"/>
              <a:t>Adding Acknowledgement Modal Window</a:t>
            </a:r>
          </a:p>
        </p:txBody>
      </p:sp>
      <p:sp>
        <p:nvSpPr>
          <p:cNvPr id="3" name="Content Placeholder 2">
            <a:extLst>
              <a:ext uri="{FF2B5EF4-FFF2-40B4-BE49-F238E27FC236}">
                <a16:creationId xmlns:a16="http://schemas.microsoft.com/office/drawing/2014/main" id="{75FA7E56-6B24-42B3-AD09-F99624CC0A16}"/>
              </a:ext>
            </a:extLst>
          </p:cNvPr>
          <p:cNvSpPr>
            <a:spLocks noGrp="1"/>
          </p:cNvSpPr>
          <p:nvPr>
            <p:ph idx="1"/>
          </p:nvPr>
        </p:nvSpPr>
        <p:spPr>
          <a:xfrm>
            <a:off x="1017638" y="1631314"/>
            <a:ext cx="4198306" cy="4726142"/>
          </a:xfrm>
        </p:spPr>
        <p:txBody>
          <a:bodyPr>
            <a:normAutofit/>
          </a:bodyPr>
          <a:lstStyle/>
          <a:p>
            <a:pPr>
              <a:lnSpc>
                <a:spcPct val="100000"/>
              </a:lnSpc>
            </a:pPr>
            <a:r>
              <a:rPr lang="en-GB" dirty="0"/>
              <a:t>In the left panel, under SCHEMAS, you should see </a:t>
            </a:r>
            <a:r>
              <a:rPr lang="en-GB" dirty="0" err="1">
                <a:solidFill>
                  <a:srgbClr val="FF0000"/>
                </a:solidFill>
              </a:rPr>
              <a:t>my_database</a:t>
            </a:r>
            <a:r>
              <a:rPr lang="en-GB" dirty="0"/>
              <a:t> appear.</a:t>
            </a:r>
          </a:p>
        </p:txBody>
      </p:sp>
      <p:sp>
        <p:nvSpPr>
          <p:cNvPr id="4" name="Slide Number Placeholder 3">
            <a:extLst>
              <a:ext uri="{FF2B5EF4-FFF2-40B4-BE49-F238E27FC236}">
                <a16:creationId xmlns:a16="http://schemas.microsoft.com/office/drawing/2014/main" id="{1B1AF702-972D-4CD1-AC85-7871C44CFAAC}"/>
              </a:ext>
            </a:extLst>
          </p:cNvPr>
          <p:cNvSpPr>
            <a:spLocks noGrp="1"/>
          </p:cNvSpPr>
          <p:nvPr>
            <p:ph type="sldNum" sz="quarter" idx="12"/>
          </p:nvPr>
        </p:nvSpPr>
        <p:spPr/>
        <p:txBody>
          <a:bodyPr/>
          <a:lstStyle/>
          <a:p>
            <a:fld id="{8E9E4023-6F3A-457B-B0BB-8C1F114B424F}" type="slidenum">
              <a:rPr lang="en-SG" smtClean="0"/>
              <a:t>17</a:t>
            </a:fld>
            <a:endParaRPr lang="en-SG"/>
          </a:p>
        </p:txBody>
      </p:sp>
      <p:pic>
        <p:nvPicPr>
          <p:cNvPr id="6" name="Picture 5">
            <a:extLst>
              <a:ext uri="{FF2B5EF4-FFF2-40B4-BE49-F238E27FC236}">
                <a16:creationId xmlns:a16="http://schemas.microsoft.com/office/drawing/2014/main" id="{B24D9FA1-B115-4631-88E6-2849DF4E71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9218" y="1481069"/>
            <a:ext cx="1751317" cy="4932609"/>
          </a:xfrm>
          <a:prstGeom prst="rect">
            <a:avLst/>
          </a:prstGeom>
          <a:effectLst>
            <a:outerShdw blurRad="50800" dist="38100" dir="5400000" algn="t" rotWithShape="0">
              <a:prstClr val="black">
                <a:alpha val="40000"/>
              </a:prstClr>
            </a:outerShdw>
          </a:effectLst>
        </p:spPr>
      </p:pic>
      <p:sp>
        <p:nvSpPr>
          <p:cNvPr id="8" name="Rectangle 7">
            <a:extLst>
              <a:ext uri="{FF2B5EF4-FFF2-40B4-BE49-F238E27FC236}">
                <a16:creationId xmlns:a16="http://schemas.microsoft.com/office/drawing/2014/main" id="{E5A43C1A-5A53-48E2-AF8C-CF99998C8AA3}"/>
              </a:ext>
            </a:extLst>
          </p:cNvPr>
          <p:cNvSpPr/>
          <p:nvPr/>
        </p:nvSpPr>
        <p:spPr>
          <a:xfrm>
            <a:off x="7495504" y="4468967"/>
            <a:ext cx="1300767" cy="212503"/>
          </a:xfrm>
          <a:prstGeom prst="rect">
            <a:avLst/>
          </a:prstGeom>
          <a:noFill/>
          <a:ln>
            <a:solidFill>
              <a:srgbClr val="FF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5262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 TO SQL</a:t>
            </a:r>
          </a:p>
        </p:txBody>
      </p:sp>
      <p:sp>
        <p:nvSpPr>
          <p:cNvPr id="3" name="Text Placeholder 2"/>
          <p:cNvSpPr>
            <a:spLocks noGrp="1"/>
          </p:cNvSpPr>
          <p:nvPr>
            <p:ph type="body" idx="1"/>
          </p:nvPr>
        </p:nvSpPr>
        <p:spPr/>
        <p:txBody>
          <a:bodyPr/>
          <a:lstStyle/>
          <a:p>
            <a:endParaRPr lang="en-GB"/>
          </a:p>
        </p:txBody>
      </p:sp>
      <p:sp>
        <p:nvSpPr>
          <p:cNvPr id="5" name="Slide Number Placeholder 4"/>
          <p:cNvSpPr>
            <a:spLocks noGrp="1"/>
          </p:cNvSpPr>
          <p:nvPr>
            <p:ph type="sldNum" sz="quarter" idx="12"/>
          </p:nvPr>
        </p:nvSpPr>
        <p:spPr/>
        <p:txBody>
          <a:bodyPr/>
          <a:lstStyle/>
          <a:p>
            <a:fld id="{0FF54DE5-C571-48E8-A5BC-B369434E2F44}" type="slidenum">
              <a:rPr lang="uk-UA" smtClean="0"/>
              <a:t>18</a:t>
            </a:fld>
            <a:endParaRPr lang="uk-UA"/>
          </a:p>
        </p:txBody>
      </p:sp>
    </p:spTree>
    <p:extLst>
      <p:ext uri="{BB962C8B-B14F-4D97-AF65-F5344CB8AC3E}">
        <p14:creationId xmlns:p14="http://schemas.microsoft.com/office/powerpoint/2010/main" val="351664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58464-84B5-4275-883A-9F6BF579ED48}"/>
              </a:ext>
            </a:extLst>
          </p:cNvPr>
          <p:cNvSpPr>
            <a:spLocks noGrp="1"/>
          </p:cNvSpPr>
          <p:nvPr>
            <p:ph type="title"/>
          </p:nvPr>
        </p:nvSpPr>
        <p:spPr/>
        <p:txBody>
          <a:bodyPr/>
          <a:lstStyle/>
          <a:p>
            <a:r>
              <a:rPr lang="en-GB" dirty="0"/>
              <a:t>What is SQL?</a:t>
            </a:r>
          </a:p>
        </p:txBody>
      </p:sp>
      <p:sp>
        <p:nvSpPr>
          <p:cNvPr id="3" name="Content Placeholder 2">
            <a:extLst>
              <a:ext uri="{FF2B5EF4-FFF2-40B4-BE49-F238E27FC236}">
                <a16:creationId xmlns:a16="http://schemas.microsoft.com/office/drawing/2014/main" id="{75FA7E56-6B24-42B3-AD09-F99624CC0A16}"/>
              </a:ext>
            </a:extLst>
          </p:cNvPr>
          <p:cNvSpPr>
            <a:spLocks noGrp="1"/>
          </p:cNvSpPr>
          <p:nvPr>
            <p:ph idx="1"/>
          </p:nvPr>
        </p:nvSpPr>
        <p:spPr>
          <a:xfrm>
            <a:off x="1017638" y="1631314"/>
            <a:ext cx="10336162" cy="4660016"/>
          </a:xfrm>
        </p:spPr>
        <p:txBody>
          <a:bodyPr>
            <a:normAutofit/>
          </a:bodyPr>
          <a:lstStyle/>
          <a:p>
            <a:pPr>
              <a:lnSpc>
                <a:spcPct val="100000"/>
              </a:lnSpc>
            </a:pPr>
            <a:r>
              <a:rPr lang="en-US" dirty="0"/>
              <a:t>SQL (</a:t>
            </a:r>
            <a:r>
              <a:rPr lang="en-US" b="1" dirty="0"/>
              <a:t>Structured Query Language</a:t>
            </a:r>
            <a:r>
              <a:rPr lang="en-US" dirty="0"/>
              <a:t>) is a language to operate databases.</a:t>
            </a:r>
          </a:p>
          <a:p>
            <a:pPr>
              <a:lnSpc>
                <a:spcPct val="100000"/>
              </a:lnSpc>
            </a:pPr>
            <a:r>
              <a:rPr lang="en-US" dirty="0"/>
              <a:t>It includes database creation, deletion, fetching rows, modifying rows, etc. </a:t>
            </a:r>
          </a:p>
          <a:p>
            <a:pPr>
              <a:lnSpc>
                <a:spcPct val="100000"/>
              </a:lnSpc>
            </a:pPr>
            <a:r>
              <a:rPr lang="en-US" dirty="0"/>
              <a:t>SQL is an </a:t>
            </a:r>
            <a:r>
              <a:rPr lang="en-US" b="1" dirty="0"/>
              <a:t>ANSI</a:t>
            </a:r>
            <a:r>
              <a:rPr lang="en-US" dirty="0"/>
              <a:t> (American National Standards Institute) standard language, but there are many different versions of the SQL language</a:t>
            </a:r>
            <a:r>
              <a:rPr lang="en-GB" dirty="0"/>
              <a:t>.</a:t>
            </a:r>
          </a:p>
          <a:p>
            <a:pPr>
              <a:lnSpc>
                <a:spcPct val="100000"/>
              </a:lnSpc>
            </a:pPr>
            <a:r>
              <a:rPr lang="en-US" dirty="0"/>
              <a:t>SQL is the standard language for Relational Database System.</a:t>
            </a:r>
            <a:endParaRPr lang="en-GB" dirty="0"/>
          </a:p>
        </p:txBody>
      </p:sp>
      <p:sp>
        <p:nvSpPr>
          <p:cNvPr id="4" name="Slide Number Placeholder 3">
            <a:extLst>
              <a:ext uri="{FF2B5EF4-FFF2-40B4-BE49-F238E27FC236}">
                <a16:creationId xmlns:a16="http://schemas.microsoft.com/office/drawing/2014/main" id="{1B1AF702-972D-4CD1-AC85-7871C44CFAAC}"/>
              </a:ext>
            </a:extLst>
          </p:cNvPr>
          <p:cNvSpPr>
            <a:spLocks noGrp="1"/>
          </p:cNvSpPr>
          <p:nvPr>
            <p:ph type="sldNum" sz="quarter" idx="12"/>
          </p:nvPr>
        </p:nvSpPr>
        <p:spPr/>
        <p:txBody>
          <a:bodyPr/>
          <a:lstStyle/>
          <a:p>
            <a:fld id="{8E9E4023-6F3A-457B-B0BB-8C1F114B424F}" type="slidenum">
              <a:rPr lang="en-SG" smtClean="0"/>
              <a:t>19</a:t>
            </a:fld>
            <a:endParaRPr lang="en-SG"/>
          </a:p>
        </p:txBody>
      </p:sp>
    </p:spTree>
    <p:extLst>
      <p:ext uri="{BB962C8B-B14F-4D97-AF65-F5344CB8AC3E}">
        <p14:creationId xmlns:p14="http://schemas.microsoft.com/office/powerpoint/2010/main" val="985189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53F9C-DDB0-4098-936A-6595AF715340}"/>
              </a:ext>
            </a:extLst>
          </p:cNvPr>
          <p:cNvSpPr>
            <a:spLocks noGrp="1"/>
          </p:cNvSpPr>
          <p:nvPr>
            <p:ph type="title"/>
          </p:nvPr>
        </p:nvSpPr>
        <p:spPr/>
        <p:txBody>
          <a:bodyPr/>
          <a:lstStyle/>
          <a:p>
            <a:r>
              <a:rPr lang="en-GB" dirty="0"/>
              <a:t>Why SQL?</a:t>
            </a:r>
          </a:p>
        </p:txBody>
      </p:sp>
      <p:sp>
        <p:nvSpPr>
          <p:cNvPr id="5" name="Slide Number Placeholder 4">
            <a:extLst>
              <a:ext uri="{FF2B5EF4-FFF2-40B4-BE49-F238E27FC236}">
                <a16:creationId xmlns:a16="http://schemas.microsoft.com/office/drawing/2014/main" id="{58EAD1C9-F1F5-40BB-808C-4284638A5D48}"/>
              </a:ext>
            </a:extLst>
          </p:cNvPr>
          <p:cNvSpPr>
            <a:spLocks noGrp="1"/>
          </p:cNvSpPr>
          <p:nvPr>
            <p:ph type="sldNum" sz="quarter" idx="12"/>
          </p:nvPr>
        </p:nvSpPr>
        <p:spPr/>
        <p:txBody>
          <a:bodyPr/>
          <a:lstStyle/>
          <a:p>
            <a:fld id="{0FF54DE5-C571-48E8-A5BC-B369434E2F44}" type="slidenum">
              <a:rPr lang="en-US" smtClean="0"/>
              <a:t>20</a:t>
            </a:fld>
            <a:endParaRPr lang="en-US"/>
          </a:p>
        </p:txBody>
      </p:sp>
      <p:sp>
        <p:nvSpPr>
          <p:cNvPr id="11" name="Content Placeholder 6">
            <a:extLst>
              <a:ext uri="{FF2B5EF4-FFF2-40B4-BE49-F238E27FC236}">
                <a16:creationId xmlns:a16="http://schemas.microsoft.com/office/drawing/2014/main" id="{591E7C91-E0E0-4192-85E2-AAB5A7B25232}"/>
              </a:ext>
            </a:extLst>
          </p:cNvPr>
          <p:cNvSpPr txBox="1">
            <a:spLocks/>
          </p:cNvSpPr>
          <p:nvPr/>
        </p:nvSpPr>
        <p:spPr>
          <a:xfrm>
            <a:off x="1104900" y="1600200"/>
            <a:ext cx="10248899" cy="47572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t>SQL is widely popular because it offers the following advantages :−</a:t>
            </a:r>
          </a:p>
          <a:p>
            <a:pPr lvl="1">
              <a:lnSpc>
                <a:spcPct val="100000"/>
              </a:lnSpc>
              <a:buFont typeface="Wingdings" panose="05000000000000000000" pitchFamily="2" charset="2"/>
              <a:buChar char="Ø"/>
            </a:pPr>
            <a:r>
              <a:rPr lang="en-US" dirty="0"/>
              <a:t>Allows users to access data in the relational database management systems.</a:t>
            </a:r>
          </a:p>
          <a:p>
            <a:pPr lvl="1">
              <a:lnSpc>
                <a:spcPct val="100000"/>
              </a:lnSpc>
              <a:buFont typeface="Wingdings" panose="05000000000000000000" pitchFamily="2" charset="2"/>
              <a:buChar char="Ø"/>
            </a:pPr>
            <a:r>
              <a:rPr lang="en-US" dirty="0"/>
              <a:t>Allows users to describe the data.</a:t>
            </a:r>
          </a:p>
          <a:p>
            <a:pPr lvl="1">
              <a:lnSpc>
                <a:spcPct val="100000"/>
              </a:lnSpc>
              <a:buFont typeface="Wingdings" panose="05000000000000000000" pitchFamily="2" charset="2"/>
              <a:buChar char="Ø"/>
            </a:pPr>
            <a:r>
              <a:rPr lang="en-US" dirty="0"/>
              <a:t>Allows users to define the data in a database and manipulate that data.</a:t>
            </a:r>
          </a:p>
          <a:p>
            <a:pPr lvl="1">
              <a:lnSpc>
                <a:spcPct val="100000"/>
              </a:lnSpc>
              <a:buFont typeface="Wingdings" panose="05000000000000000000" pitchFamily="2" charset="2"/>
              <a:buChar char="Ø"/>
            </a:pPr>
            <a:r>
              <a:rPr lang="en-US" dirty="0"/>
              <a:t>Allows to embed within other languages using SQL modules, libraries &amp; pre-compilers.</a:t>
            </a:r>
          </a:p>
          <a:p>
            <a:pPr lvl="1">
              <a:lnSpc>
                <a:spcPct val="100000"/>
              </a:lnSpc>
              <a:buFont typeface="Wingdings" panose="05000000000000000000" pitchFamily="2" charset="2"/>
              <a:buChar char="Ø"/>
            </a:pPr>
            <a:r>
              <a:rPr lang="en-US" dirty="0"/>
              <a:t>Allows users to create and drop databases and tables.</a:t>
            </a:r>
          </a:p>
          <a:p>
            <a:pPr lvl="1">
              <a:lnSpc>
                <a:spcPct val="100000"/>
              </a:lnSpc>
              <a:buFont typeface="Wingdings" panose="05000000000000000000" pitchFamily="2" charset="2"/>
              <a:buChar char="Ø"/>
            </a:pPr>
            <a:r>
              <a:rPr lang="en-US" dirty="0"/>
              <a:t>Allows users to create view, stored procedure, functions in a database.</a:t>
            </a:r>
          </a:p>
          <a:p>
            <a:pPr lvl="1">
              <a:lnSpc>
                <a:spcPct val="100000"/>
              </a:lnSpc>
              <a:buFont typeface="Wingdings" panose="05000000000000000000" pitchFamily="2" charset="2"/>
              <a:buChar char="Ø"/>
            </a:pPr>
            <a:r>
              <a:rPr lang="en-US" dirty="0"/>
              <a:t>Allows users to set permissions on tables, procedures and views.</a:t>
            </a:r>
          </a:p>
          <a:p>
            <a:pPr>
              <a:lnSpc>
                <a:spcPct val="100000"/>
              </a:lnSpc>
            </a:pPr>
            <a:endParaRPr lang="en-US" sz="1600" dirty="0"/>
          </a:p>
          <a:p>
            <a:pPr>
              <a:lnSpc>
                <a:spcPct val="100000"/>
              </a:lnSpc>
            </a:pPr>
            <a:endParaRPr lang="en-GB" sz="1600" dirty="0"/>
          </a:p>
          <a:p>
            <a:pPr>
              <a:lnSpc>
                <a:spcPct val="100000"/>
              </a:lnSpc>
            </a:pPr>
            <a:endParaRPr lang="en-GB" sz="1600" dirty="0"/>
          </a:p>
        </p:txBody>
      </p:sp>
    </p:spTree>
    <p:extLst>
      <p:ext uri="{BB962C8B-B14F-4D97-AF65-F5344CB8AC3E}">
        <p14:creationId xmlns:p14="http://schemas.microsoft.com/office/powerpoint/2010/main" val="1432780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A Brief History of SQL</a:t>
            </a:r>
          </a:p>
        </p:txBody>
      </p:sp>
      <p:sp>
        <p:nvSpPr>
          <p:cNvPr id="3" name="Content Placeholder 2">
            <a:extLst>
              <a:ext uri="{FF2B5EF4-FFF2-40B4-BE49-F238E27FC236}">
                <a16:creationId xmlns:a16="http://schemas.microsoft.com/office/drawing/2014/main" id="{0D9B78BE-06EC-4F3D-895F-ECB8E7227000}"/>
              </a:ext>
            </a:extLst>
          </p:cNvPr>
          <p:cNvSpPr>
            <a:spLocks noGrp="1"/>
          </p:cNvSpPr>
          <p:nvPr>
            <p:ph idx="1"/>
          </p:nvPr>
        </p:nvSpPr>
        <p:spPr/>
        <p:txBody>
          <a:bodyPr/>
          <a:lstStyle/>
          <a:p>
            <a:pPr>
              <a:lnSpc>
                <a:spcPct val="100000"/>
              </a:lnSpc>
            </a:pPr>
            <a:r>
              <a:rPr lang="en-US" b="1" dirty="0"/>
              <a:t>1970</a:t>
            </a:r>
            <a:r>
              <a:rPr lang="en-US" dirty="0"/>
              <a:t> − Dr. Edgar F. "Ted" Codd of IBM is known as the father of relational databases. He described a relational model for databases.</a:t>
            </a:r>
          </a:p>
          <a:p>
            <a:pPr>
              <a:lnSpc>
                <a:spcPct val="100000"/>
              </a:lnSpc>
            </a:pPr>
            <a:r>
              <a:rPr lang="en-US" b="1" dirty="0"/>
              <a:t>1974</a:t>
            </a:r>
            <a:r>
              <a:rPr lang="en-US" dirty="0"/>
              <a:t> − Structured Query Language appeared.</a:t>
            </a:r>
          </a:p>
          <a:p>
            <a:pPr>
              <a:lnSpc>
                <a:spcPct val="100000"/>
              </a:lnSpc>
            </a:pPr>
            <a:r>
              <a:rPr lang="en-US" b="1" dirty="0"/>
              <a:t>1978</a:t>
            </a:r>
            <a:r>
              <a:rPr lang="en-US" dirty="0"/>
              <a:t> − IBM worked to develop Codd's ideas and released a product named System/R.</a:t>
            </a:r>
          </a:p>
          <a:p>
            <a:pPr>
              <a:lnSpc>
                <a:spcPct val="100000"/>
              </a:lnSpc>
            </a:pPr>
            <a:r>
              <a:rPr lang="en-US" b="1" dirty="0"/>
              <a:t>1986</a:t>
            </a:r>
            <a:r>
              <a:rPr lang="en-US" dirty="0"/>
              <a:t> − IBM developed the first prototype of relational database and standardized by ANSI. The first relational database was released by Relational Software which later came to be known as Oracle.</a:t>
            </a:r>
          </a:p>
          <a:p>
            <a:pPr marL="914400" lvl="1" indent="-457200">
              <a:lnSpc>
                <a:spcPct val="100000"/>
              </a:lnSpc>
              <a:buFont typeface="+mj-lt"/>
              <a:buAutoNum type="arabicPeriod"/>
            </a:pPr>
            <a:endParaRPr lang="en-GB" dirty="0"/>
          </a:p>
          <a:p>
            <a:pPr>
              <a:lnSpc>
                <a:spcPct val="100000"/>
              </a:lnSpc>
            </a:pPr>
            <a:endParaRPr lang="en-GB" dirty="0"/>
          </a:p>
        </p:txBody>
      </p:sp>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21</a:t>
            </a:fld>
            <a:endParaRPr lang="en-SG"/>
          </a:p>
        </p:txBody>
      </p:sp>
    </p:spTree>
    <p:extLst>
      <p:ext uri="{BB962C8B-B14F-4D97-AF65-F5344CB8AC3E}">
        <p14:creationId xmlns:p14="http://schemas.microsoft.com/office/powerpoint/2010/main" val="227777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Data Types - MySQL</a:t>
            </a:r>
          </a:p>
        </p:txBody>
      </p:sp>
      <p:sp>
        <p:nvSpPr>
          <p:cNvPr id="3" name="Content Placeholder 2">
            <a:extLst>
              <a:ext uri="{FF2B5EF4-FFF2-40B4-BE49-F238E27FC236}">
                <a16:creationId xmlns:a16="http://schemas.microsoft.com/office/drawing/2014/main" id="{0D9B78BE-06EC-4F3D-895F-ECB8E7227000}"/>
              </a:ext>
            </a:extLst>
          </p:cNvPr>
          <p:cNvSpPr>
            <a:spLocks noGrp="1"/>
          </p:cNvSpPr>
          <p:nvPr>
            <p:ph idx="1"/>
          </p:nvPr>
        </p:nvSpPr>
        <p:spPr/>
        <p:txBody>
          <a:bodyPr>
            <a:normAutofit fontScale="92500" lnSpcReduction="20000"/>
          </a:bodyPr>
          <a:lstStyle/>
          <a:p>
            <a:pPr>
              <a:lnSpc>
                <a:spcPct val="110000"/>
              </a:lnSpc>
            </a:pPr>
            <a:r>
              <a:rPr lang="en-US" dirty="0"/>
              <a:t>Properly defining the fields in a table is important to the overall optimization of your database. </a:t>
            </a:r>
          </a:p>
          <a:p>
            <a:pPr>
              <a:lnSpc>
                <a:spcPct val="110000"/>
              </a:lnSpc>
            </a:pPr>
            <a:r>
              <a:rPr lang="en-US" dirty="0"/>
              <a:t>You should use only the type and size of field you really need to use. For example, do not define a field 10 characters wide, if you know you are only going to use 2 characters.</a:t>
            </a:r>
            <a:endParaRPr lang="en-GB" dirty="0"/>
          </a:p>
          <a:p>
            <a:pPr>
              <a:lnSpc>
                <a:spcPct val="110000"/>
              </a:lnSpc>
            </a:pPr>
            <a:r>
              <a:rPr lang="en-US" dirty="0"/>
              <a:t>These type of fields (or columns) are also referred to as data types, base on the </a:t>
            </a:r>
            <a:r>
              <a:rPr lang="en-US" b="1" dirty="0"/>
              <a:t>type of data</a:t>
            </a:r>
            <a:r>
              <a:rPr lang="en-US" dirty="0"/>
              <a:t> you will be storing in those fields.</a:t>
            </a:r>
          </a:p>
          <a:p>
            <a:pPr>
              <a:lnSpc>
                <a:spcPct val="110000"/>
              </a:lnSpc>
            </a:pPr>
            <a:r>
              <a:rPr lang="en-US" dirty="0"/>
              <a:t>MySQL uses many different data types broken into three categories −</a:t>
            </a:r>
          </a:p>
          <a:p>
            <a:pPr lvl="1">
              <a:lnSpc>
                <a:spcPct val="110000"/>
              </a:lnSpc>
            </a:pPr>
            <a:r>
              <a:rPr lang="en-US" dirty="0"/>
              <a:t>Numeric</a:t>
            </a:r>
          </a:p>
          <a:p>
            <a:pPr lvl="1">
              <a:lnSpc>
                <a:spcPct val="110000"/>
              </a:lnSpc>
            </a:pPr>
            <a:r>
              <a:rPr lang="en-US" dirty="0"/>
              <a:t>Date and Time</a:t>
            </a:r>
          </a:p>
          <a:p>
            <a:pPr lvl="1">
              <a:lnSpc>
                <a:spcPct val="110000"/>
              </a:lnSpc>
            </a:pPr>
            <a:r>
              <a:rPr lang="en-US" dirty="0"/>
              <a:t>String Types.</a:t>
            </a:r>
          </a:p>
          <a:p>
            <a:pPr>
              <a:lnSpc>
                <a:spcPct val="110000"/>
              </a:lnSpc>
            </a:pPr>
            <a:endParaRPr lang="en-GB" dirty="0"/>
          </a:p>
        </p:txBody>
      </p:sp>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22</a:t>
            </a:fld>
            <a:endParaRPr lang="en-SG"/>
          </a:p>
        </p:txBody>
      </p:sp>
    </p:spTree>
    <p:extLst>
      <p:ext uri="{BB962C8B-B14F-4D97-AF65-F5344CB8AC3E}">
        <p14:creationId xmlns:p14="http://schemas.microsoft.com/office/powerpoint/2010/main" val="312009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Numeric Data Types</a:t>
            </a:r>
          </a:p>
        </p:txBody>
      </p:sp>
      <p:sp>
        <p:nvSpPr>
          <p:cNvPr id="3" name="Content Placeholder 2">
            <a:extLst>
              <a:ext uri="{FF2B5EF4-FFF2-40B4-BE49-F238E27FC236}">
                <a16:creationId xmlns:a16="http://schemas.microsoft.com/office/drawing/2014/main" id="{0D9B78BE-06EC-4F3D-895F-ECB8E7227000}"/>
              </a:ext>
            </a:extLst>
          </p:cNvPr>
          <p:cNvSpPr>
            <a:spLocks noGrp="1"/>
          </p:cNvSpPr>
          <p:nvPr>
            <p:ph idx="1"/>
          </p:nvPr>
        </p:nvSpPr>
        <p:spPr>
          <a:xfrm>
            <a:off x="1017638" y="1577663"/>
            <a:ext cx="10336162" cy="573110"/>
          </a:xfrm>
        </p:spPr>
        <p:txBody>
          <a:bodyPr>
            <a:normAutofit fontScale="85000" lnSpcReduction="10000"/>
          </a:bodyPr>
          <a:lstStyle/>
          <a:p>
            <a:pPr>
              <a:lnSpc>
                <a:spcPct val="110000"/>
              </a:lnSpc>
            </a:pPr>
            <a:r>
              <a:rPr lang="en-US" dirty="0"/>
              <a:t>The following list shows the common numeric data types and their descriptions:</a:t>
            </a:r>
            <a:endParaRPr lang="en-GB" dirty="0"/>
          </a:p>
        </p:txBody>
      </p:sp>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23</a:t>
            </a:fld>
            <a:endParaRPr lang="en-SG"/>
          </a:p>
        </p:txBody>
      </p:sp>
      <p:graphicFrame>
        <p:nvGraphicFramePr>
          <p:cNvPr id="5" name="Table 4">
            <a:extLst>
              <a:ext uri="{FF2B5EF4-FFF2-40B4-BE49-F238E27FC236}">
                <a16:creationId xmlns:a16="http://schemas.microsoft.com/office/drawing/2014/main" id="{298EDA1A-742E-4968-80FB-768302B0727E}"/>
              </a:ext>
            </a:extLst>
          </p:cNvPr>
          <p:cNvGraphicFramePr>
            <a:graphicFrameLocks noGrp="1"/>
          </p:cNvGraphicFramePr>
          <p:nvPr>
            <p:extLst>
              <p:ext uri="{D42A27DB-BD31-4B8C-83A1-F6EECF244321}">
                <p14:modId xmlns:p14="http://schemas.microsoft.com/office/powerpoint/2010/main" val="3431744386"/>
              </p:ext>
            </p:extLst>
          </p:nvPr>
        </p:nvGraphicFramePr>
        <p:xfrm>
          <a:off x="2121718" y="2240925"/>
          <a:ext cx="8128000" cy="3937000"/>
        </p:xfrm>
        <a:graphic>
          <a:graphicData uri="http://schemas.openxmlformats.org/drawingml/2006/table">
            <a:tbl>
              <a:tblPr firstRow="1" bandRow="1">
                <a:tableStyleId>{5C22544A-7EE6-4342-B048-85BDC9FD1C3A}</a:tableStyleId>
              </a:tblPr>
              <a:tblGrid>
                <a:gridCol w="2218028">
                  <a:extLst>
                    <a:ext uri="{9D8B030D-6E8A-4147-A177-3AD203B41FA5}">
                      <a16:colId xmlns:a16="http://schemas.microsoft.com/office/drawing/2014/main" val="2817666666"/>
                    </a:ext>
                  </a:extLst>
                </a:gridCol>
                <a:gridCol w="5909972">
                  <a:extLst>
                    <a:ext uri="{9D8B030D-6E8A-4147-A177-3AD203B41FA5}">
                      <a16:colId xmlns:a16="http://schemas.microsoft.com/office/drawing/2014/main" val="1486513316"/>
                    </a:ext>
                  </a:extLst>
                </a:gridCol>
              </a:tblGrid>
              <a:tr h="370840">
                <a:tc>
                  <a:txBody>
                    <a:bodyPr/>
                    <a:lstStyle/>
                    <a:p>
                      <a:pPr algn="ctr"/>
                      <a:r>
                        <a:rPr lang="en-GB" sz="1400" dirty="0"/>
                        <a:t>Data Types</a:t>
                      </a:r>
                    </a:p>
                  </a:txBody>
                  <a:tcPr/>
                </a:tc>
                <a:tc>
                  <a:txBody>
                    <a:bodyPr/>
                    <a:lstStyle/>
                    <a:p>
                      <a:pPr algn="ctr"/>
                      <a:r>
                        <a:rPr lang="en-GB" sz="1400" dirty="0"/>
                        <a:t>Description</a:t>
                      </a:r>
                    </a:p>
                  </a:txBody>
                  <a:tcPr/>
                </a:tc>
                <a:extLst>
                  <a:ext uri="{0D108BD9-81ED-4DB2-BD59-A6C34878D82A}">
                    <a16:rowId xmlns:a16="http://schemas.microsoft.com/office/drawing/2014/main" val="31190242"/>
                  </a:ext>
                </a:extLst>
              </a:tr>
              <a:tr h="370840">
                <a:tc>
                  <a:txBody>
                    <a:bodyPr/>
                    <a:lstStyle/>
                    <a:p>
                      <a:r>
                        <a:rPr lang="en-GB" sz="1400" b="1" dirty="0"/>
                        <a:t>INT</a:t>
                      </a:r>
                    </a:p>
                  </a:txBody>
                  <a:tcPr/>
                </a:tc>
                <a:tc>
                  <a:txBody>
                    <a:bodyPr/>
                    <a:lstStyle/>
                    <a:p>
                      <a:r>
                        <a:rPr lang="en-US" sz="1400" b="0" i="0" kern="1200" dirty="0">
                          <a:solidFill>
                            <a:schemeClr val="dk1"/>
                          </a:solidFill>
                          <a:effectLst/>
                          <a:latin typeface="+mn-lt"/>
                          <a:ea typeface="+mn-ea"/>
                          <a:cs typeface="+mn-cs"/>
                        </a:rPr>
                        <a:t>A normal-sized integer that can be signed or unsigned. If signed (</a:t>
                      </a:r>
                      <a:r>
                        <a:rPr lang="en-US" sz="1400" b="0" i="0" kern="1200" dirty="0" err="1">
                          <a:solidFill>
                            <a:schemeClr val="dk1"/>
                          </a:solidFill>
                          <a:effectLst/>
                          <a:latin typeface="+mn-lt"/>
                          <a:ea typeface="+mn-ea"/>
                          <a:cs typeface="+mn-cs"/>
                        </a:rPr>
                        <a:t>ie</a:t>
                      </a:r>
                      <a:r>
                        <a:rPr lang="en-US" sz="1400" b="0" i="0" kern="1200" dirty="0">
                          <a:solidFill>
                            <a:schemeClr val="dk1"/>
                          </a:solidFill>
                          <a:effectLst/>
                          <a:latin typeface="+mn-lt"/>
                          <a:ea typeface="+mn-ea"/>
                          <a:cs typeface="+mn-cs"/>
                        </a:rPr>
                        <a:t>. allow negative), the allowable range is from -2147483648 to 2147483647. If unsigned, the allowable range is from 0 to 4294967295. You can specify a width of up to 11 digits.</a:t>
                      </a:r>
                      <a:endParaRPr lang="en-GB" sz="1400" dirty="0"/>
                    </a:p>
                  </a:txBody>
                  <a:tcPr/>
                </a:tc>
                <a:extLst>
                  <a:ext uri="{0D108BD9-81ED-4DB2-BD59-A6C34878D82A}">
                    <a16:rowId xmlns:a16="http://schemas.microsoft.com/office/drawing/2014/main" val="955615367"/>
                  </a:ext>
                </a:extLst>
              </a:tr>
              <a:tr h="370840">
                <a:tc>
                  <a:txBody>
                    <a:bodyPr/>
                    <a:lstStyle/>
                    <a:p>
                      <a:r>
                        <a:rPr lang="en-GB" sz="1400" b="1" dirty="0"/>
                        <a:t>TINYINT</a:t>
                      </a:r>
                    </a:p>
                  </a:txBody>
                  <a:tcPr/>
                </a:tc>
                <a:tc>
                  <a:txBody>
                    <a:bodyPr/>
                    <a:lstStyle/>
                    <a:p>
                      <a:r>
                        <a:rPr lang="en-US" sz="1400" b="0" i="0" kern="1200" dirty="0">
                          <a:solidFill>
                            <a:schemeClr val="dk1"/>
                          </a:solidFill>
                          <a:effectLst/>
                          <a:latin typeface="+mn-lt"/>
                          <a:ea typeface="+mn-ea"/>
                          <a:cs typeface="+mn-cs"/>
                        </a:rPr>
                        <a:t>A very small integer that can be signed or unsigned. If signed, the allowable range is from -128 to 127. If unsigned, the allowable range is from 0 to 255. You can specify a width of up to 4 digits.</a:t>
                      </a:r>
                      <a:endParaRPr lang="en-GB" sz="1400" dirty="0"/>
                    </a:p>
                  </a:txBody>
                  <a:tcPr/>
                </a:tc>
                <a:extLst>
                  <a:ext uri="{0D108BD9-81ED-4DB2-BD59-A6C34878D82A}">
                    <a16:rowId xmlns:a16="http://schemas.microsoft.com/office/drawing/2014/main" val="40127899"/>
                  </a:ext>
                </a:extLst>
              </a:tr>
              <a:tr h="370840">
                <a:tc>
                  <a:txBody>
                    <a:bodyPr/>
                    <a:lstStyle/>
                    <a:p>
                      <a:r>
                        <a:rPr lang="en-GB" sz="1400" b="1" dirty="0"/>
                        <a:t>FLOAT (M, D)</a:t>
                      </a:r>
                    </a:p>
                  </a:txBody>
                  <a:tcPr/>
                </a:tc>
                <a:tc>
                  <a:txBody>
                    <a:bodyPr/>
                    <a:lstStyle/>
                    <a:p>
                      <a:r>
                        <a:rPr lang="en-US" sz="1400" b="0" i="0" kern="1200" dirty="0">
                          <a:solidFill>
                            <a:schemeClr val="dk1"/>
                          </a:solidFill>
                          <a:effectLst/>
                          <a:latin typeface="+mn-lt"/>
                          <a:ea typeface="+mn-ea"/>
                          <a:cs typeface="+mn-cs"/>
                        </a:rPr>
                        <a:t>A floating-point number that cannot be unsigned. You can define the display length (M) and the number of decimals (D). This is not required and will default to 10,2, where 2 is the number of decimals and 10 is the total number of digits (including decimals). Decimal precision can go to 24 places for a FLOAT.</a:t>
                      </a:r>
                      <a:endParaRPr lang="en-GB" sz="1400" dirty="0"/>
                    </a:p>
                  </a:txBody>
                  <a:tcPr/>
                </a:tc>
                <a:extLst>
                  <a:ext uri="{0D108BD9-81ED-4DB2-BD59-A6C34878D82A}">
                    <a16:rowId xmlns:a16="http://schemas.microsoft.com/office/drawing/2014/main" val="1762842772"/>
                  </a:ext>
                </a:extLst>
              </a:tr>
              <a:tr h="370840">
                <a:tc>
                  <a:txBody>
                    <a:bodyPr/>
                    <a:lstStyle/>
                    <a:p>
                      <a:r>
                        <a:rPr lang="en-GB" sz="1400" b="1" dirty="0"/>
                        <a:t>DOUBLE (M, D)</a:t>
                      </a:r>
                    </a:p>
                  </a:txBody>
                  <a:tcPr/>
                </a:tc>
                <a:tc>
                  <a:txBody>
                    <a:bodyPr/>
                    <a:lstStyle/>
                    <a:p>
                      <a:r>
                        <a:rPr lang="en-US" sz="1400" dirty="0"/>
                        <a:t>A double precision floating-point number that cannot be unsigned. You can define the display length (M) and the number of decimals (D). This is not required and will default to 16,4, where 4 is the number of decimals. Decimal precision can go to 53 places for a DOUBLE. REAL is a synonym for DOUBLE.</a:t>
                      </a:r>
                      <a:endParaRPr lang="en-GB" sz="1400" dirty="0"/>
                    </a:p>
                  </a:txBody>
                  <a:tcPr/>
                </a:tc>
                <a:extLst>
                  <a:ext uri="{0D108BD9-81ED-4DB2-BD59-A6C34878D82A}">
                    <a16:rowId xmlns:a16="http://schemas.microsoft.com/office/drawing/2014/main" val="3197123264"/>
                  </a:ext>
                </a:extLst>
              </a:tr>
            </a:tbl>
          </a:graphicData>
        </a:graphic>
      </p:graphicFrame>
    </p:spTree>
    <p:extLst>
      <p:ext uri="{BB962C8B-B14F-4D97-AF65-F5344CB8AC3E}">
        <p14:creationId xmlns:p14="http://schemas.microsoft.com/office/powerpoint/2010/main" val="870228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Date and Time Data Types</a:t>
            </a:r>
          </a:p>
        </p:txBody>
      </p:sp>
      <p:sp>
        <p:nvSpPr>
          <p:cNvPr id="3" name="Content Placeholder 2">
            <a:extLst>
              <a:ext uri="{FF2B5EF4-FFF2-40B4-BE49-F238E27FC236}">
                <a16:creationId xmlns:a16="http://schemas.microsoft.com/office/drawing/2014/main" id="{0D9B78BE-06EC-4F3D-895F-ECB8E7227000}"/>
              </a:ext>
            </a:extLst>
          </p:cNvPr>
          <p:cNvSpPr>
            <a:spLocks noGrp="1"/>
          </p:cNvSpPr>
          <p:nvPr>
            <p:ph idx="1"/>
          </p:nvPr>
        </p:nvSpPr>
        <p:spPr>
          <a:xfrm>
            <a:off x="1017638" y="1577662"/>
            <a:ext cx="10336162" cy="425003"/>
          </a:xfrm>
        </p:spPr>
        <p:txBody>
          <a:bodyPr>
            <a:normAutofit fontScale="85000" lnSpcReduction="20000"/>
          </a:bodyPr>
          <a:lstStyle/>
          <a:p>
            <a:pPr>
              <a:lnSpc>
                <a:spcPct val="110000"/>
              </a:lnSpc>
            </a:pPr>
            <a:r>
              <a:rPr lang="en-US" dirty="0"/>
              <a:t>The MySQL date and time datatypes are as follows:</a:t>
            </a:r>
            <a:endParaRPr lang="en-GB" dirty="0"/>
          </a:p>
        </p:txBody>
      </p:sp>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24</a:t>
            </a:fld>
            <a:endParaRPr lang="en-SG"/>
          </a:p>
        </p:txBody>
      </p:sp>
      <p:graphicFrame>
        <p:nvGraphicFramePr>
          <p:cNvPr id="5" name="Table 4">
            <a:extLst>
              <a:ext uri="{FF2B5EF4-FFF2-40B4-BE49-F238E27FC236}">
                <a16:creationId xmlns:a16="http://schemas.microsoft.com/office/drawing/2014/main" id="{F552B65F-9247-4559-A814-6E26688DA2B0}"/>
              </a:ext>
            </a:extLst>
          </p:cNvPr>
          <p:cNvGraphicFramePr>
            <a:graphicFrameLocks noGrp="1"/>
          </p:cNvGraphicFramePr>
          <p:nvPr>
            <p:extLst>
              <p:ext uri="{D42A27DB-BD31-4B8C-83A1-F6EECF244321}">
                <p14:modId xmlns:p14="http://schemas.microsoft.com/office/powerpoint/2010/main" val="3163309348"/>
              </p:ext>
            </p:extLst>
          </p:nvPr>
        </p:nvGraphicFramePr>
        <p:xfrm>
          <a:off x="2121718" y="2227991"/>
          <a:ext cx="8128000" cy="3667760"/>
        </p:xfrm>
        <a:graphic>
          <a:graphicData uri="http://schemas.openxmlformats.org/drawingml/2006/table">
            <a:tbl>
              <a:tblPr firstRow="1" bandRow="1">
                <a:tableStyleId>{5C22544A-7EE6-4342-B048-85BDC9FD1C3A}</a:tableStyleId>
              </a:tblPr>
              <a:tblGrid>
                <a:gridCol w="1909369">
                  <a:extLst>
                    <a:ext uri="{9D8B030D-6E8A-4147-A177-3AD203B41FA5}">
                      <a16:colId xmlns:a16="http://schemas.microsoft.com/office/drawing/2014/main" val="433925443"/>
                    </a:ext>
                  </a:extLst>
                </a:gridCol>
                <a:gridCol w="6218631">
                  <a:extLst>
                    <a:ext uri="{9D8B030D-6E8A-4147-A177-3AD203B41FA5}">
                      <a16:colId xmlns:a16="http://schemas.microsoft.com/office/drawing/2014/main" val="194533221"/>
                    </a:ext>
                  </a:extLst>
                </a:gridCol>
              </a:tblGrid>
              <a:tr h="370840">
                <a:tc>
                  <a:txBody>
                    <a:bodyPr/>
                    <a:lstStyle/>
                    <a:p>
                      <a:pPr algn="ctr"/>
                      <a:r>
                        <a:rPr lang="en-GB" sz="1400" dirty="0"/>
                        <a:t>Data Types</a:t>
                      </a:r>
                    </a:p>
                  </a:txBody>
                  <a:tcPr/>
                </a:tc>
                <a:tc>
                  <a:txBody>
                    <a:bodyPr/>
                    <a:lstStyle/>
                    <a:p>
                      <a:pPr algn="ctr"/>
                      <a:r>
                        <a:rPr lang="en-GB" sz="1400" dirty="0"/>
                        <a:t>Description</a:t>
                      </a:r>
                    </a:p>
                  </a:txBody>
                  <a:tcPr/>
                </a:tc>
                <a:extLst>
                  <a:ext uri="{0D108BD9-81ED-4DB2-BD59-A6C34878D82A}">
                    <a16:rowId xmlns:a16="http://schemas.microsoft.com/office/drawing/2014/main" val="4116633652"/>
                  </a:ext>
                </a:extLst>
              </a:tr>
              <a:tr h="370840">
                <a:tc>
                  <a:txBody>
                    <a:bodyPr/>
                    <a:lstStyle/>
                    <a:p>
                      <a:r>
                        <a:rPr lang="en-GB" sz="1400" b="1" dirty="0"/>
                        <a:t>DATE</a:t>
                      </a:r>
                    </a:p>
                  </a:txBody>
                  <a:tcPr/>
                </a:tc>
                <a:tc>
                  <a:txBody>
                    <a:bodyPr/>
                    <a:lstStyle/>
                    <a:p>
                      <a:r>
                        <a:rPr lang="en-US" sz="1400" b="0" i="0" kern="1200" dirty="0">
                          <a:solidFill>
                            <a:schemeClr val="dk1"/>
                          </a:solidFill>
                          <a:effectLst/>
                          <a:latin typeface="+mn-lt"/>
                          <a:ea typeface="+mn-ea"/>
                          <a:cs typeface="+mn-cs"/>
                        </a:rPr>
                        <a:t>A date in YYYY-MM-DD format, between 1000-01-01 and 9999-12-31. For example, December 30</a:t>
                      </a:r>
                      <a:r>
                        <a:rPr lang="en-US" sz="1400" b="0" i="0" kern="1200" baseline="30000" dirty="0">
                          <a:solidFill>
                            <a:schemeClr val="dk1"/>
                          </a:solidFill>
                          <a:effectLst/>
                          <a:latin typeface="+mn-lt"/>
                          <a:ea typeface="+mn-ea"/>
                          <a:cs typeface="+mn-cs"/>
                        </a:rPr>
                        <a:t>th</a:t>
                      </a:r>
                      <a:r>
                        <a:rPr lang="en-US" sz="1400" b="0" i="0" kern="1200" dirty="0">
                          <a:solidFill>
                            <a:schemeClr val="dk1"/>
                          </a:solidFill>
                          <a:effectLst/>
                          <a:latin typeface="+mn-lt"/>
                          <a:ea typeface="+mn-ea"/>
                          <a:cs typeface="+mn-cs"/>
                        </a:rPr>
                        <a:t>, 1973 would be stored as 1973-12-30.</a:t>
                      </a:r>
                      <a:endParaRPr lang="en-GB" sz="1400" dirty="0"/>
                    </a:p>
                  </a:txBody>
                  <a:tcPr/>
                </a:tc>
                <a:extLst>
                  <a:ext uri="{0D108BD9-81ED-4DB2-BD59-A6C34878D82A}">
                    <a16:rowId xmlns:a16="http://schemas.microsoft.com/office/drawing/2014/main" val="4184740986"/>
                  </a:ext>
                </a:extLst>
              </a:tr>
              <a:tr h="370840">
                <a:tc>
                  <a:txBody>
                    <a:bodyPr/>
                    <a:lstStyle/>
                    <a:p>
                      <a:r>
                        <a:rPr lang="en-GB" sz="1400" b="1" dirty="0"/>
                        <a:t>DATETIME</a:t>
                      </a:r>
                    </a:p>
                  </a:txBody>
                  <a:tcPr/>
                </a:tc>
                <a:tc>
                  <a:txBody>
                    <a:bodyPr/>
                    <a:lstStyle/>
                    <a:p>
                      <a:r>
                        <a:rPr lang="en-US" sz="1400" b="0" i="0" kern="1200" dirty="0">
                          <a:solidFill>
                            <a:schemeClr val="dk1"/>
                          </a:solidFill>
                          <a:effectLst/>
                          <a:latin typeface="+mn-lt"/>
                          <a:ea typeface="+mn-ea"/>
                          <a:cs typeface="+mn-cs"/>
                        </a:rPr>
                        <a:t>A date and time combination in YYYY-MM-DD HH:MM:SS format, between 1000-01-01 00:00:00 and 9999-12-31 23:59:59. For example, 3:30 in the afternoon on December 30</a:t>
                      </a:r>
                      <a:r>
                        <a:rPr lang="en-US" sz="1400" b="0" i="0" kern="1200" baseline="30000" dirty="0">
                          <a:solidFill>
                            <a:schemeClr val="dk1"/>
                          </a:solidFill>
                          <a:effectLst/>
                          <a:latin typeface="+mn-lt"/>
                          <a:ea typeface="+mn-ea"/>
                          <a:cs typeface="+mn-cs"/>
                        </a:rPr>
                        <a:t>th</a:t>
                      </a:r>
                      <a:r>
                        <a:rPr lang="en-US" sz="1400" b="0" i="0" kern="1200" dirty="0">
                          <a:solidFill>
                            <a:schemeClr val="dk1"/>
                          </a:solidFill>
                          <a:effectLst/>
                          <a:latin typeface="+mn-lt"/>
                          <a:ea typeface="+mn-ea"/>
                          <a:cs typeface="+mn-cs"/>
                        </a:rPr>
                        <a:t>, 1973 would be stored as 1973-12-30 15:30:00.</a:t>
                      </a:r>
                      <a:endParaRPr lang="en-GB" sz="1400" dirty="0"/>
                    </a:p>
                  </a:txBody>
                  <a:tcPr/>
                </a:tc>
                <a:extLst>
                  <a:ext uri="{0D108BD9-81ED-4DB2-BD59-A6C34878D82A}">
                    <a16:rowId xmlns:a16="http://schemas.microsoft.com/office/drawing/2014/main" val="3708291488"/>
                  </a:ext>
                </a:extLst>
              </a:tr>
              <a:tr h="370840">
                <a:tc>
                  <a:txBody>
                    <a:bodyPr/>
                    <a:lstStyle/>
                    <a:p>
                      <a:r>
                        <a:rPr lang="en-GB" sz="1400" b="1" dirty="0"/>
                        <a:t>TIMESTAMP</a:t>
                      </a:r>
                    </a:p>
                  </a:txBody>
                  <a:tcPr/>
                </a:tc>
                <a:tc>
                  <a:txBody>
                    <a:bodyPr/>
                    <a:lstStyle/>
                    <a:p>
                      <a:r>
                        <a:rPr lang="en-US" sz="1400" b="0" i="0" kern="1200" dirty="0">
                          <a:solidFill>
                            <a:schemeClr val="dk1"/>
                          </a:solidFill>
                          <a:effectLst/>
                          <a:latin typeface="+mn-lt"/>
                          <a:ea typeface="+mn-ea"/>
                          <a:cs typeface="+mn-cs"/>
                        </a:rPr>
                        <a:t>A timestamp between midnight, January 1</a:t>
                      </a:r>
                      <a:r>
                        <a:rPr lang="en-US" sz="1400" b="0" i="0" kern="1200" baseline="30000" dirty="0">
                          <a:solidFill>
                            <a:schemeClr val="dk1"/>
                          </a:solidFill>
                          <a:effectLst/>
                          <a:latin typeface="+mn-lt"/>
                          <a:ea typeface="+mn-ea"/>
                          <a:cs typeface="+mn-cs"/>
                        </a:rPr>
                        <a:t>st</a:t>
                      </a:r>
                      <a:r>
                        <a:rPr lang="en-US" sz="1400" b="0" i="0" kern="1200" dirty="0">
                          <a:solidFill>
                            <a:schemeClr val="dk1"/>
                          </a:solidFill>
                          <a:effectLst/>
                          <a:latin typeface="+mn-lt"/>
                          <a:ea typeface="+mn-ea"/>
                          <a:cs typeface="+mn-cs"/>
                        </a:rPr>
                        <a:t>, 1970 and sometime in 2037. This looks like the previous DATETIME format, only without the hyphens between numbers; 3:30 in the afternoon on December 30</a:t>
                      </a:r>
                      <a:r>
                        <a:rPr lang="en-US" sz="1400" b="0" i="0" kern="1200" baseline="30000" dirty="0">
                          <a:solidFill>
                            <a:schemeClr val="dk1"/>
                          </a:solidFill>
                          <a:effectLst/>
                          <a:latin typeface="+mn-lt"/>
                          <a:ea typeface="+mn-ea"/>
                          <a:cs typeface="+mn-cs"/>
                        </a:rPr>
                        <a:t>th</a:t>
                      </a:r>
                      <a:r>
                        <a:rPr lang="en-US" sz="1400" b="0" i="0" kern="1200" dirty="0">
                          <a:solidFill>
                            <a:schemeClr val="dk1"/>
                          </a:solidFill>
                          <a:effectLst/>
                          <a:latin typeface="+mn-lt"/>
                          <a:ea typeface="+mn-ea"/>
                          <a:cs typeface="+mn-cs"/>
                        </a:rPr>
                        <a:t>, 1973 would be stored as 19731230153000 ( YYYYMMDDHHMMSS ).</a:t>
                      </a:r>
                      <a:endParaRPr lang="en-GB" sz="1400" dirty="0"/>
                    </a:p>
                  </a:txBody>
                  <a:tcPr/>
                </a:tc>
                <a:extLst>
                  <a:ext uri="{0D108BD9-81ED-4DB2-BD59-A6C34878D82A}">
                    <a16:rowId xmlns:a16="http://schemas.microsoft.com/office/drawing/2014/main" val="4168730015"/>
                  </a:ext>
                </a:extLst>
              </a:tr>
              <a:tr h="370840">
                <a:tc>
                  <a:txBody>
                    <a:bodyPr/>
                    <a:lstStyle/>
                    <a:p>
                      <a:r>
                        <a:rPr lang="en-GB" sz="1400" b="1" dirty="0"/>
                        <a:t>TIME</a:t>
                      </a:r>
                    </a:p>
                  </a:txBody>
                  <a:tcPr/>
                </a:tc>
                <a:tc>
                  <a:txBody>
                    <a:bodyPr/>
                    <a:lstStyle/>
                    <a:p>
                      <a:r>
                        <a:rPr lang="en-US" sz="1400" b="0" i="0" kern="1200" dirty="0">
                          <a:solidFill>
                            <a:schemeClr val="dk1"/>
                          </a:solidFill>
                          <a:effectLst/>
                          <a:latin typeface="+mn-lt"/>
                          <a:ea typeface="+mn-ea"/>
                          <a:cs typeface="+mn-cs"/>
                        </a:rPr>
                        <a:t>Stores the time in a HH:MM:SS format.</a:t>
                      </a:r>
                      <a:endParaRPr lang="en-GB" sz="1400" dirty="0"/>
                    </a:p>
                  </a:txBody>
                  <a:tcPr/>
                </a:tc>
                <a:extLst>
                  <a:ext uri="{0D108BD9-81ED-4DB2-BD59-A6C34878D82A}">
                    <a16:rowId xmlns:a16="http://schemas.microsoft.com/office/drawing/2014/main" val="1826216773"/>
                  </a:ext>
                </a:extLst>
              </a:tr>
              <a:tr h="370840">
                <a:tc>
                  <a:txBody>
                    <a:bodyPr/>
                    <a:lstStyle/>
                    <a:p>
                      <a:r>
                        <a:rPr lang="en-GB" sz="1400" b="1" dirty="0"/>
                        <a:t>YEAR(M)</a:t>
                      </a:r>
                    </a:p>
                  </a:txBody>
                  <a:tcPr/>
                </a:tc>
                <a:tc>
                  <a:txBody>
                    <a:bodyPr/>
                    <a:lstStyle/>
                    <a:p>
                      <a:r>
                        <a:rPr lang="en-US" sz="1400" b="0" i="0" kern="1200" dirty="0">
                          <a:solidFill>
                            <a:schemeClr val="dk1"/>
                          </a:solidFill>
                          <a:effectLst/>
                          <a:latin typeface="+mn-lt"/>
                          <a:ea typeface="+mn-ea"/>
                          <a:cs typeface="+mn-cs"/>
                        </a:rPr>
                        <a:t>Stores a year in a 2-digit or a 4-digit format. If the length is specified as 2 (for example YEAR(2)), YEAR can be between 1970 to 2069 (70 to 69). If the length is specified as 4, then YEAR can be 1901 to 2155. The default length is 4.</a:t>
                      </a:r>
                      <a:endParaRPr lang="en-GB" sz="1400" dirty="0"/>
                    </a:p>
                  </a:txBody>
                  <a:tcPr/>
                </a:tc>
                <a:extLst>
                  <a:ext uri="{0D108BD9-81ED-4DB2-BD59-A6C34878D82A}">
                    <a16:rowId xmlns:a16="http://schemas.microsoft.com/office/drawing/2014/main" val="1096864484"/>
                  </a:ext>
                </a:extLst>
              </a:tr>
            </a:tbl>
          </a:graphicData>
        </a:graphic>
      </p:graphicFrame>
    </p:spTree>
    <p:extLst>
      <p:ext uri="{BB962C8B-B14F-4D97-AF65-F5344CB8AC3E}">
        <p14:creationId xmlns:p14="http://schemas.microsoft.com/office/powerpoint/2010/main" val="9597633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String Data Types</a:t>
            </a:r>
          </a:p>
        </p:txBody>
      </p:sp>
      <p:sp>
        <p:nvSpPr>
          <p:cNvPr id="3" name="Content Placeholder 2">
            <a:extLst>
              <a:ext uri="{FF2B5EF4-FFF2-40B4-BE49-F238E27FC236}">
                <a16:creationId xmlns:a16="http://schemas.microsoft.com/office/drawing/2014/main" id="{0D9B78BE-06EC-4F3D-895F-ECB8E7227000}"/>
              </a:ext>
            </a:extLst>
          </p:cNvPr>
          <p:cNvSpPr>
            <a:spLocks noGrp="1"/>
          </p:cNvSpPr>
          <p:nvPr>
            <p:ph idx="1"/>
          </p:nvPr>
        </p:nvSpPr>
        <p:spPr>
          <a:xfrm>
            <a:off x="1017638" y="1519007"/>
            <a:ext cx="10336162" cy="360607"/>
          </a:xfrm>
        </p:spPr>
        <p:txBody>
          <a:bodyPr>
            <a:normAutofit fontScale="62500" lnSpcReduction="20000"/>
          </a:bodyPr>
          <a:lstStyle/>
          <a:p>
            <a:pPr>
              <a:lnSpc>
                <a:spcPct val="110000"/>
              </a:lnSpc>
            </a:pPr>
            <a:r>
              <a:rPr lang="en-US" dirty="0"/>
              <a:t>This list describes the common string datatypes in MySQL:</a:t>
            </a:r>
            <a:endParaRPr lang="en-GB" dirty="0"/>
          </a:p>
        </p:txBody>
      </p:sp>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25</a:t>
            </a:fld>
            <a:endParaRPr lang="en-SG"/>
          </a:p>
        </p:txBody>
      </p:sp>
      <p:graphicFrame>
        <p:nvGraphicFramePr>
          <p:cNvPr id="5" name="Table 4">
            <a:extLst>
              <a:ext uri="{FF2B5EF4-FFF2-40B4-BE49-F238E27FC236}">
                <a16:creationId xmlns:a16="http://schemas.microsoft.com/office/drawing/2014/main" id="{96881AA1-DDDB-4C44-AA7C-35F926FAA1CE}"/>
              </a:ext>
            </a:extLst>
          </p:cNvPr>
          <p:cNvGraphicFramePr>
            <a:graphicFrameLocks noGrp="1"/>
          </p:cNvGraphicFramePr>
          <p:nvPr>
            <p:extLst>
              <p:ext uri="{D42A27DB-BD31-4B8C-83A1-F6EECF244321}">
                <p14:modId xmlns:p14="http://schemas.microsoft.com/office/powerpoint/2010/main" val="1214538929"/>
              </p:ext>
            </p:extLst>
          </p:nvPr>
        </p:nvGraphicFramePr>
        <p:xfrm>
          <a:off x="504194" y="1879614"/>
          <a:ext cx="11294772" cy="4490720"/>
        </p:xfrm>
        <a:graphic>
          <a:graphicData uri="http://schemas.openxmlformats.org/drawingml/2006/table">
            <a:tbl>
              <a:tblPr firstRow="1" bandRow="1">
                <a:tableStyleId>{5C22544A-7EE6-4342-B048-85BDC9FD1C3A}</a:tableStyleId>
              </a:tblPr>
              <a:tblGrid>
                <a:gridCol w="1867436">
                  <a:extLst>
                    <a:ext uri="{9D8B030D-6E8A-4147-A177-3AD203B41FA5}">
                      <a16:colId xmlns:a16="http://schemas.microsoft.com/office/drawing/2014/main" val="4205798296"/>
                    </a:ext>
                  </a:extLst>
                </a:gridCol>
                <a:gridCol w="9427336">
                  <a:extLst>
                    <a:ext uri="{9D8B030D-6E8A-4147-A177-3AD203B41FA5}">
                      <a16:colId xmlns:a16="http://schemas.microsoft.com/office/drawing/2014/main" val="3376185732"/>
                    </a:ext>
                  </a:extLst>
                </a:gridCol>
              </a:tblGrid>
              <a:tr h="370840">
                <a:tc>
                  <a:txBody>
                    <a:bodyPr/>
                    <a:lstStyle/>
                    <a:p>
                      <a:pPr algn="ctr"/>
                      <a:r>
                        <a:rPr lang="en-GB" sz="1400" dirty="0"/>
                        <a:t>Data Types</a:t>
                      </a:r>
                    </a:p>
                  </a:txBody>
                  <a:tcPr/>
                </a:tc>
                <a:tc>
                  <a:txBody>
                    <a:bodyPr/>
                    <a:lstStyle/>
                    <a:p>
                      <a:pPr algn="ctr"/>
                      <a:r>
                        <a:rPr lang="en-GB" sz="1400" dirty="0"/>
                        <a:t>Description</a:t>
                      </a:r>
                    </a:p>
                  </a:txBody>
                  <a:tcPr/>
                </a:tc>
                <a:extLst>
                  <a:ext uri="{0D108BD9-81ED-4DB2-BD59-A6C34878D82A}">
                    <a16:rowId xmlns:a16="http://schemas.microsoft.com/office/drawing/2014/main" val="3618058392"/>
                  </a:ext>
                </a:extLst>
              </a:tr>
              <a:tr h="370840">
                <a:tc>
                  <a:txBody>
                    <a:bodyPr/>
                    <a:lstStyle/>
                    <a:p>
                      <a:r>
                        <a:rPr lang="en-GB" sz="1400" b="1" dirty="0"/>
                        <a:t>CHAR(M)</a:t>
                      </a:r>
                    </a:p>
                  </a:txBody>
                  <a:tcPr/>
                </a:tc>
                <a:tc>
                  <a:txBody>
                    <a:bodyPr/>
                    <a:lstStyle/>
                    <a:p>
                      <a:r>
                        <a:rPr lang="en-US" sz="1400" b="0" i="0" kern="1200" dirty="0">
                          <a:solidFill>
                            <a:schemeClr val="dk1"/>
                          </a:solidFill>
                          <a:effectLst/>
                          <a:latin typeface="+mn-lt"/>
                          <a:ea typeface="+mn-ea"/>
                          <a:cs typeface="+mn-cs"/>
                        </a:rPr>
                        <a:t>A fixed-length string between 1 and 255 characters in length (for example CHAR(5)), right-padded with spaces to the specified length when stored. Defining a length is not required, but the default is 1.</a:t>
                      </a:r>
                      <a:endParaRPr lang="en-GB" sz="1400" dirty="0"/>
                    </a:p>
                  </a:txBody>
                  <a:tcPr/>
                </a:tc>
                <a:extLst>
                  <a:ext uri="{0D108BD9-81ED-4DB2-BD59-A6C34878D82A}">
                    <a16:rowId xmlns:a16="http://schemas.microsoft.com/office/drawing/2014/main" val="2101628255"/>
                  </a:ext>
                </a:extLst>
              </a:tr>
              <a:tr h="370840">
                <a:tc>
                  <a:txBody>
                    <a:bodyPr/>
                    <a:lstStyle/>
                    <a:p>
                      <a:r>
                        <a:rPr lang="en-GB" sz="1400" b="1" dirty="0"/>
                        <a:t>VARCHAR(M)</a:t>
                      </a:r>
                    </a:p>
                  </a:txBody>
                  <a:tcPr/>
                </a:tc>
                <a:tc>
                  <a:txBody>
                    <a:bodyPr/>
                    <a:lstStyle/>
                    <a:p>
                      <a:r>
                        <a:rPr lang="en-US" sz="1400" b="0" i="0" kern="1200" dirty="0">
                          <a:solidFill>
                            <a:schemeClr val="dk1"/>
                          </a:solidFill>
                          <a:effectLst/>
                          <a:latin typeface="+mn-lt"/>
                          <a:ea typeface="+mn-ea"/>
                          <a:cs typeface="+mn-cs"/>
                        </a:rPr>
                        <a:t>A variable-length string between 1 and 255 characters in length. For example, VARCHAR(25). You must define a length when creating a VARCHAR field.</a:t>
                      </a:r>
                      <a:endParaRPr lang="en-GB" sz="1400" dirty="0"/>
                    </a:p>
                  </a:txBody>
                  <a:tcPr/>
                </a:tc>
                <a:extLst>
                  <a:ext uri="{0D108BD9-81ED-4DB2-BD59-A6C34878D82A}">
                    <a16:rowId xmlns:a16="http://schemas.microsoft.com/office/drawing/2014/main" val="3853791304"/>
                  </a:ext>
                </a:extLst>
              </a:tr>
              <a:tr h="370840">
                <a:tc>
                  <a:txBody>
                    <a:bodyPr/>
                    <a:lstStyle/>
                    <a:p>
                      <a:r>
                        <a:rPr lang="en-GB" sz="1400" b="1" dirty="0"/>
                        <a:t>BLOB or TEXT</a:t>
                      </a:r>
                    </a:p>
                  </a:txBody>
                  <a:tcPr/>
                </a:tc>
                <a:tc>
                  <a:txBody>
                    <a:bodyPr/>
                    <a:lstStyle/>
                    <a:p>
                      <a:r>
                        <a:rPr lang="en-US" sz="1400" b="0" i="0" kern="1200" dirty="0">
                          <a:solidFill>
                            <a:schemeClr val="dk1"/>
                          </a:solidFill>
                          <a:effectLst/>
                          <a:latin typeface="+mn-lt"/>
                          <a:ea typeface="+mn-ea"/>
                          <a:cs typeface="+mn-cs"/>
                        </a:rPr>
                        <a:t>A field with a maximum length of 65535 characters. BLOBs are "Binary Large Objects" and are used to store large amounts of binary data, such as images or other types of files. Fields defined as TEXT also hold large amounts of data. The difference between the two is that the sorts and comparisons on the stored data are </a:t>
                      </a:r>
                      <a:r>
                        <a:rPr lang="en-US" sz="1400" b="1" i="0" kern="1200" dirty="0">
                          <a:solidFill>
                            <a:schemeClr val="dk1"/>
                          </a:solidFill>
                          <a:effectLst/>
                          <a:latin typeface="+mn-lt"/>
                          <a:ea typeface="+mn-ea"/>
                          <a:cs typeface="+mn-cs"/>
                        </a:rPr>
                        <a:t>case sensitive</a:t>
                      </a:r>
                      <a:r>
                        <a:rPr lang="en-US" sz="1400" b="0" i="0" kern="1200" dirty="0">
                          <a:solidFill>
                            <a:schemeClr val="dk1"/>
                          </a:solidFill>
                          <a:effectLst/>
                          <a:latin typeface="+mn-lt"/>
                          <a:ea typeface="+mn-ea"/>
                          <a:cs typeface="+mn-cs"/>
                        </a:rPr>
                        <a:t> on BLOBs and are </a:t>
                      </a:r>
                      <a:r>
                        <a:rPr lang="en-US" sz="1400" b="1" i="0" kern="1200" dirty="0">
                          <a:solidFill>
                            <a:schemeClr val="dk1"/>
                          </a:solidFill>
                          <a:effectLst/>
                          <a:latin typeface="+mn-lt"/>
                          <a:ea typeface="+mn-ea"/>
                          <a:cs typeface="+mn-cs"/>
                        </a:rPr>
                        <a:t>not case sensitive</a:t>
                      </a:r>
                      <a:r>
                        <a:rPr lang="en-US" sz="1400" b="0" i="0" kern="1200" dirty="0">
                          <a:solidFill>
                            <a:schemeClr val="dk1"/>
                          </a:solidFill>
                          <a:effectLst/>
                          <a:latin typeface="+mn-lt"/>
                          <a:ea typeface="+mn-ea"/>
                          <a:cs typeface="+mn-cs"/>
                        </a:rPr>
                        <a:t> in TEXT fields. You do not specify a length with BLOB or TEXT.</a:t>
                      </a:r>
                      <a:endParaRPr lang="en-GB" sz="1400" dirty="0"/>
                    </a:p>
                  </a:txBody>
                  <a:tcPr/>
                </a:tc>
                <a:extLst>
                  <a:ext uri="{0D108BD9-81ED-4DB2-BD59-A6C34878D82A}">
                    <a16:rowId xmlns:a16="http://schemas.microsoft.com/office/drawing/2014/main" val="2242891779"/>
                  </a:ext>
                </a:extLst>
              </a:tr>
              <a:tr h="370840">
                <a:tc>
                  <a:txBody>
                    <a:bodyPr/>
                    <a:lstStyle/>
                    <a:p>
                      <a:r>
                        <a:rPr lang="en-GB" sz="1400" b="1" dirty="0"/>
                        <a:t>TINYBLOB or TINYTEXT</a:t>
                      </a:r>
                    </a:p>
                  </a:txBody>
                  <a:tcPr/>
                </a:tc>
                <a:tc>
                  <a:txBody>
                    <a:bodyPr/>
                    <a:lstStyle/>
                    <a:p>
                      <a:r>
                        <a:rPr lang="en-US" sz="1400" b="0" i="0" kern="1200" dirty="0">
                          <a:solidFill>
                            <a:schemeClr val="dk1"/>
                          </a:solidFill>
                          <a:effectLst/>
                          <a:latin typeface="+mn-lt"/>
                          <a:ea typeface="+mn-ea"/>
                          <a:cs typeface="+mn-cs"/>
                        </a:rPr>
                        <a:t>A BLOB or TEXT column with a maximum length of 255 characters. You do not specify a length with TINYBLOB or TINYTEXT.</a:t>
                      </a:r>
                      <a:endParaRPr lang="en-GB" sz="1400" dirty="0"/>
                    </a:p>
                  </a:txBody>
                  <a:tcPr/>
                </a:tc>
                <a:extLst>
                  <a:ext uri="{0D108BD9-81ED-4DB2-BD59-A6C34878D82A}">
                    <a16:rowId xmlns:a16="http://schemas.microsoft.com/office/drawing/2014/main" val="4031719637"/>
                  </a:ext>
                </a:extLst>
              </a:tr>
              <a:tr h="370840">
                <a:tc>
                  <a:txBody>
                    <a:bodyPr/>
                    <a:lstStyle/>
                    <a:p>
                      <a:r>
                        <a:rPr lang="en-GB" sz="1400" b="1" dirty="0"/>
                        <a:t>MEDIUMBLOB or MEDIUMTEXT</a:t>
                      </a:r>
                    </a:p>
                  </a:txBody>
                  <a:tcPr/>
                </a:tc>
                <a:tc>
                  <a:txBody>
                    <a:bodyPr/>
                    <a:lstStyle/>
                    <a:p>
                      <a:r>
                        <a:rPr lang="en-US" sz="1400" b="0" i="0" kern="1200" dirty="0">
                          <a:solidFill>
                            <a:schemeClr val="dk1"/>
                          </a:solidFill>
                          <a:effectLst/>
                          <a:latin typeface="+mn-lt"/>
                          <a:ea typeface="+mn-ea"/>
                          <a:cs typeface="+mn-cs"/>
                        </a:rPr>
                        <a:t>A BLOB or TEXT column with a maximum length of 16777215 characters. You do not specify a length with MEDIUMBLOB or MEDIUMTEXT.</a:t>
                      </a:r>
                      <a:endParaRPr lang="en-GB" sz="1400" dirty="0"/>
                    </a:p>
                  </a:txBody>
                  <a:tcPr/>
                </a:tc>
                <a:extLst>
                  <a:ext uri="{0D108BD9-81ED-4DB2-BD59-A6C34878D82A}">
                    <a16:rowId xmlns:a16="http://schemas.microsoft.com/office/drawing/2014/main" val="3503018866"/>
                  </a:ext>
                </a:extLst>
              </a:tr>
              <a:tr h="370840">
                <a:tc>
                  <a:txBody>
                    <a:bodyPr/>
                    <a:lstStyle/>
                    <a:p>
                      <a:r>
                        <a:rPr lang="en-GB" sz="1400" b="1" dirty="0"/>
                        <a:t>LONGBLOB or LONGTEXT</a:t>
                      </a:r>
                    </a:p>
                  </a:txBody>
                  <a:tcPr/>
                </a:tc>
                <a:tc>
                  <a:txBody>
                    <a:bodyPr/>
                    <a:lstStyle/>
                    <a:p>
                      <a:r>
                        <a:rPr lang="en-US" sz="1400" b="0" i="0" kern="1200" dirty="0">
                          <a:solidFill>
                            <a:schemeClr val="dk1"/>
                          </a:solidFill>
                          <a:effectLst/>
                          <a:latin typeface="+mn-lt"/>
                          <a:ea typeface="+mn-ea"/>
                          <a:cs typeface="+mn-cs"/>
                        </a:rPr>
                        <a:t>A BLOB or TEXT column with a maximum length of 4294967295 characters. You do not specify a length with LONGBLOB or LONGTEXT.</a:t>
                      </a:r>
                      <a:endParaRPr lang="en-GB" sz="1400" dirty="0"/>
                    </a:p>
                  </a:txBody>
                  <a:tcPr/>
                </a:tc>
                <a:extLst>
                  <a:ext uri="{0D108BD9-81ED-4DB2-BD59-A6C34878D82A}">
                    <a16:rowId xmlns:a16="http://schemas.microsoft.com/office/drawing/2014/main" val="1904510326"/>
                  </a:ext>
                </a:extLst>
              </a:tr>
              <a:tr h="370840">
                <a:tc>
                  <a:txBody>
                    <a:bodyPr/>
                    <a:lstStyle/>
                    <a:p>
                      <a:r>
                        <a:rPr lang="en-GB" sz="1400" b="1" dirty="0"/>
                        <a:t>ENUM</a:t>
                      </a:r>
                    </a:p>
                  </a:txBody>
                  <a:tcPr/>
                </a:tc>
                <a:tc>
                  <a:txBody>
                    <a:bodyPr/>
                    <a:lstStyle/>
                    <a:p>
                      <a:r>
                        <a:rPr lang="en-US" sz="1400" b="0" i="0" kern="1200" dirty="0">
                          <a:solidFill>
                            <a:schemeClr val="dk1"/>
                          </a:solidFill>
                          <a:effectLst/>
                          <a:latin typeface="+mn-lt"/>
                          <a:ea typeface="+mn-ea"/>
                          <a:cs typeface="+mn-cs"/>
                        </a:rPr>
                        <a:t>An enumeration, which is a fancy term for list. When defining an ENUM, you are creating a list of items from which the value must be selected (or it can be NULL). For example, if you wanted your field to contain “START" or “STOP" or “PAUSE", you would define your ENUM as ENUM (‘START', ‘STOP', ‘PAUSE') and only those values (or NULL) could ever populate that field.</a:t>
                      </a:r>
                      <a:endParaRPr lang="en-GB" sz="1400" dirty="0"/>
                    </a:p>
                  </a:txBody>
                  <a:tcPr/>
                </a:tc>
                <a:extLst>
                  <a:ext uri="{0D108BD9-81ED-4DB2-BD59-A6C34878D82A}">
                    <a16:rowId xmlns:a16="http://schemas.microsoft.com/office/drawing/2014/main" val="90156088"/>
                  </a:ext>
                </a:extLst>
              </a:tr>
            </a:tbl>
          </a:graphicData>
        </a:graphic>
      </p:graphicFrame>
    </p:spTree>
    <p:extLst>
      <p:ext uri="{BB962C8B-B14F-4D97-AF65-F5344CB8AC3E}">
        <p14:creationId xmlns:p14="http://schemas.microsoft.com/office/powerpoint/2010/main" val="194012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Creating Table</a:t>
            </a:r>
          </a:p>
        </p:txBody>
      </p:sp>
      <p:sp>
        <p:nvSpPr>
          <p:cNvPr id="3" name="Content Placeholder 2">
            <a:extLst>
              <a:ext uri="{FF2B5EF4-FFF2-40B4-BE49-F238E27FC236}">
                <a16:creationId xmlns:a16="http://schemas.microsoft.com/office/drawing/2014/main" id="{0D9B78BE-06EC-4F3D-895F-ECB8E7227000}"/>
              </a:ext>
            </a:extLst>
          </p:cNvPr>
          <p:cNvSpPr>
            <a:spLocks noGrp="1"/>
          </p:cNvSpPr>
          <p:nvPr>
            <p:ph idx="1"/>
          </p:nvPr>
        </p:nvSpPr>
        <p:spPr>
          <a:xfrm>
            <a:off x="1017638" y="1577662"/>
            <a:ext cx="10336162" cy="4436771"/>
          </a:xfrm>
        </p:spPr>
        <p:txBody>
          <a:bodyPr>
            <a:normAutofit/>
          </a:bodyPr>
          <a:lstStyle/>
          <a:p>
            <a:pPr>
              <a:lnSpc>
                <a:spcPct val="100000"/>
              </a:lnSpc>
            </a:pPr>
            <a:r>
              <a:rPr lang="en-GB" dirty="0"/>
              <a:t>In order to store data, we need to create tables, each for a particular set of data.</a:t>
            </a:r>
          </a:p>
          <a:p>
            <a:pPr>
              <a:lnSpc>
                <a:spcPct val="100000"/>
              </a:lnSpc>
            </a:pPr>
            <a:r>
              <a:rPr lang="en-GB" dirty="0"/>
              <a:t>Creating a table requires the following details:</a:t>
            </a:r>
          </a:p>
          <a:p>
            <a:pPr lvl="1">
              <a:lnSpc>
                <a:spcPct val="100000"/>
              </a:lnSpc>
            </a:pPr>
            <a:r>
              <a:rPr lang="en-GB" dirty="0"/>
              <a:t>Name of the table</a:t>
            </a:r>
          </a:p>
          <a:p>
            <a:pPr lvl="1">
              <a:lnSpc>
                <a:spcPct val="100000"/>
              </a:lnSpc>
            </a:pPr>
            <a:r>
              <a:rPr lang="en-GB" dirty="0"/>
              <a:t>Name of the fields</a:t>
            </a:r>
          </a:p>
          <a:p>
            <a:pPr lvl="1">
              <a:lnSpc>
                <a:spcPct val="100000"/>
              </a:lnSpc>
            </a:pPr>
            <a:r>
              <a:rPr lang="en-GB" dirty="0"/>
              <a:t>The field to be the primary key</a:t>
            </a:r>
          </a:p>
          <a:p>
            <a:pPr>
              <a:lnSpc>
                <a:spcPct val="100000"/>
              </a:lnSpc>
            </a:pPr>
            <a:endParaRPr lang="en-GB" dirty="0"/>
          </a:p>
        </p:txBody>
      </p:sp>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26</a:t>
            </a:fld>
            <a:endParaRPr lang="en-SG"/>
          </a:p>
        </p:txBody>
      </p:sp>
    </p:spTree>
    <p:extLst>
      <p:ext uri="{BB962C8B-B14F-4D97-AF65-F5344CB8AC3E}">
        <p14:creationId xmlns:p14="http://schemas.microsoft.com/office/powerpoint/2010/main" val="899766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DE12A-5FB3-4B80-856F-6385BF8C7A13}"/>
              </a:ext>
            </a:extLst>
          </p:cNvPr>
          <p:cNvSpPr>
            <a:spLocks noGrp="1"/>
          </p:cNvSpPr>
          <p:nvPr>
            <p:ph type="title"/>
          </p:nvPr>
        </p:nvSpPr>
        <p:spPr/>
        <p:txBody>
          <a:bodyPr/>
          <a:lstStyle/>
          <a:p>
            <a:r>
              <a:rPr lang="en-GB" dirty="0"/>
              <a:t>Creating Table</a:t>
            </a:r>
          </a:p>
        </p:txBody>
      </p:sp>
      <p:sp>
        <p:nvSpPr>
          <p:cNvPr id="3" name="Content Placeholder 2">
            <a:extLst>
              <a:ext uri="{FF2B5EF4-FFF2-40B4-BE49-F238E27FC236}">
                <a16:creationId xmlns:a16="http://schemas.microsoft.com/office/drawing/2014/main" id="{EF27488C-8798-4C6A-B742-FE6554FA3274}"/>
              </a:ext>
            </a:extLst>
          </p:cNvPr>
          <p:cNvSpPr>
            <a:spLocks noGrp="1"/>
          </p:cNvSpPr>
          <p:nvPr>
            <p:ph idx="1"/>
          </p:nvPr>
        </p:nvSpPr>
        <p:spPr>
          <a:xfrm>
            <a:off x="1017638" y="1631315"/>
            <a:ext cx="10336162" cy="1181735"/>
          </a:xfrm>
        </p:spPr>
        <p:txBody>
          <a:bodyPr>
            <a:normAutofit/>
          </a:bodyPr>
          <a:lstStyle/>
          <a:p>
            <a:r>
              <a:rPr lang="en-GB" dirty="0"/>
              <a:t>To create a table in MySQL Workbench, right click on the </a:t>
            </a:r>
            <a:r>
              <a:rPr lang="en-GB" dirty="0">
                <a:solidFill>
                  <a:srgbClr val="FF0000"/>
                </a:solidFill>
              </a:rPr>
              <a:t>Tables</a:t>
            </a:r>
            <a:r>
              <a:rPr lang="en-GB" dirty="0"/>
              <a:t> item under </a:t>
            </a:r>
            <a:r>
              <a:rPr lang="en-GB" dirty="0" err="1">
                <a:solidFill>
                  <a:srgbClr val="FF0000"/>
                </a:solidFill>
              </a:rPr>
              <a:t>my_database</a:t>
            </a:r>
            <a:r>
              <a:rPr lang="en-GB" dirty="0"/>
              <a:t> and click on </a:t>
            </a:r>
            <a:r>
              <a:rPr lang="en-GB" dirty="0">
                <a:solidFill>
                  <a:srgbClr val="FF0000"/>
                </a:solidFill>
              </a:rPr>
              <a:t>Create Table…</a:t>
            </a:r>
            <a:r>
              <a:rPr lang="en-GB" dirty="0"/>
              <a:t>. </a:t>
            </a:r>
          </a:p>
        </p:txBody>
      </p:sp>
      <p:sp>
        <p:nvSpPr>
          <p:cNvPr id="4" name="Slide Number Placeholder 3">
            <a:extLst>
              <a:ext uri="{FF2B5EF4-FFF2-40B4-BE49-F238E27FC236}">
                <a16:creationId xmlns:a16="http://schemas.microsoft.com/office/drawing/2014/main" id="{4E720960-9F59-4881-AE35-7C5AC7386670}"/>
              </a:ext>
            </a:extLst>
          </p:cNvPr>
          <p:cNvSpPr>
            <a:spLocks noGrp="1"/>
          </p:cNvSpPr>
          <p:nvPr>
            <p:ph type="sldNum" sz="quarter" idx="12"/>
          </p:nvPr>
        </p:nvSpPr>
        <p:spPr/>
        <p:txBody>
          <a:bodyPr/>
          <a:lstStyle/>
          <a:p>
            <a:fld id="{8E9E4023-6F3A-457B-B0BB-8C1F114B424F}" type="slidenum">
              <a:rPr lang="en-SG" smtClean="0"/>
              <a:t>27</a:t>
            </a:fld>
            <a:endParaRPr lang="en-SG"/>
          </a:p>
        </p:txBody>
      </p:sp>
      <p:pic>
        <p:nvPicPr>
          <p:cNvPr id="7" name="Picture 6">
            <a:extLst>
              <a:ext uri="{FF2B5EF4-FFF2-40B4-BE49-F238E27FC236}">
                <a16:creationId xmlns:a16="http://schemas.microsoft.com/office/drawing/2014/main" id="{51A96EA3-36DA-4645-B613-6CE6925EA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2354" y="3143545"/>
            <a:ext cx="4866728" cy="2583287"/>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5521572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Creating Table</a:t>
            </a:r>
          </a:p>
        </p:txBody>
      </p:sp>
      <p:sp>
        <p:nvSpPr>
          <p:cNvPr id="3" name="Content Placeholder 2">
            <a:extLst>
              <a:ext uri="{FF2B5EF4-FFF2-40B4-BE49-F238E27FC236}">
                <a16:creationId xmlns:a16="http://schemas.microsoft.com/office/drawing/2014/main" id="{0D9B78BE-06EC-4F3D-895F-ECB8E7227000}"/>
              </a:ext>
            </a:extLst>
          </p:cNvPr>
          <p:cNvSpPr>
            <a:spLocks noGrp="1"/>
          </p:cNvSpPr>
          <p:nvPr>
            <p:ph sz="half" idx="1"/>
          </p:nvPr>
        </p:nvSpPr>
        <p:spPr>
          <a:xfrm>
            <a:off x="1104900" y="1529366"/>
            <a:ext cx="4239832" cy="4757256"/>
          </a:xfrm>
        </p:spPr>
        <p:txBody>
          <a:bodyPr>
            <a:normAutofit fontScale="77500" lnSpcReduction="20000"/>
          </a:bodyPr>
          <a:lstStyle/>
          <a:p>
            <a:pPr>
              <a:lnSpc>
                <a:spcPct val="120000"/>
              </a:lnSpc>
            </a:pPr>
            <a:r>
              <a:rPr lang="en-GB" sz="1600" dirty="0"/>
              <a:t>In the </a:t>
            </a:r>
            <a:r>
              <a:rPr lang="en-GB" sz="1600" b="1" dirty="0" err="1"/>
              <a:t>new_table</a:t>
            </a:r>
            <a:r>
              <a:rPr lang="en-GB" sz="1600" dirty="0"/>
              <a:t> tab, enter the following information:</a:t>
            </a:r>
          </a:p>
          <a:p>
            <a:pPr lvl="1">
              <a:lnSpc>
                <a:spcPct val="120000"/>
              </a:lnSpc>
            </a:pPr>
            <a:r>
              <a:rPr lang="en-GB" sz="1200" dirty="0"/>
              <a:t>Table Name: </a:t>
            </a:r>
            <a:r>
              <a:rPr lang="en-GB" sz="1200" dirty="0">
                <a:solidFill>
                  <a:srgbClr val="FF0000"/>
                </a:solidFill>
              </a:rPr>
              <a:t>tutorials</a:t>
            </a:r>
          </a:p>
          <a:p>
            <a:pPr lvl="1">
              <a:lnSpc>
                <a:spcPct val="120000"/>
              </a:lnSpc>
            </a:pPr>
            <a:r>
              <a:rPr lang="en-GB" sz="1200" dirty="0"/>
              <a:t>Column Details:</a:t>
            </a:r>
          </a:p>
          <a:p>
            <a:pPr>
              <a:lnSpc>
                <a:spcPct val="120000"/>
              </a:lnSpc>
            </a:pPr>
            <a:endParaRPr lang="en-GB" sz="1600" dirty="0"/>
          </a:p>
          <a:p>
            <a:pPr>
              <a:lnSpc>
                <a:spcPct val="120000"/>
              </a:lnSpc>
            </a:pPr>
            <a:endParaRPr lang="en-GB" sz="1600" dirty="0"/>
          </a:p>
          <a:p>
            <a:pPr>
              <a:lnSpc>
                <a:spcPct val="120000"/>
              </a:lnSpc>
            </a:pPr>
            <a:endParaRPr lang="en-GB" sz="1600" dirty="0"/>
          </a:p>
          <a:p>
            <a:pPr>
              <a:lnSpc>
                <a:spcPct val="120000"/>
              </a:lnSpc>
            </a:pPr>
            <a:endParaRPr lang="en-GB" sz="1600" dirty="0"/>
          </a:p>
          <a:p>
            <a:pPr>
              <a:lnSpc>
                <a:spcPct val="120000"/>
              </a:lnSpc>
            </a:pPr>
            <a:endParaRPr lang="en-GB" sz="1600" dirty="0"/>
          </a:p>
          <a:p>
            <a:pPr>
              <a:lnSpc>
                <a:spcPct val="120000"/>
              </a:lnSpc>
            </a:pPr>
            <a:endParaRPr lang="en-GB" sz="1600" dirty="0"/>
          </a:p>
          <a:p>
            <a:pPr>
              <a:lnSpc>
                <a:spcPct val="120000"/>
              </a:lnSpc>
            </a:pPr>
            <a:endParaRPr lang="en-GB" sz="1600" dirty="0"/>
          </a:p>
          <a:p>
            <a:pPr>
              <a:lnSpc>
                <a:spcPct val="120000"/>
              </a:lnSpc>
            </a:pPr>
            <a:r>
              <a:rPr lang="en-US" sz="1600" dirty="0"/>
              <a:t>Below are explanation for the above:</a:t>
            </a:r>
          </a:p>
          <a:p>
            <a:pPr lvl="1">
              <a:lnSpc>
                <a:spcPct val="120000"/>
              </a:lnSpc>
            </a:pPr>
            <a:r>
              <a:rPr lang="en-US" sz="1200" dirty="0"/>
              <a:t>Field Attribute NOT NULL is being used because we do not want this field to be NULL. So, if a user will try to create a record with a NULL value, then MySQL will raise an error.</a:t>
            </a:r>
          </a:p>
          <a:p>
            <a:pPr lvl="1">
              <a:lnSpc>
                <a:spcPct val="120000"/>
              </a:lnSpc>
            </a:pPr>
            <a:r>
              <a:rPr lang="en-US" sz="1200" dirty="0"/>
              <a:t>Field Attribute AUTO_INCREMENT tells MySQL to go ahead and add the next available number to the id field.</a:t>
            </a:r>
          </a:p>
          <a:p>
            <a:pPr lvl="1">
              <a:lnSpc>
                <a:spcPct val="120000"/>
              </a:lnSpc>
            </a:pPr>
            <a:r>
              <a:rPr lang="en-US" sz="1200" dirty="0"/>
              <a:t>Keyword PRIMARY KEY is used to define a column as a primary key. You can use multiple columns separated by a comma to define a primary key.</a:t>
            </a:r>
          </a:p>
          <a:p>
            <a:pPr>
              <a:lnSpc>
                <a:spcPct val="120000"/>
              </a:lnSpc>
            </a:pPr>
            <a:r>
              <a:rPr lang="en-US" sz="1600" dirty="0"/>
              <a:t>Click </a:t>
            </a:r>
            <a:r>
              <a:rPr lang="en-US" sz="1600" b="1" dirty="0"/>
              <a:t>Apply</a:t>
            </a:r>
            <a:r>
              <a:rPr lang="en-US" sz="1600" dirty="0"/>
              <a:t> button after you’re done.</a:t>
            </a:r>
            <a:endParaRPr lang="en-GB" sz="1600" dirty="0"/>
          </a:p>
          <a:p>
            <a:pPr lvl="1">
              <a:lnSpc>
                <a:spcPct val="120000"/>
              </a:lnSpc>
            </a:pPr>
            <a:endParaRPr lang="en-GB" sz="1200" dirty="0"/>
          </a:p>
        </p:txBody>
      </p:sp>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28</a:t>
            </a:fld>
            <a:endParaRPr lang="en-SG"/>
          </a:p>
        </p:txBody>
      </p:sp>
      <p:pic>
        <p:nvPicPr>
          <p:cNvPr id="9" name="Content Placeholder 8">
            <a:extLst>
              <a:ext uri="{FF2B5EF4-FFF2-40B4-BE49-F238E27FC236}">
                <a16:creationId xmlns:a16="http://schemas.microsoft.com/office/drawing/2014/main" id="{DA1B1511-3F55-441F-9154-0AF0B1064AA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725358" y="1976907"/>
            <a:ext cx="5415298" cy="3678198"/>
          </a:xfrm>
          <a:effectLst>
            <a:outerShdw blurRad="50800" dist="38100" dir="5400000" algn="t" rotWithShape="0">
              <a:prstClr val="black">
                <a:alpha val="40000"/>
              </a:prstClr>
            </a:outerShdw>
          </a:effectLst>
        </p:spPr>
      </p:pic>
      <p:graphicFrame>
        <p:nvGraphicFramePr>
          <p:cNvPr id="11" name="Table 10">
            <a:extLst>
              <a:ext uri="{FF2B5EF4-FFF2-40B4-BE49-F238E27FC236}">
                <a16:creationId xmlns:a16="http://schemas.microsoft.com/office/drawing/2014/main" id="{2B7E4323-CC03-457E-BDD9-426F180F07BE}"/>
              </a:ext>
            </a:extLst>
          </p:cNvPr>
          <p:cNvGraphicFramePr>
            <a:graphicFrameLocks noGrp="1"/>
          </p:cNvGraphicFramePr>
          <p:nvPr>
            <p:extLst>
              <p:ext uri="{D42A27DB-BD31-4B8C-83A1-F6EECF244321}">
                <p14:modId xmlns:p14="http://schemas.microsoft.com/office/powerpoint/2010/main" val="1371320839"/>
              </p:ext>
            </p:extLst>
          </p:nvPr>
        </p:nvGraphicFramePr>
        <p:xfrm>
          <a:off x="1252826" y="2419289"/>
          <a:ext cx="3840768" cy="1888694"/>
        </p:xfrm>
        <a:graphic>
          <a:graphicData uri="http://schemas.openxmlformats.org/drawingml/2006/table">
            <a:tbl>
              <a:tblPr firstRow="1" bandRow="1">
                <a:tableStyleId>{5C22544A-7EE6-4342-B048-85BDC9FD1C3A}</a:tableStyleId>
              </a:tblPr>
              <a:tblGrid>
                <a:gridCol w="1273466">
                  <a:extLst>
                    <a:ext uri="{9D8B030D-6E8A-4147-A177-3AD203B41FA5}">
                      <a16:colId xmlns:a16="http://schemas.microsoft.com/office/drawing/2014/main" val="2128879295"/>
                    </a:ext>
                  </a:extLst>
                </a:gridCol>
                <a:gridCol w="1152666">
                  <a:extLst>
                    <a:ext uri="{9D8B030D-6E8A-4147-A177-3AD203B41FA5}">
                      <a16:colId xmlns:a16="http://schemas.microsoft.com/office/drawing/2014/main" val="173748854"/>
                    </a:ext>
                  </a:extLst>
                </a:gridCol>
                <a:gridCol w="1414636">
                  <a:extLst>
                    <a:ext uri="{9D8B030D-6E8A-4147-A177-3AD203B41FA5}">
                      <a16:colId xmlns:a16="http://schemas.microsoft.com/office/drawing/2014/main" val="2522244425"/>
                    </a:ext>
                  </a:extLst>
                </a:gridCol>
              </a:tblGrid>
              <a:tr h="298215">
                <a:tc>
                  <a:txBody>
                    <a:bodyPr/>
                    <a:lstStyle/>
                    <a:p>
                      <a:r>
                        <a:rPr lang="en-GB" sz="1200" dirty="0"/>
                        <a:t>Columns</a:t>
                      </a:r>
                    </a:p>
                  </a:txBody>
                  <a:tcPr/>
                </a:tc>
                <a:tc>
                  <a:txBody>
                    <a:bodyPr/>
                    <a:lstStyle/>
                    <a:p>
                      <a:r>
                        <a:rPr lang="en-GB" sz="1200" dirty="0"/>
                        <a:t>Data Type</a:t>
                      </a:r>
                    </a:p>
                  </a:txBody>
                  <a:tcPr/>
                </a:tc>
                <a:tc>
                  <a:txBody>
                    <a:bodyPr/>
                    <a:lstStyle/>
                    <a:p>
                      <a:r>
                        <a:rPr lang="en-GB" sz="1200" dirty="0"/>
                        <a:t>Remarks</a:t>
                      </a:r>
                    </a:p>
                  </a:txBody>
                  <a:tcPr/>
                </a:tc>
                <a:extLst>
                  <a:ext uri="{0D108BD9-81ED-4DB2-BD59-A6C34878D82A}">
                    <a16:rowId xmlns:a16="http://schemas.microsoft.com/office/drawing/2014/main" val="540369498"/>
                  </a:ext>
                </a:extLst>
              </a:tr>
              <a:tr h="695834">
                <a:tc>
                  <a:txBody>
                    <a:bodyPr/>
                    <a:lstStyle/>
                    <a:p>
                      <a:r>
                        <a:rPr lang="en-GB" sz="1200" dirty="0" err="1"/>
                        <a:t>tutorial_id</a:t>
                      </a:r>
                      <a:endParaRPr lang="en-GB" sz="1200" dirty="0"/>
                    </a:p>
                  </a:txBody>
                  <a:tcPr/>
                </a:tc>
                <a:tc>
                  <a:txBody>
                    <a:bodyPr/>
                    <a:lstStyle/>
                    <a:p>
                      <a:r>
                        <a:rPr lang="en-GB" sz="1200" dirty="0"/>
                        <a:t>INT</a:t>
                      </a:r>
                    </a:p>
                  </a:txBody>
                  <a:tcPr/>
                </a:tc>
                <a:tc>
                  <a:txBody>
                    <a:bodyPr/>
                    <a:lstStyle/>
                    <a:p>
                      <a:r>
                        <a:rPr lang="en-GB" sz="1200" dirty="0"/>
                        <a:t>Primary Key (PK)</a:t>
                      </a:r>
                    </a:p>
                    <a:p>
                      <a:r>
                        <a:rPr lang="en-GB" sz="1200" dirty="0"/>
                        <a:t>Not Null (NN)</a:t>
                      </a:r>
                    </a:p>
                    <a:p>
                      <a:r>
                        <a:rPr lang="en-GB" sz="1200" dirty="0"/>
                        <a:t>Auto Increment (AI)</a:t>
                      </a:r>
                    </a:p>
                  </a:txBody>
                  <a:tcPr/>
                </a:tc>
                <a:extLst>
                  <a:ext uri="{0D108BD9-81ED-4DB2-BD59-A6C34878D82A}">
                    <a16:rowId xmlns:a16="http://schemas.microsoft.com/office/drawing/2014/main" val="1215158119"/>
                  </a:ext>
                </a:extLst>
              </a:tr>
              <a:tr h="298215">
                <a:tc>
                  <a:txBody>
                    <a:bodyPr/>
                    <a:lstStyle/>
                    <a:p>
                      <a:r>
                        <a:rPr lang="en-GB" sz="1200" dirty="0"/>
                        <a:t>title</a:t>
                      </a:r>
                    </a:p>
                  </a:txBody>
                  <a:tcPr/>
                </a:tc>
                <a:tc>
                  <a:txBody>
                    <a:bodyPr/>
                    <a:lstStyle/>
                    <a:p>
                      <a:r>
                        <a:rPr lang="en-GB" sz="1200" dirty="0"/>
                        <a:t>VARCHAR(100)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Not Null (NN)</a:t>
                      </a:r>
                    </a:p>
                  </a:txBody>
                  <a:tcPr/>
                </a:tc>
                <a:extLst>
                  <a:ext uri="{0D108BD9-81ED-4DB2-BD59-A6C34878D82A}">
                    <a16:rowId xmlns:a16="http://schemas.microsoft.com/office/drawing/2014/main" val="2428818359"/>
                  </a:ext>
                </a:extLst>
              </a:tr>
              <a:tr h="298215">
                <a:tc>
                  <a:txBody>
                    <a:bodyPr/>
                    <a:lstStyle/>
                    <a:p>
                      <a:r>
                        <a:rPr lang="en-GB" sz="1200" dirty="0"/>
                        <a:t>author</a:t>
                      </a:r>
                    </a:p>
                  </a:txBody>
                  <a:tcPr/>
                </a:tc>
                <a:tc>
                  <a:txBody>
                    <a:bodyPr/>
                    <a:lstStyle/>
                    <a:p>
                      <a:r>
                        <a:rPr lang="en-GB" sz="1200" dirty="0"/>
                        <a:t>VARCHAR(40)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Not Null (NN)</a:t>
                      </a:r>
                    </a:p>
                  </a:txBody>
                  <a:tcPr/>
                </a:tc>
                <a:extLst>
                  <a:ext uri="{0D108BD9-81ED-4DB2-BD59-A6C34878D82A}">
                    <a16:rowId xmlns:a16="http://schemas.microsoft.com/office/drawing/2014/main" val="3207601955"/>
                  </a:ext>
                </a:extLst>
              </a:tr>
              <a:tr h="298215">
                <a:tc>
                  <a:txBody>
                    <a:bodyPr/>
                    <a:lstStyle/>
                    <a:p>
                      <a:r>
                        <a:rPr lang="en-GB" sz="1200" dirty="0" err="1"/>
                        <a:t>submission_date</a:t>
                      </a:r>
                      <a:endParaRPr lang="en-GB" sz="1200" dirty="0"/>
                    </a:p>
                  </a:txBody>
                  <a:tcPr/>
                </a:tc>
                <a:tc>
                  <a:txBody>
                    <a:bodyPr/>
                    <a:lstStyle/>
                    <a:p>
                      <a:r>
                        <a:rPr lang="en-GB" sz="1200" dirty="0"/>
                        <a:t>DATE</a:t>
                      </a:r>
                    </a:p>
                  </a:txBody>
                  <a:tcPr/>
                </a:tc>
                <a:tc>
                  <a:txBody>
                    <a:bodyPr/>
                    <a:lstStyle/>
                    <a:p>
                      <a:endParaRPr lang="en-GB" sz="1200" dirty="0"/>
                    </a:p>
                  </a:txBody>
                  <a:tcPr/>
                </a:tc>
                <a:extLst>
                  <a:ext uri="{0D108BD9-81ED-4DB2-BD59-A6C34878D82A}">
                    <a16:rowId xmlns:a16="http://schemas.microsoft.com/office/drawing/2014/main" val="385102698"/>
                  </a:ext>
                </a:extLst>
              </a:tr>
            </a:tbl>
          </a:graphicData>
        </a:graphic>
      </p:graphicFrame>
    </p:spTree>
    <p:extLst>
      <p:ext uri="{BB962C8B-B14F-4D97-AF65-F5344CB8AC3E}">
        <p14:creationId xmlns:p14="http://schemas.microsoft.com/office/powerpoint/2010/main" val="3644734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Creating Table</a:t>
            </a:r>
          </a:p>
        </p:txBody>
      </p:sp>
      <p:sp>
        <p:nvSpPr>
          <p:cNvPr id="3" name="Content Placeholder 2">
            <a:extLst>
              <a:ext uri="{FF2B5EF4-FFF2-40B4-BE49-F238E27FC236}">
                <a16:creationId xmlns:a16="http://schemas.microsoft.com/office/drawing/2014/main" id="{0D9B78BE-06EC-4F3D-895F-ECB8E7227000}"/>
              </a:ext>
            </a:extLst>
          </p:cNvPr>
          <p:cNvSpPr>
            <a:spLocks noGrp="1"/>
          </p:cNvSpPr>
          <p:nvPr>
            <p:ph sz="half" idx="1"/>
          </p:nvPr>
        </p:nvSpPr>
        <p:spPr>
          <a:xfrm>
            <a:off x="1104900" y="1600200"/>
            <a:ext cx="9982200" cy="917620"/>
          </a:xfrm>
        </p:spPr>
        <p:txBody>
          <a:bodyPr>
            <a:normAutofit/>
          </a:bodyPr>
          <a:lstStyle/>
          <a:p>
            <a:pPr>
              <a:lnSpc>
                <a:spcPct val="120000"/>
              </a:lnSpc>
            </a:pPr>
            <a:r>
              <a:rPr lang="en-GB" sz="1600" dirty="0"/>
              <a:t>In this window, the SQL code for creating the table is shown. Study the codes and click </a:t>
            </a:r>
            <a:r>
              <a:rPr lang="en-GB" sz="1600" b="1" dirty="0"/>
              <a:t>Apply</a:t>
            </a:r>
            <a:r>
              <a:rPr lang="en-GB" sz="1600" dirty="0"/>
              <a:t> after you’re done.</a:t>
            </a:r>
          </a:p>
          <a:p>
            <a:pPr>
              <a:lnSpc>
                <a:spcPct val="120000"/>
              </a:lnSpc>
            </a:pPr>
            <a:endParaRPr lang="en-GB" sz="1600" dirty="0"/>
          </a:p>
        </p:txBody>
      </p:sp>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29</a:t>
            </a:fld>
            <a:endParaRPr lang="en-SG"/>
          </a:p>
        </p:txBody>
      </p:sp>
      <p:pic>
        <p:nvPicPr>
          <p:cNvPr id="8" name="Content Placeholder 7">
            <a:extLst>
              <a:ext uri="{FF2B5EF4-FFF2-40B4-BE49-F238E27FC236}">
                <a16:creationId xmlns:a16="http://schemas.microsoft.com/office/drawing/2014/main" id="{4B54974F-FA72-4A1A-81DC-A4CBAF27797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979183" y="2574452"/>
            <a:ext cx="5107917" cy="3639603"/>
          </a:xfrm>
          <a:effectLst>
            <a:outerShdw blurRad="50800" dist="38100" dir="5400000" algn="t" rotWithShape="0">
              <a:prstClr val="black">
                <a:alpha val="40000"/>
              </a:prstClr>
            </a:outerShdw>
          </a:effectLst>
        </p:spPr>
      </p:pic>
      <p:sp>
        <p:nvSpPr>
          <p:cNvPr id="9" name="Speech Bubble: Rectangle 8">
            <a:extLst>
              <a:ext uri="{FF2B5EF4-FFF2-40B4-BE49-F238E27FC236}">
                <a16:creationId xmlns:a16="http://schemas.microsoft.com/office/drawing/2014/main" id="{CF4A55A9-4615-4805-A875-E1F81B8AE62C}"/>
              </a:ext>
            </a:extLst>
          </p:cNvPr>
          <p:cNvSpPr/>
          <p:nvPr/>
        </p:nvSpPr>
        <p:spPr>
          <a:xfrm>
            <a:off x="1519707" y="3548129"/>
            <a:ext cx="3857222" cy="1300767"/>
          </a:xfrm>
          <a:prstGeom prst="wedgeRectCallout">
            <a:avLst>
              <a:gd name="adj1" fmla="val 96122"/>
              <a:gd name="adj2" fmla="val -506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b="1" dirty="0">
                <a:latin typeface="Courier"/>
              </a:rPr>
              <a:t>CREATE TABLE ‘my_database’.’tutorials’ (</a:t>
            </a:r>
          </a:p>
          <a:p>
            <a:r>
              <a:rPr lang="en-GB" sz="1000" b="1" dirty="0">
                <a:latin typeface="Courier"/>
              </a:rPr>
              <a:t>    ‘</a:t>
            </a:r>
            <a:r>
              <a:rPr lang="en-GB" sz="1000" b="1" dirty="0" err="1">
                <a:latin typeface="Courier"/>
              </a:rPr>
              <a:t>tutorial_id</a:t>
            </a:r>
            <a:r>
              <a:rPr lang="en-GB" sz="1000" b="1" dirty="0">
                <a:latin typeface="Courier"/>
              </a:rPr>
              <a:t>’ INT NOT NULL AUTO_INCREMENT,</a:t>
            </a:r>
          </a:p>
          <a:p>
            <a:r>
              <a:rPr lang="en-GB" sz="1000" b="1" dirty="0">
                <a:latin typeface="Courier"/>
              </a:rPr>
              <a:t>    ‘title’ VARCHAR(100) NOT NULL,</a:t>
            </a:r>
          </a:p>
          <a:p>
            <a:r>
              <a:rPr lang="en-GB" sz="1000" b="1" dirty="0">
                <a:latin typeface="Courier"/>
              </a:rPr>
              <a:t>    ‘author’ VARCHAR(40) NOT NULL,</a:t>
            </a:r>
          </a:p>
          <a:p>
            <a:r>
              <a:rPr lang="en-GB" sz="1000" b="1" dirty="0">
                <a:latin typeface="Courier"/>
              </a:rPr>
              <a:t>    ‘submission_date’ DATE NULL,</a:t>
            </a:r>
          </a:p>
          <a:p>
            <a:r>
              <a:rPr lang="en-GB" sz="1000" b="1" dirty="0">
                <a:latin typeface="Courier"/>
              </a:rPr>
              <a:t>PRIMARY KEY (‘tutorial_id’));</a:t>
            </a:r>
          </a:p>
        </p:txBody>
      </p:sp>
    </p:spTree>
    <p:extLst>
      <p:ext uri="{BB962C8B-B14F-4D97-AF65-F5344CB8AC3E}">
        <p14:creationId xmlns:p14="http://schemas.microsoft.com/office/powerpoint/2010/main" val="2568997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FCD3B-AD98-4AEC-8AED-FF5F23CE4FCD}"/>
              </a:ext>
            </a:extLst>
          </p:cNvPr>
          <p:cNvSpPr>
            <a:spLocks noGrp="1"/>
          </p:cNvSpPr>
          <p:nvPr>
            <p:ph type="title"/>
          </p:nvPr>
        </p:nvSpPr>
        <p:spPr/>
        <p:txBody>
          <a:bodyPr/>
          <a:lstStyle/>
          <a:p>
            <a:r>
              <a:rPr lang="en-GB" dirty="0"/>
              <a:t>Creating Table</a:t>
            </a:r>
          </a:p>
        </p:txBody>
      </p:sp>
      <p:sp>
        <p:nvSpPr>
          <p:cNvPr id="3" name="Content Placeholder 2">
            <a:extLst>
              <a:ext uri="{FF2B5EF4-FFF2-40B4-BE49-F238E27FC236}">
                <a16:creationId xmlns:a16="http://schemas.microsoft.com/office/drawing/2014/main" id="{0D9B78BE-06EC-4F3D-895F-ECB8E7227000}"/>
              </a:ext>
            </a:extLst>
          </p:cNvPr>
          <p:cNvSpPr>
            <a:spLocks noGrp="1"/>
          </p:cNvSpPr>
          <p:nvPr>
            <p:ph sz="half" idx="1"/>
          </p:nvPr>
        </p:nvSpPr>
        <p:spPr>
          <a:xfrm>
            <a:off x="1104900" y="1600200"/>
            <a:ext cx="9982200" cy="917620"/>
          </a:xfrm>
        </p:spPr>
        <p:txBody>
          <a:bodyPr>
            <a:normAutofit/>
          </a:bodyPr>
          <a:lstStyle/>
          <a:p>
            <a:pPr>
              <a:lnSpc>
                <a:spcPct val="120000"/>
              </a:lnSpc>
            </a:pPr>
            <a:r>
              <a:rPr lang="en-GB" sz="1600" dirty="0"/>
              <a:t>In this window, click </a:t>
            </a:r>
            <a:r>
              <a:rPr lang="en-GB" sz="1600" b="1" dirty="0"/>
              <a:t>Close</a:t>
            </a:r>
            <a:r>
              <a:rPr lang="en-GB" sz="1600" dirty="0"/>
              <a:t>.</a:t>
            </a:r>
          </a:p>
          <a:p>
            <a:pPr>
              <a:lnSpc>
                <a:spcPct val="120000"/>
              </a:lnSpc>
            </a:pPr>
            <a:endParaRPr lang="en-GB" sz="1600" dirty="0"/>
          </a:p>
        </p:txBody>
      </p:sp>
      <p:sp>
        <p:nvSpPr>
          <p:cNvPr id="4" name="Slide Number Placeholder 3">
            <a:extLst>
              <a:ext uri="{FF2B5EF4-FFF2-40B4-BE49-F238E27FC236}">
                <a16:creationId xmlns:a16="http://schemas.microsoft.com/office/drawing/2014/main" id="{3062EF09-7A64-40AD-ABE8-8E903A7CA521}"/>
              </a:ext>
            </a:extLst>
          </p:cNvPr>
          <p:cNvSpPr>
            <a:spLocks noGrp="1"/>
          </p:cNvSpPr>
          <p:nvPr>
            <p:ph type="sldNum" sz="quarter" idx="12"/>
          </p:nvPr>
        </p:nvSpPr>
        <p:spPr/>
        <p:txBody>
          <a:bodyPr/>
          <a:lstStyle/>
          <a:p>
            <a:fld id="{8E9E4023-6F3A-457B-B0BB-8C1F114B424F}" type="slidenum">
              <a:rPr lang="en-SG" smtClean="0"/>
              <a:t>30</a:t>
            </a:fld>
            <a:endParaRPr lang="en-SG"/>
          </a:p>
        </p:txBody>
      </p:sp>
      <p:pic>
        <p:nvPicPr>
          <p:cNvPr id="9" name="Content Placeholder 8">
            <a:extLst>
              <a:ext uri="{FF2B5EF4-FFF2-40B4-BE49-F238E27FC236}">
                <a16:creationId xmlns:a16="http://schemas.microsoft.com/office/drawing/2014/main" id="{270E3C08-D9E6-472A-9C1C-9FC9D3522BE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593205" y="2305916"/>
            <a:ext cx="5172746" cy="3692350"/>
          </a:xfr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490189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4499F-6B85-407E-A431-BAB97A5338EA}"/>
              </a:ext>
            </a:extLst>
          </p:cNvPr>
          <p:cNvSpPr>
            <a:spLocks noGrp="1"/>
          </p:cNvSpPr>
          <p:nvPr>
            <p:ph type="title"/>
          </p:nvPr>
        </p:nvSpPr>
        <p:spPr/>
        <p:txBody>
          <a:bodyPr/>
          <a:lstStyle/>
          <a:p>
            <a:r>
              <a:rPr lang="en-GB" dirty="0"/>
              <a:t>Creating Table</a:t>
            </a:r>
          </a:p>
        </p:txBody>
      </p:sp>
      <p:sp>
        <p:nvSpPr>
          <p:cNvPr id="5" name="Slide Number Placeholder 4">
            <a:extLst>
              <a:ext uri="{FF2B5EF4-FFF2-40B4-BE49-F238E27FC236}">
                <a16:creationId xmlns:a16="http://schemas.microsoft.com/office/drawing/2014/main" id="{0301A287-C67F-4E67-B2E5-EBC9B63BAD98}"/>
              </a:ext>
            </a:extLst>
          </p:cNvPr>
          <p:cNvSpPr>
            <a:spLocks noGrp="1"/>
          </p:cNvSpPr>
          <p:nvPr>
            <p:ph type="sldNum" sz="quarter" idx="12"/>
          </p:nvPr>
        </p:nvSpPr>
        <p:spPr/>
        <p:txBody>
          <a:bodyPr/>
          <a:lstStyle/>
          <a:p>
            <a:fld id="{0FF54DE5-C571-48E8-A5BC-B369434E2F44}" type="slidenum">
              <a:rPr lang="en-US" smtClean="0"/>
              <a:t>31</a:t>
            </a:fld>
            <a:endParaRPr lang="en-US"/>
          </a:p>
        </p:txBody>
      </p:sp>
      <p:sp>
        <p:nvSpPr>
          <p:cNvPr id="4" name="Content Placeholder 3">
            <a:extLst>
              <a:ext uri="{FF2B5EF4-FFF2-40B4-BE49-F238E27FC236}">
                <a16:creationId xmlns:a16="http://schemas.microsoft.com/office/drawing/2014/main" id="{CDD69477-C7BF-4C0B-A61C-838DEDE2D464}"/>
              </a:ext>
            </a:extLst>
          </p:cNvPr>
          <p:cNvSpPr>
            <a:spLocks noGrp="1"/>
          </p:cNvSpPr>
          <p:nvPr>
            <p:ph idx="1"/>
          </p:nvPr>
        </p:nvSpPr>
        <p:spPr>
          <a:xfrm>
            <a:off x="1017638" y="1631314"/>
            <a:ext cx="4443004" cy="4679334"/>
          </a:xfrm>
        </p:spPr>
        <p:txBody>
          <a:bodyPr/>
          <a:lstStyle/>
          <a:p>
            <a:pPr>
              <a:lnSpc>
                <a:spcPct val="100000"/>
              </a:lnSpc>
            </a:pPr>
            <a:r>
              <a:rPr lang="en-GB" dirty="0"/>
              <a:t>When the table is successfully created, you will see the table under  </a:t>
            </a:r>
            <a:r>
              <a:rPr lang="en-GB" dirty="0" err="1">
                <a:solidFill>
                  <a:srgbClr val="FF0000"/>
                </a:solidFill>
              </a:rPr>
              <a:t>my_database</a:t>
            </a:r>
            <a:r>
              <a:rPr lang="en-GB" dirty="0"/>
              <a:t> in the left panel</a:t>
            </a:r>
          </a:p>
          <a:p>
            <a:pPr>
              <a:lnSpc>
                <a:spcPct val="100000"/>
              </a:lnSpc>
            </a:pPr>
            <a:r>
              <a:rPr lang="en-GB" dirty="0"/>
              <a:t>Click on </a:t>
            </a:r>
            <a:r>
              <a:rPr lang="en-GB" b="1" dirty="0"/>
              <a:t>Columns</a:t>
            </a:r>
            <a:r>
              <a:rPr lang="en-GB" dirty="0"/>
              <a:t> to see the fields that you created.</a:t>
            </a:r>
          </a:p>
        </p:txBody>
      </p:sp>
      <p:pic>
        <p:nvPicPr>
          <p:cNvPr id="13" name="Picture 12">
            <a:extLst>
              <a:ext uri="{FF2B5EF4-FFF2-40B4-BE49-F238E27FC236}">
                <a16:creationId xmlns:a16="http://schemas.microsoft.com/office/drawing/2014/main" id="{B6AF46BB-2FDE-453E-B841-50D94B5E17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0256" y="1771603"/>
            <a:ext cx="2733675" cy="3681842"/>
          </a:xfrm>
          <a:prstGeom prst="rect">
            <a:avLst/>
          </a:prstGeom>
          <a:effectLst>
            <a:outerShdw blurRad="50800" dist="38100" dir="5400000" algn="t" rotWithShape="0">
              <a:prstClr val="black">
                <a:alpha val="40000"/>
              </a:prstClr>
            </a:outerShdw>
          </a:effectLst>
        </p:spPr>
      </p:pic>
      <p:cxnSp>
        <p:nvCxnSpPr>
          <p:cNvPr id="11" name="Straight Arrow Connector 10">
            <a:extLst>
              <a:ext uri="{FF2B5EF4-FFF2-40B4-BE49-F238E27FC236}">
                <a16:creationId xmlns:a16="http://schemas.microsoft.com/office/drawing/2014/main" id="{704B5EA2-2578-4E2F-8D99-F436D03AA8B6}"/>
              </a:ext>
            </a:extLst>
          </p:cNvPr>
          <p:cNvCxnSpPr>
            <a:cxnSpLocks/>
          </p:cNvCxnSpPr>
          <p:nvPr/>
        </p:nvCxnSpPr>
        <p:spPr>
          <a:xfrm flipV="1">
            <a:off x="5621628" y="3419341"/>
            <a:ext cx="2543578" cy="779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89211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149D-7883-4F21-AE20-29D0E4BD76CF}"/>
              </a:ext>
            </a:extLst>
          </p:cNvPr>
          <p:cNvSpPr>
            <a:spLocks noGrp="1"/>
          </p:cNvSpPr>
          <p:nvPr>
            <p:ph type="title"/>
          </p:nvPr>
        </p:nvSpPr>
        <p:spPr/>
        <p:txBody>
          <a:bodyPr/>
          <a:lstStyle/>
          <a:p>
            <a:r>
              <a:rPr lang="en-GB" dirty="0"/>
              <a:t>Drop Table</a:t>
            </a:r>
          </a:p>
        </p:txBody>
      </p:sp>
      <p:sp>
        <p:nvSpPr>
          <p:cNvPr id="3" name="Content Placeholder 2">
            <a:extLst>
              <a:ext uri="{FF2B5EF4-FFF2-40B4-BE49-F238E27FC236}">
                <a16:creationId xmlns:a16="http://schemas.microsoft.com/office/drawing/2014/main" id="{A95E2ABF-8051-4BAC-8B28-89CC2A7D2C57}"/>
              </a:ext>
            </a:extLst>
          </p:cNvPr>
          <p:cNvSpPr>
            <a:spLocks noGrp="1"/>
          </p:cNvSpPr>
          <p:nvPr>
            <p:ph idx="1"/>
          </p:nvPr>
        </p:nvSpPr>
        <p:spPr>
          <a:xfrm>
            <a:off x="1017638" y="1631314"/>
            <a:ext cx="4552475" cy="4666455"/>
          </a:xfrm>
        </p:spPr>
        <p:txBody>
          <a:bodyPr/>
          <a:lstStyle/>
          <a:p>
            <a:r>
              <a:rPr lang="en-GB" dirty="0"/>
              <a:t>In SQL, deleting a table is known as drop table.</a:t>
            </a:r>
          </a:p>
          <a:p>
            <a:r>
              <a:rPr lang="en-GB" dirty="0"/>
              <a:t>To drop a table, just right click on the table and choose </a:t>
            </a:r>
            <a:r>
              <a:rPr lang="en-GB" dirty="0">
                <a:solidFill>
                  <a:srgbClr val="FF0000"/>
                </a:solidFill>
              </a:rPr>
              <a:t>Drop Table…</a:t>
            </a:r>
            <a:r>
              <a:rPr lang="en-GB" dirty="0"/>
              <a:t> as shown here.</a:t>
            </a:r>
          </a:p>
        </p:txBody>
      </p:sp>
      <p:sp>
        <p:nvSpPr>
          <p:cNvPr id="4" name="Slide Number Placeholder 3">
            <a:extLst>
              <a:ext uri="{FF2B5EF4-FFF2-40B4-BE49-F238E27FC236}">
                <a16:creationId xmlns:a16="http://schemas.microsoft.com/office/drawing/2014/main" id="{E09D13D9-4431-49E2-818F-7517B169BD9D}"/>
              </a:ext>
            </a:extLst>
          </p:cNvPr>
          <p:cNvSpPr>
            <a:spLocks noGrp="1"/>
          </p:cNvSpPr>
          <p:nvPr>
            <p:ph type="sldNum" sz="quarter" idx="12"/>
          </p:nvPr>
        </p:nvSpPr>
        <p:spPr/>
        <p:txBody>
          <a:bodyPr/>
          <a:lstStyle/>
          <a:p>
            <a:fld id="{8E9E4023-6F3A-457B-B0BB-8C1F114B424F}" type="slidenum">
              <a:rPr lang="en-SG" smtClean="0"/>
              <a:t>32</a:t>
            </a:fld>
            <a:endParaRPr lang="en-SG"/>
          </a:p>
        </p:txBody>
      </p:sp>
      <p:pic>
        <p:nvPicPr>
          <p:cNvPr id="6" name="Picture 5">
            <a:extLst>
              <a:ext uri="{FF2B5EF4-FFF2-40B4-BE49-F238E27FC236}">
                <a16:creationId xmlns:a16="http://schemas.microsoft.com/office/drawing/2014/main" id="{24720C3D-4FE3-4C1E-A402-55267EA829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2108" y="1813774"/>
            <a:ext cx="3486150" cy="38100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1105373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6C668-6CC9-4A7C-96DE-0A7B1949CB9D}"/>
              </a:ext>
            </a:extLst>
          </p:cNvPr>
          <p:cNvSpPr>
            <a:spLocks noGrp="1"/>
          </p:cNvSpPr>
          <p:nvPr>
            <p:ph type="title"/>
          </p:nvPr>
        </p:nvSpPr>
        <p:spPr/>
        <p:txBody>
          <a:bodyPr/>
          <a:lstStyle/>
          <a:p>
            <a:r>
              <a:rPr lang="en-GB" dirty="0"/>
              <a:t>Insert Query</a:t>
            </a:r>
          </a:p>
        </p:txBody>
      </p:sp>
      <p:sp>
        <p:nvSpPr>
          <p:cNvPr id="3" name="Content Placeholder 2">
            <a:extLst>
              <a:ext uri="{FF2B5EF4-FFF2-40B4-BE49-F238E27FC236}">
                <a16:creationId xmlns:a16="http://schemas.microsoft.com/office/drawing/2014/main" id="{7B1CD816-ED1A-46CA-95AF-B41549BCEE98}"/>
              </a:ext>
            </a:extLst>
          </p:cNvPr>
          <p:cNvSpPr>
            <a:spLocks noGrp="1"/>
          </p:cNvSpPr>
          <p:nvPr>
            <p:ph idx="1"/>
          </p:nvPr>
        </p:nvSpPr>
        <p:spPr/>
        <p:txBody>
          <a:bodyPr/>
          <a:lstStyle/>
          <a:p>
            <a:pPr>
              <a:lnSpc>
                <a:spcPct val="100000"/>
              </a:lnSpc>
            </a:pPr>
            <a:r>
              <a:rPr lang="en-GB" dirty="0"/>
              <a:t>To insert data into the table, you need to run a SQL code to do so.</a:t>
            </a:r>
          </a:p>
          <a:p>
            <a:pPr>
              <a:lnSpc>
                <a:spcPct val="100000"/>
              </a:lnSpc>
            </a:pPr>
            <a:r>
              <a:rPr lang="en-GB" dirty="0"/>
              <a:t>The generic SQL syntax for INSERT data is as follows:</a:t>
            </a:r>
          </a:p>
          <a:p>
            <a:pPr>
              <a:lnSpc>
                <a:spcPct val="100000"/>
              </a:lnSpc>
            </a:pPr>
            <a:endParaRPr lang="en-GB" dirty="0"/>
          </a:p>
          <a:p>
            <a:pPr>
              <a:lnSpc>
                <a:spcPct val="100000"/>
              </a:lnSpc>
            </a:pPr>
            <a:endParaRPr lang="en-GB" dirty="0"/>
          </a:p>
          <a:p>
            <a:pPr>
              <a:lnSpc>
                <a:spcPct val="100000"/>
              </a:lnSpc>
            </a:pPr>
            <a:r>
              <a:rPr lang="en-GB" dirty="0"/>
              <a:t>You will need to type the SQL codes into the query editor in MySQL Workbench on the next slide.</a:t>
            </a:r>
          </a:p>
        </p:txBody>
      </p:sp>
      <p:sp>
        <p:nvSpPr>
          <p:cNvPr id="4" name="Slide Number Placeholder 3">
            <a:extLst>
              <a:ext uri="{FF2B5EF4-FFF2-40B4-BE49-F238E27FC236}">
                <a16:creationId xmlns:a16="http://schemas.microsoft.com/office/drawing/2014/main" id="{E1D9A55A-0451-4EE2-9129-DF78E298BECA}"/>
              </a:ext>
            </a:extLst>
          </p:cNvPr>
          <p:cNvSpPr>
            <a:spLocks noGrp="1"/>
          </p:cNvSpPr>
          <p:nvPr>
            <p:ph type="sldNum" sz="quarter" idx="12"/>
          </p:nvPr>
        </p:nvSpPr>
        <p:spPr/>
        <p:txBody>
          <a:bodyPr/>
          <a:lstStyle/>
          <a:p>
            <a:fld id="{8E9E4023-6F3A-457B-B0BB-8C1F114B424F}" type="slidenum">
              <a:rPr lang="en-SG" smtClean="0"/>
              <a:t>33</a:t>
            </a:fld>
            <a:endParaRPr lang="en-SG"/>
          </a:p>
        </p:txBody>
      </p:sp>
      <p:sp>
        <p:nvSpPr>
          <p:cNvPr id="5" name="Rectangle 4">
            <a:extLst>
              <a:ext uri="{FF2B5EF4-FFF2-40B4-BE49-F238E27FC236}">
                <a16:creationId xmlns:a16="http://schemas.microsoft.com/office/drawing/2014/main" id="{9AE8A1FC-83A7-4FB6-8A37-ED2308B0209C}"/>
              </a:ext>
            </a:extLst>
          </p:cNvPr>
          <p:cNvSpPr/>
          <p:nvPr/>
        </p:nvSpPr>
        <p:spPr>
          <a:xfrm>
            <a:off x="2103115" y="3032973"/>
            <a:ext cx="8165205" cy="412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Courier"/>
              </a:rPr>
              <a:t>INSERT INTO table_name ( field1, field2, field3, …) VALUES (value1, value2, value3);</a:t>
            </a:r>
          </a:p>
        </p:txBody>
      </p:sp>
    </p:spTree>
    <p:extLst>
      <p:ext uri="{BB962C8B-B14F-4D97-AF65-F5344CB8AC3E}">
        <p14:creationId xmlns:p14="http://schemas.microsoft.com/office/powerpoint/2010/main" val="52747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6C668-6CC9-4A7C-96DE-0A7B1949CB9D}"/>
              </a:ext>
            </a:extLst>
          </p:cNvPr>
          <p:cNvSpPr>
            <a:spLocks noGrp="1"/>
          </p:cNvSpPr>
          <p:nvPr>
            <p:ph type="title"/>
          </p:nvPr>
        </p:nvSpPr>
        <p:spPr/>
        <p:txBody>
          <a:bodyPr/>
          <a:lstStyle/>
          <a:p>
            <a:r>
              <a:rPr lang="en-GB" dirty="0"/>
              <a:t>Insert Query</a:t>
            </a:r>
          </a:p>
        </p:txBody>
      </p:sp>
      <p:sp>
        <p:nvSpPr>
          <p:cNvPr id="3" name="Content Placeholder 2">
            <a:extLst>
              <a:ext uri="{FF2B5EF4-FFF2-40B4-BE49-F238E27FC236}">
                <a16:creationId xmlns:a16="http://schemas.microsoft.com/office/drawing/2014/main" id="{7B1CD816-ED1A-46CA-95AF-B41549BCEE98}"/>
              </a:ext>
            </a:extLst>
          </p:cNvPr>
          <p:cNvSpPr>
            <a:spLocks noGrp="1"/>
          </p:cNvSpPr>
          <p:nvPr>
            <p:ph idx="1"/>
          </p:nvPr>
        </p:nvSpPr>
        <p:spPr>
          <a:xfrm>
            <a:off x="1017638" y="1631315"/>
            <a:ext cx="4801271" cy="4547812"/>
          </a:xfrm>
        </p:spPr>
        <p:txBody>
          <a:bodyPr>
            <a:normAutofit/>
          </a:bodyPr>
          <a:lstStyle/>
          <a:p>
            <a:pPr>
              <a:lnSpc>
                <a:spcPct val="100000"/>
              </a:lnSpc>
            </a:pPr>
            <a:r>
              <a:rPr lang="en-GB" sz="2000" dirty="0"/>
              <a:t>Click on the query tab as shown here. Your tab may be named as </a:t>
            </a:r>
            <a:r>
              <a:rPr lang="en-GB" sz="2000" dirty="0">
                <a:solidFill>
                  <a:srgbClr val="FF0000"/>
                </a:solidFill>
              </a:rPr>
              <a:t>Query 1</a:t>
            </a:r>
            <a:r>
              <a:rPr lang="en-GB" sz="2000" dirty="0"/>
              <a:t>.</a:t>
            </a:r>
          </a:p>
          <a:p>
            <a:pPr>
              <a:lnSpc>
                <a:spcPct val="100000"/>
              </a:lnSpc>
            </a:pPr>
            <a:r>
              <a:rPr lang="en-GB" sz="2000" dirty="0"/>
              <a:t>You will insert the following data into the table:</a:t>
            </a:r>
          </a:p>
          <a:p>
            <a:pPr>
              <a:lnSpc>
                <a:spcPct val="100000"/>
              </a:lnSpc>
            </a:pPr>
            <a:endParaRPr lang="en-GB" sz="2000" dirty="0"/>
          </a:p>
          <a:p>
            <a:pPr>
              <a:lnSpc>
                <a:spcPct val="100000"/>
              </a:lnSpc>
            </a:pPr>
            <a:endParaRPr lang="en-GB" sz="2000" dirty="0"/>
          </a:p>
          <a:p>
            <a:pPr>
              <a:lnSpc>
                <a:spcPct val="100000"/>
              </a:lnSpc>
            </a:pPr>
            <a:endParaRPr lang="en-GB" sz="2000" dirty="0"/>
          </a:p>
          <a:p>
            <a:pPr>
              <a:lnSpc>
                <a:spcPct val="100000"/>
              </a:lnSpc>
            </a:pPr>
            <a:endParaRPr lang="en-GB" sz="2000" dirty="0"/>
          </a:p>
          <a:p>
            <a:pPr>
              <a:lnSpc>
                <a:spcPct val="100000"/>
              </a:lnSpc>
            </a:pPr>
            <a:endParaRPr lang="en-GB" sz="2000" dirty="0"/>
          </a:p>
          <a:p>
            <a:pPr>
              <a:lnSpc>
                <a:spcPct val="100000"/>
              </a:lnSpc>
            </a:pPr>
            <a:r>
              <a:rPr lang="en-GB" sz="2000" dirty="0"/>
              <a:t>The next slide will show you how to insert the first record.</a:t>
            </a:r>
          </a:p>
          <a:p>
            <a:pPr>
              <a:lnSpc>
                <a:spcPct val="100000"/>
              </a:lnSpc>
            </a:pPr>
            <a:endParaRPr lang="en-GB" sz="2000" dirty="0"/>
          </a:p>
          <a:p>
            <a:pPr>
              <a:lnSpc>
                <a:spcPct val="100000"/>
              </a:lnSpc>
            </a:pPr>
            <a:endParaRPr lang="en-GB" sz="2000" dirty="0"/>
          </a:p>
        </p:txBody>
      </p:sp>
      <p:sp>
        <p:nvSpPr>
          <p:cNvPr id="4" name="Slide Number Placeholder 3">
            <a:extLst>
              <a:ext uri="{FF2B5EF4-FFF2-40B4-BE49-F238E27FC236}">
                <a16:creationId xmlns:a16="http://schemas.microsoft.com/office/drawing/2014/main" id="{E1D9A55A-0451-4EE2-9129-DF78E298BECA}"/>
              </a:ext>
            </a:extLst>
          </p:cNvPr>
          <p:cNvSpPr>
            <a:spLocks noGrp="1"/>
          </p:cNvSpPr>
          <p:nvPr>
            <p:ph type="sldNum" sz="quarter" idx="12"/>
          </p:nvPr>
        </p:nvSpPr>
        <p:spPr/>
        <p:txBody>
          <a:bodyPr/>
          <a:lstStyle/>
          <a:p>
            <a:fld id="{8E9E4023-6F3A-457B-B0BB-8C1F114B424F}" type="slidenum">
              <a:rPr lang="en-SG" smtClean="0"/>
              <a:t>34</a:t>
            </a:fld>
            <a:endParaRPr lang="en-SG"/>
          </a:p>
        </p:txBody>
      </p:sp>
      <p:graphicFrame>
        <p:nvGraphicFramePr>
          <p:cNvPr id="6" name="Table 5">
            <a:extLst>
              <a:ext uri="{FF2B5EF4-FFF2-40B4-BE49-F238E27FC236}">
                <a16:creationId xmlns:a16="http://schemas.microsoft.com/office/drawing/2014/main" id="{F356BB74-A69C-4371-BBD1-876AEC153366}"/>
              </a:ext>
            </a:extLst>
          </p:cNvPr>
          <p:cNvGraphicFramePr>
            <a:graphicFrameLocks noGrp="1"/>
          </p:cNvGraphicFramePr>
          <p:nvPr>
            <p:extLst>
              <p:ext uri="{D42A27DB-BD31-4B8C-83A1-F6EECF244321}">
                <p14:modId xmlns:p14="http://schemas.microsoft.com/office/powerpoint/2010/main" val="2684908577"/>
              </p:ext>
            </p:extLst>
          </p:nvPr>
        </p:nvGraphicFramePr>
        <p:xfrm>
          <a:off x="1118174" y="3216686"/>
          <a:ext cx="5138064" cy="1752600"/>
        </p:xfrm>
        <a:graphic>
          <a:graphicData uri="http://schemas.openxmlformats.org/drawingml/2006/table">
            <a:tbl>
              <a:tblPr firstRow="1" bandRow="1">
                <a:tableStyleId>{5C22544A-7EE6-4342-B048-85BDC9FD1C3A}</a:tableStyleId>
              </a:tblPr>
              <a:tblGrid>
                <a:gridCol w="1712688">
                  <a:extLst>
                    <a:ext uri="{9D8B030D-6E8A-4147-A177-3AD203B41FA5}">
                      <a16:colId xmlns:a16="http://schemas.microsoft.com/office/drawing/2014/main" val="3496412088"/>
                    </a:ext>
                  </a:extLst>
                </a:gridCol>
                <a:gridCol w="1712688">
                  <a:extLst>
                    <a:ext uri="{9D8B030D-6E8A-4147-A177-3AD203B41FA5}">
                      <a16:colId xmlns:a16="http://schemas.microsoft.com/office/drawing/2014/main" val="2637063950"/>
                    </a:ext>
                  </a:extLst>
                </a:gridCol>
                <a:gridCol w="1712688">
                  <a:extLst>
                    <a:ext uri="{9D8B030D-6E8A-4147-A177-3AD203B41FA5}">
                      <a16:colId xmlns:a16="http://schemas.microsoft.com/office/drawing/2014/main" val="1088258105"/>
                    </a:ext>
                  </a:extLst>
                </a:gridCol>
              </a:tblGrid>
              <a:tr h="370840">
                <a:tc>
                  <a:txBody>
                    <a:bodyPr/>
                    <a:lstStyle/>
                    <a:p>
                      <a:r>
                        <a:rPr lang="en-GB" dirty="0"/>
                        <a:t>title</a:t>
                      </a:r>
                    </a:p>
                  </a:txBody>
                  <a:tcPr/>
                </a:tc>
                <a:tc>
                  <a:txBody>
                    <a:bodyPr/>
                    <a:lstStyle/>
                    <a:p>
                      <a:r>
                        <a:rPr lang="en-GB" dirty="0"/>
                        <a:t>author</a:t>
                      </a:r>
                    </a:p>
                  </a:txBody>
                  <a:tcPr/>
                </a:tc>
                <a:tc>
                  <a:txBody>
                    <a:bodyPr/>
                    <a:lstStyle/>
                    <a:p>
                      <a:r>
                        <a:rPr lang="en-GB" dirty="0"/>
                        <a:t>submission_date</a:t>
                      </a:r>
                    </a:p>
                  </a:txBody>
                  <a:tcPr/>
                </a:tc>
                <a:extLst>
                  <a:ext uri="{0D108BD9-81ED-4DB2-BD59-A6C34878D82A}">
                    <a16:rowId xmlns:a16="http://schemas.microsoft.com/office/drawing/2014/main" val="620013137"/>
                  </a:ext>
                </a:extLst>
              </a:tr>
              <a:tr h="370840">
                <a:tc>
                  <a:txBody>
                    <a:bodyPr/>
                    <a:lstStyle/>
                    <a:p>
                      <a:r>
                        <a:rPr lang="en-GB" dirty="0"/>
                        <a:t>“Learn PHP”</a:t>
                      </a:r>
                    </a:p>
                  </a:txBody>
                  <a:tcPr/>
                </a:tc>
                <a:tc>
                  <a:txBody>
                    <a:bodyPr/>
                    <a:lstStyle/>
                    <a:p>
                      <a:r>
                        <a:rPr lang="en-GB" dirty="0"/>
                        <a:t>“John Paul”</a:t>
                      </a:r>
                    </a:p>
                  </a:txBody>
                  <a:tcPr/>
                </a:tc>
                <a:tc>
                  <a:txBody>
                    <a:bodyPr/>
                    <a:lstStyle/>
                    <a:p>
                      <a:r>
                        <a:rPr lang="en-GB" dirty="0"/>
                        <a:t>NOW()</a:t>
                      </a:r>
                    </a:p>
                  </a:txBody>
                  <a:tcPr/>
                </a:tc>
                <a:extLst>
                  <a:ext uri="{0D108BD9-81ED-4DB2-BD59-A6C34878D82A}">
                    <a16:rowId xmlns:a16="http://schemas.microsoft.com/office/drawing/2014/main" val="1038113000"/>
                  </a:ext>
                </a:extLst>
              </a:tr>
              <a:tr h="370840">
                <a:tc>
                  <a:txBody>
                    <a:bodyPr/>
                    <a:lstStyle/>
                    <a:p>
                      <a:r>
                        <a:rPr lang="en-GB" dirty="0"/>
                        <a:t>“Learn MySQL”</a:t>
                      </a:r>
                    </a:p>
                  </a:txBody>
                  <a:tcPr/>
                </a:tc>
                <a:tc>
                  <a:txBody>
                    <a:bodyPr/>
                    <a:lstStyle/>
                    <a:p>
                      <a:r>
                        <a:rPr lang="en-GB" dirty="0"/>
                        <a:t>“Abdul S”</a:t>
                      </a:r>
                    </a:p>
                  </a:txBody>
                  <a:tcPr/>
                </a:tc>
                <a:tc>
                  <a:txBody>
                    <a:bodyPr/>
                    <a:lstStyle/>
                    <a:p>
                      <a:r>
                        <a:rPr lang="en-GB" dirty="0"/>
                        <a:t>NOW()</a:t>
                      </a:r>
                    </a:p>
                  </a:txBody>
                  <a:tcPr/>
                </a:tc>
                <a:extLst>
                  <a:ext uri="{0D108BD9-81ED-4DB2-BD59-A6C34878D82A}">
                    <a16:rowId xmlns:a16="http://schemas.microsoft.com/office/drawing/2014/main" val="3733695427"/>
                  </a:ext>
                </a:extLst>
              </a:tr>
              <a:tr h="370840">
                <a:tc>
                  <a:txBody>
                    <a:bodyPr/>
                    <a:lstStyle/>
                    <a:p>
                      <a:r>
                        <a:rPr lang="en-GB" dirty="0"/>
                        <a:t>“Java Tutorial”</a:t>
                      </a:r>
                    </a:p>
                  </a:txBody>
                  <a:tcPr/>
                </a:tc>
                <a:tc>
                  <a:txBody>
                    <a:bodyPr/>
                    <a:lstStyle/>
                    <a:p>
                      <a:r>
                        <a:rPr lang="en-GB" dirty="0"/>
                        <a:t>“Lim Ko Pi”</a:t>
                      </a:r>
                    </a:p>
                  </a:txBody>
                  <a:tcPr/>
                </a:tc>
                <a:tc>
                  <a:txBody>
                    <a:bodyPr/>
                    <a:lstStyle/>
                    <a:p>
                      <a:r>
                        <a:rPr lang="en-GB" dirty="0"/>
                        <a:t>‘2007-05-11’</a:t>
                      </a:r>
                    </a:p>
                  </a:txBody>
                  <a:tcPr/>
                </a:tc>
                <a:extLst>
                  <a:ext uri="{0D108BD9-81ED-4DB2-BD59-A6C34878D82A}">
                    <a16:rowId xmlns:a16="http://schemas.microsoft.com/office/drawing/2014/main" val="841666133"/>
                  </a:ext>
                </a:extLst>
              </a:tr>
            </a:tbl>
          </a:graphicData>
        </a:graphic>
      </p:graphicFrame>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3566" y="1631315"/>
            <a:ext cx="5105400" cy="2562225"/>
          </a:xfrm>
          <a:prstGeom prst="rect">
            <a:avLst/>
          </a:prstGeom>
          <a:effectLst>
            <a:outerShdw blurRad="50800" dist="38100" dir="5400000" algn="t" rotWithShape="0">
              <a:prstClr val="black">
                <a:alpha val="40000"/>
              </a:prstClr>
            </a:outerShdw>
          </a:effectLst>
        </p:spPr>
      </p:pic>
      <p:cxnSp>
        <p:nvCxnSpPr>
          <p:cNvPr id="9" name="Straight Arrow Connector 8"/>
          <p:cNvCxnSpPr/>
          <p:nvPr/>
        </p:nvCxnSpPr>
        <p:spPr>
          <a:xfrm>
            <a:off x="4627418" y="2147455"/>
            <a:ext cx="3990109" cy="595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765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3171-1378-4553-89EA-1E254F1AA783}"/>
              </a:ext>
            </a:extLst>
          </p:cNvPr>
          <p:cNvSpPr>
            <a:spLocks noGrp="1"/>
          </p:cNvSpPr>
          <p:nvPr>
            <p:ph type="title"/>
          </p:nvPr>
        </p:nvSpPr>
        <p:spPr/>
        <p:txBody>
          <a:bodyPr/>
          <a:lstStyle/>
          <a:p>
            <a:r>
              <a:rPr lang="en-GB" dirty="0"/>
              <a:t>Insert Query</a:t>
            </a:r>
          </a:p>
        </p:txBody>
      </p:sp>
      <p:sp>
        <p:nvSpPr>
          <p:cNvPr id="3" name="Content Placeholder 2">
            <a:extLst>
              <a:ext uri="{FF2B5EF4-FFF2-40B4-BE49-F238E27FC236}">
                <a16:creationId xmlns:a16="http://schemas.microsoft.com/office/drawing/2014/main" id="{4A64379E-0B85-48FE-B89A-136DDC0B1B3C}"/>
              </a:ext>
            </a:extLst>
          </p:cNvPr>
          <p:cNvSpPr>
            <a:spLocks noGrp="1"/>
          </p:cNvSpPr>
          <p:nvPr>
            <p:ph idx="1"/>
          </p:nvPr>
        </p:nvSpPr>
        <p:spPr/>
        <p:txBody>
          <a:bodyPr>
            <a:normAutofit lnSpcReduction="10000"/>
          </a:bodyPr>
          <a:lstStyle/>
          <a:p>
            <a:pPr>
              <a:lnSpc>
                <a:spcPct val="100000"/>
              </a:lnSpc>
            </a:pPr>
            <a:r>
              <a:rPr lang="en-GB" dirty="0"/>
              <a:t>Enter the codes into the query editor as shown here and click on the lightning icon to execute the codes.</a:t>
            </a:r>
          </a:p>
          <a:p>
            <a:pPr>
              <a:lnSpc>
                <a:spcPct val="100000"/>
              </a:lnSpc>
            </a:pPr>
            <a:endParaRPr lang="en-GB" dirty="0"/>
          </a:p>
          <a:p>
            <a:pPr>
              <a:lnSpc>
                <a:spcPct val="100000"/>
              </a:lnSpc>
            </a:pPr>
            <a:endParaRPr lang="en-GB" dirty="0"/>
          </a:p>
          <a:p>
            <a:pPr>
              <a:lnSpc>
                <a:spcPct val="100000"/>
              </a:lnSpc>
            </a:pPr>
            <a:endParaRPr lang="en-GB" dirty="0"/>
          </a:p>
          <a:p>
            <a:pPr>
              <a:lnSpc>
                <a:spcPct val="100000"/>
              </a:lnSpc>
            </a:pPr>
            <a:endParaRPr lang="en-GB" dirty="0"/>
          </a:p>
          <a:p>
            <a:pPr>
              <a:lnSpc>
                <a:spcPct val="100000"/>
              </a:lnSpc>
            </a:pPr>
            <a:endParaRPr lang="en-GB" dirty="0"/>
          </a:p>
          <a:p>
            <a:pPr>
              <a:lnSpc>
                <a:spcPct val="100000"/>
              </a:lnSpc>
            </a:pPr>
            <a:endParaRPr lang="en-GB" dirty="0"/>
          </a:p>
          <a:p>
            <a:pPr>
              <a:lnSpc>
                <a:spcPct val="100000"/>
              </a:lnSpc>
            </a:pPr>
            <a:r>
              <a:rPr lang="en-GB" dirty="0"/>
              <a:t>Look at the </a:t>
            </a:r>
            <a:r>
              <a:rPr lang="en-GB" b="1" dirty="0"/>
              <a:t>Action Output</a:t>
            </a:r>
            <a:r>
              <a:rPr lang="en-GB" dirty="0"/>
              <a:t> window to see if it is successful.</a:t>
            </a:r>
          </a:p>
        </p:txBody>
      </p:sp>
      <p:sp>
        <p:nvSpPr>
          <p:cNvPr id="4" name="Slide Number Placeholder 3">
            <a:extLst>
              <a:ext uri="{FF2B5EF4-FFF2-40B4-BE49-F238E27FC236}">
                <a16:creationId xmlns:a16="http://schemas.microsoft.com/office/drawing/2014/main" id="{A9768547-A8EA-4CEF-A93B-0C1BC0F50BFC}"/>
              </a:ext>
            </a:extLst>
          </p:cNvPr>
          <p:cNvSpPr>
            <a:spLocks noGrp="1"/>
          </p:cNvSpPr>
          <p:nvPr>
            <p:ph type="sldNum" sz="quarter" idx="12"/>
          </p:nvPr>
        </p:nvSpPr>
        <p:spPr/>
        <p:txBody>
          <a:bodyPr/>
          <a:lstStyle/>
          <a:p>
            <a:fld id="{8E9E4023-6F3A-457B-B0BB-8C1F114B424F}" type="slidenum">
              <a:rPr lang="en-SG" smtClean="0"/>
              <a:t>35</a:t>
            </a:fld>
            <a:endParaRPr lang="en-SG"/>
          </a:p>
        </p:txBody>
      </p:sp>
      <p:pic>
        <p:nvPicPr>
          <p:cNvPr id="12" name="Picture 11">
            <a:extLst>
              <a:ext uri="{FF2B5EF4-FFF2-40B4-BE49-F238E27FC236}">
                <a16:creationId xmlns:a16="http://schemas.microsoft.com/office/drawing/2014/main" id="{FE8A4A6C-1681-4807-B2DC-15C25DE67E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1316" y="2588253"/>
            <a:ext cx="7268804" cy="2827314"/>
          </a:xfrm>
          <a:prstGeom prst="rect">
            <a:avLst/>
          </a:prstGeom>
          <a:effectLst>
            <a:outerShdw blurRad="50800" dist="38100" dir="5400000" algn="t" rotWithShape="0">
              <a:prstClr val="black">
                <a:alpha val="40000"/>
              </a:prstClr>
            </a:outerShdw>
          </a:effectLst>
        </p:spPr>
      </p:pic>
      <p:cxnSp>
        <p:nvCxnSpPr>
          <p:cNvPr id="14" name="Straight Arrow Connector 13">
            <a:extLst>
              <a:ext uri="{FF2B5EF4-FFF2-40B4-BE49-F238E27FC236}">
                <a16:creationId xmlns:a16="http://schemas.microsoft.com/office/drawing/2014/main" id="{FD09AF6C-9557-4D58-BDED-1841B087E293}"/>
              </a:ext>
            </a:extLst>
          </p:cNvPr>
          <p:cNvCxnSpPr>
            <a:cxnSpLocks/>
          </p:cNvCxnSpPr>
          <p:nvPr/>
        </p:nvCxnSpPr>
        <p:spPr>
          <a:xfrm>
            <a:off x="2034862" y="2434110"/>
            <a:ext cx="1217053" cy="4765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919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81AC8-E6F0-4149-BFEC-A107C7591EA8}"/>
              </a:ext>
            </a:extLst>
          </p:cNvPr>
          <p:cNvSpPr>
            <a:spLocks noGrp="1"/>
          </p:cNvSpPr>
          <p:nvPr>
            <p:ph type="title"/>
          </p:nvPr>
        </p:nvSpPr>
        <p:spPr/>
        <p:txBody>
          <a:bodyPr/>
          <a:lstStyle/>
          <a:p>
            <a:r>
              <a:rPr lang="en-GB" dirty="0"/>
              <a:t>Insert Query</a:t>
            </a:r>
          </a:p>
        </p:txBody>
      </p:sp>
      <p:sp>
        <p:nvSpPr>
          <p:cNvPr id="3" name="Content Placeholder 2">
            <a:extLst>
              <a:ext uri="{FF2B5EF4-FFF2-40B4-BE49-F238E27FC236}">
                <a16:creationId xmlns:a16="http://schemas.microsoft.com/office/drawing/2014/main" id="{A3E209F9-30F7-43EA-A457-5373C36FA445}"/>
              </a:ext>
            </a:extLst>
          </p:cNvPr>
          <p:cNvSpPr>
            <a:spLocks noGrp="1"/>
          </p:cNvSpPr>
          <p:nvPr>
            <p:ph idx="1"/>
          </p:nvPr>
        </p:nvSpPr>
        <p:spPr>
          <a:xfrm>
            <a:off x="1017638" y="1631315"/>
            <a:ext cx="6059303" cy="1408100"/>
          </a:xfrm>
        </p:spPr>
        <p:txBody>
          <a:bodyPr>
            <a:normAutofit fontScale="55000" lnSpcReduction="20000"/>
          </a:bodyPr>
          <a:lstStyle/>
          <a:p>
            <a:pPr>
              <a:lnSpc>
                <a:spcPct val="110000"/>
              </a:lnSpc>
            </a:pPr>
            <a:r>
              <a:rPr lang="en-GB" dirty="0"/>
              <a:t>If there is no error, you can click on this icon to open another query editor window and enter the SELECT query below.</a:t>
            </a:r>
          </a:p>
          <a:p>
            <a:pPr>
              <a:lnSpc>
                <a:spcPct val="110000"/>
              </a:lnSpc>
            </a:pPr>
            <a:r>
              <a:rPr lang="en-GB" dirty="0"/>
              <a:t>Click on the lightning icon to execute the codes.</a:t>
            </a:r>
          </a:p>
          <a:p>
            <a:pPr>
              <a:lnSpc>
                <a:spcPct val="110000"/>
              </a:lnSpc>
            </a:pPr>
            <a:r>
              <a:rPr lang="en-GB" dirty="0"/>
              <a:t>Your inserted data will appear in the </a:t>
            </a:r>
            <a:r>
              <a:rPr lang="en-GB" b="1" dirty="0"/>
              <a:t>Result Grid</a:t>
            </a:r>
            <a:r>
              <a:rPr lang="en-GB" dirty="0"/>
              <a:t>. </a:t>
            </a:r>
          </a:p>
        </p:txBody>
      </p:sp>
      <p:sp>
        <p:nvSpPr>
          <p:cNvPr id="4" name="Slide Number Placeholder 3">
            <a:extLst>
              <a:ext uri="{FF2B5EF4-FFF2-40B4-BE49-F238E27FC236}">
                <a16:creationId xmlns:a16="http://schemas.microsoft.com/office/drawing/2014/main" id="{B6E8AE28-7C10-49A6-90D2-F4DD5032FDF6}"/>
              </a:ext>
            </a:extLst>
          </p:cNvPr>
          <p:cNvSpPr>
            <a:spLocks noGrp="1"/>
          </p:cNvSpPr>
          <p:nvPr>
            <p:ph type="sldNum" sz="quarter" idx="12"/>
          </p:nvPr>
        </p:nvSpPr>
        <p:spPr/>
        <p:txBody>
          <a:bodyPr/>
          <a:lstStyle/>
          <a:p>
            <a:fld id="{8E9E4023-6F3A-457B-B0BB-8C1F114B424F}" type="slidenum">
              <a:rPr lang="en-SG" smtClean="0"/>
              <a:t>36</a:t>
            </a:fld>
            <a:endParaRPr lang="en-SG"/>
          </a:p>
        </p:txBody>
      </p:sp>
      <p:pic>
        <p:nvPicPr>
          <p:cNvPr id="10" name="Picture 9">
            <a:extLst>
              <a:ext uri="{FF2B5EF4-FFF2-40B4-BE49-F238E27FC236}">
                <a16:creationId xmlns:a16="http://schemas.microsoft.com/office/drawing/2014/main" id="{6109DEC9-7228-4A24-9984-E5854EFE0F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3305" y="3225996"/>
            <a:ext cx="6924675" cy="291465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E7B7735E-0E12-4019-9AD9-5D00FBD738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5096" y="1694976"/>
            <a:ext cx="3419475" cy="1190625"/>
          </a:xfrm>
          <a:prstGeom prst="rect">
            <a:avLst/>
          </a:prstGeom>
          <a:effectLst>
            <a:outerShdw blurRad="50800" dist="38100" dir="5400000" algn="t" rotWithShape="0">
              <a:prstClr val="black">
                <a:alpha val="40000"/>
              </a:prstClr>
            </a:outerShdw>
          </a:effectLst>
        </p:spPr>
      </p:pic>
      <p:cxnSp>
        <p:nvCxnSpPr>
          <p:cNvPr id="14" name="Straight Arrow Connector 13">
            <a:extLst>
              <a:ext uri="{FF2B5EF4-FFF2-40B4-BE49-F238E27FC236}">
                <a16:creationId xmlns:a16="http://schemas.microsoft.com/office/drawing/2014/main" id="{BA3C588F-313C-4360-B9BD-B7CA7B299B77}"/>
              </a:ext>
            </a:extLst>
          </p:cNvPr>
          <p:cNvCxnSpPr/>
          <p:nvPr/>
        </p:nvCxnSpPr>
        <p:spPr>
          <a:xfrm>
            <a:off x="6793606" y="1912513"/>
            <a:ext cx="927279" cy="302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9B23ABC-E168-45C1-ACD6-89AB719833B0}"/>
              </a:ext>
            </a:extLst>
          </p:cNvPr>
          <p:cNvCxnSpPr/>
          <p:nvPr/>
        </p:nvCxnSpPr>
        <p:spPr>
          <a:xfrm flipH="1">
            <a:off x="4153437" y="2885601"/>
            <a:ext cx="792050" cy="21242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Speech Bubble: Rectangle 16">
            <a:extLst>
              <a:ext uri="{FF2B5EF4-FFF2-40B4-BE49-F238E27FC236}">
                <a16:creationId xmlns:a16="http://schemas.microsoft.com/office/drawing/2014/main" id="{EAAE74E4-AA3A-41CF-9BE3-0B586DC67C31}"/>
              </a:ext>
            </a:extLst>
          </p:cNvPr>
          <p:cNvSpPr/>
          <p:nvPr/>
        </p:nvSpPr>
        <p:spPr>
          <a:xfrm>
            <a:off x="5821250" y="3838029"/>
            <a:ext cx="3007217" cy="424431"/>
          </a:xfrm>
          <a:prstGeom prst="wedgeRectCallout">
            <a:avLst>
              <a:gd name="adj1" fmla="val -77835"/>
              <a:gd name="adj2" fmla="val -561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latin typeface="Courier"/>
              </a:rPr>
              <a:t>SELECT * FROM my_database.tutorials;</a:t>
            </a:r>
          </a:p>
        </p:txBody>
      </p:sp>
    </p:spTree>
    <p:extLst>
      <p:ext uri="{BB962C8B-B14F-4D97-AF65-F5344CB8AC3E}">
        <p14:creationId xmlns:p14="http://schemas.microsoft.com/office/powerpoint/2010/main" val="24771859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42687-E7D8-4086-9B24-25F4FFDD3E98}"/>
              </a:ext>
            </a:extLst>
          </p:cNvPr>
          <p:cNvSpPr>
            <a:spLocks noGrp="1"/>
          </p:cNvSpPr>
          <p:nvPr>
            <p:ph type="title"/>
          </p:nvPr>
        </p:nvSpPr>
        <p:spPr/>
        <p:txBody>
          <a:bodyPr/>
          <a:lstStyle/>
          <a:p>
            <a:r>
              <a:rPr lang="en-GB" dirty="0"/>
              <a:t>Try it!</a:t>
            </a:r>
          </a:p>
        </p:txBody>
      </p:sp>
      <p:sp>
        <p:nvSpPr>
          <p:cNvPr id="3" name="Content Placeholder 2">
            <a:extLst>
              <a:ext uri="{FF2B5EF4-FFF2-40B4-BE49-F238E27FC236}">
                <a16:creationId xmlns:a16="http://schemas.microsoft.com/office/drawing/2014/main" id="{717A47C5-7773-4787-966B-EC81B8A8265F}"/>
              </a:ext>
            </a:extLst>
          </p:cNvPr>
          <p:cNvSpPr>
            <a:spLocks noGrp="1"/>
          </p:cNvSpPr>
          <p:nvPr>
            <p:ph idx="1"/>
          </p:nvPr>
        </p:nvSpPr>
        <p:spPr/>
        <p:txBody>
          <a:bodyPr/>
          <a:lstStyle/>
          <a:p>
            <a:r>
              <a:rPr lang="en-GB" dirty="0"/>
              <a:t>Insert the rest of the data into the table and check to see if they are inserted by using the same SELECT codes.</a:t>
            </a:r>
          </a:p>
          <a:p>
            <a:endParaRPr lang="en-GB" dirty="0"/>
          </a:p>
        </p:txBody>
      </p:sp>
      <p:sp>
        <p:nvSpPr>
          <p:cNvPr id="4" name="Slide Number Placeholder 3">
            <a:extLst>
              <a:ext uri="{FF2B5EF4-FFF2-40B4-BE49-F238E27FC236}">
                <a16:creationId xmlns:a16="http://schemas.microsoft.com/office/drawing/2014/main" id="{9A6D05E2-7752-4AE5-B589-460B6E9C1B78}"/>
              </a:ext>
            </a:extLst>
          </p:cNvPr>
          <p:cNvSpPr>
            <a:spLocks noGrp="1"/>
          </p:cNvSpPr>
          <p:nvPr>
            <p:ph type="sldNum" sz="quarter" idx="12"/>
          </p:nvPr>
        </p:nvSpPr>
        <p:spPr/>
        <p:txBody>
          <a:bodyPr/>
          <a:lstStyle/>
          <a:p>
            <a:fld id="{8E9E4023-6F3A-457B-B0BB-8C1F114B424F}" type="slidenum">
              <a:rPr lang="en-SG" smtClean="0"/>
              <a:t>37</a:t>
            </a:fld>
            <a:endParaRPr lang="en-SG"/>
          </a:p>
        </p:txBody>
      </p:sp>
    </p:spTree>
    <p:extLst>
      <p:ext uri="{BB962C8B-B14F-4D97-AF65-F5344CB8AC3E}">
        <p14:creationId xmlns:p14="http://schemas.microsoft.com/office/powerpoint/2010/main" val="37040202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EFF5B-AAD0-4422-B162-DD6B423E2316}"/>
              </a:ext>
            </a:extLst>
          </p:cNvPr>
          <p:cNvSpPr>
            <a:spLocks noGrp="1"/>
          </p:cNvSpPr>
          <p:nvPr>
            <p:ph type="title"/>
          </p:nvPr>
        </p:nvSpPr>
        <p:spPr/>
        <p:txBody>
          <a:bodyPr/>
          <a:lstStyle/>
          <a:p>
            <a:r>
              <a:rPr lang="en-GB" dirty="0"/>
              <a:t>SELECT Query</a:t>
            </a:r>
          </a:p>
        </p:txBody>
      </p:sp>
      <p:sp>
        <p:nvSpPr>
          <p:cNvPr id="3" name="Content Placeholder 2">
            <a:extLst>
              <a:ext uri="{FF2B5EF4-FFF2-40B4-BE49-F238E27FC236}">
                <a16:creationId xmlns:a16="http://schemas.microsoft.com/office/drawing/2014/main" id="{24CD1021-959A-4B28-8F6A-EA730B69B38B}"/>
              </a:ext>
            </a:extLst>
          </p:cNvPr>
          <p:cNvSpPr>
            <a:spLocks noGrp="1"/>
          </p:cNvSpPr>
          <p:nvPr>
            <p:ph idx="1"/>
          </p:nvPr>
        </p:nvSpPr>
        <p:spPr/>
        <p:txBody>
          <a:bodyPr>
            <a:normAutofit/>
          </a:bodyPr>
          <a:lstStyle/>
          <a:p>
            <a:pPr>
              <a:lnSpc>
                <a:spcPct val="100000"/>
              </a:lnSpc>
            </a:pPr>
            <a:r>
              <a:rPr lang="en-US" sz="2000" dirty="0"/>
              <a:t>The SQL </a:t>
            </a:r>
            <a:r>
              <a:rPr lang="en-US" sz="2000" b="1" dirty="0"/>
              <a:t>SELECT</a:t>
            </a:r>
            <a:r>
              <a:rPr lang="en-US" sz="2000" dirty="0"/>
              <a:t> command is used to fetch data from the MySQL database. </a:t>
            </a:r>
          </a:p>
          <a:p>
            <a:pPr>
              <a:lnSpc>
                <a:spcPct val="100000"/>
              </a:lnSpc>
            </a:pPr>
            <a:r>
              <a:rPr lang="en-GB" sz="2000" dirty="0"/>
              <a:t>The generic SQL syntax for SELECT data is as follows:</a:t>
            </a:r>
          </a:p>
          <a:p>
            <a:pPr>
              <a:lnSpc>
                <a:spcPct val="100000"/>
              </a:lnSpc>
            </a:pPr>
            <a:endParaRPr lang="en-GB" sz="2000" dirty="0"/>
          </a:p>
          <a:p>
            <a:pPr>
              <a:lnSpc>
                <a:spcPct val="100000"/>
              </a:lnSpc>
            </a:pPr>
            <a:endParaRPr lang="en-GB" sz="2000" dirty="0"/>
          </a:p>
          <a:p>
            <a:pPr>
              <a:lnSpc>
                <a:spcPct val="100000"/>
              </a:lnSpc>
            </a:pPr>
            <a:r>
              <a:rPr lang="en-GB" sz="2000" dirty="0"/>
              <a:t>Try to execute the following SELECT code to see the result:</a:t>
            </a:r>
          </a:p>
          <a:p>
            <a:pPr>
              <a:lnSpc>
                <a:spcPct val="100000"/>
              </a:lnSpc>
            </a:pPr>
            <a:endParaRPr lang="en-GB" sz="2000" dirty="0"/>
          </a:p>
          <a:p>
            <a:pPr>
              <a:lnSpc>
                <a:spcPct val="100000"/>
              </a:lnSpc>
            </a:pPr>
            <a:endParaRPr lang="en-GB" sz="2000" dirty="0"/>
          </a:p>
          <a:p>
            <a:pPr>
              <a:lnSpc>
                <a:spcPct val="100000"/>
              </a:lnSpc>
            </a:pPr>
            <a:r>
              <a:rPr lang="en-GB" sz="2000" dirty="0"/>
              <a:t>The ‘</a:t>
            </a:r>
            <a:r>
              <a:rPr lang="en-GB" sz="2000" dirty="0">
                <a:solidFill>
                  <a:srgbClr val="FF0000"/>
                </a:solidFill>
              </a:rPr>
              <a:t>*</a:t>
            </a:r>
            <a:r>
              <a:rPr lang="en-GB" sz="2000" dirty="0"/>
              <a:t>’ is used to select all records from the table:</a:t>
            </a:r>
          </a:p>
          <a:p>
            <a:pPr>
              <a:lnSpc>
                <a:spcPct val="100000"/>
              </a:lnSpc>
            </a:pPr>
            <a:endParaRPr lang="en-GB" sz="2000" dirty="0"/>
          </a:p>
          <a:p>
            <a:pPr>
              <a:lnSpc>
                <a:spcPct val="100000"/>
              </a:lnSpc>
            </a:pPr>
            <a:endParaRPr lang="en-GB" sz="2000" dirty="0"/>
          </a:p>
          <a:p>
            <a:pPr>
              <a:lnSpc>
                <a:spcPct val="100000"/>
              </a:lnSpc>
            </a:pPr>
            <a:endParaRPr lang="en-GB" sz="2000" dirty="0"/>
          </a:p>
        </p:txBody>
      </p:sp>
      <p:sp>
        <p:nvSpPr>
          <p:cNvPr id="4" name="Slide Number Placeholder 3">
            <a:extLst>
              <a:ext uri="{FF2B5EF4-FFF2-40B4-BE49-F238E27FC236}">
                <a16:creationId xmlns:a16="http://schemas.microsoft.com/office/drawing/2014/main" id="{04F89250-BF84-45C1-B4A1-2738514A58DB}"/>
              </a:ext>
            </a:extLst>
          </p:cNvPr>
          <p:cNvSpPr>
            <a:spLocks noGrp="1"/>
          </p:cNvSpPr>
          <p:nvPr>
            <p:ph type="sldNum" sz="quarter" idx="12"/>
          </p:nvPr>
        </p:nvSpPr>
        <p:spPr/>
        <p:txBody>
          <a:bodyPr/>
          <a:lstStyle/>
          <a:p>
            <a:fld id="{8E9E4023-6F3A-457B-B0BB-8C1F114B424F}" type="slidenum">
              <a:rPr lang="en-SG" smtClean="0"/>
              <a:t>38</a:t>
            </a:fld>
            <a:endParaRPr lang="en-SG"/>
          </a:p>
        </p:txBody>
      </p:sp>
      <p:sp>
        <p:nvSpPr>
          <p:cNvPr id="5" name="Rectangle 4">
            <a:extLst>
              <a:ext uri="{FF2B5EF4-FFF2-40B4-BE49-F238E27FC236}">
                <a16:creationId xmlns:a16="http://schemas.microsoft.com/office/drawing/2014/main" id="{9C3CCDF6-9563-48C4-9932-C32D65F1DE20}"/>
              </a:ext>
            </a:extLst>
          </p:cNvPr>
          <p:cNvSpPr/>
          <p:nvPr/>
        </p:nvSpPr>
        <p:spPr>
          <a:xfrm>
            <a:off x="2521680" y="2711001"/>
            <a:ext cx="7008688" cy="412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Courier"/>
              </a:rPr>
              <a:t>SELECT field1, field2, field3,… FROM database.table1, database.table2,…;</a:t>
            </a:r>
          </a:p>
        </p:txBody>
      </p:sp>
      <p:sp>
        <p:nvSpPr>
          <p:cNvPr id="6" name="Rectangle 5">
            <a:extLst>
              <a:ext uri="{FF2B5EF4-FFF2-40B4-BE49-F238E27FC236}">
                <a16:creationId xmlns:a16="http://schemas.microsoft.com/office/drawing/2014/main" id="{3A7D3660-E4C6-442E-AB1A-457A443EDA34}"/>
              </a:ext>
            </a:extLst>
          </p:cNvPr>
          <p:cNvSpPr/>
          <p:nvPr/>
        </p:nvSpPr>
        <p:spPr>
          <a:xfrm>
            <a:off x="3501764" y="3996750"/>
            <a:ext cx="5048520" cy="412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Courier"/>
              </a:rPr>
              <a:t>SELECT title, author FROM my_database.tutorials;</a:t>
            </a:r>
          </a:p>
        </p:txBody>
      </p:sp>
      <p:sp>
        <p:nvSpPr>
          <p:cNvPr id="7" name="Rectangle 6">
            <a:extLst>
              <a:ext uri="{FF2B5EF4-FFF2-40B4-BE49-F238E27FC236}">
                <a16:creationId xmlns:a16="http://schemas.microsoft.com/office/drawing/2014/main" id="{DC698407-9111-4A21-88A0-DF52266EAF91}"/>
              </a:ext>
            </a:extLst>
          </p:cNvPr>
          <p:cNvSpPr/>
          <p:nvPr/>
        </p:nvSpPr>
        <p:spPr>
          <a:xfrm>
            <a:off x="4380100" y="5282499"/>
            <a:ext cx="3611236" cy="412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Courier"/>
              </a:rPr>
              <a:t>SELECT * FROM my_database.tutorials;</a:t>
            </a:r>
          </a:p>
        </p:txBody>
      </p:sp>
    </p:spTree>
    <p:extLst>
      <p:ext uri="{BB962C8B-B14F-4D97-AF65-F5344CB8AC3E}">
        <p14:creationId xmlns:p14="http://schemas.microsoft.com/office/powerpoint/2010/main" val="1372307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2DE4D-7DCC-4810-9EC2-5D9BC5885662}"/>
              </a:ext>
            </a:extLst>
          </p:cNvPr>
          <p:cNvSpPr>
            <a:spLocks noGrp="1"/>
          </p:cNvSpPr>
          <p:nvPr>
            <p:ph type="title"/>
          </p:nvPr>
        </p:nvSpPr>
        <p:spPr/>
        <p:txBody>
          <a:bodyPr/>
          <a:lstStyle/>
          <a:p>
            <a:r>
              <a:rPr lang="en-GB" dirty="0"/>
              <a:t>SELECT Query – WHERE Clause</a:t>
            </a:r>
          </a:p>
        </p:txBody>
      </p:sp>
      <p:sp>
        <p:nvSpPr>
          <p:cNvPr id="3" name="Content Placeholder 2">
            <a:extLst>
              <a:ext uri="{FF2B5EF4-FFF2-40B4-BE49-F238E27FC236}">
                <a16:creationId xmlns:a16="http://schemas.microsoft.com/office/drawing/2014/main" id="{D22DC743-7A82-430A-A440-C4B1EF7A668A}"/>
              </a:ext>
            </a:extLst>
          </p:cNvPr>
          <p:cNvSpPr>
            <a:spLocks noGrp="1"/>
          </p:cNvSpPr>
          <p:nvPr>
            <p:ph idx="1"/>
          </p:nvPr>
        </p:nvSpPr>
        <p:spPr/>
        <p:txBody>
          <a:bodyPr>
            <a:normAutofit/>
          </a:bodyPr>
          <a:lstStyle/>
          <a:p>
            <a:pPr>
              <a:lnSpc>
                <a:spcPct val="100000"/>
              </a:lnSpc>
            </a:pPr>
            <a:r>
              <a:rPr lang="en-US" sz="2000" dirty="0"/>
              <a:t>We can use a conditional clause called the </a:t>
            </a:r>
            <a:r>
              <a:rPr lang="en-US" sz="2000" b="1" dirty="0"/>
              <a:t>WHERE</a:t>
            </a:r>
            <a:r>
              <a:rPr lang="en-US" sz="2000" dirty="0"/>
              <a:t> Clause to filter out the results. Using this WHERE clause, we can specify a selection criteria to select the required records from a table.</a:t>
            </a:r>
          </a:p>
          <a:p>
            <a:pPr>
              <a:lnSpc>
                <a:spcPct val="100000"/>
              </a:lnSpc>
            </a:pPr>
            <a:r>
              <a:rPr lang="en-US" sz="2000" dirty="0"/>
              <a:t>The generic syntax for WHERE clause in SELECT statement is:</a:t>
            </a:r>
          </a:p>
          <a:p>
            <a:pPr>
              <a:lnSpc>
                <a:spcPct val="100000"/>
              </a:lnSpc>
            </a:pPr>
            <a:endParaRPr lang="en-US" sz="2000" dirty="0"/>
          </a:p>
          <a:p>
            <a:pPr>
              <a:lnSpc>
                <a:spcPct val="100000"/>
              </a:lnSpc>
            </a:pPr>
            <a:endParaRPr lang="en-US" sz="2000" dirty="0"/>
          </a:p>
          <a:p>
            <a:pPr>
              <a:lnSpc>
                <a:spcPct val="100000"/>
              </a:lnSpc>
            </a:pPr>
            <a:endParaRPr lang="en-US" sz="2000" dirty="0"/>
          </a:p>
          <a:p>
            <a:pPr>
              <a:lnSpc>
                <a:spcPct val="100000"/>
              </a:lnSpc>
            </a:pPr>
            <a:r>
              <a:rPr lang="en-US" sz="2000" dirty="0"/>
              <a:t>Try to execute the following codes to see the result:</a:t>
            </a:r>
          </a:p>
          <a:p>
            <a:pPr>
              <a:lnSpc>
                <a:spcPct val="100000"/>
              </a:lnSpc>
            </a:pPr>
            <a:endParaRPr lang="en-GB" sz="2000" dirty="0"/>
          </a:p>
        </p:txBody>
      </p:sp>
      <p:sp>
        <p:nvSpPr>
          <p:cNvPr id="4" name="Slide Number Placeholder 3">
            <a:extLst>
              <a:ext uri="{FF2B5EF4-FFF2-40B4-BE49-F238E27FC236}">
                <a16:creationId xmlns:a16="http://schemas.microsoft.com/office/drawing/2014/main" id="{799D2A56-6BF3-4BF8-B5B3-1F40C24CC5F0}"/>
              </a:ext>
            </a:extLst>
          </p:cNvPr>
          <p:cNvSpPr>
            <a:spLocks noGrp="1"/>
          </p:cNvSpPr>
          <p:nvPr>
            <p:ph type="sldNum" sz="quarter" idx="12"/>
          </p:nvPr>
        </p:nvSpPr>
        <p:spPr/>
        <p:txBody>
          <a:bodyPr/>
          <a:lstStyle/>
          <a:p>
            <a:fld id="{8E9E4023-6F3A-457B-B0BB-8C1F114B424F}" type="slidenum">
              <a:rPr lang="en-SG" smtClean="0"/>
              <a:t>39</a:t>
            </a:fld>
            <a:endParaRPr lang="en-SG"/>
          </a:p>
        </p:txBody>
      </p:sp>
      <p:sp>
        <p:nvSpPr>
          <p:cNvPr id="5" name="Rectangle 4">
            <a:extLst>
              <a:ext uri="{FF2B5EF4-FFF2-40B4-BE49-F238E27FC236}">
                <a16:creationId xmlns:a16="http://schemas.microsoft.com/office/drawing/2014/main" id="{EC6E2431-7435-4C29-B79E-2F9055305BAF}"/>
              </a:ext>
            </a:extLst>
          </p:cNvPr>
          <p:cNvSpPr/>
          <p:nvPr/>
        </p:nvSpPr>
        <p:spPr>
          <a:xfrm>
            <a:off x="2681374" y="3100490"/>
            <a:ext cx="7008688" cy="7246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Courier"/>
              </a:rPr>
              <a:t>SELECT field1, field2, field3,… FROM database.table1, database.table2,…</a:t>
            </a:r>
          </a:p>
          <a:p>
            <a:pPr algn="ctr"/>
            <a:r>
              <a:rPr lang="en-GB" sz="1200" b="1" dirty="0">
                <a:latin typeface="Courier"/>
              </a:rPr>
              <a:t>[WHERE condition1] [AND | OR] condition2…;</a:t>
            </a:r>
          </a:p>
        </p:txBody>
      </p:sp>
      <p:sp>
        <p:nvSpPr>
          <p:cNvPr id="6" name="Rectangle 5">
            <a:extLst>
              <a:ext uri="{FF2B5EF4-FFF2-40B4-BE49-F238E27FC236}">
                <a16:creationId xmlns:a16="http://schemas.microsoft.com/office/drawing/2014/main" id="{1AC2C82C-156D-46DA-BD48-7296520DE3E1}"/>
              </a:ext>
            </a:extLst>
          </p:cNvPr>
          <p:cNvSpPr/>
          <p:nvPr/>
        </p:nvSpPr>
        <p:spPr>
          <a:xfrm>
            <a:off x="2681374" y="4766894"/>
            <a:ext cx="7008688" cy="412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Courier"/>
              </a:rPr>
              <a:t>SELECT * FROM my_database.tutorials WHERE author = ‘Lim Ko Pi’;</a:t>
            </a:r>
          </a:p>
        </p:txBody>
      </p:sp>
    </p:spTree>
    <p:extLst>
      <p:ext uri="{BB962C8B-B14F-4D97-AF65-F5344CB8AC3E}">
        <p14:creationId xmlns:p14="http://schemas.microsoft.com/office/powerpoint/2010/main" val="29800324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42687-E7D8-4086-9B24-25F4FFDD3E98}"/>
              </a:ext>
            </a:extLst>
          </p:cNvPr>
          <p:cNvSpPr>
            <a:spLocks noGrp="1"/>
          </p:cNvSpPr>
          <p:nvPr>
            <p:ph type="title"/>
          </p:nvPr>
        </p:nvSpPr>
        <p:spPr/>
        <p:txBody>
          <a:bodyPr/>
          <a:lstStyle/>
          <a:p>
            <a:r>
              <a:rPr lang="en-GB" dirty="0"/>
              <a:t>Try it!</a:t>
            </a:r>
          </a:p>
        </p:txBody>
      </p:sp>
      <p:sp>
        <p:nvSpPr>
          <p:cNvPr id="3" name="Content Placeholder 2">
            <a:extLst>
              <a:ext uri="{FF2B5EF4-FFF2-40B4-BE49-F238E27FC236}">
                <a16:creationId xmlns:a16="http://schemas.microsoft.com/office/drawing/2014/main" id="{717A47C5-7773-4787-966B-EC81B8A8265F}"/>
              </a:ext>
            </a:extLst>
          </p:cNvPr>
          <p:cNvSpPr>
            <a:spLocks noGrp="1"/>
          </p:cNvSpPr>
          <p:nvPr>
            <p:ph idx="1"/>
          </p:nvPr>
        </p:nvSpPr>
        <p:spPr/>
        <p:txBody>
          <a:bodyPr vert="horz" lIns="91440" tIns="45720" rIns="91440" bIns="45720" rtlCol="0" anchor="t">
            <a:normAutofit/>
          </a:bodyPr>
          <a:lstStyle/>
          <a:p>
            <a:r>
              <a:rPr lang="en-GB" dirty="0"/>
              <a:t>Try to find the result for the following two problems:</a:t>
            </a:r>
          </a:p>
          <a:p>
            <a:pPr marL="914400" lvl="1" indent="-457200">
              <a:buFont typeface="+mj-lt"/>
              <a:buAutoNum type="arabicPeriod"/>
            </a:pPr>
            <a:r>
              <a:rPr lang="en-GB" dirty="0"/>
              <a:t>Retrieve the author and submission date where the title is ‘Learn MySQL’.</a:t>
            </a:r>
          </a:p>
          <a:p>
            <a:pPr marL="457200" lvl="1" indent="0">
              <a:buNone/>
            </a:pPr>
            <a:endParaRPr lang="en-GB" dirty="0">
              <a:cs typeface="Calibri" panose="020F0502020204030204"/>
            </a:endParaRPr>
          </a:p>
          <a:p>
            <a:pPr marL="457200" lvl="1" indent="0">
              <a:buNone/>
            </a:pPr>
            <a:r>
              <a:rPr lang="en-GB" dirty="0">
                <a:cs typeface="Calibri" panose="020F0502020204030204"/>
              </a:rPr>
              <a:t>Select author, submission_date from my_database.tutorials where title = </a:t>
            </a:r>
            <a:r>
              <a:rPr lang="en-GB">
                <a:cs typeface="Calibri" panose="020F0502020204030204"/>
              </a:rPr>
              <a:t>"Learn MySQL";</a:t>
            </a:r>
            <a:endParaRPr lang="en-GB" dirty="0">
              <a:cs typeface="Calibri" panose="020F0502020204030204"/>
            </a:endParaRPr>
          </a:p>
          <a:p>
            <a:pPr marL="457200" lvl="1" indent="0">
              <a:buNone/>
            </a:pPr>
            <a:endParaRPr lang="en-GB" dirty="0"/>
          </a:p>
          <a:p>
            <a:pPr marL="914400" lvl="1" indent="-457200">
              <a:buFont typeface="+mj-lt"/>
              <a:buAutoNum type="arabicPeriod"/>
            </a:pPr>
            <a:r>
              <a:rPr lang="en-GB" dirty="0"/>
              <a:t>What is the submission date where the author is Abdul S and the title is Learn MySQL?</a:t>
            </a:r>
          </a:p>
          <a:p>
            <a:pPr marL="914400" lvl="1" indent="-457200">
              <a:buAutoNum type="arabicPeriod"/>
            </a:pPr>
            <a:endParaRPr lang="en-GB" dirty="0">
              <a:cs typeface="Calibri" panose="020F0502020204030204"/>
            </a:endParaRPr>
          </a:p>
          <a:p>
            <a:pPr marL="457200" lvl="1" indent="0">
              <a:buNone/>
            </a:pPr>
            <a:r>
              <a:rPr lang="en-GB">
                <a:cs typeface="Calibri" panose="020F0502020204030204"/>
              </a:rPr>
              <a:t>Select submission_date from my_database.tutorials where author = "Abdul S"; </a:t>
            </a:r>
            <a:endParaRPr lang="en-GB" dirty="0">
              <a:cs typeface="Calibri" panose="020F0502020204030204"/>
            </a:endParaRPr>
          </a:p>
        </p:txBody>
      </p:sp>
      <p:sp>
        <p:nvSpPr>
          <p:cNvPr id="4" name="Slide Number Placeholder 3">
            <a:extLst>
              <a:ext uri="{FF2B5EF4-FFF2-40B4-BE49-F238E27FC236}">
                <a16:creationId xmlns:a16="http://schemas.microsoft.com/office/drawing/2014/main" id="{9A6D05E2-7752-4AE5-B589-460B6E9C1B78}"/>
              </a:ext>
            </a:extLst>
          </p:cNvPr>
          <p:cNvSpPr>
            <a:spLocks noGrp="1"/>
          </p:cNvSpPr>
          <p:nvPr>
            <p:ph type="sldNum" sz="quarter" idx="12"/>
          </p:nvPr>
        </p:nvSpPr>
        <p:spPr/>
        <p:txBody>
          <a:bodyPr/>
          <a:lstStyle/>
          <a:p>
            <a:fld id="{8E9E4023-6F3A-457B-B0BB-8C1F114B424F}" type="slidenum">
              <a:rPr lang="en-SG" smtClean="0"/>
              <a:t>40</a:t>
            </a:fld>
            <a:endParaRPr lang="en-SG"/>
          </a:p>
        </p:txBody>
      </p:sp>
    </p:spTree>
    <p:extLst>
      <p:ext uri="{BB962C8B-B14F-4D97-AF65-F5344CB8AC3E}">
        <p14:creationId xmlns:p14="http://schemas.microsoft.com/office/powerpoint/2010/main" val="35841458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5B577-3C4F-41B2-8B3B-A1B4A1B00C65}"/>
              </a:ext>
            </a:extLst>
          </p:cNvPr>
          <p:cNvSpPr>
            <a:spLocks noGrp="1"/>
          </p:cNvSpPr>
          <p:nvPr>
            <p:ph type="title"/>
          </p:nvPr>
        </p:nvSpPr>
        <p:spPr/>
        <p:txBody>
          <a:bodyPr/>
          <a:lstStyle/>
          <a:p>
            <a:r>
              <a:rPr lang="en-GB" dirty="0"/>
              <a:t>UPDATE Query</a:t>
            </a:r>
          </a:p>
        </p:txBody>
      </p:sp>
      <p:sp>
        <p:nvSpPr>
          <p:cNvPr id="3" name="Content Placeholder 2">
            <a:extLst>
              <a:ext uri="{FF2B5EF4-FFF2-40B4-BE49-F238E27FC236}">
                <a16:creationId xmlns:a16="http://schemas.microsoft.com/office/drawing/2014/main" id="{CA7BAA11-CDA7-4855-A156-2BCF0095BA1C}"/>
              </a:ext>
            </a:extLst>
          </p:cNvPr>
          <p:cNvSpPr>
            <a:spLocks noGrp="1"/>
          </p:cNvSpPr>
          <p:nvPr>
            <p:ph idx="1"/>
          </p:nvPr>
        </p:nvSpPr>
        <p:spPr/>
        <p:txBody>
          <a:bodyPr/>
          <a:lstStyle/>
          <a:p>
            <a:r>
              <a:rPr lang="en-US" dirty="0"/>
              <a:t>There may be a requirement where the existing data in a MySQL table needs to be modified. You can do so by using the SQL </a:t>
            </a:r>
            <a:r>
              <a:rPr lang="en-US" b="1" dirty="0"/>
              <a:t>UPDATE</a:t>
            </a:r>
            <a:r>
              <a:rPr lang="en-US" dirty="0"/>
              <a:t> command. This will modify any field value of any MySQL table.</a:t>
            </a:r>
          </a:p>
          <a:p>
            <a:r>
              <a:rPr lang="en-US" dirty="0"/>
              <a:t>The generic syntax for UPDATE command is:</a:t>
            </a:r>
          </a:p>
          <a:p>
            <a:endParaRPr lang="en-US" dirty="0"/>
          </a:p>
          <a:p>
            <a:endParaRPr lang="en-US" dirty="0"/>
          </a:p>
          <a:p>
            <a:r>
              <a:rPr lang="en-US" dirty="0"/>
              <a:t>Execute the following SQL code to see the result:</a:t>
            </a:r>
          </a:p>
          <a:p>
            <a:endParaRPr lang="en-GB" dirty="0"/>
          </a:p>
        </p:txBody>
      </p:sp>
      <p:sp>
        <p:nvSpPr>
          <p:cNvPr id="4" name="Slide Number Placeholder 3">
            <a:extLst>
              <a:ext uri="{FF2B5EF4-FFF2-40B4-BE49-F238E27FC236}">
                <a16:creationId xmlns:a16="http://schemas.microsoft.com/office/drawing/2014/main" id="{90776B72-5CE3-4B3B-9B35-30555F108A3D}"/>
              </a:ext>
            </a:extLst>
          </p:cNvPr>
          <p:cNvSpPr>
            <a:spLocks noGrp="1"/>
          </p:cNvSpPr>
          <p:nvPr>
            <p:ph type="sldNum" sz="quarter" idx="12"/>
          </p:nvPr>
        </p:nvSpPr>
        <p:spPr/>
        <p:txBody>
          <a:bodyPr/>
          <a:lstStyle/>
          <a:p>
            <a:fld id="{8E9E4023-6F3A-457B-B0BB-8C1F114B424F}" type="slidenum">
              <a:rPr lang="en-SG" smtClean="0"/>
              <a:t>41</a:t>
            </a:fld>
            <a:endParaRPr lang="en-SG"/>
          </a:p>
        </p:txBody>
      </p:sp>
      <p:sp>
        <p:nvSpPr>
          <p:cNvPr id="5" name="Rectangle 4">
            <a:extLst>
              <a:ext uri="{FF2B5EF4-FFF2-40B4-BE49-F238E27FC236}">
                <a16:creationId xmlns:a16="http://schemas.microsoft.com/office/drawing/2014/main" id="{83E2A5AC-6C48-4675-AE1E-7D7AAEDC7F63}"/>
              </a:ext>
            </a:extLst>
          </p:cNvPr>
          <p:cNvSpPr/>
          <p:nvPr/>
        </p:nvSpPr>
        <p:spPr>
          <a:xfrm>
            <a:off x="2681374" y="3613971"/>
            <a:ext cx="7008688" cy="412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Courier"/>
              </a:rPr>
              <a:t>UPDATE database.table SET field1 = new_value1, field2 = new_value2,… [WHERE clause];</a:t>
            </a:r>
          </a:p>
        </p:txBody>
      </p:sp>
      <p:sp>
        <p:nvSpPr>
          <p:cNvPr id="6" name="Rectangle 5">
            <a:extLst>
              <a:ext uri="{FF2B5EF4-FFF2-40B4-BE49-F238E27FC236}">
                <a16:creationId xmlns:a16="http://schemas.microsoft.com/office/drawing/2014/main" id="{014CF9EC-0A83-441E-A1B1-9CECB0B30482}"/>
              </a:ext>
            </a:extLst>
          </p:cNvPr>
          <p:cNvSpPr/>
          <p:nvPr/>
        </p:nvSpPr>
        <p:spPr>
          <a:xfrm>
            <a:off x="2417964" y="5144084"/>
            <a:ext cx="7535507" cy="412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Courier"/>
              </a:rPr>
              <a:t>UPDATE my_database.tutorials SET title = ‘Learning Java’ WHERE tutorial_id = 3;</a:t>
            </a:r>
          </a:p>
        </p:txBody>
      </p:sp>
    </p:spTree>
    <p:extLst>
      <p:ext uri="{BB962C8B-B14F-4D97-AF65-F5344CB8AC3E}">
        <p14:creationId xmlns:p14="http://schemas.microsoft.com/office/powerpoint/2010/main" val="24369319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8FEB2-42DF-4581-A6EE-B334D92185A5}"/>
              </a:ext>
            </a:extLst>
          </p:cNvPr>
          <p:cNvSpPr>
            <a:spLocks noGrp="1"/>
          </p:cNvSpPr>
          <p:nvPr>
            <p:ph type="title"/>
          </p:nvPr>
        </p:nvSpPr>
        <p:spPr/>
        <p:txBody>
          <a:bodyPr/>
          <a:lstStyle/>
          <a:p>
            <a:r>
              <a:rPr lang="en-GB" dirty="0"/>
              <a:t>Try It!</a:t>
            </a:r>
          </a:p>
        </p:txBody>
      </p:sp>
      <p:sp>
        <p:nvSpPr>
          <p:cNvPr id="3" name="Content Placeholder 2">
            <a:extLst>
              <a:ext uri="{FF2B5EF4-FFF2-40B4-BE49-F238E27FC236}">
                <a16:creationId xmlns:a16="http://schemas.microsoft.com/office/drawing/2014/main" id="{F96FFC0B-96AA-4E03-BEB3-89E22DB45595}"/>
              </a:ext>
            </a:extLst>
          </p:cNvPr>
          <p:cNvSpPr>
            <a:spLocks noGrp="1"/>
          </p:cNvSpPr>
          <p:nvPr>
            <p:ph idx="1"/>
          </p:nvPr>
        </p:nvSpPr>
        <p:spPr/>
        <p:txBody>
          <a:bodyPr vert="horz" lIns="91440" tIns="45720" rIns="91440" bIns="45720" rtlCol="0" anchor="t">
            <a:normAutofit/>
          </a:bodyPr>
          <a:lstStyle/>
          <a:p>
            <a:r>
              <a:rPr lang="en-GB" dirty="0"/>
              <a:t>Update the author for ‘Learn MySQL’ to ‘Abdul Ismail’.</a:t>
            </a:r>
          </a:p>
          <a:p>
            <a:pPr marL="0" indent="0">
              <a:buNone/>
            </a:pPr>
            <a:endParaRPr lang="en-GB" dirty="0">
              <a:cs typeface="Calibri"/>
            </a:endParaRPr>
          </a:p>
          <a:p>
            <a:pPr marL="0" indent="0">
              <a:buNone/>
            </a:pPr>
            <a:r>
              <a:rPr lang="en-GB">
                <a:cs typeface="Calibri"/>
              </a:rPr>
              <a:t>Update my_database.tutorials set author = "Abdul Ismail" where tutorial_id = 3;</a:t>
            </a:r>
          </a:p>
          <a:p>
            <a:pPr marL="0" indent="0">
              <a:buNone/>
            </a:pPr>
            <a:endParaRPr lang="en-GB" dirty="0">
              <a:cs typeface="Calibri"/>
            </a:endParaRPr>
          </a:p>
          <a:p>
            <a:pPr marL="0" indent="0">
              <a:buNone/>
            </a:pPr>
            <a:r>
              <a:rPr lang="en-GB" dirty="0">
                <a:ea typeface="+mn-lt"/>
                <a:cs typeface="+mn-lt"/>
              </a:rPr>
              <a:t>Update my_database.tutorials set author = "Abdul Ismail" where </a:t>
            </a:r>
            <a:endParaRPr lang="en-GB">
              <a:ea typeface="+mn-lt"/>
              <a:cs typeface="+mn-lt"/>
            </a:endParaRPr>
          </a:p>
          <a:p>
            <a:pPr marL="0" indent="0">
              <a:buNone/>
            </a:pPr>
            <a:r>
              <a:rPr lang="en-GB">
                <a:ea typeface="+mn-lt"/>
                <a:cs typeface="+mn-lt"/>
              </a:rPr>
              <a:t>my_database.title = "Learn MySQL";</a:t>
            </a:r>
            <a:endParaRPr lang="en-GB">
              <a:cs typeface="Calibri" panose="020F0502020204030204"/>
            </a:endParaRPr>
          </a:p>
        </p:txBody>
      </p:sp>
      <p:sp>
        <p:nvSpPr>
          <p:cNvPr id="4" name="Slide Number Placeholder 3">
            <a:extLst>
              <a:ext uri="{FF2B5EF4-FFF2-40B4-BE49-F238E27FC236}">
                <a16:creationId xmlns:a16="http://schemas.microsoft.com/office/drawing/2014/main" id="{74BBACE2-3B26-4A8A-BE11-BA395F1466D8}"/>
              </a:ext>
            </a:extLst>
          </p:cNvPr>
          <p:cNvSpPr>
            <a:spLocks noGrp="1"/>
          </p:cNvSpPr>
          <p:nvPr>
            <p:ph type="sldNum" sz="quarter" idx="12"/>
          </p:nvPr>
        </p:nvSpPr>
        <p:spPr/>
        <p:txBody>
          <a:bodyPr/>
          <a:lstStyle/>
          <a:p>
            <a:fld id="{8E9E4023-6F3A-457B-B0BB-8C1F114B424F}" type="slidenum">
              <a:rPr lang="en-SG" smtClean="0"/>
              <a:t>42</a:t>
            </a:fld>
            <a:endParaRPr lang="en-SG"/>
          </a:p>
        </p:txBody>
      </p:sp>
    </p:spTree>
    <p:extLst>
      <p:ext uri="{BB962C8B-B14F-4D97-AF65-F5344CB8AC3E}">
        <p14:creationId xmlns:p14="http://schemas.microsoft.com/office/powerpoint/2010/main" val="41514232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803A-C526-4BBB-AE09-81B72D5FE6ED}"/>
              </a:ext>
            </a:extLst>
          </p:cNvPr>
          <p:cNvSpPr>
            <a:spLocks noGrp="1"/>
          </p:cNvSpPr>
          <p:nvPr>
            <p:ph type="title"/>
          </p:nvPr>
        </p:nvSpPr>
        <p:spPr/>
        <p:txBody>
          <a:bodyPr/>
          <a:lstStyle/>
          <a:p>
            <a:r>
              <a:rPr lang="en-GB" dirty="0"/>
              <a:t>Delete Query</a:t>
            </a:r>
          </a:p>
        </p:txBody>
      </p:sp>
      <p:sp>
        <p:nvSpPr>
          <p:cNvPr id="3" name="Content Placeholder 2">
            <a:extLst>
              <a:ext uri="{FF2B5EF4-FFF2-40B4-BE49-F238E27FC236}">
                <a16:creationId xmlns:a16="http://schemas.microsoft.com/office/drawing/2014/main" id="{4E9CB08F-0F82-4CC8-A000-786BF25B9089}"/>
              </a:ext>
            </a:extLst>
          </p:cNvPr>
          <p:cNvSpPr>
            <a:spLocks noGrp="1"/>
          </p:cNvSpPr>
          <p:nvPr>
            <p:ph idx="1"/>
          </p:nvPr>
        </p:nvSpPr>
        <p:spPr/>
        <p:txBody>
          <a:bodyPr>
            <a:normAutofit/>
          </a:bodyPr>
          <a:lstStyle/>
          <a:p>
            <a:r>
              <a:rPr lang="en-US" sz="2000" dirty="0"/>
              <a:t>If you want to delete a record from any MySQL table, then you can use the SQL command </a:t>
            </a:r>
            <a:r>
              <a:rPr lang="en-US" sz="2000" b="1" dirty="0"/>
              <a:t>DELETE FROM</a:t>
            </a:r>
            <a:r>
              <a:rPr lang="en-US" sz="2000" dirty="0"/>
              <a:t>.</a:t>
            </a:r>
          </a:p>
          <a:p>
            <a:r>
              <a:rPr lang="en-US" sz="2000" dirty="0"/>
              <a:t>The generic syntax for DELETE FROM command is:</a:t>
            </a:r>
          </a:p>
          <a:p>
            <a:endParaRPr lang="en-US" sz="2000" dirty="0"/>
          </a:p>
          <a:p>
            <a:endParaRPr lang="en-US" sz="2000" dirty="0"/>
          </a:p>
          <a:p>
            <a:r>
              <a:rPr lang="en-US" sz="2000" dirty="0"/>
              <a:t>Try to execute the following codes to see the result:</a:t>
            </a:r>
          </a:p>
          <a:p>
            <a:endParaRPr lang="en-US" sz="2000" dirty="0"/>
          </a:p>
          <a:p>
            <a:endParaRPr lang="en-GB" sz="2000" dirty="0"/>
          </a:p>
        </p:txBody>
      </p:sp>
      <p:sp>
        <p:nvSpPr>
          <p:cNvPr id="4" name="Slide Number Placeholder 3">
            <a:extLst>
              <a:ext uri="{FF2B5EF4-FFF2-40B4-BE49-F238E27FC236}">
                <a16:creationId xmlns:a16="http://schemas.microsoft.com/office/drawing/2014/main" id="{6B6A361B-E2B0-4B47-9E10-F813E893BD39}"/>
              </a:ext>
            </a:extLst>
          </p:cNvPr>
          <p:cNvSpPr>
            <a:spLocks noGrp="1"/>
          </p:cNvSpPr>
          <p:nvPr>
            <p:ph type="sldNum" sz="quarter" idx="12"/>
          </p:nvPr>
        </p:nvSpPr>
        <p:spPr/>
        <p:txBody>
          <a:bodyPr/>
          <a:lstStyle/>
          <a:p>
            <a:fld id="{8E9E4023-6F3A-457B-B0BB-8C1F114B424F}" type="slidenum">
              <a:rPr lang="en-SG" smtClean="0"/>
              <a:t>43</a:t>
            </a:fld>
            <a:endParaRPr lang="en-SG"/>
          </a:p>
        </p:txBody>
      </p:sp>
      <p:sp>
        <p:nvSpPr>
          <p:cNvPr id="5" name="Rectangle 4">
            <a:extLst>
              <a:ext uri="{FF2B5EF4-FFF2-40B4-BE49-F238E27FC236}">
                <a16:creationId xmlns:a16="http://schemas.microsoft.com/office/drawing/2014/main" id="{590E010A-45D0-46D2-9E02-F7CFBA579C05}"/>
              </a:ext>
            </a:extLst>
          </p:cNvPr>
          <p:cNvSpPr/>
          <p:nvPr/>
        </p:nvSpPr>
        <p:spPr>
          <a:xfrm>
            <a:off x="4080260" y="2853876"/>
            <a:ext cx="4210916" cy="412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Courier"/>
              </a:rPr>
              <a:t>DELETE FROM database.table [WHERE clause];</a:t>
            </a:r>
          </a:p>
        </p:txBody>
      </p:sp>
      <p:sp>
        <p:nvSpPr>
          <p:cNvPr id="6" name="Rectangle 5">
            <a:extLst>
              <a:ext uri="{FF2B5EF4-FFF2-40B4-BE49-F238E27FC236}">
                <a16:creationId xmlns:a16="http://schemas.microsoft.com/office/drawing/2014/main" id="{A1208613-1CC2-4440-A30B-42DE91444009}"/>
              </a:ext>
            </a:extLst>
          </p:cNvPr>
          <p:cNvSpPr/>
          <p:nvPr/>
        </p:nvSpPr>
        <p:spPr>
          <a:xfrm>
            <a:off x="3509270" y="4123773"/>
            <a:ext cx="5352896" cy="412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Courier"/>
              </a:rPr>
              <a:t>DELETE FROM my_database.tutorials WHERE tutorial_id = 3;</a:t>
            </a:r>
          </a:p>
        </p:txBody>
      </p:sp>
    </p:spTree>
    <p:extLst>
      <p:ext uri="{BB962C8B-B14F-4D97-AF65-F5344CB8AC3E}">
        <p14:creationId xmlns:p14="http://schemas.microsoft.com/office/powerpoint/2010/main" val="20616645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E5FD3-112F-45C1-8A2A-8E302C041283}"/>
              </a:ext>
            </a:extLst>
          </p:cNvPr>
          <p:cNvSpPr>
            <a:spLocks noGrp="1"/>
          </p:cNvSpPr>
          <p:nvPr>
            <p:ph type="title"/>
          </p:nvPr>
        </p:nvSpPr>
        <p:spPr/>
        <p:txBody>
          <a:bodyPr/>
          <a:lstStyle/>
          <a:p>
            <a:r>
              <a:rPr lang="en-GB" dirty="0"/>
              <a:t>LIKE Clause</a:t>
            </a:r>
          </a:p>
        </p:txBody>
      </p:sp>
      <p:sp>
        <p:nvSpPr>
          <p:cNvPr id="3" name="Content Placeholder 2">
            <a:extLst>
              <a:ext uri="{FF2B5EF4-FFF2-40B4-BE49-F238E27FC236}">
                <a16:creationId xmlns:a16="http://schemas.microsoft.com/office/drawing/2014/main" id="{2284843D-7A86-405F-8972-16075434385B}"/>
              </a:ext>
            </a:extLst>
          </p:cNvPr>
          <p:cNvSpPr>
            <a:spLocks noGrp="1"/>
          </p:cNvSpPr>
          <p:nvPr>
            <p:ph idx="1"/>
          </p:nvPr>
        </p:nvSpPr>
        <p:spPr>
          <a:xfrm>
            <a:off x="1017638" y="1631314"/>
            <a:ext cx="10336162" cy="3277871"/>
          </a:xfrm>
        </p:spPr>
        <p:txBody>
          <a:bodyPr>
            <a:normAutofit fontScale="70000" lnSpcReduction="20000"/>
          </a:bodyPr>
          <a:lstStyle/>
          <a:p>
            <a:pPr>
              <a:lnSpc>
                <a:spcPct val="120000"/>
              </a:lnSpc>
            </a:pPr>
            <a:r>
              <a:rPr lang="en-US" dirty="0"/>
              <a:t>We have seen the SQL SELECT command to fetch data from the MySQL table. </a:t>
            </a:r>
          </a:p>
          <a:p>
            <a:pPr>
              <a:lnSpc>
                <a:spcPct val="120000"/>
              </a:lnSpc>
            </a:pPr>
            <a:r>
              <a:rPr lang="en-US" dirty="0"/>
              <a:t>We can also use a conditional clause called as the WHERE clause to select the required records.</a:t>
            </a:r>
          </a:p>
          <a:p>
            <a:pPr>
              <a:lnSpc>
                <a:spcPct val="120000"/>
              </a:lnSpc>
            </a:pPr>
            <a:r>
              <a:rPr lang="en-US" dirty="0"/>
              <a:t>A WHERE clause with the ‘equal to’ sign (=) works fine where we want to do an exact match.</a:t>
            </a:r>
          </a:p>
          <a:p>
            <a:pPr>
              <a:lnSpc>
                <a:spcPct val="120000"/>
              </a:lnSpc>
            </a:pPr>
            <a:r>
              <a:rPr lang="en-US" dirty="0"/>
              <a:t>But there may be a requirement where we want to filter out all the results where author name should contain "jay". </a:t>
            </a:r>
          </a:p>
          <a:p>
            <a:pPr>
              <a:lnSpc>
                <a:spcPct val="120000"/>
              </a:lnSpc>
            </a:pPr>
            <a:r>
              <a:rPr lang="en-US" dirty="0"/>
              <a:t>This can be handled using </a:t>
            </a:r>
            <a:r>
              <a:rPr lang="en-US" b="1" dirty="0"/>
              <a:t>SQL LIKE Clause</a:t>
            </a:r>
            <a:r>
              <a:rPr lang="en-US" dirty="0"/>
              <a:t> along with the WHERE clause.</a:t>
            </a:r>
          </a:p>
          <a:p>
            <a:pPr>
              <a:lnSpc>
                <a:spcPct val="120000"/>
              </a:lnSpc>
            </a:pPr>
            <a:r>
              <a:rPr lang="en-US" dirty="0"/>
              <a:t>The generic syntax for LIKE clause is:</a:t>
            </a:r>
          </a:p>
          <a:p>
            <a:pPr>
              <a:lnSpc>
                <a:spcPct val="120000"/>
              </a:lnSpc>
            </a:pPr>
            <a:endParaRPr lang="en-GB" dirty="0"/>
          </a:p>
        </p:txBody>
      </p:sp>
      <p:sp>
        <p:nvSpPr>
          <p:cNvPr id="4" name="Slide Number Placeholder 3">
            <a:extLst>
              <a:ext uri="{FF2B5EF4-FFF2-40B4-BE49-F238E27FC236}">
                <a16:creationId xmlns:a16="http://schemas.microsoft.com/office/drawing/2014/main" id="{B395B5E4-02EE-45FA-803C-87E03C66082F}"/>
              </a:ext>
            </a:extLst>
          </p:cNvPr>
          <p:cNvSpPr>
            <a:spLocks noGrp="1"/>
          </p:cNvSpPr>
          <p:nvPr>
            <p:ph type="sldNum" sz="quarter" idx="12"/>
          </p:nvPr>
        </p:nvSpPr>
        <p:spPr/>
        <p:txBody>
          <a:bodyPr/>
          <a:lstStyle/>
          <a:p>
            <a:fld id="{8E9E4023-6F3A-457B-B0BB-8C1F114B424F}" type="slidenum">
              <a:rPr lang="en-SG" smtClean="0"/>
              <a:t>44</a:t>
            </a:fld>
            <a:endParaRPr lang="en-SG"/>
          </a:p>
        </p:txBody>
      </p:sp>
      <p:sp>
        <p:nvSpPr>
          <p:cNvPr id="5" name="Rectangle 4">
            <a:extLst>
              <a:ext uri="{FF2B5EF4-FFF2-40B4-BE49-F238E27FC236}">
                <a16:creationId xmlns:a16="http://schemas.microsoft.com/office/drawing/2014/main" id="{EF6CAC63-B54A-41B3-A4B3-223F36713ECD}"/>
              </a:ext>
            </a:extLst>
          </p:cNvPr>
          <p:cNvSpPr/>
          <p:nvPr/>
        </p:nvSpPr>
        <p:spPr>
          <a:xfrm>
            <a:off x="2681374" y="4752125"/>
            <a:ext cx="7008688" cy="7246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Courier"/>
              </a:rPr>
              <a:t>SELECT field1, field2, field3,… FROM database.table1, database.table2,…</a:t>
            </a:r>
          </a:p>
          <a:p>
            <a:pPr algn="ctr"/>
            <a:r>
              <a:rPr lang="en-GB" sz="1200" b="1" dirty="0">
                <a:latin typeface="Courier"/>
              </a:rPr>
              <a:t>WHERE field1 LIKE condition1 [AND | OR] field2 = …;</a:t>
            </a:r>
          </a:p>
        </p:txBody>
      </p:sp>
    </p:spTree>
    <p:extLst>
      <p:ext uri="{BB962C8B-B14F-4D97-AF65-F5344CB8AC3E}">
        <p14:creationId xmlns:p14="http://schemas.microsoft.com/office/powerpoint/2010/main" val="39916116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E5FD3-112F-45C1-8A2A-8E302C041283}"/>
              </a:ext>
            </a:extLst>
          </p:cNvPr>
          <p:cNvSpPr>
            <a:spLocks noGrp="1"/>
          </p:cNvSpPr>
          <p:nvPr>
            <p:ph type="title"/>
          </p:nvPr>
        </p:nvSpPr>
        <p:spPr/>
        <p:txBody>
          <a:bodyPr/>
          <a:lstStyle/>
          <a:p>
            <a:r>
              <a:rPr lang="en-GB" dirty="0"/>
              <a:t>LIKE Clause</a:t>
            </a:r>
          </a:p>
        </p:txBody>
      </p:sp>
      <p:sp>
        <p:nvSpPr>
          <p:cNvPr id="3" name="Content Placeholder 2">
            <a:extLst>
              <a:ext uri="{FF2B5EF4-FFF2-40B4-BE49-F238E27FC236}">
                <a16:creationId xmlns:a16="http://schemas.microsoft.com/office/drawing/2014/main" id="{2284843D-7A86-405F-8972-16075434385B}"/>
              </a:ext>
            </a:extLst>
          </p:cNvPr>
          <p:cNvSpPr>
            <a:spLocks noGrp="1"/>
          </p:cNvSpPr>
          <p:nvPr>
            <p:ph idx="1"/>
          </p:nvPr>
        </p:nvSpPr>
        <p:spPr>
          <a:xfrm>
            <a:off x="1017638" y="1631314"/>
            <a:ext cx="10336162" cy="3277871"/>
          </a:xfrm>
        </p:spPr>
        <p:txBody>
          <a:bodyPr>
            <a:normAutofit/>
          </a:bodyPr>
          <a:lstStyle/>
          <a:p>
            <a:r>
              <a:rPr lang="en-US" dirty="0"/>
              <a:t>Execute the following SQL code to see the result:</a:t>
            </a:r>
          </a:p>
          <a:p>
            <a:endParaRPr lang="en-US" dirty="0"/>
          </a:p>
          <a:p>
            <a:pPr>
              <a:lnSpc>
                <a:spcPct val="120000"/>
              </a:lnSpc>
            </a:pPr>
            <a:endParaRPr lang="en-GB" dirty="0"/>
          </a:p>
        </p:txBody>
      </p:sp>
      <p:sp>
        <p:nvSpPr>
          <p:cNvPr id="4" name="Slide Number Placeholder 3">
            <a:extLst>
              <a:ext uri="{FF2B5EF4-FFF2-40B4-BE49-F238E27FC236}">
                <a16:creationId xmlns:a16="http://schemas.microsoft.com/office/drawing/2014/main" id="{B395B5E4-02EE-45FA-803C-87E03C66082F}"/>
              </a:ext>
            </a:extLst>
          </p:cNvPr>
          <p:cNvSpPr>
            <a:spLocks noGrp="1"/>
          </p:cNvSpPr>
          <p:nvPr>
            <p:ph type="sldNum" sz="quarter" idx="12"/>
          </p:nvPr>
        </p:nvSpPr>
        <p:spPr/>
        <p:txBody>
          <a:bodyPr/>
          <a:lstStyle/>
          <a:p>
            <a:fld id="{8E9E4023-6F3A-457B-B0BB-8C1F114B424F}" type="slidenum">
              <a:rPr lang="en-SG" smtClean="0"/>
              <a:t>45</a:t>
            </a:fld>
            <a:endParaRPr lang="en-SG"/>
          </a:p>
        </p:txBody>
      </p:sp>
      <p:sp>
        <p:nvSpPr>
          <p:cNvPr id="6" name="Rectangle 5">
            <a:extLst>
              <a:ext uri="{FF2B5EF4-FFF2-40B4-BE49-F238E27FC236}">
                <a16:creationId xmlns:a16="http://schemas.microsoft.com/office/drawing/2014/main" id="{9D80A12E-2FB3-4994-9E35-173579BD790F}"/>
              </a:ext>
            </a:extLst>
          </p:cNvPr>
          <p:cNvSpPr/>
          <p:nvPr/>
        </p:nvSpPr>
        <p:spPr>
          <a:xfrm>
            <a:off x="3206634" y="2429459"/>
            <a:ext cx="5958167" cy="412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Courier"/>
              </a:rPr>
              <a:t>SELECT * FROM my_database.tutorials WHERE author LIKE ‘%mail’;</a:t>
            </a:r>
          </a:p>
        </p:txBody>
      </p:sp>
    </p:spTree>
    <p:extLst>
      <p:ext uri="{BB962C8B-B14F-4D97-AF65-F5344CB8AC3E}">
        <p14:creationId xmlns:p14="http://schemas.microsoft.com/office/powerpoint/2010/main" val="39247910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5E4B-58D9-46AC-98A8-AD9551FAFDBD}"/>
              </a:ext>
            </a:extLst>
          </p:cNvPr>
          <p:cNvSpPr>
            <a:spLocks noGrp="1"/>
          </p:cNvSpPr>
          <p:nvPr>
            <p:ph type="title"/>
          </p:nvPr>
        </p:nvSpPr>
        <p:spPr/>
        <p:txBody>
          <a:bodyPr/>
          <a:lstStyle/>
          <a:p>
            <a:r>
              <a:rPr lang="en-GB" dirty="0"/>
              <a:t>Sorting Results</a:t>
            </a:r>
          </a:p>
        </p:txBody>
      </p:sp>
      <p:sp>
        <p:nvSpPr>
          <p:cNvPr id="3" name="Content Placeholder 2">
            <a:extLst>
              <a:ext uri="{FF2B5EF4-FFF2-40B4-BE49-F238E27FC236}">
                <a16:creationId xmlns:a16="http://schemas.microsoft.com/office/drawing/2014/main" id="{CBF9E013-DFF3-4083-9F64-D903DC777FEC}"/>
              </a:ext>
            </a:extLst>
          </p:cNvPr>
          <p:cNvSpPr>
            <a:spLocks noGrp="1"/>
          </p:cNvSpPr>
          <p:nvPr>
            <p:ph idx="1"/>
          </p:nvPr>
        </p:nvSpPr>
        <p:spPr/>
        <p:txBody>
          <a:bodyPr>
            <a:normAutofit/>
          </a:bodyPr>
          <a:lstStyle/>
          <a:p>
            <a:pPr>
              <a:lnSpc>
                <a:spcPct val="100000"/>
              </a:lnSpc>
            </a:pPr>
            <a:r>
              <a:rPr lang="en-US" sz="1800" dirty="0"/>
              <a:t>We have seen the SQL SELECT command to fetch data from a MySQL table. </a:t>
            </a:r>
          </a:p>
          <a:p>
            <a:pPr>
              <a:lnSpc>
                <a:spcPct val="100000"/>
              </a:lnSpc>
            </a:pPr>
            <a:r>
              <a:rPr lang="en-US" sz="1800" dirty="0"/>
              <a:t>When you select rows, the MySQL server is free to return them in any order, unless you instruct it otherwise by saying how to sort the result. </a:t>
            </a:r>
          </a:p>
          <a:p>
            <a:pPr>
              <a:lnSpc>
                <a:spcPct val="100000"/>
              </a:lnSpc>
            </a:pPr>
            <a:r>
              <a:rPr lang="en-US" sz="1800" dirty="0"/>
              <a:t>But, you sort a result set by adding an </a:t>
            </a:r>
            <a:r>
              <a:rPr lang="en-US" sz="1800" b="1" dirty="0"/>
              <a:t>ORDER BY</a:t>
            </a:r>
            <a:r>
              <a:rPr lang="en-US" sz="1800" dirty="0"/>
              <a:t> clause that names the column or columns which you want to sort.</a:t>
            </a:r>
          </a:p>
          <a:p>
            <a:pPr>
              <a:lnSpc>
                <a:spcPct val="100000"/>
              </a:lnSpc>
            </a:pPr>
            <a:r>
              <a:rPr lang="en-US" sz="1800" dirty="0"/>
              <a:t>The generic syntax for ORDER BY clause is:</a:t>
            </a:r>
          </a:p>
          <a:p>
            <a:pPr>
              <a:lnSpc>
                <a:spcPct val="100000"/>
              </a:lnSpc>
            </a:pPr>
            <a:endParaRPr lang="en-US" sz="1800" dirty="0"/>
          </a:p>
          <a:p>
            <a:pPr>
              <a:lnSpc>
                <a:spcPct val="100000"/>
              </a:lnSpc>
            </a:pPr>
            <a:endParaRPr lang="en-US" sz="1800" dirty="0"/>
          </a:p>
          <a:p>
            <a:pPr>
              <a:lnSpc>
                <a:spcPct val="100000"/>
              </a:lnSpc>
            </a:pPr>
            <a:r>
              <a:rPr lang="en-US" sz="1800" dirty="0"/>
              <a:t>In the above ASC = Ascending; DESC = Descending.</a:t>
            </a:r>
          </a:p>
          <a:p>
            <a:pPr>
              <a:lnSpc>
                <a:spcPct val="100000"/>
              </a:lnSpc>
            </a:pPr>
            <a:r>
              <a:rPr lang="en-US" sz="1800" dirty="0"/>
              <a:t>Insert two more records with your preferred data. Then execute the following to see the result:</a:t>
            </a:r>
          </a:p>
          <a:p>
            <a:pPr>
              <a:lnSpc>
                <a:spcPct val="100000"/>
              </a:lnSpc>
            </a:pPr>
            <a:endParaRPr lang="en-US" sz="1800" dirty="0"/>
          </a:p>
          <a:p>
            <a:pPr>
              <a:lnSpc>
                <a:spcPct val="100000"/>
              </a:lnSpc>
            </a:pPr>
            <a:endParaRPr lang="en-GB" sz="1800" dirty="0"/>
          </a:p>
        </p:txBody>
      </p:sp>
      <p:sp>
        <p:nvSpPr>
          <p:cNvPr id="4" name="Slide Number Placeholder 3">
            <a:extLst>
              <a:ext uri="{FF2B5EF4-FFF2-40B4-BE49-F238E27FC236}">
                <a16:creationId xmlns:a16="http://schemas.microsoft.com/office/drawing/2014/main" id="{1DD09278-10F8-4B11-BD9C-965DCB3FD1AD}"/>
              </a:ext>
            </a:extLst>
          </p:cNvPr>
          <p:cNvSpPr>
            <a:spLocks noGrp="1"/>
          </p:cNvSpPr>
          <p:nvPr>
            <p:ph type="sldNum" sz="quarter" idx="12"/>
          </p:nvPr>
        </p:nvSpPr>
        <p:spPr/>
        <p:txBody>
          <a:bodyPr/>
          <a:lstStyle/>
          <a:p>
            <a:fld id="{8E9E4023-6F3A-457B-B0BB-8C1F114B424F}" type="slidenum">
              <a:rPr lang="en-SG" smtClean="0"/>
              <a:t>46</a:t>
            </a:fld>
            <a:endParaRPr lang="en-SG"/>
          </a:p>
        </p:txBody>
      </p:sp>
      <p:sp>
        <p:nvSpPr>
          <p:cNvPr id="5" name="Rectangle 4">
            <a:extLst>
              <a:ext uri="{FF2B5EF4-FFF2-40B4-BE49-F238E27FC236}">
                <a16:creationId xmlns:a16="http://schemas.microsoft.com/office/drawing/2014/main" id="{F9B176B5-8B73-4EEB-9EE0-301D31652448}"/>
              </a:ext>
            </a:extLst>
          </p:cNvPr>
          <p:cNvSpPr/>
          <p:nvPr/>
        </p:nvSpPr>
        <p:spPr>
          <a:xfrm>
            <a:off x="2681374" y="3880485"/>
            <a:ext cx="7008688" cy="5904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Courier"/>
              </a:rPr>
              <a:t>SELECT field1, field2, field3,… FROM database.table1, database.table2,…</a:t>
            </a:r>
          </a:p>
          <a:p>
            <a:pPr algn="ctr"/>
            <a:r>
              <a:rPr lang="en-GB" sz="1200" b="1" dirty="0">
                <a:latin typeface="Courier"/>
              </a:rPr>
              <a:t>ORDER BY field1, field2,… [ASC | DESC];</a:t>
            </a:r>
          </a:p>
        </p:txBody>
      </p:sp>
      <p:sp>
        <p:nvSpPr>
          <p:cNvPr id="6" name="Rectangle 5">
            <a:extLst>
              <a:ext uri="{FF2B5EF4-FFF2-40B4-BE49-F238E27FC236}">
                <a16:creationId xmlns:a16="http://schemas.microsoft.com/office/drawing/2014/main" id="{B5E42307-1C19-46D2-87F9-5D4132EDE67D}"/>
              </a:ext>
            </a:extLst>
          </p:cNvPr>
          <p:cNvSpPr/>
          <p:nvPr/>
        </p:nvSpPr>
        <p:spPr>
          <a:xfrm>
            <a:off x="3377825" y="5506986"/>
            <a:ext cx="5615786" cy="412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Courier"/>
              </a:rPr>
              <a:t>SELECT * FROM my_database.tutorials ORDER BY author ASC;</a:t>
            </a:r>
          </a:p>
        </p:txBody>
      </p:sp>
    </p:spTree>
    <p:extLst>
      <p:ext uri="{BB962C8B-B14F-4D97-AF65-F5344CB8AC3E}">
        <p14:creationId xmlns:p14="http://schemas.microsoft.com/office/powerpoint/2010/main" val="32558371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Normalization (1NF, 2NF)</a:t>
            </a:r>
            <a:endParaRPr lang="en-GB" dirty="0"/>
          </a:p>
        </p:txBody>
      </p:sp>
      <p:sp>
        <p:nvSpPr>
          <p:cNvPr id="3" name="Text Placeholder 2"/>
          <p:cNvSpPr>
            <a:spLocks noGrp="1"/>
          </p:cNvSpPr>
          <p:nvPr>
            <p:ph type="body" idx="1"/>
          </p:nvPr>
        </p:nvSpPr>
        <p:spPr/>
        <p:txBody>
          <a:bodyPr/>
          <a:lstStyle/>
          <a:p>
            <a:endParaRPr lang="en-GB"/>
          </a:p>
        </p:txBody>
      </p:sp>
      <p:sp>
        <p:nvSpPr>
          <p:cNvPr id="5" name="Slide Number Placeholder 4"/>
          <p:cNvSpPr>
            <a:spLocks noGrp="1"/>
          </p:cNvSpPr>
          <p:nvPr>
            <p:ph type="sldNum" sz="quarter" idx="12"/>
          </p:nvPr>
        </p:nvSpPr>
        <p:spPr/>
        <p:txBody>
          <a:bodyPr/>
          <a:lstStyle/>
          <a:p>
            <a:fld id="{0FF54DE5-C571-48E8-A5BC-B369434E2F44}" type="slidenum">
              <a:rPr lang="uk-UA" smtClean="0"/>
              <a:t>47</a:t>
            </a:fld>
            <a:endParaRPr lang="uk-UA"/>
          </a:p>
        </p:txBody>
      </p:sp>
    </p:spTree>
    <p:extLst>
      <p:ext uri="{BB962C8B-B14F-4D97-AF65-F5344CB8AC3E}">
        <p14:creationId xmlns:p14="http://schemas.microsoft.com/office/powerpoint/2010/main" val="463243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E383E-A158-4508-B106-AF766DAEC8C4}"/>
              </a:ext>
            </a:extLst>
          </p:cNvPr>
          <p:cNvSpPr>
            <a:spLocks noGrp="1"/>
          </p:cNvSpPr>
          <p:nvPr>
            <p:ph type="title"/>
          </p:nvPr>
        </p:nvSpPr>
        <p:spPr/>
        <p:txBody>
          <a:bodyPr/>
          <a:lstStyle/>
          <a:p>
            <a:r>
              <a:rPr lang="en-SG" dirty="0"/>
              <a:t>First Normal Form (1NF)</a:t>
            </a:r>
          </a:p>
        </p:txBody>
      </p:sp>
      <p:sp>
        <p:nvSpPr>
          <p:cNvPr id="3" name="Content Placeholder 2">
            <a:extLst>
              <a:ext uri="{FF2B5EF4-FFF2-40B4-BE49-F238E27FC236}">
                <a16:creationId xmlns:a16="http://schemas.microsoft.com/office/drawing/2014/main" id="{6ED1D999-B07C-41C8-BEF2-ACE4A5EC155B}"/>
              </a:ext>
            </a:extLst>
          </p:cNvPr>
          <p:cNvSpPr>
            <a:spLocks noGrp="1"/>
          </p:cNvSpPr>
          <p:nvPr>
            <p:ph idx="1"/>
          </p:nvPr>
        </p:nvSpPr>
        <p:spPr/>
        <p:txBody>
          <a:bodyPr/>
          <a:lstStyle/>
          <a:p>
            <a:r>
              <a:rPr lang="en-SG" dirty="0"/>
              <a:t>The database table is in first normal form only if the domain of each attribute contains a single value</a:t>
            </a:r>
          </a:p>
        </p:txBody>
      </p:sp>
      <p:sp>
        <p:nvSpPr>
          <p:cNvPr id="4" name="Slide Number Placeholder 3">
            <a:extLst>
              <a:ext uri="{FF2B5EF4-FFF2-40B4-BE49-F238E27FC236}">
                <a16:creationId xmlns:a16="http://schemas.microsoft.com/office/drawing/2014/main" id="{2B3C36E0-EC63-4D1C-BD8C-7A6C38FA5F7C}"/>
              </a:ext>
            </a:extLst>
          </p:cNvPr>
          <p:cNvSpPr>
            <a:spLocks noGrp="1"/>
          </p:cNvSpPr>
          <p:nvPr>
            <p:ph type="sldNum" sz="quarter" idx="12"/>
          </p:nvPr>
        </p:nvSpPr>
        <p:spPr/>
        <p:txBody>
          <a:bodyPr/>
          <a:lstStyle/>
          <a:p>
            <a:fld id="{8E9E4023-6F3A-457B-B0BB-8C1F114B424F}" type="slidenum">
              <a:rPr lang="en-SG" smtClean="0"/>
              <a:t>48</a:t>
            </a:fld>
            <a:endParaRPr lang="en-SG"/>
          </a:p>
        </p:txBody>
      </p:sp>
      <p:graphicFrame>
        <p:nvGraphicFramePr>
          <p:cNvPr id="5" name="Table 4">
            <a:extLst>
              <a:ext uri="{FF2B5EF4-FFF2-40B4-BE49-F238E27FC236}">
                <a16:creationId xmlns:a16="http://schemas.microsoft.com/office/drawing/2014/main" id="{42C9383B-3AE4-473D-8311-5C287920EFB3}"/>
              </a:ext>
            </a:extLst>
          </p:cNvPr>
          <p:cNvGraphicFramePr>
            <a:graphicFrameLocks noGrp="1"/>
          </p:cNvGraphicFramePr>
          <p:nvPr>
            <p:extLst>
              <p:ext uri="{D42A27DB-BD31-4B8C-83A1-F6EECF244321}">
                <p14:modId xmlns:p14="http://schemas.microsoft.com/office/powerpoint/2010/main" val="208227022"/>
              </p:ext>
            </p:extLst>
          </p:nvPr>
        </p:nvGraphicFramePr>
        <p:xfrm>
          <a:off x="1306786" y="2872740"/>
          <a:ext cx="8128000" cy="111252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082247529"/>
                    </a:ext>
                  </a:extLst>
                </a:gridCol>
                <a:gridCol w="1625600">
                  <a:extLst>
                    <a:ext uri="{9D8B030D-6E8A-4147-A177-3AD203B41FA5}">
                      <a16:colId xmlns:a16="http://schemas.microsoft.com/office/drawing/2014/main" val="1282738096"/>
                    </a:ext>
                  </a:extLst>
                </a:gridCol>
                <a:gridCol w="1625600">
                  <a:extLst>
                    <a:ext uri="{9D8B030D-6E8A-4147-A177-3AD203B41FA5}">
                      <a16:colId xmlns:a16="http://schemas.microsoft.com/office/drawing/2014/main" val="4256518892"/>
                    </a:ext>
                  </a:extLst>
                </a:gridCol>
                <a:gridCol w="3251200">
                  <a:extLst>
                    <a:ext uri="{9D8B030D-6E8A-4147-A177-3AD203B41FA5}">
                      <a16:colId xmlns:a16="http://schemas.microsoft.com/office/drawing/2014/main" val="82126243"/>
                    </a:ext>
                  </a:extLst>
                </a:gridCol>
              </a:tblGrid>
              <a:tr h="370840">
                <a:tc>
                  <a:txBody>
                    <a:bodyPr/>
                    <a:lstStyle/>
                    <a:p>
                      <a:r>
                        <a:rPr lang="en-SG" dirty="0" err="1"/>
                        <a:t>EmployeeID</a:t>
                      </a:r>
                      <a:endParaRPr lang="en-SG" dirty="0"/>
                    </a:p>
                  </a:txBody>
                  <a:tcPr/>
                </a:tc>
                <a:tc>
                  <a:txBody>
                    <a:bodyPr/>
                    <a:lstStyle/>
                    <a:p>
                      <a:r>
                        <a:rPr lang="en-SG" dirty="0"/>
                        <a:t>FirstName</a:t>
                      </a:r>
                    </a:p>
                  </a:txBody>
                  <a:tcPr/>
                </a:tc>
                <a:tc>
                  <a:txBody>
                    <a:bodyPr/>
                    <a:lstStyle/>
                    <a:p>
                      <a:r>
                        <a:rPr lang="en-SG" dirty="0" err="1"/>
                        <a:t>LastName</a:t>
                      </a:r>
                      <a:endParaRPr lang="en-SG" dirty="0"/>
                    </a:p>
                  </a:txBody>
                  <a:tcPr/>
                </a:tc>
                <a:tc>
                  <a:txBody>
                    <a:bodyPr/>
                    <a:lstStyle/>
                    <a:p>
                      <a:r>
                        <a:rPr lang="en-SG" dirty="0" err="1"/>
                        <a:t>ContactNumber</a:t>
                      </a:r>
                      <a:endParaRPr lang="en-SG" dirty="0"/>
                    </a:p>
                  </a:txBody>
                  <a:tcPr/>
                </a:tc>
                <a:extLst>
                  <a:ext uri="{0D108BD9-81ED-4DB2-BD59-A6C34878D82A}">
                    <a16:rowId xmlns:a16="http://schemas.microsoft.com/office/drawing/2014/main" val="3155168419"/>
                  </a:ext>
                </a:extLst>
              </a:tr>
              <a:tr h="370840">
                <a:tc>
                  <a:txBody>
                    <a:bodyPr/>
                    <a:lstStyle/>
                    <a:p>
                      <a:r>
                        <a:rPr lang="en-SG" dirty="0"/>
                        <a:t>1</a:t>
                      </a:r>
                    </a:p>
                  </a:txBody>
                  <a:tcPr/>
                </a:tc>
                <a:tc>
                  <a:txBody>
                    <a:bodyPr/>
                    <a:lstStyle/>
                    <a:p>
                      <a:r>
                        <a:rPr lang="en-SG" dirty="0"/>
                        <a:t>Susan</a:t>
                      </a:r>
                    </a:p>
                  </a:txBody>
                  <a:tcPr/>
                </a:tc>
                <a:tc>
                  <a:txBody>
                    <a:bodyPr/>
                    <a:lstStyle/>
                    <a:p>
                      <a:r>
                        <a:rPr lang="en-SG" dirty="0"/>
                        <a:t>Tan</a:t>
                      </a:r>
                    </a:p>
                  </a:txBody>
                  <a:tcPr/>
                </a:tc>
                <a:tc>
                  <a:txBody>
                    <a:bodyPr/>
                    <a:lstStyle/>
                    <a:p>
                      <a:r>
                        <a:rPr lang="en-SG" dirty="0"/>
                        <a:t>91800000, 67811111</a:t>
                      </a:r>
                    </a:p>
                  </a:txBody>
                  <a:tcPr/>
                </a:tc>
                <a:extLst>
                  <a:ext uri="{0D108BD9-81ED-4DB2-BD59-A6C34878D82A}">
                    <a16:rowId xmlns:a16="http://schemas.microsoft.com/office/drawing/2014/main" val="895290971"/>
                  </a:ext>
                </a:extLst>
              </a:tr>
              <a:tr h="370840">
                <a:tc>
                  <a:txBody>
                    <a:bodyPr/>
                    <a:lstStyle/>
                    <a:p>
                      <a:r>
                        <a:rPr lang="en-SG" dirty="0"/>
                        <a:t>2</a:t>
                      </a:r>
                    </a:p>
                  </a:txBody>
                  <a:tcPr/>
                </a:tc>
                <a:tc>
                  <a:txBody>
                    <a:bodyPr/>
                    <a:lstStyle/>
                    <a:p>
                      <a:r>
                        <a:rPr lang="en-SG" dirty="0"/>
                        <a:t>Peter</a:t>
                      </a:r>
                    </a:p>
                  </a:txBody>
                  <a:tcPr/>
                </a:tc>
                <a:tc>
                  <a:txBody>
                    <a:bodyPr/>
                    <a:lstStyle/>
                    <a:p>
                      <a:r>
                        <a:rPr lang="en-SG" dirty="0"/>
                        <a:t>Davidson</a:t>
                      </a:r>
                    </a:p>
                  </a:txBody>
                  <a:tcPr/>
                </a:tc>
                <a:tc>
                  <a:txBody>
                    <a:bodyPr/>
                    <a:lstStyle/>
                    <a:p>
                      <a:r>
                        <a:rPr lang="en-SG" dirty="0"/>
                        <a:t>92822222, 67811112</a:t>
                      </a:r>
                    </a:p>
                  </a:txBody>
                  <a:tcPr/>
                </a:tc>
                <a:extLst>
                  <a:ext uri="{0D108BD9-81ED-4DB2-BD59-A6C34878D82A}">
                    <a16:rowId xmlns:a16="http://schemas.microsoft.com/office/drawing/2014/main" val="3727486187"/>
                  </a:ext>
                </a:extLst>
              </a:tr>
            </a:tbl>
          </a:graphicData>
        </a:graphic>
      </p:graphicFrame>
      <p:graphicFrame>
        <p:nvGraphicFramePr>
          <p:cNvPr id="6" name="Table 5">
            <a:extLst>
              <a:ext uri="{FF2B5EF4-FFF2-40B4-BE49-F238E27FC236}">
                <a16:creationId xmlns:a16="http://schemas.microsoft.com/office/drawing/2014/main" id="{8E17A35D-B886-49FF-B4AD-8B5B9396BFC8}"/>
              </a:ext>
            </a:extLst>
          </p:cNvPr>
          <p:cNvGraphicFramePr>
            <a:graphicFrameLocks noGrp="1"/>
          </p:cNvGraphicFramePr>
          <p:nvPr>
            <p:extLst>
              <p:ext uri="{D42A27DB-BD31-4B8C-83A1-F6EECF244321}">
                <p14:modId xmlns:p14="http://schemas.microsoft.com/office/powerpoint/2010/main" val="2662913376"/>
              </p:ext>
            </p:extLst>
          </p:nvPr>
        </p:nvGraphicFramePr>
        <p:xfrm>
          <a:off x="1306786" y="4535806"/>
          <a:ext cx="8128000" cy="111252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082247529"/>
                    </a:ext>
                  </a:extLst>
                </a:gridCol>
                <a:gridCol w="1625600">
                  <a:extLst>
                    <a:ext uri="{9D8B030D-6E8A-4147-A177-3AD203B41FA5}">
                      <a16:colId xmlns:a16="http://schemas.microsoft.com/office/drawing/2014/main" val="1282738096"/>
                    </a:ext>
                  </a:extLst>
                </a:gridCol>
                <a:gridCol w="1220645">
                  <a:extLst>
                    <a:ext uri="{9D8B030D-6E8A-4147-A177-3AD203B41FA5}">
                      <a16:colId xmlns:a16="http://schemas.microsoft.com/office/drawing/2014/main" val="4256518892"/>
                    </a:ext>
                  </a:extLst>
                </a:gridCol>
                <a:gridCol w="1875934">
                  <a:extLst>
                    <a:ext uri="{9D8B030D-6E8A-4147-A177-3AD203B41FA5}">
                      <a16:colId xmlns:a16="http://schemas.microsoft.com/office/drawing/2014/main" val="82126243"/>
                    </a:ext>
                  </a:extLst>
                </a:gridCol>
                <a:gridCol w="1780221">
                  <a:extLst>
                    <a:ext uri="{9D8B030D-6E8A-4147-A177-3AD203B41FA5}">
                      <a16:colId xmlns:a16="http://schemas.microsoft.com/office/drawing/2014/main" val="3510363047"/>
                    </a:ext>
                  </a:extLst>
                </a:gridCol>
              </a:tblGrid>
              <a:tr h="370840">
                <a:tc>
                  <a:txBody>
                    <a:bodyPr/>
                    <a:lstStyle/>
                    <a:p>
                      <a:r>
                        <a:rPr lang="en-SG" dirty="0" err="1"/>
                        <a:t>EmployeeID</a:t>
                      </a:r>
                      <a:endParaRPr lang="en-SG" dirty="0"/>
                    </a:p>
                  </a:txBody>
                  <a:tcPr/>
                </a:tc>
                <a:tc>
                  <a:txBody>
                    <a:bodyPr/>
                    <a:lstStyle/>
                    <a:p>
                      <a:r>
                        <a:rPr lang="en-SG" dirty="0"/>
                        <a:t>FirstName</a:t>
                      </a:r>
                    </a:p>
                  </a:txBody>
                  <a:tcPr/>
                </a:tc>
                <a:tc>
                  <a:txBody>
                    <a:bodyPr/>
                    <a:lstStyle/>
                    <a:p>
                      <a:r>
                        <a:rPr lang="en-SG" dirty="0" err="1"/>
                        <a:t>LastName</a:t>
                      </a:r>
                      <a:endParaRPr lang="en-SG" dirty="0"/>
                    </a:p>
                  </a:txBody>
                  <a:tcPr/>
                </a:tc>
                <a:tc>
                  <a:txBody>
                    <a:bodyPr/>
                    <a:lstStyle/>
                    <a:p>
                      <a:r>
                        <a:rPr lang="en-SG" dirty="0"/>
                        <a:t>ContactNumber1</a:t>
                      </a:r>
                    </a:p>
                  </a:txBody>
                  <a:tcPr/>
                </a:tc>
                <a:tc>
                  <a:txBody>
                    <a:bodyPr/>
                    <a:lstStyle/>
                    <a:p>
                      <a:r>
                        <a:rPr lang="en-SG" dirty="0"/>
                        <a:t>ContacNumber2</a:t>
                      </a:r>
                    </a:p>
                  </a:txBody>
                  <a:tcPr/>
                </a:tc>
                <a:extLst>
                  <a:ext uri="{0D108BD9-81ED-4DB2-BD59-A6C34878D82A}">
                    <a16:rowId xmlns:a16="http://schemas.microsoft.com/office/drawing/2014/main" val="3155168419"/>
                  </a:ext>
                </a:extLst>
              </a:tr>
              <a:tr h="370840">
                <a:tc>
                  <a:txBody>
                    <a:bodyPr/>
                    <a:lstStyle/>
                    <a:p>
                      <a:r>
                        <a:rPr lang="en-SG" dirty="0"/>
                        <a:t>1</a:t>
                      </a:r>
                    </a:p>
                  </a:txBody>
                  <a:tcPr/>
                </a:tc>
                <a:tc>
                  <a:txBody>
                    <a:bodyPr/>
                    <a:lstStyle/>
                    <a:p>
                      <a:r>
                        <a:rPr lang="en-SG" dirty="0"/>
                        <a:t>Susan</a:t>
                      </a:r>
                    </a:p>
                  </a:txBody>
                  <a:tcPr/>
                </a:tc>
                <a:tc>
                  <a:txBody>
                    <a:bodyPr/>
                    <a:lstStyle/>
                    <a:p>
                      <a:r>
                        <a:rPr lang="en-SG" dirty="0"/>
                        <a:t>Tan</a:t>
                      </a:r>
                    </a:p>
                  </a:txBody>
                  <a:tcPr/>
                </a:tc>
                <a:tc>
                  <a:txBody>
                    <a:bodyPr/>
                    <a:lstStyle/>
                    <a:p>
                      <a:r>
                        <a:rPr lang="en-SG" dirty="0"/>
                        <a:t>91800000</a:t>
                      </a:r>
                    </a:p>
                  </a:txBody>
                  <a:tcPr/>
                </a:tc>
                <a:tc>
                  <a:txBody>
                    <a:bodyPr/>
                    <a:lstStyle/>
                    <a:p>
                      <a:r>
                        <a:rPr lang="en-SG" dirty="0"/>
                        <a:t>67811111</a:t>
                      </a:r>
                    </a:p>
                  </a:txBody>
                  <a:tcPr/>
                </a:tc>
                <a:extLst>
                  <a:ext uri="{0D108BD9-81ED-4DB2-BD59-A6C34878D82A}">
                    <a16:rowId xmlns:a16="http://schemas.microsoft.com/office/drawing/2014/main" val="895290971"/>
                  </a:ext>
                </a:extLst>
              </a:tr>
              <a:tr h="370840">
                <a:tc>
                  <a:txBody>
                    <a:bodyPr/>
                    <a:lstStyle/>
                    <a:p>
                      <a:r>
                        <a:rPr lang="en-SG" dirty="0"/>
                        <a:t>2</a:t>
                      </a:r>
                    </a:p>
                  </a:txBody>
                  <a:tcPr/>
                </a:tc>
                <a:tc>
                  <a:txBody>
                    <a:bodyPr/>
                    <a:lstStyle/>
                    <a:p>
                      <a:r>
                        <a:rPr lang="en-SG" dirty="0"/>
                        <a:t>Peter</a:t>
                      </a:r>
                    </a:p>
                  </a:txBody>
                  <a:tcPr/>
                </a:tc>
                <a:tc>
                  <a:txBody>
                    <a:bodyPr/>
                    <a:lstStyle/>
                    <a:p>
                      <a:r>
                        <a:rPr lang="en-SG" dirty="0"/>
                        <a:t>Davidson</a:t>
                      </a:r>
                    </a:p>
                  </a:txBody>
                  <a:tcPr/>
                </a:tc>
                <a:tc>
                  <a:txBody>
                    <a:bodyPr/>
                    <a:lstStyle/>
                    <a:p>
                      <a:r>
                        <a:rPr lang="en-SG" dirty="0"/>
                        <a:t>92822222</a:t>
                      </a:r>
                    </a:p>
                  </a:txBody>
                  <a:tcPr/>
                </a:tc>
                <a:tc>
                  <a:txBody>
                    <a:bodyPr/>
                    <a:lstStyle/>
                    <a:p>
                      <a:r>
                        <a:rPr lang="en-SG" dirty="0"/>
                        <a:t>67811112</a:t>
                      </a:r>
                    </a:p>
                  </a:txBody>
                  <a:tcPr/>
                </a:tc>
                <a:extLst>
                  <a:ext uri="{0D108BD9-81ED-4DB2-BD59-A6C34878D82A}">
                    <a16:rowId xmlns:a16="http://schemas.microsoft.com/office/drawing/2014/main" val="3727486187"/>
                  </a:ext>
                </a:extLst>
              </a:tr>
            </a:tbl>
          </a:graphicData>
        </a:graphic>
      </p:graphicFrame>
      <p:sp>
        <p:nvSpPr>
          <p:cNvPr id="13" name="Speech Bubble: Rectangle 12">
            <a:extLst>
              <a:ext uri="{FF2B5EF4-FFF2-40B4-BE49-F238E27FC236}">
                <a16:creationId xmlns:a16="http://schemas.microsoft.com/office/drawing/2014/main" id="{19A8B47C-8FC0-417C-9DB8-6ACD26C12E0D}"/>
              </a:ext>
            </a:extLst>
          </p:cNvPr>
          <p:cNvSpPr/>
          <p:nvPr/>
        </p:nvSpPr>
        <p:spPr>
          <a:xfrm>
            <a:off x="9672272" y="4150612"/>
            <a:ext cx="968054" cy="392343"/>
          </a:xfrm>
          <a:prstGeom prst="wedgeRectCallout">
            <a:avLst>
              <a:gd name="adj1" fmla="val -66397"/>
              <a:gd name="adj2" fmla="val 130456"/>
            </a:avLst>
          </a:prstGeom>
          <a:solidFill>
            <a:schemeClr val="accent5"/>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t>1NF ?</a:t>
            </a:r>
          </a:p>
        </p:txBody>
      </p:sp>
    </p:spTree>
    <p:extLst>
      <p:ext uri="{BB962C8B-B14F-4D97-AF65-F5344CB8AC3E}">
        <p14:creationId xmlns:p14="http://schemas.microsoft.com/office/powerpoint/2010/main" val="14832134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E383E-A158-4508-B106-AF766DAEC8C4}"/>
              </a:ext>
            </a:extLst>
          </p:cNvPr>
          <p:cNvSpPr>
            <a:spLocks noGrp="1"/>
          </p:cNvSpPr>
          <p:nvPr>
            <p:ph type="title"/>
          </p:nvPr>
        </p:nvSpPr>
        <p:spPr/>
        <p:txBody>
          <a:bodyPr/>
          <a:lstStyle/>
          <a:p>
            <a:r>
              <a:rPr lang="en-SG" dirty="0"/>
              <a:t>First Normal Form (1NF)</a:t>
            </a:r>
          </a:p>
        </p:txBody>
      </p:sp>
      <p:sp>
        <p:nvSpPr>
          <p:cNvPr id="3" name="Content Placeholder 2">
            <a:extLst>
              <a:ext uri="{FF2B5EF4-FFF2-40B4-BE49-F238E27FC236}">
                <a16:creationId xmlns:a16="http://schemas.microsoft.com/office/drawing/2014/main" id="{6ED1D999-B07C-41C8-BEF2-ACE4A5EC155B}"/>
              </a:ext>
            </a:extLst>
          </p:cNvPr>
          <p:cNvSpPr>
            <a:spLocks noGrp="1"/>
          </p:cNvSpPr>
          <p:nvPr>
            <p:ph idx="1"/>
          </p:nvPr>
        </p:nvSpPr>
        <p:spPr/>
        <p:txBody>
          <a:bodyPr/>
          <a:lstStyle/>
          <a:p>
            <a:r>
              <a:rPr lang="en-SG" dirty="0"/>
              <a:t>But what if employees have more than 2 contact numbers? Should there be a limit to how many contact numbers an employee can have?</a:t>
            </a:r>
          </a:p>
        </p:txBody>
      </p:sp>
      <p:sp>
        <p:nvSpPr>
          <p:cNvPr id="4" name="Slide Number Placeholder 3">
            <a:extLst>
              <a:ext uri="{FF2B5EF4-FFF2-40B4-BE49-F238E27FC236}">
                <a16:creationId xmlns:a16="http://schemas.microsoft.com/office/drawing/2014/main" id="{2B3C36E0-EC63-4D1C-BD8C-7A6C38FA5F7C}"/>
              </a:ext>
            </a:extLst>
          </p:cNvPr>
          <p:cNvSpPr>
            <a:spLocks noGrp="1"/>
          </p:cNvSpPr>
          <p:nvPr>
            <p:ph type="sldNum" sz="quarter" idx="12"/>
          </p:nvPr>
        </p:nvSpPr>
        <p:spPr/>
        <p:txBody>
          <a:bodyPr/>
          <a:lstStyle/>
          <a:p>
            <a:fld id="{8E9E4023-6F3A-457B-B0BB-8C1F114B424F}" type="slidenum">
              <a:rPr lang="en-SG" smtClean="0"/>
              <a:t>49</a:t>
            </a:fld>
            <a:endParaRPr lang="en-SG"/>
          </a:p>
        </p:txBody>
      </p:sp>
      <p:graphicFrame>
        <p:nvGraphicFramePr>
          <p:cNvPr id="5" name="Table 4">
            <a:extLst>
              <a:ext uri="{FF2B5EF4-FFF2-40B4-BE49-F238E27FC236}">
                <a16:creationId xmlns:a16="http://schemas.microsoft.com/office/drawing/2014/main" id="{42C9383B-3AE4-473D-8311-5C287920EFB3}"/>
              </a:ext>
            </a:extLst>
          </p:cNvPr>
          <p:cNvGraphicFramePr>
            <a:graphicFrameLocks noGrp="1"/>
          </p:cNvGraphicFramePr>
          <p:nvPr>
            <p:extLst>
              <p:ext uri="{D42A27DB-BD31-4B8C-83A1-F6EECF244321}">
                <p14:modId xmlns:p14="http://schemas.microsoft.com/office/powerpoint/2010/main" val="3516164010"/>
              </p:ext>
            </p:extLst>
          </p:nvPr>
        </p:nvGraphicFramePr>
        <p:xfrm>
          <a:off x="1297696" y="4022529"/>
          <a:ext cx="4179277" cy="1112520"/>
        </p:xfrm>
        <a:graphic>
          <a:graphicData uri="http://schemas.openxmlformats.org/drawingml/2006/table">
            <a:tbl>
              <a:tblPr firstRow="1" bandRow="1">
                <a:tableStyleId>{5C22544A-7EE6-4342-B048-85BDC9FD1C3A}</a:tableStyleId>
              </a:tblPr>
              <a:tblGrid>
                <a:gridCol w="1454931">
                  <a:extLst>
                    <a:ext uri="{9D8B030D-6E8A-4147-A177-3AD203B41FA5}">
                      <a16:colId xmlns:a16="http://schemas.microsoft.com/office/drawing/2014/main" val="3082247529"/>
                    </a:ext>
                  </a:extLst>
                </a:gridCol>
                <a:gridCol w="1272619">
                  <a:extLst>
                    <a:ext uri="{9D8B030D-6E8A-4147-A177-3AD203B41FA5}">
                      <a16:colId xmlns:a16="http://schemas.microsoft.com/office/drawing/2014/main" val="1282738096"/>
                    </a:ext>
                  </a:extLst>
                </a:gridCol>
                <a:gridCol w="1451727">
                  <a:extLst>
                    <a:ext uri="{9D8B030D-6E8A-4147-A177-3AD203B41FA5}">
                      <a16:colId xmlns:a16="http://schemas.microsoft.com/office/drawing/2014/main" val="4256518892"/>
                    </a:ext>
                  </a:extLst>
                </a:gridCol>
              </a:tblGrid>
              <a:tr h="370840">
                <a:tc>
                  <a:txBody>
                    <a:bodyPr/>
                    <a:lstStyle/>
                    <a:p>
                      <a:r>
                        <a:rPr lang="en-SG" dirty="0" err="1"/>
                        <a:t>EmployeeID</a:t>
                      </a:r>
                      <a:endParaRPr lang="en-SG" dirty="0"/>
                    </a:p>
                  </a:txBody>
                  <a:tcPr/>
                </a:tc>
                <a:tc>
                  <a:txBody>
                    <a:bodyPr/>
                    <a:lstStyle/>
                    <a:p>
                      <a:r>
                        <a:rPr lang="en-SG" dirty="0"/>
                        <a:t>FirstName</a:t>
                      </a:r>
                    </a:p>
                  </a:txBody>
                  <a:tcPr/>
                </a:tc>
                <a:tc>
                  <a:txBody>
                    <a:bodyPr/>
                    <a:lstStyle/>
                    <a:p>
                      <a:r>
                        <a:rPr lang="en-SG" dirty="0" err="1"/>
                        <a:t>LastName</a:t>
                      </a:r>
                      <a:endParaRPr lang="en-SG" dirty="0"/>
                    </a:p>
                  </a:txBody>
                  <a:tcPr/>
                </a:tc>
                <a:extLst>
                  <a:ext uri="{0D108BD9-81ED-4DB2-BD59-A6C34878D82A}">
                    <a16:rowId xmlns:a16="http://schemas.microsoft.com/office/drawing/2014/main" val="3155168419"/>
                  </a:ext>
                </a:extLst>
              </a:tr>
              <a:tr h="370840">
                <a:tc>
                  <a:txBody>
                    <a:bodyPr/>
                    <a:lstStyle/>
                    <a:p>
                      <a:r>
                        <a:rPr lang="en-SG" dirty="0"/>
                        <a:t>1</a:t>
                      </a:r>
                    </a:p>
                  </a:txBody>
                  <a:tcPr/>
                </a:tc>
                <a:tc>
                  <a:txBody>
                    <a:bodyPr/>
                    <a:lstStyle/>
                    <a:p>
                      <a:r>
                        <a:rPr lang="en-SG" dirty="0"/>
                        <a:t>Susan</a:t>
                      </a:r>
                    </a:p>
                  </a:txBody>
                  <a:tcPr/>
                </a:tc>
                <a:tc>
                  <a:txBody>
                    <a:bodyPr/>
                    <a:lstStyle/>
                    <a:p>
                      <a:r>
                        <a:rPr lang="en-SG" dirty="0"/>
                        <a:t>Tan</a:t>
                      </a:r>
                    </a:p>
                  </a:txBody>
                  <a:tcPr/>
                </a:tc>
                <a:extLst>
                  <a:ext uri="{0D108BD9-81ED-4DB2-BD59-A6C34878D82A}">
                    <a16:rowId xmlns:a16="http://schemas.microsoft.com/office/drawing/2014/main" val="895290971"/>
                  </a:ext>
                </a:extLst>
              </a:tr>
              <a:tr h="370840">
                <a:tc>
                  <a:txBody>
                    <a:bodyPr/>
                    <a:lstStyle/>
                    <a:p>
                      <a:r>
                        <a:rPr lang="en-SG" dirty="0"/>
                        <a:t>2</a:t>
                      </a:r>
                    </a:p>
                  </a:txBody>
                  <a:tcPr/>
                </a:tc>
                <a:tc>
                  <a:txBody>
                    <a:bodyPr/>
                    <a:lstStyle/>
                    <a:p>
                      <a:r>
                        <a:rPr lang="en-SG" dirty="0"/>
                        <a:t>Peter</a:t>
                      </a:r>
                    </a:p>
                  </a:txBody>
                  <a:tcPr/>
                </a:tc>
                <a:tc>
                  <a:txBody>
                    <a:bodyPr/>
                    <a:lstStyle/>
                    <a:p>
                      <a:r>
                        <a:rPr lang="en-SG" dirty="0"/>
                        <a:t>Davidson</a:t>
                      </a:r>
                    </a:p>
                  </a:txBody>
                  <a:tcPr/>
                </a:tc>
                <a:extLst>
                  <a:ext uri="{0D108BD9-81ED-4DB2-BD59-A6C34878D82A}">
                    <a16:rowId xmlns:a16="http://schemas.microsoft.com/office/drawing/2014/main" val="3727486187"/>
                  </a:ext>
                </a:extLst>
              </a:tr>
            </a:tbl>
          </a:graphicData>
        </a:graphic>
      </p:graphicFrame>
      <p:graphicFrame>
        <p:nvGraphicFramePr>
          <p:cNvPr id="6" name="Table 5">
            <a:extLst>
              <a:ext uri="{FF2B5EF4-FFF2-40B4-BE49-F238E27FC236}">
                <a16:creationId xmlns:a16="http://schemas.microsoft.com/office/drawing/2014/main" id="{8E17A35D-B886-49FF-B4AD-8B5B9396BFC8}"/>
              </a:ext>
            </a:extLst>
          </p:cNvPr>
          <p:cNvGraphicFramePr>
            <a:graphicFrameLocks noGrp="1"/>
          </p:cNvGraphicFramePr>
          <p:nvPr>
            <p:extLst>
              <p:ext uri="{D42A27DB-BD31-4B8C-83A1-F6EECF244321}">
                <p14:modId xmlns:p14="http://schemas.microsoft.com/office/powerpoint/2010/main" val="1230917468"/>
              </p:ext>
            </p:extLst>
          </p:nvPr>
        </p:nvGraphicFramePr>
        <p:xfrm>
          <a:off x="5932664" y="4022529"/>
          <a:ext cx="4106882" cy="2219960"/>
        </p:xfrm>
        <a:graphic>
          <a:graphicData uri="http://schemas.openxmlformats.org/drawingml/2006/table">
            <a:tbl>
              <a:tblPr firstRow="1" bandRow="1">
                <a:tableStyleId>{5C22544A-7EE6-4342-B048-85BDC9FD1C3A}</a:tableStyleId>
              </a:tblPr>
              <a:tblGrid>
                <a:gridCol w="800900">
                  <a:extLst>
                    <a:ext uri="{9D8B030D-6E8A-4147-A177-3AD203B41FA5}">
                      <a16:colId xmlns:a16="http://schemas.microsoft.com/office/drawing/2014/main" val="3853025666"/>
                    </a:ext>
                  </a:extLst>
                </a:gridCol>
                <a:gridCol w="1401768">
                  <a:extLst>
                    <a:ext uri="{9D8B030D-6E8A-4147-A177-3AD203B41FA5}">
                      <a16:colId xmlns:a16="http://schemas.microsoft.com/office/drawing/2014/main" val="3082247529"/>
                    </a:ext>
                  </a:extLst>
                </a:gridCol>
                <a:gridCol w="1904214">
                  <a:extLst>
                    <a:ext uri="{9D8B030D-6E8A-4147-A177-3AD203B41FA5}">
                      <a16:colId xmlns:a16="http://schemas.microsoft.com/office/drawing/2014/main" val="82126243"/>
                    </a:ext>
                  </a:extLst>
                </a:gridCol>
              </a:tblGrid>
              <a:tr h="0">
                <a:tc>
                  <a:txBody>
                    <a:bodyPr/>
                    <a:lstStyle/>
                    <a:p>
                      <a:r>
                        <a:rPr lang="en-SG" dirty="0"/>
                        <a:t>ID</a:t>
                      </a:r>
                    </a:p>
                  </a:txBody>
                  <a:tcPr/>
                </a:tc>
                <a:tc>
                  <a:txBody>
                    <a:bodyPr/>
                    <a:lstStyle/>
                    <a:p>
                      <a:r>
                        <a:rPr lang="en-SG"/>
                        <a:t>EmployeeID</a:t>
                      </a:r>
                      <a:endParaRPr lang="en-SG" dirty="0"/>
                    </a:p>
                  </a:txBody>
                  <a:tcPr/>
                </a:tc>
                <a:tc>
                  <a:txBody>
                    <a:bodyPr/>
                    <a:lstStyle/>
                    <a:p>
                      <a:r>
                        <a:rPr lang="en-SG" dirty="0" err="1"/>
                        <a:t>ContactNumber</a:t>
                      </a:r>
                      <a:endParaRPr lang="en-SG" dirty="0"/>
                    </a:p>
                  </a:txBody>
                  <a:tcPr/>
                </a:tc>
                <a:extLst>
                  <a:ext uri="{0D108BD9-81ED-4DB2-BD59-A6C34878D82A}">
                    <a16:rowId xmlns:a16="http://schemas.microsoft.com/office/drawing/2014/main" val="3155168419"/>
                  </a:ext>
                </a:extLst>
              </a:tr>
              <a:tr h="370840">
                <a:tc>
                  <a:txBody>
                    <a:bodyPr/>
                    <a:lstStyle/>
                    <a:p>
                      <a:r>
                        <a:rPr lang="en-SG" dirty="0"/>
                        <a:t>1</a:t>
                      </a:r>
                    </a:p>
                  </a:txBody>
                  <a:tcPr/>
                </a:tc>
                <a:tc>
                  <a:txBody>
                    <a:bodyPr/>
                    <a:lstStyle/>
                    <a:p>
                      <a:r>
                        <a:rPr lang="en-SG" dirty="0"/>
                        <a:t>1</a:t>
                      </a:r>
                    </a:p>
                  </a:txBody>
                  <a:tcPr/>
                </a:tc>
                <a:tc>
                  <a:txBody>
                    <a:bodyPr/>
                    <a:lstStyle/>
                    <a:p>
                      <a:r>
                        <a:rPr lang="en-SG" dirty="0"/>
                        <a:t>91800000</a:t>
                      </a:r>
                    </a:p>
                  </a:txBody>
                  <a:tcPr/>
                </a:tc>
                <a:extLst>
                  <a:ext uri="{0D108BD9-81ED-4DB2-BD59-A6C34878D82A}">
                    <a16:rowId xmlns:a16="http://schemas.microsoft.com/office/drawing/2014/main" val="895290971"/>
                  </a:ext>
                </a:extLst>
              </a:tr>
              <a:tr h="370840">
                <a:tc>
                  <a:txBody>
                    <a:bodyPr/>
                    <a:lstStyle/>
                    <a:p>
                      <a:r>
                        <a:rPr lang="en-SG" dirty="0"/>
                        <a:t>2</a:t>
                      </a:r>
                    </a:p>
                  </a:txBody>
                  <a:tcPr/>
                </a:tc>
                <a:tc>
                  <a:txBody>
                    <a:bodyPr/>
                    <a:lstStyle/>
                    <a:p>
                      <a:r>
                        <a:rPr lang="en-SG"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67811111</a:t>
                      </a:r>
                    </a:p>
                  </a:txBody>
                  <a:tcPr/>
                </a:tc>
                <a:extLst>
                  <a:ext uri="{0D108BD9-81ED-4DB2-BD59-A6C34878D82A}">
                    <a16:rowId xmlns:a16="http://schemas.microsoft.com/office/drawing/2014/main" val="3552745899"/>
                  </a:ext>
                </a:extLst>
              </a:tr>
              <a:tr h="370840">
                <a:tc>
                  <a:txBody>
                    <a:bodyPr/>
                    <a:lstStyle/>
                    <a:p>
                      <a:r>
                        <a:rPr lang="en-SG" dirty="0"/>
                        <a:t>3</a:t>
                      </a:r>
                    </a:p>
                  </a:txBody>
                  <a:tcPr/>
                </a:tc>
                <a:tc>
                  <a:txBody>
                    <a:bodyPr/>
                    <a:lstStyle/>
                    <a:p>
                      <a:r>
                        <a:rPr lang="en-SG" dirty="0"/>
                        <a:t>2</a:t>
                      </a:r>
                    </a:p>
                  </a:txBody>
                  <a:tcPr/>
                </a:tc>
                <a:tc>
                  <a:txBody>
                    <a:bodyPr/>
                    <a:lstStyle/>
                    <a:p>
                      <a:r>
                        <a:rPr lang="en-SG" dirty="0"/>
                        <a:t>92822222</a:t>
                      </a:r>
                    </a:p>
                  </a:txBody>
                  <a:tcPr/>
                </a:tc>
                <a:extLst>
                  <a:ext uri="{0D108BD9-81ED-4DB2-BD59-A6C34878D82A}">
                    <a16:rowId xmlns:a16="http://schemas.microsoft.com/office/drawing/2014/main" val="3727486187"/>
                  </a:ext>
                </a:extLst>
              </a:tr>
              <a:tr h="370840">
                <a:tc>
                  <a:txBody>
                    <a:bodyPr/>
                    <a:lstStyle/>
                    <a:p>
                      <a:r>
                        <a:rPr lang="en-SG" dirty="0"/>
                        <a:t>4</a:t>
                      </a:r>
                    </a:p>
                  </a:txBody>
                  <a:tcPr/>
                </a:tc>
                <a:tc>
                  <a:txBody>
                    <a:bodyPr/>
                    <a:lstStyle/>
                    <a:p>
                      <a:r>
                        <a:rPr lang="en-SG" dirty="0"/>
                        <a:t>2</a:t>
                      </a:r>
                    </a:p>
                  </a:txBody>
                  <a:tcPr/>
                </a:tc>
                <a:tc>
                  <a:txBody>
                    <a:bodyPr/>
                    <a:lstStyle/>
                    <a:p>
                      <a:r>
                        <a:rPr lang="en-SG" dirty="0"/>
                        <a:t>67811112</a:t>
                      </a:r>
                    </a:p>
                  </a:txBody>
                  <a:tcPr/>
                </a:tc>
                <a:extLst>
                  <a:ext uri="{0D108BD9-81ED-4DB2-BD59-A6C34878D82A}">
                    <a16:rowId xmlns:a16="http://schemas.microsoft.com/office/drawing/2014/main" val="3083067329"/>
                  </a:ext>
                </a:extLst>
              </a:tr>
              <a:tr h="370840">
                <a:tc>
                  <a:txBody>
                    <a:bodyPr/>
                    <a:lstStyle/>
                    <a:p>
                      <a:r>
                        <a:rPr lang="en-SG" dirty="0"/>
                        <a:t>5</a:t>
                      </a:r>
                    </a:p>
                  </a:txBody>
                  <a:tcPr/>
                </a:tc>
                <a:tc>
                  <a:txBody>
                    <a:bodyPr/>
                    <a:lstStyle/>
                    <a:p>
                      <a:r>
                        <a:rPr lang="en-SG" dirty="0"/>
                        <a:t>2</a:t>
                      </a:r>
                    </a:p>
                  </a:txBody>
                  <a:tcPr/>
                </a:tc>
                <a:tc>
                  <a:txBody>
                    <a:bodyPr/>
                    <a:lstStyle/>
                    <a:p>
                      <a:r>
                        <a:rPr lang="en-SG" dirty="0"/>
                        <a:t>67533334</a:t>
                      </a:r>
                    </a:p>
                  </a:txBody>
                  <a:tcPr/>
                </a:tc>
                <a:extLst>
                  <a:ext uri="{0D108BD9-81ED-4DB2-BD59-A6C34878D82A}">
                    <a16:rowId xmlns:a16="http://schemas.microsoft.com/office/drawing/2014/main" val="2642320754"/>
                  </a:ext>
                </a:extLst>
              </a:tr>
            </a:tbl>
          </a:graphicData>
        </a:graphic>
      </p:graphicFrame>
      <p:sp>
        <p:nvSpPr>
          <p:cNvPr id="11" name="Right Brace 10">
            <a:extLst>
              <a:ext uri="{FF2B5EF4-FFF2-40B4-BE49-F238E27FC236}">
                <a16:creationId xmlns:a16="http://schemas.microsoft.com/office/drawing/2014/main" id="{A27ED446-4425-4E90-B91A-14AD008FE8B6}"/>
              </a:ext>
            </a:extLst>
          </p:cNvPr>
          <p:cNvSpPr/>
          <p:nvPr/>
        </p:nvSpPr>
        <p:spPr>
          <a:xfrm rot="16200000">
            <a:off x="5456759" y="-783462"/>
            <a:ext cx="490193" cy="8675383"/>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12" name="TextBox 11">
            <a:extLst>
              <a:ext uri="{FF2B5EF4-FFF2-40B4-BE49-F238E27FC236}">
                <a16:creationId xmlns:a16="http://schemas.microsoft.com/office/drawing/2014/main" id="{4AAEBF44-438B-4B72-BD34-C8F7278B900E}"/>
              </a:ext>
            </a:extLst>
          </p:cNvPr>
          <p:cNvSpPr txBox="1"/>
          <p:nvPr/>
        </p:nvSpPr>
        <p:spPr>
          <a:xfrm>
            <a:off x="5237625" y="2551199"/>
            <a:ext cx="928459" cy="646331"/>
          </a:xfrm>
          <a:prstGeom prst="rect">
            <a:avLst/>
          </a:prstGeom>
          <a:noFill/>
        </p:spPr>
        <p:txBody>
          <a:bodyPr wrap="none" rtlCol="0">
            <a:spAutoFit/>
          </a:bodyPr>
          <a:lstStyle/>
          <a:p>
            <a:r>
              <a:rPr lang="en-SG" sz="3600" dirty="0"/>
              <a:t>1NF</a:t>
            </a:r>
          </a:p>
        </p:txBody>
      </p:sp>
    </p:spTree>
    <p:extLst>
      <p:ext uri="{BB962C8B-B14F-4D97-AF65-F5344CB8AC3E}">
        <p14:creationId xmlns:p14="http://schemas.microsoft.com/office/powerpoint/2010/main" val="37689429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E383E-A158-4508-B106-AF766DAEC8C4}"/>
              </a:ext>
            </a:extLst>
          </p:cNvPr>
          <p:cNvSpPr>
            <a:spLocks noGrp="1"/>
          </p:cNvSpPr>
          <p:nvPr>
            <p:ph type="title"/>
          </p:nvPr>
        </p:nvSpPr>
        <p:spPr/>
        <p:txBody>
          <a:bodyPr/>
          <a:lstStyle/>
          <a:p>
            <a:r>
              <a:rPr lang="en-SG" dirty="0"/>
              <a:t>Second Normal Form (2NF)</a:t>
            </a:r>
          </a:p>
        </p:txBody>
      </p:sp>
      <p:sp>
        <p:nvSpPr>
          <p:cNvPr id="3" name="Content Placeholder 2">
            <a:extLst>
              <a:ext uri="{FF2B5EF4-FFF2-40B4-BE49-F238E27FC236}">
                <a16:creationId xmlns:a16="http://schemas.microsoft.com/office/drawing/2014/main" id="{6ED1D999-B07C-41C8-BEF2-ACE4A5EC155B}"/>
              </a:ext>
            </a:extLst>
          </p:cNvPr>
          <p:cNvSpPr>
            <a:spLocks noGrp="1"/>
          </p:cNvSpPr>
          <p:nvPr>
            <p:ph idx="1"/>
          </p:nvPr>
        </p:nvSpPr>
        <p:spPr/>
        <p:txBody>
          <a:bodyPr/>
          <a:lstStyle/>
          <a:p>
            <a:r>
              <a:rPr lang="en-SG" dirty="0"/>
              <a:t>If a relation/table is in 2NF, then it is in 1NF too</a:t>
            </a:r>
          </a:p>
          <a:p>
            <a:endParaRPr lang="en-SG" dirty="0"/>
          </a:p>
          <a:p>
            <a:endParaRPr lang="en-SG" dirty="0"/>
          </a:p>
          <a:p>
            <a:endParaRPr lang="en-SG" dirty="0"/>
          </a:p>
          <a:p>
            <a:endParaRPr lang="en-SG" dirty="0"/>
          </a:p>
          <a:p>
            <a:r>
              <a:rPr lang="en-SG" dirty="0"/>
              <a:t>This is not in 2NF because the “</a:t>
            </a:r>
            <a:r>
              <a:rPr lang="en-SG" dirty="0" err="1"/>
              <a:t>DepartmentHead</a:t>
            </a:r>
            <a:r>
              <a:rPr lang="en-SG" dirty="0"/>
              <a:t>” is dependent on the “Department”, it has nothing to do with the other information</a:t>
            </a:r>
          </a:p>
          <a:p>
            <a:r>
              <a:rPr lang="en-SG" dirty="0"/>
              <a:t>Thus, we have duplicate information – several rows telling us the head of IT is “Peter”</a:t>
            </a:r>
          </a:p>
        </p:txBody>
      </p:sp>
      <p:sp>
        <p:nvSpPr>
          <p:cNvPr id="4" name="Slide Number Placeholder 3">
            <a:extLst>
              <a:ext uri="{FF2B5EF4-FFF2-40B4-BE49-F238E27FC236}">
                <a16:creationId xmlns:a16="http://schemas.microsoft.com/office/drawing/2014/main" id="{2B3C36E0-EC63-4D1C-BD8C-7A6C38FA5F7C}"/>
              </a:ext>
            </a:extLst>
          </p:cNvPr>
          <p:cNvSpPr>
            <a:spLocks noGrp="1"/>
          </p:cNvSpPr>
          <p:nvPr>
            <p:ph type="sldNum" sz="quarter" idx="12"/>
          </p:nvPr>
        </p:nvSpPr>
        <p:spPr/>
        <p:txBody>
          <a:bodyPr/>
          <a:lstStyle/>
          <a:p>
            <a:fld id="{8E9E4023-6F3A-457B-B0BB-8C1F114B424F}" type="slidenum">
              <a:rPr lang="en-SG" smtClean="0"/>
              <a:t>50</a:t>
            </a:fld>
            <a:endParaRPr lang="en-SG"/>
          </a:p>
        </p:txBody>
      </p:sp>
      <p:graphicFrame>
        <p:nvGraphicFramePr>
          <p:cNvPr id="5" name="Table 4">
            <a:extLst>
              <a:ext uri="{FF2B5EF4-FFF2-40B4-BE49-F238E27FC236}">
                <a16:creationId xmlns:a16="http://schemas.microsoft.com/office/drawing/2014/main" id="{42C9383B-3AE4-473D-8311-5C287920EFB3}"/>
              </a:ext>
            </a:extLst>
          </p:cNvPr>
          <p:cNvGraphicFramePr>
            <a:graphicFrameLocks noGrp="1"/>
          </p:cNvGraphicFramePr>
          <p:nvPr>
            <p:extLst>
              <p:ext uri="{D42A27DB-BD31-4B8C-83A1-F6EECF244321}">
                <p14:modId xmlns:p14="http://schemas.microsoft.com/office/powerpoint/2010/main" val="573574191"/>
              </p:ext>
            </p:extLst>
          </p:nvPr>
        </p:nvGraphicFramePr>
        <p:xfrm>
          <a:off x="1347577" y="2231122"/>
          <a:ext cx="8520500" cy="1854200"/>
        </p:xfrm>
        <a:graphic>
          <a:graphicData uri="http://schemas.openxmlformats.org/drawingml/2006/table">
            <a:tbl>
              <a:tblPr firstRow="1" bandRow="1">
                <a:tableStyleId>{5C22544A-7EE6-4342-B048-85BDC9FD1C3A}</a:tableStyleId>
              </a:tblPr>
              <a:tblGrid>
                <a:gridCol w="1457548">
                  <a:extLst>
                    <a:ext uri="{9D8B030D-6E8A-4147-A177-3AD203B41FA5}">
                      <a16:colId xmlns:a16="http://schemas.microsoft.com/office/drawing/2014/main" val="3082247529"/>
                    </a:ext>
                  </a:extLst>
                </a:gridCol>
                <a:gridCol w="898635">
                  <a:extLst>
                    <a:ext uri="{9D8B030D-6E8A-4147-A177-3AD203B41FA5}">
                      <a16:colId xmlns:a16="http://schemas.microsoft.com/office/drawing/2014/main" val="1282738096"/>
                    </a:ext>
                  </a:extLst>
                </a:gridCol>
                <a:gridCol w="945931">
                  <a:extLst>
                    <a:ext uri="{9D8B030D-6E8A-4147-A177-3AD203B41FA5}">
                      <a16:colId xmlns:a16="http://schemas.microsoft.com/office/drawing/2014/main" val="3283333044"/>
                    </a:ext>
                  </a:extLst>
                </a:gridCol>
                <a:gridCol w="898634">
                  <a:extLst>
                    <a:ext uri="{9D8B030D-6E8A-4147-A177-3AD203B41FA5}">
                      <a16:colId xmlns:a16="http://schemas.microsoft.com/office/drawing/2014/main" val="402177842"/>
                    </a:ext>
                  </a:extLst>
                </a:gridCol>
                <a:gridCol w="1481959">
                  <a:extLst>
                    <a:ext uri="{9D8B030D-6E8A-4147-A177-3AD203B41FA5}">
                      <a16:colId xmlns:a16="http://schemas.microsoft.com/office/drawing/2014/main" val="3788494621"/>
                    </a:ext>
                  </a:extLst>
                </a:gridCol>
                <a:gridCol w="2837793">
                  <a:extLst>
                    <a:ext uri="{9D8B030D-6E8A-4147-A177-3AD203B41FA5}">
                      <a16:colId xmlns:a16="http://schemas.microsoft.com/office/drawing/2014/main" val="664292315"/>
                    </a:ext>
                  </a:extLst>
                </a:gridCol>
              </a:tblGrid>
              <a:tr h="370840">
                <a:tc>
                  <a:txBody>
                    <a:bodyPr/>
                    <a:lstStyle/>
                    <a:p>
                      <a:r>
                        <a:rPr lang="en-SG" dirty="0" err="1"/>
                        <a:t>EmployeeID</a:t>
                      </a:r>
                      <a:endParaRPr lang="en-SG" dirty="0"/>
                    </a:p>
                  </a:txBody>
                  <a:tcPr/>
                </a:tc>
                <a:tc>
                  <a:txBody>
                    <a:bodyPr/>
                    <a:lstStyle/>
                    <a:p>
                      <a:r>
                        <a:rPr lang="en-SG" dirty="0"/>
                        <a:t>Name</a:t>
                      </a:r>
                    </a:p>
                  </a:txBody>
                  <a:tcPr/>
                </a:tc>
                <a:tc>
                  <a:txBody>
                    <a:bodyPr/>
                    <a:lstStyle/>
                    <a:p>
                      <a:r>
                        <a:rPr lang="en-SG" dirty="0"/>
                        <a:t>Gender</a:t>
                      </a:r>
                    </a:p>
                  </a:txBody>
                  <a:tcPr/>
                </a:tc>
                <a:tc>
                  <a:txBody>
                    <a:bodyPr/>
                    <a:lstStyle/>
                    <a:p>
                      <a:r>
                        <a:rPr lang="en-SG" dirty="0"/>
                        <a:t>Salary</a:t>
                      </a:r>
                    </a:p>
                  </a:txBody>
                  <a:tcPr/>
                </a:tc>
                <a:tc>
                  <a:txBody>
                    <a:bodyPr/>
                    <a:lstStyle/>
                    <a:p>
                      <a:r>
                        <a:rPr lang="en-SG" dirty="0"/>
                        <a:t>Department</a:t>
                      </a:r>
                    </a:p>
                  </a:txBody>
                  <a:tcPr/>
                </a:tc>
                <a:tc>
                  <a:txBody>
                    <a:bodyPr/>
                    <a:lstStyle/>
                    <a:p>
                      <a:r>
                        <a:rPr lang="en-SG" dirty="0" err="1"/>
                        <a:t>DepartmentHead</a:t>
                      </a:r>
                      <a:endParaRPr lang="en-SG" dirty="0"/>
                    </a:p>
                  </a:txBody>
                  <a:tcPr/>
                </a:tc>
                <a:extLst>
                  <a:ext uri="{0D108BD9-81ED-4DB2-BD59-A6C34878D82A}">
                    <a16:rowId xmlns:a16="http://schemas.microsoft.com/office/drawing/2014/main" val="3155168419"/>
                  </a:ext>
                </a:extLst>
              </a:tr>
              <a:tr h="370840">
                <a:tc>
                  <a:txBody>
                    <a:bodyPr/>
                    <a:lstStyle/>
                    <a:p>
                      <a:r>
                        <a:rPr lang="en-SG" dirty="0"/>
                        <a:t>1</a:t>
                      </a:r>
                    </a:p>
                  </a:txBody>
                  <a:tcPr/>
                </a:tc>
                <a:tc>
                  <a:txBody>
                    <a:bodyPr/>
                    <a:lstStyle/>
                    <a:p>
                      <a:r>
                        <a:rPr lang="en-SG" dirty="0"/>
                        <a:t>Ninja</a:t>
                      </a:r>
                    </a:p>
                  </a:txBody>
                  <a:tcPr/>
                </a:tc>
                <a:tc>
                  <a:txBody>
                    <a:bodyPr/>
                    <a:lstStyle/>
                    <a:p>
                      <a:r>
                        <a:rPr lang="en-SG" dirty="0"/>
                        <a:t>M</a:t>
                      </a:r>
                    </a:p>
                  </a:txBody>
                  <a:tcPr/>
                </a:tc>
                <a:tc>
                  <a:txBody>
                    <a:bodyPr/>
                    <a:lstStyle/>
                    <a:p>
                      <a:r>
                        <a:rPr lang="en-SG" dirty="0"/>
                        <a:t>2500</a:t>
                      </a:r>
                    </a:p>
                  </a:txBody>
                  <a:tcPr/>
                </a:tc>
                <a:tc>
                  <a:txBody>
                    <a:bodyPr/>
                    <a:lstStyle/>
                    <a:p>
                      <a:r>
                        <a:rPr lang="en-SG" dirty="0"/>
                        <a:t>HR</a:t>
                      </a:r>
                    </a:p>
                  </a:txBody>
                  <a:tcPr/>
                </a:tc>
                <a:tc>
                  <a:txBody>
                    <a:bodyPr/>
                    <a:lstStyle/>
                    <a:p>
                      <a:r>
                        <a:rPr lang="en-SG" dirty="0"/>
                        <a:t>Raju</a:t>
                      </a:r>
                    </a:p>
                  </a:txBody>
                  <a:tcPr/>
                </a:tc>
                <a:extLst>
                  <a:ext uri="{0D108BD9-81ED-4DB2-BD59-A6C34878D82A}">
                    <a16:rowId xmlns:a16="http://schemas.microsoft.com/office/drawing/2014/main" val="895290971"/>
                  </a:ext>
                </a:extLst>
              </a:tr>
              <a:tr h="370840">
                <a:tc>
                  <a:txBody>
                    <a:bodyPr/>
                    <a:lstStyle/>
                    <a:p>
                      <a:r>
                        <a:rPr lang="en-SG" dirty="0"/>
                        <a:t>2</a:t>
                      </a:r>
                    </a:p>
                  </a:txBody>
                  <a:tcPr/>
                </a:tc>
                <a:tc>
                  <a:txBody>
                    <a:bodyPr/>
                    <a:lstStyle/>
                    <a:p>
                      <a:r>
                        <a:rPr lang="en-SG" dirty="0" err="1"/>
                        <a:t>Meili</a:t>
                      </a:r>
                      <a:endParaRPr lang="en-SG" dirty="0"/>
                    </a:p>
                  </a:txBody>
                  <a:tcPr/>
                </a:tc>
                <a:tc>
                  <a:txBody>
                    <a:bodyPr/>
                    <a:lstStyle/>
                    <a:p>
                      <a:r>
                        <a:rPr lang="en-SG" dirty="0"/>
                        <a:t>F</a:t>
                      </a:r>
                    </a:p>
                  </a:txBody>
                  <a:tcPr/>
                </a:tc>
                <a:tc>
                  <a:txBody>
                    <a:bodyPr/>
                    <a:lstStyle/>
                    <a:p>
                      <a:r>
                        <a:rPr lang="en-SG" dirty="0"/>
                        <a:t>7000</a:t>
                      </a:r>
                    </a:p>
                  </a:txBody>
                  <a:tcPr/>
                </a:tc>
                <a:tc>
                  <a:txBody>
                    <a:bodyPr/>
                    <a:lstStyle/>
                    <a:p>
                      <a:r>
                        <a:rPr lang="en-SG" dirty="0"/>
                        <a:t>IT</a:t>
                      </a:r>
                    </a:p>
                  </a:txBody>
                  <a:tcPr/>
                </a:tc>
                <a:tc>
                  <a:txBody>
                    <a:bodyPr/>
                    <a:lstStyle/>
                    <a:p>
                      <a:r>
                        <a:rPr lang="en-SG" dirty="0"/>
                        <a:t>Peter</a:t>
                      </a:r>
                    </a:p>
                  </a:txBody>
                  <a:tcPr/>
                </a:tc>
                <a:extLst>
                  <a:ext uri="{0D108BD9-81ED-4DB2-BD59-A6C34878D82A}">
                    <a16:rowId xmlns:a16="http://schemas.microsoft.com/office/drawing/2014/main" val="3727486187"/>
                  </a:ext>
                </a:extLst>
              </a:tr>
              <a:tr h="370840">
                <a:tc>
                  <a:txBody>
                    <a:bodyPr/>
                    <a:lstStyle/>
                    <a:p>
                      <a:r>
                        <a:rPr lang="en-SG" dirty="0"/>
                        <a:t>3</a:t>
                      </a:r>
                    </a:p>
                  </a:txBody>
                  <a:tcPr/>
                </a:tc>
                <a:tc>
                  <a:txBody>
                    <a:bodyPr/>
                    <a:lstStyle/>
                    <a:p>
                      <a:r>
                        <a:rPr lang="en-SG" dirty="0"/>
                        <a:t>Siti</a:t>
                      </a:r>
                    </a:p>
                  </a:txBody>
                  <a:tcPr/>
                </a:tc>
                <a:tc>
                  <a:txBody>
                    <a:bodyPr/>
                    <a:lstStyle/>
                    <a:p>
                      <a:r>
                        <a:rPr lang="en-SG" dirty="0"/>
                        <a:t>F</a:t>
                      </a:r>
                    </a:p>
                  </a:txBody>
                  <a:tcPr/>
                </a:tc>
                <a:tc>
                  <a:txBody>
                    <a:bodyPr/>
                    <a:lstStyle/>
                    <a:p>
                      <a:r>
                        <a:rPr lang="en-SG" dirty="0"/>
                        <a:t>5000</a:t>
                      </a:r>
                    </a:p>
                  </a:txBody>
                  <a:tcPr/>
                </a:tc>
                <a:tc>
                  <a:txBody>
                    <a:bodyPr/>
                    <a:lstStyle/>
                    <a:p>
                      <a:r>
                        <a:rPr lang="en-SG" dirty="0"/>
                        <a:t>IT</a:t>
                      </a:r>
                    </a:p>
                  </a:txBody>
                  <a:tcPr/>
                </a:tc>
                <a:tc>
                  <a:txBody>
                    <a:bodyPr/>
                    <a:lstStyle/>
                    <a:p>
                      <a:r>
                        <a:rPr lang="en-SG" dirty="0"/>
                        <a:t>Peter</a:t>
                      </a:r>
                    </a:p>
                  </a:txBody>
                  <a:tcPr/>
                </a:tc>
                <a:extLst>
                  <a:ext uri="{0D108BD9-81ED-4DB2-BD59-A6C34878D82A}">
                    <a16:rowId xmlns:a16="http://schemas.microsoft.com/office/drawing/2014/main" val="2316072497"/>
                  </a:ext>
                </a:extLst>
              </a:tr>
              <a:tr h="370840">
                <a:tc>
                  <a:txBody>
                    <a:bodyPr/>
                    <a:lstStyle/>
                    <a:p>
                      <a:r>
                        <a:rPr lang="en-SG" dirty="0"/>
                        <a:t>4</a:t>
                      </a:r>
                    </a:p>
                  </a:txBody>
                  <a:tcPr/>
                </a:tc>
                <a:tc>
                  <a:txBody>
                    <a:bodyPr/>
                    <a:lstStyle/>
                    <a:p>
                      <a:r>
                        <a:rPr lang="en-SG" dirty="0"/>
                        <a:t>Ali</a:t>
                      </a:r>
                    </a:p>
                  </a:txBody>
                  <a:tcPr/>
                </a:tc>
                <a:tc>
                  <a:txBody>
                    <a:bodyPr/>
                    <a:lstStyle/>
                    <a:p>
                      <a:r>
                        <a:rPr lang="en-SG" dirty="0"/>
                        <a:t>M</a:t>
                      </a:r>
                    </a:p>
                  </a:txBody>
                  <a:tcPr/>
                </a:tc>
                <a:tc>
                  <a:txBody>
                    <a:bodyPr/>
                    <a:lstStyle/>
                    <a:p>
                      <a:r>
                        <a:rPr lang="en-SG" dirty="0"/>
                        <a:t>8000</a:t>
                      </a:r>
                    </a:p>
                  </a:txBody>
                  <a:tcPr/>
                </a:tc>
                <a:tc>
                  <a:txBody>
                    <a:bodyPr/>
                    <a:lstStyle/>
                    <a:p>
                      <a:r>
                        <a:rPr lang="en-SG" dirty="0"/>
                        <a:t>IT</a:t>
                      </a:r>
                    </a:p>
                  </a:txBody>
                  <a:tcPr/>
                </a:tc>
                <a:tc>
                  <a:txBody>
                    <a:bodyPr/>
                    <a:lstStyle/>
                    <a:p>
                      <a:r>
                        <a:rPr lang="en-SG" dirty="0"/>
                        <a:t>Peter</a:t>
                      </a:r>
                    </a:p>
                  </a:txBody>
                  <a:tcPr/>
                </a:tc>
                <a:extLst>
                  <a:ext uri="{0D108BD9-81ED-4DB2-BD59-A6C34878D82A}">
                    <a16:rowId xmlns:a16="http://schemas.microsoft.com/office/drawing/2014/main" val="3959484055"/>
                  </a:ext>
                </a:extLst>
              </a:tr>
            </a:tbl>
          </a:graphicData>
        </a:graphic>
      </p:graphicFrame>
    </p:spTree>
    <p:extLst>
      <p:ext uri="{BB962C8B-B14F-4D97-AF65-F5344CB8AC3E}">
        <p14:creationId xmlns:p14="http://schemas.microsoft.com/office/powerpoint/2010/main" val="31540498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E383E-A158-4508-B106-AF766DAEC8C4}"/>
              </a:ext>
            </a:extLst>
          </p:cNvPr>
          <p:cNvSpPr>
            <a:spLocks noGrp="1"/>
          </p:cNvSpPr>
          <p:nvPr>
            <p:ph type="title"/>
          </p:nvPr>
        </p:nvSpPr>
        <p:spPr/>
        <p:txBody>
          <a:bodyPr/>
          <a:lstStyle/>
          <a:p>
            <a:r>
              <a:rPr lang="en-SG" dirty="0"/>
              <a:t>Third Normal </a:t>
            </a:r>
            <a:r>
              <a:rPr lang="en-SG"/>
              <a:t>Form (3NF</a:t>
            </a:r>
            <a:r>
              <a:rPr lang="en-SG" dirty="0"/>
              <a:t>)</a:t>
            </a:r>
          </a:p>
        </p:txBody>
      </p:sp>
      <p:sp>
        <p:nvSpPr>
          <p:cNvPr id="3" name="Content Placeholder 2">
            <a:extLst>
              <a:ext uri="{FF2B5EF4-FFF2-40B4-BE49-F238E27FC236}">
                <a16:creationId xmlns:a16="http://schemas.microsoft.com/office/drawing/2014/main" id="{6ED1D999-B07C-41C8-BEF2-ACE4A5EC155B}"/>
              </a:ext>
            </a:extLst>
          </p:cNvPr>
          <p:cNvSpPr>
            <a:spLocks noGrp="1"/>
          </p:cNvSpPr>
          <p:nvPr>
            <p:ph idx="1"/>
          </p:nvPr>
        </p:nvSpPr>
        <p:spPr/>
        <p:txBody>
          <a:bodyPr/>
          <a:lstStyle/>
          <a:p>
            <a:r>
              <a:rPr lang="en-SG" dirty="0"/>
              <a:t>So we fix it by moving the “Department” and “</a:t>
            </a:r>
            <a:r>
              <a:rPr lang="en-SG" dirty="0" err="1"/>
              <a:t>DepartmentHead</a:t>
            </a:r>
            <a:r>
              <a:rPr lang="en-SG" dirty="0"/>
              <a:t>” into another table and adding a </a:t>
            </a:r>
            <a:r>
              <a:rPr lang="en-SG" dirty="0" err="1"/>
              <a:t>DeptID</a:t>
            </a:r>
            <a:r>
              <a:rPr lang="en-SG" dirty="0"/>
              <a:t> as primary key</a:t>
            </a:r>
          </a:p>
        </p:txBody>
      </p:sp>
      <p:sp>
        <p:nvSpPr>
          <p:cNvPr id="4" name="Slide Number Placeholder 3">
            <a:extLst>
              <a:ext uri="{FF2B5EF4-FFF2-40B4-BE49-F238E27FC236}">
                <a16:creationId xmlns:a16="http://schemas.microsoft.com/office/drawing/2014/main" id="{2B3C36E0-EC63-4D1C-BD8C-7A6C38FA5F7C}"/>
              </a:ext>
            </a:extLst>
          </p:cNvPr>
          <p:cNvSpPr>
            <a:spLocks noGrp="1"/>
          </p:cNvSpPr>
          <p:nvPr>
            <p:ph type="sldNum" sz="quarter" idx="12"/>
          </p:nvPr>
        </p:nvSpPr>
        <p:spPr/>
        <p:txBody>
          <a:bodyPr/>
          <a:lstStyle/>
          <a:p>
            <a:fld id="{8E9E4023-6F3A-457B-B0BB-8C1F114B424F}" type="slidenum">
              <a:rPr lang="en-SG" smtClean="0"/>
              <a:t>51</a:t>
            </a:fld>
            <a:endParaRPr lang="en-SG"/>
          </a:p>
        </p:txBody>
      </p:sp>
      <p:pic>
        <p:nvPicPr>
          <p:cNvPr id="6" name="Picture 5"/>
          <p:cNvPicPr>
            <a:picLocks noChangeAspect="1"/>
          </p:cNvPicPr>
          <p:nvPr/>
        </p:nvPicPr>
        <p:blipFill>
          <a:blip r:embed="rId2"/>
          <a:stretch>
            <a:fillRect/>
          </a:stretch>
        </p:blipFill>
        <p:spPr>
          <a:xfrm>
            <a:off x="1218393" y="2787247"/>
            <a:ext cx="5222164" cy="2005311"/>
          </a:xfrm>
          <a:prstGeom prst="rect">
            <a:avLst/>
          </a:prstGeom>
        </p:spPr>
      </p:pic>
      <p:pic>
        <p:nvPicPr>
          <p:cNvPr id="7" name="Picture 6"/>
          <p:cNvPicPr>
            <a:picLocks noChangeAspect="1"/>
          </p:cNvPicPr>
          <p:nvPr/>
        </p:nvPicPr>
        <p:blipFill>
          <a:blip r:embed="rId3"/>
          <a:stretch>
            <a:fillRect/>
          </a:stretch>
        </p:blipFill>
        <p:spPr>
          <a:xfrm>
            <a:off x="6997616" y="2787247"/>
            <a:ext cx="2920125" cy="1275870"/>
          </a:xfrm>
          <a:prstGeom prst="rect">
            <a:avLst/>
          </a:prstGeom>
        </p:spPr>
      </p:pic>
    </p:spTree>
    <p:extLst>
      <p:ext uri="{BB962C8B-B14F-4D97-AF65-F5344CB8AC3E}">
        <p14:creationId xmlns:p14="http://schemas.microsoft.com/office/powerpoint/2010/main" val="1278107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75C5A-233F-4C52-8792-BFD597CB80C6}"/>
              </a:ext>
            </a:extLst>
          </p:cNvPr>
          <p:cNvSpPr>
            <a:spLocks noGrp="1"/>
          </p:cNvSpPr>
          <p:nvPr>
            <p:ph type="title"/>
          </p:nvPr>
        </p:nvSpPr>
        <p:spPr/>
        <p:txBody>
          <a:bodyPr/>
          <a:lstStyle/>
          <a:p>
            <a:r>
              <a:rPr lang="en-GB" dirty="0"/>
              <a:t>Reference</a:t>
            </a:r>
          </a:p>
        </p:txBody>
      </p:sp>
      <p:sp>
        <p:nvSpPr>
          <p:cNvPr id="3" name="Content Placeholder 2">
            <a:extLst>
              <a:ext uri="{FF2B5EF4-FFF2-40B4-BE49-F238E27FC236}">
                <a16:creationId xmlns:a16="http://schemas.microsoft.com/office/drawing/2014/main" id="{FD1CAB83-5345-4851-A34A-8D9FBABB5791}"/>
              </a:ext>
            </a:extLst>
          </p:cNvPr>
          <p:cNvSpPr>
            <a:spLocks noGrp="1"/>
          </p:cNvSpPr>
          <p:nvPr>
            <p:ph idx="1"/>
          </p:nvPr>
        </p:nvSpPr>
        <p:spPr/>
        <p:txBody>
          <a:bodyPr/>
          <a:lstStyle/>
          <a:p>
            <a:pPr>
              <a:lnSpc>
                <a:spcPct val="100000"/>
              </a:lnSpc>
            </a:pPr>
            <a:r>
              <a:rPr lang="en-GB" dirty="0" err="1"/>
              <a:t>TutorialsPoint</a:t>
            </a:r>
            <a:r>
              <a:rPr lang="en-GB" dirty="0"/>
              <a:t> – Learn MySQL</a:t>
            </a:r>
          </a:p>
          <a:p>
            <a:pPr lvl="1">
              <a:lnSpc>
                <a:spcPct val="100000"/>
              </a:lnSpc>
            </a:pPr>
            <a:r>
              <a:rPr lang="en-GB" dirty="0">
                <a:hlinkClick r:id="rId2"/>
              </a:rPr>
              <a:t>https://www.tutorialspoint.com/mysql/index.htm</a:t>
            </a:r>
            <a:r>
              <a:rPr lang="en-GB" dirty="0"/>
              <a:t> </a:t>
            </a:r>
          </a:p>
        </p:txBody>
      </p:sp>
      <p:sp>
        <p:nvSpPr>
          <p:cNvPr id="4" name="Slide Number Placeholder 3">
            <a:extLst>
              <a:ext uri="{FF2B5EF4-FFF2-40B4-BE49-F238E27FC236}">
                <a16:creationId xmlns:a16="http://schemas.microsoft.com/office/drawing/2014/main" id="{D48ACFA0-CAB0-4572-96C1-F05AC64261D8}"/>
              </a:ext>
            </a:extLst>
          </p:cNvPr>
          <p:cNvSpPr>
            <a:spLocks noGrp="1"/>
          </p:cNvSpPr>
          <p:nvPr>
            <p:ph type="sldNum" sz="quarter" idx="12"/>
          </p:nvPr>
        </p:nvSpPr>
        <p:spPr/>
        <p:txBody>
          <a:bodyPr/>
          <a:lstStyle/>
          <a:p>
            <a:fld id="{8E9E4023-6F3A-457B-B0BB-8C1F114B424F}" type="slidenum">
              <a:rPr lang="en-SG" smtClean="0"/>
              <a:t>52</a:t>
            </a:fld>
            <a:endParaRPr lang="en-SG"/>
          </a:p>
        </p:txBody>
      </p:sp>
    </p:spTree>
    <p:extLst>
      <p:ext uri="{BB962C8B-B14F-4D97-AF65-F5344CB8AC3E}">
        <p14:creationId xmlns:p14="http://schemas.microsoft.com/office/powerpoint/2010/main" val="33220161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SG" dirty="0"/>
              <a:t>The End</a:t>
            </a:r>
          </a:p>
        </p:txBody>
      </p:sp>
      <p:sp>
        <p:nvSpPr>
          <p:cNvPr id="2" name="Slide Number Placeholder 1">
            <a:extLst>
              <a:ext uri="{FF2B5EF4-FFF2-40B4-BE49-F238E27FC236}">
                <a16:creationId xmlns:a16="http://schemas.microsoft.com/office/drawing/2014/main" id="{5560D1F0-3F78-4F63-8353-5B213B578FF0}"/>
              </a:ext>
            </a:extLst>
          </p:cNvPr>
          <p:cNvSpPr>
            <a:spLocks noGrp="1"/>
          </p:cNvSpPr>
          <p:nvPr>
            <p:ph type="sldNum" sz="quarter" idx="12"/>
          </p:nvPr>
        </p:nvSpPr>
        <p:spPr/>
        <p:txBody>
          <a:bodyPr/>
          <a:lstStyle/>
          <a:p>
            <a:fld id="{8E9E4023-6F3A-457B-B0BB-8C1F114B424F}" type="slidenum">
              <a:rPr lang="en-SG" smtClean="0"/>
              <a:pPr/>
              <a:t>53</a:t>
            </a:fld>
            <a:endParaRPr lang="en-SG"/>
          </a:p>
        </p:txBody>
      </p:sp>
    </p:spTree>
    <p:extLst>
      <p:ext uri="{BB962C8B-B14F-4D97-AF65-F5344CB8AC3E}">
        <p14:creationId xmlns:p14="http://schemas.microsoft.com/office/powerpoint/2010/main" val="12754758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0.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HTML Form and Controls II&amp;quot;&quot;/&gt;&lt;property id=&quot;20307&quot; value=&quot;256&quot;/&gt;&lt;/object&gt;&lt;object type=&quot;3&quot; unique_id=&quot;13467&quot;&gt;&lt;property id=&quot;20148&quot; value=&quot;5&quot;/&gt;&lt;property id=&quot;20300&quot; value=&quot;Slide 21 - &amp;quot;The End&amp;quot;&quot;/&gt;&lt;property id=&quot;20307&quot; value=&quot;288&quot;/&gt;&lt;/object&gt;&lt;object type=&quot;3&quot; unique_id=&quot;17361&quot;&gt;&lt;property id=&quot;20148&quot; value=&quot;5&quot;/&gt;&lt;property id=&quot;20300&quot; value=&quot;Slide 2 - &amp;quot;Objectives&amp;quot;&quot;/&gt;&lt;property id=&quot;20307&quot; value=&quot;289&quot;/&gt;&lt;/object&gt;&lt;object type=&quot;3&quot; unique_id=&quot;17362&quot;&gt;&lt;property id=&quot;20148&quot; value=&quot;5&quot;/&gt;&lt;property id=&quot;20300&quot; value=&quot;Slide 3 - &amp;quot;Tools Required&amp;quot;&quot;/&gt;&lt;property id=&quot;20307&quot; value=&quot;308&quot;/&gt;&lt;/object&gt;&lt;object type=&quot;3&quot; unique_id=&quot;17363&quot;&gt;&lt;property id=&quot;20148&quot; value=&quot;5&quot;/&gt;&lt;property id=&quot;20300&quot; value=&quot;Slide 4 - &amp;quot;GET AND POST&amp;quot;&quot;/&gt;&lt;property id=&quot;20307&quot; value=&quot;291&quot;/&gt;&lt;/object&gt;&lt;object type=&quot;3&quot; unique_id=&quot;17364&quot;&gt;&lt;property id=&quot;20148&quot; value=&quot;5&quot;/&gt;&lt;property id=&quot;20300&quot; value=&quot;Slide 5 - &amp;quot;HTTP Request Method: GET&amp;quot;&quot;/&gt;&lt;property id=&quot;20307&quot; value=&quot;292&quot;/&gt;&lt;/object&gt;&lt;object type=&quot;3&quot; unique_id=&quot;17365&quot;&gt;&lt;property id=&quot;20148&quot; value=&quot;5&quot;/&gt;&lt;property id=&quot;20300&quot; value=&quot;Slide 6 - &amp;quot;HTTP Request Method: POST&amp;quot;&quot;/&gt;&lt;property id=&quot;20307&quot; value=&quot;293&quot;/&gt;&lt;/object&gt;&lt;object type=&quot;3&quot; unique_id=&quot;17366&quot;&gt;&lt;property id=&quot;20148&quot; value=&quot;5&quot;/&gt;&lt;property id=&quot;20300&quot; value=&quot;Slide 7 - &amp;quot;GET vs POST&amp;quot;&quot;/&gt;&lt;property id=&quot;20307&quot; value=&quot;294&quot;/&gt;&lt;/object&gt;&lt;object type=&quot;3&quot; unique_id=&quot;17367&quot;&gt;&lt;property id=&quot;20148&quot; value=&quot;5&quot;/&gt;&lt;property id=&quot;20300&quot; value=&quot;Slide 8 - &amp;quot;When To Use?&amp;quot;&quot;/&gt;&lt;property id=&quot;20307&quot; value=&quot;295&quot;/&gt;&lt;/object&gt;&lt;object type=&quot;3&quot; unique_id=&quot;17368&quot;&gt;&lt;property id=&quot;20148&quot; value=&quot;5&quot;/&gt;&lt;property id=&quot;20300&quot; value=&quot;Slide 9 - &amp;quot;FORM ELEMENTS&amp;quot;&quot;/&gt;&lt;property id=&quot;20307&quot; value=&quot;296&quot;/&gt;&lt;/object&gt;&lt;object type=&quot;3&quot; unique_id=&quot;17369&quot;&gt;&lt;property id=&quot;20148&quot; value=&quot;5&quot;/&gt;&lt;property id=&quot;20300&quot; value=&quot;Slide 10 - &amp;quot;Label Element&amp;quot;&quot;/&gt;&lt;property id=&quot;20307&quot; value=&quot;297&quot;/&gt;&lt;/object&gt;&lt;object type=&quot;3&quot; unique_id=&quot;17370&quot;&gt;&lt;property id=&quot;20148&quot; value=&quot;5&quot;/&gt;&lt;property id=&quot;20300&quot; value=&quot;Slide 11 - &amp;quot;Input Element: Textbox&amp;quot;&quot;/&gt;&lt;property id=&quot;20307&quot; value=&quot;298&quot;/&gt;&lt;/object&gt;&lt;object type=&quot;3&quot; unique_id=&quot;17371&quot;&gt;&lt;property id=&quot;20148&quot; value=&quot;5&quot;/&gt;&lt;property id=&quot;20300&quot; value=&quot;Slide 12 - &amp;quot;Input Element: Checkbox&amp;quot;&quot;/&gt;&lt;property id=&quot;20307&quot; value=&quot;299&quot;/&gt;&lt;/object&gt;&lt;object type=&quot;3&quot; unique_id=&quot;17372&quot;&gt;&lt;property id=&quot;20148&quot; value=&quot;5&quot;/&gt;&lt;property id=&quot;20300&quot; value=&quot;Slide 13 - &amp;quot;Input Element: Radio Button&amp;quot;&quot;/&gt;&lt;property id=&quot;20307&quot; value=&quot;300&quot;/&gt;&lt;/object&gt;&lt;object type=&quot;3&quot; unique_id=&quot;17373&quot;&gt;&lt;property id=&quot;20148&quot; value=&quot;5&quot;/&gt;&lt;property id=&quot;20300&quot; value=&quot;Slide 14 - &amp;quot;Button Element&amp;quot;&quot;/&gt;&lt;property id=&quot;20307&quot; value=&quot;301&quot;/&gt;&lt;/object&gt;&lt;object type=&quot;3&quot; unique_id=&quot;17374&quot;&gt;&lt;property id=&quot;20148&quot; value=&quot;5&quot;/&gt;&lt;property id=&quot;20300&quot; value=&quot;Slide 15 - &amp;quot;Select Element&amp;quot;&quot;/&gt;&lt;property id=&quot;20307&quot; value=&quot;302&quot;/&gt;&lt;/object&gt;&lt;object type=&quot;3&quot; unique_id=&quot;17375&quot;&gt;&lt;property id=&quot;20148&quot; value=&quot;5&quot;/&gt;&lt;property id=&quot;20300&quot; value=&quot;Slide 16 - &amp;quot;Textarea Element&amp;quot;&quot;/&gt;&lt;property id=&quot;20307&quot; value=&quot;303&quot;/&gt;&lt;/object&gt;&lt;object type=&quot;3&quot; unique_id=&quot;17376&quot;&gt;&lt;property id=&quot;20148&quot; value=&quot;5&quot;/&gt;&lt;property id=&quot;20300&quot; value=&quot;Slide 17 - &amp;quot;Other Elements in HTML5&amp;quot;&quot;/&gt;&lt;property id=&quot;20307&quot; value=&quot;304&quot;/&gt;&lt;/object&gt;&lt;object type=&quot;3&quot; unique_id=&quot;17377&quot;&gt;&lt;property id=&quot;20148&quot; value=&quot;5&quot;/&gt;&lt;property id=&quot;20300&quot; value=&quot;Slide 18 - &amp;quot;Iframe Element&amp;quot;&quot;/&gt;&lt;property id=&quot;20307&quot; value=&quot;305&quot;/&gt;&lt;/object&gt;&lt;object type=&quot;3&quot; unique_id=&quot;17378&quot;&gt;&lt;property id=&quot;20148&quot; value=&quot;5&quot;/&gt;&lt;property id=&quot;20300&quot; value=&quot;Slide 19 - &amp;quot;Compatibilities and Support&amp;quot;&quot;/&gt;&lt;property id=&quot;20307&quot; value=&quot;306&quot;/&gt;&lt;/object&gt;&lt;object type=&quot;3&quot; unique_id=&quot;17379&quot;&gt;&lt;property id=&quot;20148&quot; value=&quot;5&quot;/&gt;&lt;property id=&quot;20300&quot; value=&quot;Slide 20 - &amp;quot;challenge&amp;quot;&quot;/&gt;&lt;property id=&quot;20307&quot; value=&quot;307&quot;/&gt;&lt;/object&gt;&lt;/object&gt;&lt;/object&gt;&lt;/database&gt;"/>
  <p:tag name="SECTOMILLISECCONVERTED" val="1"/>
</p:tagLst>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8804</TotalTime>
  <Words>3592</Words>
  <Application>Microsoft Office PowerPoint</Application>
  <PresentationFormat>Widescreen</PresentationFormat>
  <Paragraphs>480</Paragraphs>
  <Slides>53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53</vt:i4>
      </vt:variant>
    </vt:vector>
  </HeadingPairs>
  <TitlesOfParts>
    <vt:vector size="64" baseType="lpstr">
      <vt:lpstr>ＭＳ Ｐゴシック</vt:lpstr>
      <vt:lpstr>Arial</vt:lpstr>
      <vt:lpstr>Arial Unicode MS</vt:lpstr>
      <vt:lpstr>Calibri</vt:lpstr>
      <vt:lpstr>Calisto MT</vt:lpstr>
      <vt:lpstr>Courier</vt:lpstr>
      <vt:lpstr>Roboto</vt:lpstr>
      <vt:lpstr>Roboto light</vt:lpstr>
      <vt:lpstr>Verdana</vt:lpstr>
      <vt:lpstr>Wingdings</vt:lpstr>
      <vt:lpstr>Office Theme</vt:lpstr>
      <vt:lpstr>Introduction to SQL</vt:lpstr>
      <vt:lpstr>Objectives</vt:lpstr>
      <vt:lpstr>Tools Required</vt:lpstr>
      <vt:lpstr>Introduction TO DATABASE</vt:lpstr>
      <vt:lpstr>What is a Database?</vt:lpstr>
      <vt:lpstr>Relational Database</vt:lpstr>
      <vt:lpstr>Table</vt:lpstr>
      <vt:lpstr>MySQL Database</vt:lpstr>
      <vt:lpstr>Creating a Database Schema</vt:lpstr>
      <vt:lpstr>Creating a Database Schema</vt:lpstr>
      <vt:lpstr>Connecting to Database</vt:lpstr>
      <vt:lpstr>Connecting to Database</vt:lpstr>
      <vt:lpstr>Creating a Database Schema</vt:lpstr>
      <vt:lpstr>Creating a Database Schema</vt:lpstr>
      <vt:lpstr>Creating a Database Schema</vt:lpstr>
      <vt:lpstr>Creating a Database Schema</vt:lpstr>
      <vt:lpstr>Adding Acknowledgement Modal Window</vt:lpstr>
      <vt:lpstr>Introduction TO SQL</vt:lpstr>
      <vt:lpstr>What is SQL?</vt:lpstr>
      <vt:lpstr>Why SQL?</vt:lpstr>
      <vt:lpstr>A Brief History of SQL</vt:lpstr>
      <vt:lpstr>Data Types - MySQL</vt:lpstr>
      <vt:lpstr>Numeric Data Types</vt:lpstr>
      <vt:lpstr>Date and Time Data Types</vt:lpstr>
      <vt:lpstr>String Data Types</vt:lpstr>
      <vt:lpstr>Creating Table</vt:lpstr>
      <vt:lpstr>Creating Table</vt:lpstr>
      <vt:lpstr>Creating Table</vt:lpstr>
      <vt:lpstr>Creating Table</vt:lpstr>
      <vt:lpstr>Creating Table</vt:lpstr>
      <vt:lpstr>Creating Table</vt:lpstr>
      <vt:lpstr>Drop Table</vt:lpstr>
      <vt:lpstr>Insert Query</vt:lpstr>
      <vt:lpstr>Insert Query</vt:lpstr>
      <vt:lpstr>Insert Query</vt:lpstr>
      <vt:lpstr>Insert Query</vt:lpstr>
      <vt:lpstr>Try it!</vt:lpstr>
      <vt:lpstr>SELECT Query</vt:lpstr>
      <vt:lpstr>SELECT Query – WHERE Clause</vt:lpstr>
      <vt:lpstr>Try it!</vt:lpstr>
      <vt:lpstr>UPDATE Query</vt:lpstr>
      <vt:lpstr>Try It!</vt:lpstr>
      <vt:lpstr>Delete Query</vt:lpstr>
      <vt:lpstr>LIKE Clause</vt:lpstr>
      <vt:lpstr>LIKE Clause</vt:lpstr>
      <vt:lpstr>Sorting Results</vt:lpstr>
      <vt:lpstr>Normalization (1NF, 2NF)</vt:lpstr>
      <vt:lpstr>First Normal Form (1NF)</vt:lpstr>
      <vt:lpstr>First Normal Form (1NF)</vt:lpstr>
      <vt:lpstr>Second Normal Form (2NF)</vt:lpstr>
      <vt:lpstr>Third Normal Form (3NF)</vt:lpstr>
      <vt:lpstr>Reference</vt:lpstr>
      <vt:lpstr>The End</vt:lpstr>
    </vt:vector>
  </TitlesOfParts>
  <Manager/>
  <Company>Temasek Polytechnic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SQL</dc:title>
  <dc:subject>Coding and Testing</dc:subject>
  <dc:creator>Tan Sio Poh</dc:creator>
  <cp:keywords>CODT, CIT1C16, ADEV, CIT1C17, Introduction to SQL</cp:keywords>
  <dc:description/>
  <cp:lastModifiedBy>Andrew TAN (TP)</cp:lastModifiedBy>
  <cp:revision>725</cp:revision>
  <dcterms:created xsi:type="dcterms:W3CDTF">2016-03-04T00:57:19Z</dcterms:created>
  <dcterms:modified xsi:type="dcterms:W3CDTF">2021-11-14T10:00:02Z</dcterms:modified>
  <cp:category>Software Cluster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bcb20ed-001a-45f4-b2e7-234c5fc91178_Enabled">
    <vt:lpwstr>True</vt:lpwstr>
  </property>
  <property fmtid="{D5CDD505-2E9C-101B-9397-08002B2CF9AE}" pid="3" name="MSIP_Label_4bcb20ed-001a-45f4-b2e7-234c5fc91178_SiteId">
    <vt:lpwstr>25a99bf0-8e72-472a-ae50-adfbdf0df6f1</vt:lpwstr>
  </property>
  <property fmtid="{D5CDD505-2E9C-101B-9397-08002B2CF9AE}" pid="4" name="MSIP_Label_4bcb20ed-001a-45f4-b2e7-234c5fc91178_Owner">
    <vt:lpwstr>andrewt@TP.EDU.SG</vt:lpwstr>
  </property>
  <property fmtid="{D5CDD505-2E9C-101B-9397-08002B2CF9AE}" pid="5" name="MSIP_Label_4bcb20ed-001a-45f4-b2e7-234c5fc91178_SetDate">
    <vt:lpwstr>2021-11-14T10:00:01.4917821Z</vt:lpwstr>
  </property>
  <property fmtid="{D5CDD505-2E9C-101B-9397-08002B2CF9AE}" pid="6" name="MSIP_Label_4bcb20ed-001a-45f4-b2e7-234c5fc91178_Name">
    <vt:lpwstr>OFFICIAL (CLOSED)</vt:lpwstr>
  </property>
  <property fmtid="{D5CDD505-2E9C-101B-9397-08002B2CF9AE}" pid="7" name="MSIP_Label_4bcb20ed-001a-45f4-b2e7-234c5fc91178_Application">
    <vt:lpwstr>Microsoft Azure Information Protection</vt:lpwstr>
  </property>
  <property fmtid="{D5CDD505-2E9C-101B-9397-08002B2CF9AE}" pid="8" name="MSIP_Label_4bcb20ed-001a-45f4-b2e7-234c5fc91178_ActionId">
    <vt:lpwstr>df4c0703-417c-4e05-b1aa-04ba7e453a11</vt:lpwstr>
  </property>
  <property fmtid="{D5CDD505-2E9C-101B-9397-08002B2CF9AE}" pid="9" name="MSIP_Label_4bcb20ed-001a-45f4-b2e7-234c5fc91178_Extended_MSFT_Method">
    <vt:lpwstr>Automatic</vt:lpwstr>
  </property>
  <property fmtid="{D5CDD505-2E9C-101B-9397-08002B2CF9AE}" pid="10" name="MSIP_Label_f69d7fc4-da81-42e5-b309-526f71322d86_Enabled">
    <vt:lpwstr>True</vt:lpwstr>
  </property>
  <property fmtid="{D5CDD505-2E9C-101B-9397-08002B2CF9AE}" pid="11" name="MSIP_Label_f69d7fc4-da81-42e5-b309-526f71322d86_SiteId">
    <vt:lpwstr>25a99bf0-8e72-472a-ae50-adfbdf0df6f1</vt:lpwstr>
  </property>
  <property fmtid="{D5CDD505-2E9C-101B-9397-08002B2CF9AE}" pid="12" name="MSIP_Label_f69d7fc4-da81-42e5-b309-526f71322d86_Owner">
    <vt:lpwstr>andrewt@TP.EDU.SG</vt:lpwstr>
  </property>
  <property fmtid="{D5CDD505-2E9C-101B-9397-08002B2CF9AE}" pid="13" name="MSIP_Label_f69d7fc4-da81-42e5-b309-526f71322d86_SetDate">
    <vt:lpwstr>2021-11-14T10:00:01.4917821Z</vt:lpwstr>
  </property>
  <property fmtid="{D5CDD505-2E9C-101B-9397-08002B2CF9AE}" pid="14" name="MSIP_Label_f69d7fc4-da81-42e5-b309-526f71322d86_Name">
    <vt:lpwstr>NON-SENSITIVE</vt:lpwstr>
  </property>
  <property fmtid="{D5CDD505-2E9C-101B-9397-08002B2CF9AE}" pid="15" name="MSIP_Label_f69d7fc4-da81-42e5-b309-526f71322d86_Application">
    <vt:lpwstr>Microsoft Azure Information Protection</vt:lpwstr>
  </property>
  <property fmtid="{D5CDD505-2E9C-101B-9397-08002B2CF9AE}" pid="16" name="MSIP_Label_f69d7fc4-da81-42e5-b309-526f71322d86_ActionId">
    <vt:lpwstr>df4c0703-417c-4e05-b1aa-04ba7e453a11</vt:lpwstr>
  </property>
  <property fmtid="{D5CDD505-2E9C-101B-9397-08002B2CF9AE}" pid="17" name="MSIP_Label_f69d7fc4-da81-42e5-b309-526f71322d86_Parent">
    <vt:lpwstr>4bcb20ed-001a-45f4-b2e7-234c5fc91178</vt:lpwstr>
  </property>
  <property fmtid="{D5CDD505-2E9C-101B-9397-08002B2CF9AE}" pid="18" name="MSIP_Label_f69d7fc4-da81-42e5-b309-526f71322d86_Extended_MSFT_Method">
    <vt:lpwstr>Automatic</vt:lpwstr>
  </property>
  <property fmtid="{D5CDD505-2E9C-101B-9397-08002B2CF9AE}" pid="19" name="Sensitivity">
    <vt:lpwstr>OFFICIAL (CLOSED) NON-SENSITIVE</vt:lpwstr>
  </property>
</Properties>
</file>