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89" r:id="rId3"/>
    <p:sldId id="373" r:id="rId4"/>
    <p:sldId id="427" r:id="rId5"/>
    <p:sldId id="428" r:id="rId6"/>
    <p:sldId id="429" r:id="rId7"/>
    <p:sldId id="402" r:id="rId8"/>
    <p:sldId id="376" r:id="rId9"/>
    <p:sldId id="404" r:id="rId10"/>
    <p:sldId id="405" r:id="rId11"/>
    <p:sldId id="380" r:id="rId12"/>
    <p:sldId id="430" r:id="rId13"/>
    <p:sldId id="431" r:id="rId14"/>
    <p:sldId id="432" r:id="rId15"/>
    <p:sldId id="406" r:id="rId16"/>
    <p:sldId id="408" r:id="rId17"/>
    <p:sldId id="409" r:id="rId18"/>
    <p:sldId id="382" r:id="rId19"/>
    <p:sldId id="411" r:id="rId20"/>
    <p:sldId id="412" r:id="rId21"/>
    <p:sldId id="415" r:id="rId22"/>
    <p:sldId id="416" r:id="rId23"/>
    <p:sldId id="418" r:id="rId24"/>
    <p:sldId id="433" r:id="rId25"/>
    <p:sldId id="434" r:id="rId26"/>
    <p:sldId id="435" r:id="rId27"/>
    <p:sldId id="436" r:id="rId28"/>
    <p:sldId id="437" r:id="rId29"/>
    <p:sldId id="426" r:id="rId30"/>
    <p:sldId id="422" r:id="rId31"/>
    <p:sldId id="423" r:id="rId32"/>
    <p:sldId id="288" r:id="rId33"/>
  </p:sldIdLst>
  <p:sldSz cx="12192000" cy="6858000"/>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lena Saleh" initials="SS"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34ABD"/>
    <a:srgbClr val="86553A"/>
    <a:srgbClr val="1CADE4"/>
    <a:srgbClr val="007DDA"/>
    <a:srgbClr val="FAD22C"/>
    <a:srgbClr val="61C5FF"/>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067B83-030A-41EC-BFE3-DF94773F042C}" v="10" dt="2018-09-28T07:08:40.1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47" autoAdjust="0"/>
    <p:restoredTop sz="93887" autoAdjust="0"/>
  </p:normalViewPr>
  <p:slideViewPr>
    <p:cSldViewPr snapToGrid="0">
      <p:cViewPr varScale="1">
        <p:scale>
          <a:sx n="107" d="100"/>
          <a:sy n="107" d="100"/>
        </p:scale>
        <p:origin x="942"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m Su Yi" userId="43bb02ba-2a64-4c57-886a-7f9577835f3c" providerId="ADAL" clId="{F0067B83-030A-41EC-BFE3-DF94773F042C}"/>
    <pc:docChg chg="modMainMaster">
      <pc:chgData name="Lam Su Yi" userId="43bb02ba-2a64-4c57-886a-7f9577835f3c" providerId="ADAL" clId="{F0067B83-030A-41EC-BFE3-DF94773F042C}" dt="2018-09-28T07:08:40.157" v="9" actId="20577"/>
      <pc:docMkLst>
        <pc:docMk/>
      </pc:docMkLst>
      <pc:sldMasterChg chg="modSldLayout">
        <pc:chgData name="Lam Su Yi" userId="43bb02ba-2a64-4c57-886a-7f9577835f3c" providerId="ADAL" clId="{F0067B83-030A-41EC-BFE3-DF94773F042C}" dt="2018-09-28T07:08:40.157" v="9" actId="20577"/>
        <pc:sldMasterMkLst>
          <pc:docMk/>
          <pc:sldMasterMk cId="758345117" sldId="2147483672"/>
        </pc:sldMasterMkLst>
        <pc:sldLayoutChg chg="modSp">
          <pc:chgData name="Lam Su Yi" userId="43bb02ba-2a64-4c57-886a-7f9577835f3c" providerId="ADAL" clId="{F0067B83-030A-41EC-BFE3-DF94773F042C}" dt="2018-09-28T07:08:40.157" v="9" actId="20577"/>
          <pc:sldLayoutMkLst>
            <pc:docMk/>
            <pc:sldMasterMk cId="758345117" sldId="2147483672"/>
            <pc:sldLayoutMk cId="1526603819" sldId="2147483673"/>
          </pc:sldLayoutMkLst>
          <pc:spChg chg="mod">
            <ac:chgData name="Lam Su Yi" userId="43bb02ba-2a64-4c57-886a-7f9577835f3c" providerId="ADAL" clId="{F0067B83-030A-41EC-BFE3-DF94773F042C}" dt="2018-09-28T01:21:14.700" v="4" actId="20577"/>
            <ac:spMkLst>
              <pc:docMk/>
              <pc:sldMasterMk cId="758345117" sldId="2147483672"/>
              <pc:sldLayoutMk cId="1526603819" sldId="2147483673"/>
              <ac:spMk id="12" creationId="{00000000-0000-0000-0000-000000000000}"/>
            </ac:spMkLst>
          </pc:spChg>
          <pc:spChg chg="mod">
            <ac:chgData name="Lam Su Yi" userId="43bb02ba-2a64-4c57-886a-7f9577835f3c" providerId="ADAL" clId="{F0067B83-030A-41EC-BFE3-DF94773F042C}" dt="2018-09-28T07:08:40.157" v="9" actId="20577"/>
            <ac:spMkLst>
              <pc:docMk/>
              <pc:sldMasterMk cId="758345117" sldId="2147483672"/>
              <pc:sldLayoutMk cId="1526603819" sldId="2147483673"/>
              <ac:spMk id="16"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7268A-7AE4-432A-9318-AFE0CD5AF515}" type="datetimeFigureOut">
              <a:rPr lang="en-SG" smtClean="0"/>
              <a:t>23/9/2021</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443D8-64E2-477C-8585-147863024541}" type="slidenum">
              <a:rPr lang="en-SG" smtClean="0"/>
              <a:t>‹#›</a:t>
            </a:fld>
            <a:endParaRPr lang="en-SG"/>
          </a:p>
        </p:txBody>
      </p:sp>
    </p:spTree>
    <p:extLst>
      <p:ext uri="{BB962C8B-B14F-4D97-AF65-F5344CB8AC3E}">
        <p14:creationId xmlns:p14="http://schemas.microsoft.com/office/powerpoint/2010/main" val="851762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https://wireframe.cc/JqpQUx</a:t>
            </a:r>
          </a:p>
        </p:txBody>
      </p:sp>
      <p:sp>
        <p:nvSpPr>
          <p:cNvPr id="4" name="Slide Number Placeholder 3"/>
          <p:cNvSpPr>
            <a:spLocks noGrp="1"/>
          </p:cNvSpPr>
          <p:nvPr>
            <p:ph type="sldNum" sz="quarter" idx="10"/>
          </p:nvPr>
        </p:nvSpPr>
        <p:spPr/>
        <p:txBody>
          <a:bodyPr/>
          <a:lstStyle/>
          <a:p>
            <a:fld id="{E15443D8-64E2-477C-8585-147863024541}" type="slidenum">
              <a:rPr lang="en-SG" smtClean="0"/>
              <a:t>9</a:t>
            </a:fld>
            <a:endParaRPr lang="en-SG"/>
          </a:p>
        </p:txBody>
      </p:sp>
    </p:spTree>
    <p:extLst>
      <p:ext uri="{BB962C8B-B14F-4D97-AF65-F5344CB8AC3E}">
        <p14:creationId xmlns:p14="http://schemas.microsoft.com/office/powerpoint/2010/main" val="2199478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uk-UA" smtClean="0"/>
              <a:t>11</a:t>
            </a:fld>
            <a:endParaRPr lang="uk-UA"/>
          </a:p>
        </p:txBody>
      </p:sp>
    </p:spTree>
    <p:extLst>
      <p:ext uri="{BB962C8B-B14F-4D97-AF65-F5344CB8AC3E}">
        <p14:creationId xmlns:p14="http://schemas.microsoft.com/office/powerpoint/2010/main" val="1732958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uk-UA" smtClean="0"/>
              <a:t>12</a:t>
            </a:fld>
            <a:endParaRPr lang="uk-UA"/>
          </a:p>
        </p:txBody>
      </p:sp>
    </p:spTree>
    <p:extLst>
      <p:ext uri="{BB962C8B-B14F-4D97-AF65-F5344CB8AC3E}">
        <p14:creationId xmlns:p14="http://schemas.microsoft.com/office/powerpoint/2010/main" val="733303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uk-UA" smtClean="0"/>
              <a:t>13</a:t>
            </a:fld>
            <a:endParaRPr lang="uk-UA"/>
          </a:p>
        </p:txBody>
      </p:sp>
    </p:spTree>
    <p:extLst>
      <p:ext uri="{BB962C8B-B14F-4D97-AF65-F5344CB8AC3E}">
        <p14:creationId xmlns:p14="http://schemas.microsoft.com/office/powerpoint/2010/main" val="1396722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uk-UA" smtClean="0"/>
              <a:t>14</a:t>
            </a:fld>
            <a:endParaRPr lang="uk-UA"/>
          </a:p>
        </p:txBody>
      </p:sp>
    </p:spTree>
    <p:extLst>
      <p:ext uri="{BB962C8B-B14F-4D97-AF65-F5344CB8AC3E}">
        <p14:creationId xmlns:p14="http://schemas.microsoft.com/office/powerpoint/2010/main" val="38907226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0" y="1"/>
            <a:ext cx="9269729" cy="6096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userDrawn="1"/>
        </p:nvSpPr>
        <p:spPr>
          <a:xfrm>
            <a:off x="9349740" y="2"/>
            <a:ext cx="2845841" cy="6096000"/>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79119" y="1445341"/>
            <a:ext cx="6770539" cy="2195327"/>
          </a:xfrm>
        </p:spPr>
        <p:txBody>
          <a:bodyPr anchor="b">
            <a:normAutofit/>
          </a:bodyPr>
          <a:lstStyle>
            <a:lvl1pPr algn="l">
              <a:defRPr sz="4000" b="0">
                <a:solidFill>
                  <a:schemeClr val="bg1"/>
                </a:solidFill>
                <a:latin typeface="+mn-lt"/>
              </a:defRPr>
            </a:lvl1pPr>
          </a:lstStyle>
          <a:p>
            <a:r>
              <a:rPr lang="en-US" dirty="0"/>
              <a:t>Click to edit Master title style</a:t>
            </a:r>
            <a:endParaRPr lang="en-SG" dirty="0"/>
          </a:p>
        </p:txBody>
      </p:sp>
      <p:sp>
        <p:nvSpPr>
          <p:cNvPr id="3" name="Subtitle 2"/>
          <p:cNvSpPr>
            <a:spLocks noGrp="1"/>
          </p:cNvSpPr>
          <p:nvPr>
            <p:ph type="subTitle" idx="1"/>
          </p:nvPr>
        </p:nvSpPr>
        <p:spPr>
          <a:xfrm>
            <a:off x="579119" y="3732744"/>
            <a:ext cx="6735463" cy="1655762"/>
          </a:xfrm>
        </p:spPr>
        <p:txBody>
          <a:bodyPr>
            <a:normAutofit/>
          </a:bodyPr>
          <a:lstStyle>
            <a:lvl1pPr marL="0" indent="0" algn="l">
              <a:buNone/>
              <a:defRPr sz="22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SG" dirty="0"/>
          </a:p>
        </p:txBody>
      </p:sp>
      <p:sp>
        <p:nvSpPr>
          <p:cNvPr id="6" name="Slide Number Placeholder 5"/>
          <p:cNvSpPr>
            <a:spLocks noGrp="1"/>
          </p:cNvSpPr>
          <p:nvPr>
            <p:ph type="sldNum" sz="quarter" idx="12"/>
          </p:nvPr>
        </p:nvSpPr>
        <p:spPr>
          <a:xfrm>
            <a:off x="10441857" y="6356350"/>
            <a:ext cx="1692869" cy="365125"/>
          </a:xfrm>
        </p:spPr>
        <p:txBody>
          <a:bodyPr/>
          <a:lstStyle>
            <a:lvl1pPr algn="ctr">
              <a:defRPr/>
            </a:lvl1pPr>
          </a:lstStyle>
          <a:p>
            <a:fld id="{8E9E4023-6F3A-457B-B0BB-8C1F114B424F}" type="slidenum">
              <a:rPr lang="en-SG" smtClean="0"/>
              <a:pPr/>
              <a:t>‹#›</a:t>
            </a:fld>
            <a:endParaRPr lang="en-SG"/>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3912" y="593958"/>
            <a:ext cx="4324551" cy="533504"/>
          </a:xfrm>
          <a:prstGeom prst="rect">
            <a:avLst/>
          </a:prstGeom>
          <a:effectLst>
            <a:outerShdw blurRad="50800" dist="25400" dir="2700000" algn="tl" rotWithShape="0">
              <a:prstClr val="black">
                <a:alpha val="33000"/>
              </a:prstClr>
            </a:outerShdw>
          </a:effectLst>
        </p:spPr>
      </p:pic>
      <p:sp>
        <p:nvSpPr>
          <p:cNvPr id="16" name="Rectangle 15"/>
          <p:cNvSpPr/>
          <p:nvPr userDrawn="1"/>
        </p:nvSpPr>
        <p:spPr>
          <a:xfrm>
            <a:off x="9352667" y="291179"/>
            <a:ext cx="2782059" cy="1569660"/>
          </a:xfrm>
          <a:prstGeom prst="rect">
            <a:avLst/>
          </a:prstGeom>
          <a:effectLst>
            <a:reflection blurRad="6350" stA="50000" endA="300" endPos="55500" dist="50800" dir="5400000" sy="-100000" algn="bl" rotWithShape="0"/>
          </a:effectLst>
        </p:spPr>
        <p:txBody>
          <a:bodyPr wrap="square">
            <a:spAutoFit/>
          </a:bodyPr>
          <a:lstStyle/>
          <a:p>
            <a:pPr algn="ctr"/>
            <a:r>
              <a:rPr lang="en-SG" sz="4800" b="1" spc="80" dirty="0">
                <a:solidFill>
                  <a:schemeClr val="bg1"/>
                </a:solidFill>
                <a:effectLst>
                  <a:reflection blurRad="6350" stA="60000" endA="900" endPos="60000" dist="25400" dir="5400000" sy="-100000" algn="bl" rotWithShape="0"/>
                </a:effectLst>
                <a:latin typeface="Roboto" pitchFamily="2" charset="0"/>
                <a:ea typeface="Roboto" pitchFamily="2" charset="0"/>
                <a:cs typeface="Calibri" panose="020F0502020204030204" pitchFamily="34" charset="0"/>
              </a:rPr>
              <a:t>CDEV</a:t>
            </a:r>
          </a:p>
          <a:p>
            <a:pPr algn="ctr"/>
            <a:r>
              <a:rPr lang="en-SG" sz="4800" b="1" spc="80" dirty="0">
                <a:solidFill>
                  <a:schemeClr val="bg1"/>
                </a:solidFill>
                <a:effectLst>
                  <a:reflection blurRad="6350" stA="60000" endA="900" endPos="60000" dist="25400" dir="5400000" sy="-100000" algn="bl" rotWithShape="0"/>
                </a:effectLst>
                <a:latin typeface="Roboto" pitchFamily="2" charset="0"/>
                <a:ea typeface="Roboto" pitchFamily="2" charset="0"/>
                <a:cs typeface="Calibri" panose="020F0502020204030204" pitchFamily="34" charset="0"/>
              </a:rPr>
              <a:t>DBAV</a:t>
            </a:r>
            <a:endParaRPr lang="en-SG" sz="4800" spc="80" dirty="0">
              <a:solidFill>
                <a:schemeClr val="bg1"/>
              </a:solidFill>
              <a:effectLst>
                <a:reflection blurRad="6350" stA="60000" endA="900" endPos="60000" dist="25400" dir="5400000" sy="-100000" algn="bl" rotWithShape="0"/>
              </a:effectLst>
              <a:latin typeface="Roboto light" pitchFamily="2" charset="0"/>
              <a:ea typeface="Roboto light" pitchFamily="2" charset="0"/>
              <a:cs typeface="Calibri" panose="020F0502020204030204" pitchFamily="34" charset="0"/>
            </a:endParaRPr>
          </a:p>
        </p:txBody>
      </p:sp>
      <p:sp>
        <p:nvSpPr>
          <p:cNvPr id="12" name="Rectangle 11"/>
          <p:cNvSpPr/>
          <p:nvPr userDrawn="1"/>
        </p:nvSpPr>
        <p:spPr>
          <a:xfrm>
            <a:off x="483724" y="6166170"/>
            <a:ext cx="8866016" cy="507831"/>
          </a:xfrm>
          <a:prstGeom prst="rect">
            <a:avLst/>
          </a:prstGeom>
        </p:spPr>
        <p:txBody>
          <a:bodyPr wrap="square">
            <a:spAutoFit/>
          </a:bodyPr>
          <a:lstStyle/>
          <a:p>
            <a:pPr algn="r"/>
            <a:r>
              <a:rPr lang="en-SG" sz="1400" b="1" spc="80" dirty="0">
                <a:solidFill>
                  <a:schemeClr val="bg2">
                    <a:lumMod val="50000"/>
                  </a:schemeClr>
                </a:solidFill>
                <a:latin typeface="Calibri" panose="020F0502020204030204" pitchFamily="34" charset="0"/>
                <a:cs typeface="Calibri" panose="020F0502020204030204" pitchFamily="34" charset="0"/>
              </a:rPr>
              <a:t>SOFTWARE</a:t>
            </a:r>
            <a:r>
              <a:rPr lang="en-SG" sz="1400" spc="80" dirty="0">
                <a:solidFill>
                  <a:schemeClr val="bg2">
                    <a:lumMod val="50000"/>
                  </a:schemeClr>
                </a:solidFill>
                <a:latin typeface="Calibri" panose="020F0502020204030204" pitchFamily="34" charset="0"/>
                <a:cs typeface="Calibri" panose="020F0502020204030204" pitchFamily="34" charset="0"/>
              </a:rPr>
              <a:t> CLUSTER</a:t>
            </a:r>
            <a:r>
              <a:rPr lang="en-SG" sz="1200" spc="80" dirty="0">
                <a:solidFill>
                  <a:srgbClr val="0070C0"/>
                </a:solidFill>
                <a:latin typeface="Calibri" panose="020F0502020204030204" pitchFamily="34" charset="0"/>
                <a:cs typeface="Calibri" panose="020F0502020204030204" pitchFamily="34" charset="0"/>
              </a:rPr>
              <a:t> </a:t>
            </a:r>
            <a:br>
              <a:rPr lang="en-SG" sz="1200" spc="80" dirty="0">
                <a:solidFill>
                  <a:srgbClr val="0070C0"/>
                </a:solidFill>
                <a:latin typeface="Calibri" panose="020F0502020204030204" pitchFamily="34" charset="0"/>
                <a:cs typeface="Calibri" panose="020F0502020204030204" pitchFamily="34" charset="0"/>
              </a:rPr>
            </a:br>
            <a:r>
              <a:rPr lang="en-SG" sz="1200" spc="80" dirty="0">
                <a:solidFill>
                  <a:srgbClr val="0070C0"/>
                </a:solidFill>
                <a:latin typeface="Calibri" panose="020F0502020204030204" pitchFamily="34" charset="0"/>
                <a:cs typeface="Calibri" panose="020F0502020204030204" pitchFamily="34" charset="0"/>
              </a:rPr>
              <a:t>[ CDEV • Coding and Development Project ] [ DBAV • Database Application Development ]</a:t>
            </a:r>
            <a:endParaRPr lang="en-US" sz="1200" spc="80" dirty="0">
              <a:solidFill>
                <a:srgbClr val="0070C0"/>
              </a:solidFill>
              <a:latin typeface="Calibri" panose="020F0502020204030204" pitchFamily="34" charset="0"/>
              <a:cs typeface="Calibri" panose="020F0502020204030204" pitchFamily="34" charset="0"/>
            </a:endParaRPr>
          </a:p>
        </p:txBody>
      </p:sp>
      <p:grpSp>
        <p:nvGrpSpPr>
          <p:cNvPr id="13" name="Group 12"/>
          <p:cNvGrpSpPr/>
          <p:nvPr userDrawn="1"/>
        </p:nvGrpSpPr>
        <p:grpSpPr>
          <a:xfrm>
            <a:off x="7464598" y="2544224"/>
            <a:ext cx="4648963" cy="3765492"/>
            <a:chOff x="7464598" y="2544224"/>
            <a:chExt cx="4648963" cy="3765492"/>
          </a:xfrm>
          <a:effectLst>
            <a:outerShdw blurRad="38100" dist="25400" dir="2700000" algn="tl" rotWithShape="0">
              <a:prstClr val="black">
                <a:alpha val="28000"/>
              </a:prstClr>
            </a:outerShdw>
          </a:effectLst>
        </p:grpSpPr>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081551" y="4482380"/>
              <a:ext cx="1032010" cy="850475"/>
            </a:xfrm>
            <a:prstGeom prst="rect">
              <a:avLst/>
            </a:prstGeom>
          </p:spPr>
        </p:pic>
        <p:pic>
          <p:nvPicPr>
            <p:cNvPr id="17" name="Picture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464598" y="2544224"/>
              <a:ext cx="3896323" cy="3765492"/>
            </a:xfrm>
            <a:prstGeom prst="rect">
              <a:avLst/>
            </a:prstGeom>
          </p:spPr>
        </p:pic>
      </p:grpSp>
    </p:spTree>
    <p:extLst>
      <p:ext uri="{BB962C8B-B14F-4D97-AF65-F5344CB8AC3E}">
        <p14:creationId xmlns:p14="http://schemas.microsoft.com/office/powerpoint/2010/main" val="1526603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0C0"/>
                </a:solidFill>
              </a:defRPr>
            </a:lvl1pPr>
          </a:lstStyle>
          <a:p>
            <a:r>
              <a:rPr lang="en-US" dirty="0"/>
              <a:t>Click to edit Master title style</a:t>
            </a:r>
            <a:endParaRPr lang="en-SG"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6" name="Slide Number Placeholder 5"/>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485431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solidFill>
          <a:srgbClr val="0070C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2774" y="3917739"/>
            <a:ext cx="10336161" cy="819784"/>
          </a:xfrm>
        </p:spPr>
        <p:txBody>
          <a:bodyPr>
            <a:normAutofit/>
          </a:bodyPr>
          <a:lstStyle>
            <a:lvl1pPr algn="ctr">
              <a:defRPr sz="4800" b="1">
                <a:solidFill>
                  <a:schemeClr val="bg1"/>
                </a:solidFill>
              </a:defRPr>
            </a:lvl1pPr>
          </a:lstStyle>
          <a:p>
            <a:r>
              <a:rPr lang="en-US" dirty="0"/>
              <a:t>Click to edit Master title style</a:t>
            </a:r>
            <a:endParaRPr lang="en-SG"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8E9E4023-6F3A-457B-B0BB-8C1F114B424F}" type="slidenum">
              <a:rPr lang="en-SG" smtClean="0"/>
              <a:pPr/>
              <a:t>‹#›</a:t>
            </a:fld>
            <a:endParaRPr lang="en-SG"/>
          </a:p>
        </p:txBody>
      </p:sp>
      <p:sp>
        <p:nvSpPr>
          <p:cNvPr id="5" name="Rectangle 4"/>
          <p:cNvSpPr/>
          <p:nvPr userDrawn="1"/>
        </p:nvSpPr>
        <p:spPr>
          <a:xfrm>
            <a:off x="0" y="5011843"/>
            <a:ext cx="9141619" cy="14973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73476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12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1pPr>
              <a:defRPr>
                <a:latin typeface="Arial Unicode MS" charset="0"/>
                <a:ea typeface="Arial Unicode MS" charset="0"/>
                <a:cs typeface="Arial Unicode MS" charset="0"/>
              </a:defRPr>
            </a:lvl1pPr>
            <a:lvl2pPr>
              <a:defRPr>
                <a:latin typeface="Arial Unicode MS" charset="0"/>
                <a:ea typeface="Arial Unicode MS" charset="0"/>
                <a:cs typeface="Arial Unicode MS" charset="0"/>
              </a:defRPr>
            </a:lvl2pPr>
            <a:lvl3pPr>
              <a:defRPr>
                <a:latin typeface="Arial Unicode MS" charset="0"/>
                <a:ea typeface="Arial Unicode MS" charset="0"/>
                <a:cs typeface="Arial Unicode MS" charset="0"/>
              </a:defRPr>
            </a:lvl3pPr>
            <a:lvl4pPr>
              <a:defRPr>
                <a:latin typeface="Arial Unicode MS" charset="0"/>
                <a:ea typeface="Arial Unicode MS" charset="0"/>
                <a:cs typeface="Arial Unicode MS" charset="0"/>
              </a:defRPr>
            </a:lvl4pPr>
            <a:lvl5pPr>
              <a:defRPr>
                <a:latin typeface="Arial Unicode MS" charset="0"/>
                <a:ea typeface="Arial Unicode MS" charset="0"/>
                <a:cs typeface="Arial Unicode MS" charset="0"/>
              </a:defRPr>
            </a:lvl5pPr>
            <a:lvl6pPr>
              <a:defRPr/>
            </a:lvl6pPr>
            <a:lvl7pPr>
              <a:defRPr/>
            </a:lvl7pPr>
            <a:lvl8pPr>
              <a:defRPr/>
            </a:lvl8pPr>
            <a:lvl9pPr>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172200" y="1600200"/>
            <a:ext cx="4914900" cy="4571999"/>
          </a:xfrm>
        </p:spPr>
        <p:txBody>
          <a:bodyPr/>
          <a:lstStyle>
            <a:lvl1pPr>
              <a:defRPr>
                <a:latin typeface="Arial Unicode MS" charset="0"/>
                <a:ea typeface="Arial Unicode MS" charset="0"/>
                <a:cs typeface="Arial Unicode MS" charset="0"/>
              </a:defRPr>
            </a:lvl1pPr>
            <a:lvl2pPr>
              <a:defRPr>
                <a:latin typeface="Arial Unicode MS" charset="0"/>
                <a:ea typeface="Arial Unicode MS" charset="0"/>
                <a:cs typeface="Arial Unicode MS" charset="0"/>
              </a:defRPr>
            </a:lvl2pPr>
            <a:lvl3pPr>
              <a:defRPr>
                <a:latin typeface="Arial Unicode MS" charset="0"/>
                <a:ea typeface="Arial Unicode MS" charset="0"/>
                <a:cs typeface="Arial Unicode MS" charset="0"/>
              </a:defRPr>
            </a:lvl3pPr>
            <a:lvl4pPr>
              <a:defRPr>
                <a:latin typeface="Arial Unicode MS" charset="0"/>
                <a:ea typeface="Arial Unicode MS" charset="0"/>
                <a:cs typeface="Arial Unicode MS" charset="0"/>
              </a:defRPr>
            </a:lvl4pPr>
            <a:lvl5pPr>
              <a:defRPr>
                <a:latin typeface="Arial Unicode MS" charset="0"/>
                <a:ea typeface="Arial Unicode MS" charset="0"/>
                <a:cs typeface="Arial Unicode MS" charset="0"/>
              </a:defRPr>
            </a:lvl5pPr>
            <a:lvl6pPr>
              <a:defRPr/>
            </a:lvl6pPr>
            <a:lvl7pPr>
              <a:defRPr/>
            </a:lvl7pPr>
            <a:lvl8pPr>
              <a:defRPr/>
            </a:lvl8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a:xfrm>
            <a:off x="1104899" y="6356351"/>
            <a:ext cx="1829559" cy="365125"/>
          </a:xfrm>
          <a:prstGeom prst="rect">
            <a:avLst/>
          </a:prstGeom>
        </p:spPr>
        <p:txBody>
          <a:bodyPr/>
          <a:lstStyle/>
          <a:p>
            <a:fld id="{B1F42F74-75E5-42CB-8590-502DC3F95CF0}" type="datetime1">
              <a:rPr lang="en-US" smtClean="0"/>
              <a:t>9/23/2021</a:t>
            </a:fld>
            <a:endParaRPr/>
          </a:p>
        </p:txBody>
      </p:sp>
      <p:sp>
        <p:nvSpPr>
          <p:cNvPr id="6" name="Footer Placeholder 5"/>
          <p:cNvSpPr>
            <a:spLocks noGrp="1"/>
          </p:cNvSpPr>
          <p:nvPr>
            <p:ph type="ftr" sz="quarter" idx="11"/>
          </p:nvPr>
        </p:nvSpPr>
        <p:spPr>
          <a:xfrm>
            <a:off x="2934459" y="6356350"/>
            <a:ext cx="6323082" cy="365126"/>
          </a:xfrm>
          <a:prstGeom prst="rect">
            <a:avLst/>
          </a:prstGeom>
        </p:spPr>
        <p:txBody>
          <a:bodyPr/>
          <a:lstStyle>
            <a:lvl1pPr>
              <a:defRPr>
                <a:latin typeface="Verdana" charset="0"/>
                <a:ea typeface="Verdana" charset="0"/>
                <a:cs typeface="Verdana" charset="0"/>
              </a:defRPr>
            </a:lvl1pPr>
          </a:lstStyle>
          <a:p>
            <a:r>
              <a:rPr lang="en-US" dirty="0" err="1"/>
              <a:t>Temasek</a:t>
            </a:r>
            <a:r>
              <a:rPr lang="en-US" dirty="0"/>
              <a:t> Polytechnic  •  School of Informatics &amp; IT</a:t>
            </a: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83323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cSld name="1_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dirty="0"/>
              <a:t>Click to edit Master title style</a:t>
            </a:r>
            <a:endParaRPr dirty="0"/>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latin typeface="Arial Unicode MS" charset="0"/>
                <a:ea typeface="Arial Unicode MS" charset="0"/>
                <a:cs typeface="Arial Unicode MS"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72D5DC50-FC28-472D-98A7-6638A1527CA2}" type="datetime1">
              <a:rPr lang="en-US" smtClean="0"/>
              <a:t>9/23/2021</a:t>
            </a:fld>
            <a:endParaRPr/>
          </a:p>
        </p:txBody>
      </p:sp>
      <p:sp>
        <p:nvSpPr>
          <p:cNvPr id="5" name="Footer Placeholder 4"/>
          <p:cNvSpPr>
            <a:spLocks noGrp="1"/>
          </p:cNvSpPr>
          <p:nvPr>
            <p:ph type="ftr" sz="quarter" idx="11"/>
          </p:nvPr>
        </p:nvSpPr>
        <p:spPr/>
        <p:txBody>
          <a:bodyPr/>
          <a:lstStyle>
            <a:lvl1pPr>
              <a:defRPr>
                <a:latin typeface="Verdana" charset="0"/>
                <a:ea typeface="Verdana" charset="0"/>
                <a:cs typeface="Verdana" charset="0"/>
              </a:defRPr>
            </a:lvl1pPr>
          </a:lstStyle>
          <a:p>
            <a:r>
              <a:rPr lang="en-US" dirty="0" err="1"/>
              <a:t>Temasek</a:t>
            </a:r>
            <a:r>
              <a:rPr lang="en-US" dirty="0"/>
              <a:t> Polytechnic  •  School of Informatics &amp; IT</a:t>
            </a: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81367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1184910"/>
            <a:ext cx="9141619" cy="14973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userDrawn="1"/>
        </p:nvSpPr>
        <p:spPr>
          <a:xfrm>
            <a:off x="9270263" y="1184910"/>
            <a:ext cx="2921737" cy="13843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b="0" i="0" u="none"/>
          </a:p>
        </p:txBody>
      </p:sp>
      <p:sp>
        <p:nvSpPr>
          <p:cNvPr id="3" name="Text Placeholder 2"/>
          <p:cNvSpPr>
            <a:spLocks noGrp="1"/>
          </p:cNvSpPr>
          <p:nvPr>
            <p:ph type="body" idx="1"/>
          </p:nvPr>
        </p:nvSpPr>
        <p:spPr>
          <a:xfrm>
            <a:off x="1017638" y="1631314"/>
            <a:ext cx="10336162" cy="458660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6" name="Slide Number Placeholder 5"/>
          <p:cNvSpPr>
            <a:spLocks noGrp="1"/>
          </p:cNvSpPr>
          <p:nvPr>
            <p:ph type="sldNum" sz="quarter" idx="4"/>
          </p:nvPr>
        </p:nvSpPr>
        <p:spPr>
          <a:xfrm>
            <a:off x="11566358" y="6357456"/>
            <a:ext cx="465217" cy="307975"/>
          </a:xfrm>
          <a:prstGeom prst="rect">
            <a:avLst/>
          </a:prstGeom>
        </p:spPr>
        <p:txBody>
          <a:bodyPr vert="horz" lIns="91440" tIns="45720" rIns="91440" bIns="45720" rtlCol="0" anchor="ctr"/>
          <a:lstStyle>
            <a:lvl1pPr algn="r">
              <a:defRPr sz="1100">
                <a:solidFill>
                  <a:schemeClr val="tx1">
                    <a:tint val="75000"/>
                  </a:schemeClr>
                </a:solidFill>
              </a:defRPr>
            </a:lvl1pPr>
          </a:lstStyle>
          <a:p>
            <a:fld id="{8E9E4023-6F3A-457B-B0BB-8C1F114B424F}" type="slidenum">
              <a:rPr lang="en-SG" smtClean="0"/>
              <a:pPr/>
              <a:t>‹#›</a:t>
            </a:fld>
            <a:endParaRPr lang="en-SG"/>
          </a:p>
        </p:txBody>
      </p:sp>
      <p:pic>
        <p:nvPicPr>
          <p:cNvPr id="10" name="Picture 9"/>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581" y="0"/>
            <a:ext cx="1269849" cy="1046478"/>
          </a:xfrm>
          <a:prstGeom prst="rect">
            <a:avLst/>
          </a:prstGeom>
        </p:spPr>
      </p:pic>
      <p:sp>
        <p:nvSpPr>
          <p:cNvPr id="2" name="Title Placeholder 1"/>
          <p:cNvSpPr>
            <a:spLocks noGrp="1"/>
          </p:cNvSpPr>
          <p:nvPr>
            <p:ph type="title"/>
          </p:nvPr>
        </p:nvSpPr>
        <p:spPr>
          <a:xfrm>
            <a:off x="1017638" y="365126"/>
            <a:ext cx="10336161" cy="819784"/>
          </a:xfrm>
          <a:prstGeom prst="rect">
            <a:avLst/>
          </a:prstGeom>
        </p:spPr>
        <p:txBody>
          <a:bodyPr vert="horz" lIns="91440" tIns="45720" rIns="91440" bIns="45720" rtlCol="0" anchor="ctr">
            <a:normAutofit/>
          </a:bodyPr>
          <a:lstStyle/>
          <a:p>
            <a:r>
              <a:rPr lang="en-US" dirty="0"/>
              <a:t>Click to edit Master title style</a:t>
            </a:r>
            <a:endParaRPr lang="en-SG" dirty="0"/>
          </a:p>
        </p:txBody>
      </p:sp>
      <p:sp>
        <p:nvSpPr>
          <p:cNvPr id="12" name="Rectangle 11"/>
          <p:cNvSpPr/>
          <p:nvPr userDrawn="1"/>
        </p:nvSpPr>
        <p:spPr>
          <a:xfrm>
            <a:off x="978524" y="6388432"/>
            <a:ext cx="10587834" cy="276999"/>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spc="80" dirty="0">
                <a:solidFill>
                  <a:schemeClr val="bg2">
                    <a:lumMod val="50000"/>
                  </a:schemeClr>
                </a:solidFill>
                <a:latin typeface="Calibri" panose="020F0502020204030204" pitchFamily="34" charset="0"/>
                <a:cs typeface="Calibri" panose="020F0502020204030204" pitchFamily="34" charset="0"/>
              </a:rPr>
              <a:t>TEMASEK POLYTECHNIC I </a:t>
            </a:r>
            <a:r>
              <a:rPr lang="en-US" sz="1200" b="1" spc="80" dirty="0">
                <a:solidFill>
                  <a:schemeClr val="bg2">
                    <a:lumMod val="50000"/>
                  </a:schemeClr>
                </a:solidFill>
                <a:latin typeface="Calibri" panose="020F0502020204030204" pitchFamily="34" charset="0"/>
                <a:cs typeface="Calibri" panose="020F0502020204030204" pitchFamily="34" charset="0"/>
              </a:rPr>
              <a:t>School of Informatics &amp; IT</a:t>
            </a:r>
          </a:p>
        </p:txBody>
      </p:sp>
      <p:grpSp>
        <p:nvGrpSpPr>
          <p:cNvPr id="5" name="Group 4"/>
          <p:cNvGrpSpPr/>
          <p:nvPr userDrawn="1"/>
        </p:nvGrpSpPr>
        <p:grpSpPr>
          <a:xfrm>
            <a:off x="-3077" y="130629"/>
            <a:ext cx="652384" cy="786947"/>
            <a:chOff x="-3077" y="130629"/>
            <a:chExt cx="652384" cy="786947"/>
          </a:xfrm>
        </p:grpSpPr>
        <p:sp>
          <p:nvSpPr>
            <p:cNvPr id="4" name="Rectangle 3"/>
            <p:cNvSpPr/>
            <p:nvPr userDrawn="1"/>
          </p:nvSpPr>
          <p:spPr>
            <a:xfrm>
              <a:off x="255037" y="130629"/>
              <a:ext cx="130628" cy="130628"/>
            </a:xfrm>
            <a:prstGeom prst="rect">
              <a:avLst/>
            </a:prstGeom>
            <a:solidFill>
              <a:srgbClr val="007DDA">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10"/>
            <p:cNvSpPr/>
            <p:nvPr userDrawn="1"/>
          </p:nvSpPr>
          <p:spPr>
            <a:xfrm>
              <a:off x="127551" y="523239"/>
              <a:ext cx="130628" cy="130628"/>
            </a:xfrm>
            <a:prstGeom prst="rect">
              <a:avLst/>
            </a:prstGeom>
            <a:solidFill>
              <a:srgbClr val="007DDA">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p:cNvSpPr/>
            <p:nvPr userDrawn="1"/>
          </p:nvSpPr>
          <p:spPr>
            <a:xfrm>
              <a:off x="-3077" y="261257"/>
              <a:ext cx="130628" cy="130628"/>
            </a:xfrm>
            <a:prstGeom prst="rect">
              <a:avLst/>
            </a:prstGeom>
            <a:solidFill>
              <a:srgbClr val="007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13"/>
            <p:cNvSpPr/>
            <p:nvPr userDrawn="1"/>
          </p:nvSpPr>
          <p:spPr>
            <a:xfrm>
              <a:off x="518679" y="261257"/>
              <a:ext cx="130628" cy="130628"/>
            </a:xfrm>
            <a:prstGeom prst="rect">
              <a:avLst/>
            </a:prstGeom>
            <a:solidFill>
              <a:srgbClr val="007DDA">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p:cNvSpPr/>
            <p:nvPr userDrawn="1"/>
          </p:nvSpPr>
          <p:spPr>
            <a:xfrm>
              <a:off x="388195" y="393884"/>
              <a:ext cx="130628" cy="130628"/>
            </a:xfrm>
            <a:prstGeom prst="rect">
              <a:avLst/>
            </a:prstGeom>
            <a:solidFill>
              <a:srgbClr val="007DDA">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p:cNvSpPr/>
            <p:nvPr userDrawn="1"/>
          </p:nvSpPr>
          <p:spPr>
            <a:xfrm>
              <a:off x="387783" y="786948"/>
              <a:ext cx="130628" cy="130628"/>
            </a:xfrm>
            <a:prstGeom prst="rect">
              <a:avLst/>
            </a:prstGeom>
            <a:solidFill>
              <a:srgbClr val="007DDA">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7583451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4" r:id="rId3"/>
    <p:sldLayoutId id="2147483675" r:id="rId4"/>
    <p:sldLayoutId id="2147483685" r:id="rId5"/>
    <p:sldLayoutId id="2147483686" r:id="rId6"/>
  </p:sldLayoutIdLst>
  <p:hf hdr="0" ftr="0" dt="0"/>
  <p:txStyles>
    <p:titleStyle>
      <a:lvl1pPr algn="l" defTabSz="914400" rtl="0" eaLnBrk="1" latinLnBrk="0" hangingPunct="1">
        <a:lnSpc>
          <a:spcPct val="90000"/>
        </a:lnSpc>
        <a:spcBef>
          <a:spcPct val="0"/>
        </a:spcBef>
        <a:buNone/>
        <a:defRPr sz="3600" b="0" i="0" u="none" kern="1200">
          <a:solidFill>
            <a:srgbClr val="0070C0"/>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youtube.com/watch?v=XRoBd5KzTls"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RRcA8QKXAOo"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a:off x="863672" y="3954162"/>
            <a:ext cx="649965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ctrTitle"/>
          </p:nvPr>
        </p:nvSpPr>
        <p:spPr>
          <a:xfrm>
            <a:off x="783462" y="1410689"/>
            <a:ext cx="7928404" cy="2387600"/>
          </a:xfrm>
        </p:spPr>
        <p:txBody>
          <a:bodyPr/>
          <a:lstStyle/>
          <a:p>
            <a:r>
              <a:rPr lang="en-US" dirty="0">
                <a:ea typeface="Calisto MT" charset="0"/>
                <a:cs typeface="Calisto MT" charset="0"/>
              </a:rPr>
              <a:t>Building Movie Review Website I</a:t>
            </a:r>
            <a:endParaRPr lang="en-SG" dirty="0"/>
          </a:p>
        </p:txBody>
      </p:sp>
      <p:sp>
        <p:nvSpPr>
          <p:cNvPr id="9" name="Subtitle 8"/>
          <p:cNvSpPr>
            <a:spLocks noGrp="1"/>
          </p:cNvSpPr>
          <p:nvPr>
            <p:ph type="subTitle" idx="1"/>
          </p:nvPr>
        </p:nvSpPr>
        <p:spPr>
          <a:xfrm>
            <a:off x="815546" y="4106778"/>
            <a:ext cx="7928404" cy="1151021"/>
          </a:xfrm>
        </p:spPr>
        <p:txBody>
          <a:bodyPr/>
          <a:lstStyle/>
          <a:p>
            <a:r>
              <a:rPr lang="en-SG" dirty="0"/>
              <a:t>Week 08</a:t>
            </a:r>
          </a:p>
        </p:txBody>
      </p:sp>
      <p:sp>
        <p:nvSpPr>
          <p:cNvPr id="2" name="Slide Number Placeholder 1">
            <a:extLst>
              <a:ext uri="{FF2B5EF4-FFF2-40B4-BE49-F238E27FC236}">
                <a16:creationId xmlns:a16="http://schemas.microsoft.com/office/drawing/2014/main" id="{18F056B3-4CEB-4FFD-BE48-F055B70D029C}"/>
              </a:ext>
            </a:extLst>
          </p:cNvPr>
          <p:cNvSpPr>
            <a:spLocks noGrp="1"/>
          </p:cNvSpPr>
          <p:nvPr>
            <p:ph type="sldNum" sz="quarter" idx="12"/>
          </p:nvPr>
        </p:nvSpPr>
        <p:spPr/>
        <p:txBody>
          <a:bodyPr/>
          <a:lstStyle/>
          <a:p>
            <a:fld id="{8E9E4023-6F3A-457B-B0BB-8C1F114B424F}" type="slidenum">
              <a:rPr lang="en-SG" smtClean="0"/>
              <a:pPr/>
              <a:t>1</a:t>
            </a:fld>
            <a:endParaRPr lang="en-SG" dirty="0"/>
          </a:p>
        </p:txBody>
      </p:sp>
    </p:spTree>
    <p:extLst>
      <p:ext uri="{BB962C8B-B14F-4D97-AF65-F5344CB8AC3E}">
        <p14:creationId xmlns:p14="http://schemas.microsoft.com/office/powerpoint/2010/main" val="520979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Objectives</a:t>
            </a:r>
          </a:p>
        </p:txBody>
      </p:sp>
      <p:sp>
        <p:nvSpPr>
          <p:cNvPr id="14" name="Content Placeholder 13"/>
          <p:cNvSpPr>
            <a:spLocks noGrp="1"/>
          </p:cNvSpPr>
          <p:nvPr>
            <p:ph idx="1"/>
          </p:nvPr>
        </p:nvSpPr>
        <p:spPr/>
        <p:txBody>
          <a:bodyPr/>
          <a:lstStyle/>
          <a:p>
            <a:pPr>
              <a:lnSpc>
                <a:spcPct val="100000"/>
              </a:lnSpc>
              <a:defRPr/>
            </a:pPr>
            <a:r>
              <a:rPr lang="en-US" dirty="0">
                <a:ea typeface="ＭＳ Ｐゴシック" charset="0"/>
              </a:rPr>
              <a:t>Demonstrate how to build the basic architecture of a web application based on a Movie Review website;</a:t>
            </a:r>
          </a:p>
          <a:p>
            <a:pPr>
              <a:lnSpc>
                <a:spcPct val="100000"/>
              </a:lnSpc>
              <a:defRPr/>
            </a:pPr>
            <a:r>
              <a:rPr lang="en-US" dirty="0">
                <a:ea typeface="ＭＳ Ｐゴシック" charset="0"/>
              </a:rPr>
              <a:t>Demonstrate how to build the web pages of a Movie Review website.</a:t>
            </a:r>
          </a:p>
          <a:p>
            <a:pPr>
              <a:lnSpc>
                <a:spcPct val="100000"/>
              </a:lnSpc>
            </a:pPr>
            <a:endParaRPr lang="en-US" dirty="0"/>
          </a:p>
        </p:txBody>
      </p:sp>
      <p:sp>
        <p:nvSpPr>
          <p:cNvPr id="3" name="Slide Number Placeholder 2"/>
          <p:cNvSpPr>
            <a:spLocks noGrp="1"/>
          </p:cNvSpPr>
          <p:nvPr>
            <p:ph type="sldNum" sz="quarter" idx="12"/>
          </p:nvPr>
        </p:nvSpPr>
        <p:spPr/>
        <p:txBody>
          <a:bodyPr/>
          <a:lstStyle/>
          <a:p>
            <a:fld id="{0FF54DE5-C571-48E8-A5BC-B369434E2F44}" type="slidenum">
              <a:rPr lang="en-US" smtClean="0"/>
              <a:t>2</a:t>
            </a:fld>
            <a:endParaRPr lang="en-US" dirty="0"/>
          </a:p>
        </p:txBody>
      </p:sp>
    </p:spTree>
    <p:extLst>
      <p:ext uri="{BB962C8B-B14F-4D97-AF65-F5344CB8AC3E}">
        <p14:creationId xmlns:p14="http://schemas.microsoft.com/office/powerpoint/2010/main" val="115652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Tools Required</a:t>
            </a:r>
          </a:p>
        </p:txBody>
      </p:sp>
      <p:sp>
        <p:nvSpPr>
          <p:cNvPr id="3" name="Content Placeholder 2"/>
          <p:cNvSpPr>
            <a:spLocks noGrp="1"/>
          </p:cNvSpPr>
          <p:nvPr>
            <p:ph sz="half" idx="1"/>
          </p:nvPr>
        </p:nvSpPr>
        <p:spPr/>
        <p:txBody>
          <a:bodyPr>
            <a:normAutofit/>
          </a:bodyPr>
          <a:lstStyle/>
          <a:p>
            <a:pPr>
              <a:lnSpc>
                <a:spcPct val="100000"/>
              </a:lnSpc>
            </a:pPr>
            <a:r>
              <a:rPr lang="en-GB" dirty="0"/>
              <a:t>Visual Studio Code</a:t>
            </a:r>
          </a:p>
          <a:p>
            <a:pPr>
              <a:lnSpc>
                <a:spcPct val="100000"/>
              </a:lnSpc>
            </a:pPr>
            <a:r>
              <a:rPr lang="en-GB" dirty="0"/>
              <a:t>Node.js</a:t>
            </a:r>
          </a:p>
          <a:p>
            <a:pPr>
              <a:lnSpc>
                <a:spcPct val="100000"/>
              </a:lnSpc>
            </a:pPr>
            <a:r>
              <a:rPr lang="en-GB" dirty="0"/>
              <a:t>Browser</a:t>
            </a:r>
          </a:p>
          <a:p>
            <a:pPr lvl="1">
              <a:lnSpc>
                <a:spcPct val="100000"/>
              </a:lnSpc>
            </a:pPr>
            <a:r>
              <a:rPr lang="en-GB" dirty="0"/>
              <a:t>Google Chrome (recommended) </a:t>
            </a:r>
          </a:p>
          <a:p>
            <a:pPr lvl="1">
              <a:lnSpc>
                <a:spcPct val="100000"/>
              </a:lnSpc>
            </a:pPr>
            <a:r>
              <a:rPr lang="en-GB" dirty="0"/>
              <a:t>Mozilla Firefox</a:t>
            </a:r>
          </a:p>
        </p:txBody>
      </p:sp>
      <p:sp>
        <p:nvSpPr>
          <p:cNvPr id="5" name="Slide Number Placeholder 4"/>
          <p:cNvSpPr>
            <a:spLocks noGrp="1"/>
          </p:cNvSpPr>
          <p:nvPr>
            <p:ph type="sldNum" sz="quarter" idx="12"/>
          </p:nvPr>
        </p:nvSpPr>
        <p:spPr/>
        <p:txBody>
          <a:bodyPr/>
          <a:lstStyle/>
          <a:p>
            <a:fld id="{0FF54DE5-C571-48E8-A5BC-B369434E2F44}" type="slidenum">
              <a:rPr lang="uk-UA" smtClean="0"/>
              <a:t>3</a:t>
            </a:fld>
            <a:endParaRPr lang="uk-UA"/>
          </a:p>
        </p:txBody>
      </p:sp>
    </p:spTree>
    <p:extLst>
      <p:ext uri="{BB962C8B-B14F-4D97-AF65-F5344CB8AC3E}">
        <p14:creationId xmlns:p14="http://schemas.microsoft.com/office/powerpoint/2010/main" val="52125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Tier Architecture</a:t>
            </a:r>
          </a:p>
        </p:txBody>
      </p:sp>
      <p:sp>
        <p:nvSpPr>
          <p:cNvPr id="3" name="Text Placeholder 2"/>
          <p:cNvSpPr>
            <a:spLocks noGrp="1"/>
          </p:cNvSpPr>
          <p:nvPr>
            <p:ph type="body" idx="1"/>
          </p:nvPr>
        </p:nvSpPr>
        <p:spPr/>
        <p:txBody>
          <a:bodyPr/>
          <a:lstStyle/>
          <a:p>
            <a:endParaRPr lang="en-GB" dirty="0"/>
          </a:p>
        </p:txBody>
      </p:sp>
      <p:sp>
        <p:nvSpPr>
          <p:cNvPr id="5" name="Slide Number Placeholder 4"/>
          <p:cNvSpPr>
            <a:spLocks noGrp="1"/>
          </p:cNvSpPr>
          <p:nvPr>
            <p:ph type="sldNum" sz="quarter" idx="12"/>
          </p:nvPr>
        </p:nvSpPr>
        <p:spPr/>
        <p:txBody>
          <a:bodyPr/>
          <a:lstStyle/>
          <a:p>
            <a:fld id="{0FF54DE5-C571-48E8-A5BC-B369434E2F44}" type="slidenum">
              <a:rPr lang="uk-UA" smtClean="0"/>
              <a:t>4</a:t>
            </a:fld>
            <a:endParaRPr lang="uk-UA"/>
          </a:p>
        </p:txBody>
      </p:sp>
    </p:spTree>
    <p:extLst>
      <p:ext uri="{BB962C8B-B14F-4D97-AF65-F5344CB8AC3E}">
        <p14:creationId xmlns:p14="http://schemas.microsoft.com/office/powerpoint/2010/main" val="61236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Tier Architecture</a:t>
            </a:r>
          </a:p>
        </p:txBody>
      </p:sp>
      <p:sp>
        <p:nvSpPr>
          <p:cNvPr id="5" name="Slide Number Placeholder 4"/>
          <p:cNvSpPr>
            <a:spLocks noGrp="1"/>
          </p:cNvSpPr>
          <p:nvPr>
            <p:ph type="sldNum" sz="quarter" idx="12"/>
          </p:nvPr>
        </p:nvSpPr>
        <p:spPr/>
        <p:txBody>
          <a:bodyPr/>
          <a:lstStyle/>
          <a:p>
            <a:fld id="{0FF54DE5-C571-48E8-A5BC-B369434E2F44}" type="slidenum">
              <a:rPr lang="uk-UA" smtClean="0"/>
              <a:t>5</a:t>
            </a:fld>
            <a:endParaRPr lang="uk-UA"/>
          </a:p>
        </p:txBody>
      </p:sp>
      <p:grpSp>
        <p:nvGrpSpPr>
          <p:cNvPr id="19" name="Group 18">
            <a:extLst>
              <a:ext uri="{FF2B5EF4-FFF2-40B4-BE49-F238E27FC236}">
                <a16:creationId xmlns:a16="http://schemas.microsoft.com/office/drawing/2014/main" id="{C6AA4916-132C-4C7B-8C3D-871079D27D2A}"/>
              </a:ext>
            </a:extLst>
          </p:cNvPr>
          <p:cNvGrpSpPr/>
          <p:nvPr/>
        </p:nvGrpSpPr>
        <p:grpSpPr>
          <a:xfrm>
            <a:off x="380428" y="1695450"/>
            <a:ext cx="10471190" cy="3877308"/>
            <a:chOff x="380428" y="1695450"/>
            <a:chExt cx="10471190" cy="3877308"/>
          </a:xfrm>
        </p:grpSpPr>
        <p:pic>
          <p:nvPicPr>
            <p:cNvPr id="1026" name="Picture 2" descr="Image result for PC Client vector">
              <a:extLst>
                <a:ext uri="{FF2B5EF4-FFF2-40B4-BE49-F238E27FC236}">
                  <a16:creationId xmlns:a16="http://schemas.microsoft.com/office/drawing/2014/main" id="{0026E378-92AF-4139-8463-9DC94D59E4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599" y="2457450"/>
              <a:ext cx="1834025" cy="11144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server Icon black">
              <a:extLst>
                <a:ext uri="{FF2B5EF4-FFF2-40B4-BE49-F238E27FC236}">
                  <a16:creationId xmlns:a16="http://schemas.microsoft.com/office/drawing/2014/main" id="{D009AD08-2675-47E8-AE44-192F7A357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3964" y="2109786"/>
              <a:ext cx="1709738" cy="17097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database Icon black">
              <a:extLst>
                <a:ext uri="{FF2B5EF4-FFF2-40B4-BE49-F238E27FC236}">
                  <a16:creationId xmlns:a16="http://schemas.microsoft.com/office/drawing/2014/main" id="{D15DE405-D335-4C62-9A70-8DC520361A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4014" y="2283618"/>
              <a:ext cx="1362074" cy="136207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1B046F2-6FC1-4853-BECB-D5CF4DF8EF0D}"/>
                </a:ext>
              </a:extLst>
            </p:cNvPr>
            <p:cNvSpPr txBox="1"/>
            <p:nvPr/>
          </p:nvSpPr>
          <p:spPr>
            <a:xfrm>
              <a:off x="380428" y="3963084"/>
              <a:ext cx="2834366" cy="646331"/>
            </a:xfrm>
            <a:prstGeom prst="rect">
              <a:avLst/>
            </a:prstGeom>
            <a:noFill/>
          </p:spPr>
          <p:txBody>
            <a:bodyPr wrap="none" rtlCol="0">
              <a:spAutoFit/>
            </a:bodyPr>
            <a:lstStyle/>
            <a:p>
              <a:pPr algn="ctr"/>
              <a:r>
                <a:rPr lang="en-SG" dirty="0"/>
                <a:t>Client Tier</a:t>
              </a:r>
            </a:p>
            <a:p>
              <a:pPr algn="ctr"/>
              <a:r>
                <a:rPr lang="en-SG" dirty="0"/>
                <a:t>(Client’s computer/browser)</a:t>
              </a:r>
            </a:p>
          </p:txBody>
        </p:sp>
        <p:sp>
          <p:nvSpPr>
            <p:cNvPr id="14" name="TextBox 13">
              <a:extLst>
                <a:ext uri="{FF2B5EF4-FFF2-40B4-BE49-F238E27FC236}">
                  <a16:creationId xmlns:a16="http://schemas.microsoft.com/office/drawing/2014/main" id="{9CE53601-BAB0-488C-A914-8B432DF4D580}"/>
                </a:ext>
              </a:extLst>
            </p:cNvPr>
            <p:cNvSpPr txBox="1"/>
            <p:nvPr/>
          </p:nvSpPr>
          <p:spPr>
            <a:xfrm>
              <a:off x="5059535" y="3963083"/>
              <a:ext cx="1658596" cy="646331"/>
            </a:xfrm>
            <a:prstGeom prst="rect">
              <a:avLst/>
            </a:prstGeom>
            <a:noFill/>
          </p:spPr>
          <p:txBody>
            <a:bodyPr wrap="none" rtlCol="0">
              <a:spAutoFit/>
            </a:bodyPr>
            <a:lstStyle/>
            <a:p>
              <a:pPr algn="ctr"/>
              <a:r>
                <a:rPr lang="en-SG" dirty="0"/>
                <a:t>Application Tier</a:t>
              </a:r>
            </a:p>
            <a:p>
              <a:pPr algn="ctr"/>
              <a:r>
                <a:rPr lang="en-SG" dirty="0"/>
                <a:t>(Web Server)</a:t>
              </a:r>
            </a:p>
          </p:txBody>
        </p:sp>
        <p:sp>
          <p:nvSpPr>
            <p:cNvPr id="15" name="TextBox 14">
              <a:extLst>
                <a:ext uri="{FF2B5EF4-FFF2-40B4-BE49-F238E27FC236}">
                  <a16:creationId xmlns:a16="http://schemas.microsoft.com/office/drawing/2014/main" id="{FAD8BD93-43C9-4A33-B4DA-8E34AD7D8BB0}"/>
                </a:ext>
              </a:extLst>
            </p:cNvPr>
            <p:cNvSpPr txBox="1"/>
            <p:nvPr/>
          </p:nvSpPr>
          <p:spPr>
            <a:xfrm>
              <a:off x="8998482" y="3963082"/>
              <a:ext cx="1853136" cy="646331"/>
            </a:xfrm>
            <a:prstGeom prst="rect">
              <a:avLst/>
            </a:prstGeom>
            <a:noFill/>
          </p:spPr>
          <p:txBody>
            <a:bodyPr wrap="none" rtlCol="0">
              <a:spAutoFit/>
            </a:bodyPr>
            <a:lstStyle/>
            <a:p>
              <a:pPr algn="ctr"/>
              <a:r>
                <a:rPr lang="en-SG" dirty="0"/>
                <a:t>Database Tier</a:t>
              </a:r>
            </a:p>
            <a:p>
              <a:pPr algn="ctr"/>
              <a:r>
                <a:rPr lang="en-SG" dirty="0"/>
                <a:t>(Database Server)</a:t>
              </a:r>
            </a:p>
          </p:txBody>
        </p:sp>
        <p:cxnSp>
          <p:nvCxnSpPr>
            <p:cNvPr id="12" name="Straight Connector 11">
              <a:extLst>
                <a:ext uri="{FF2B5EF4-FFF2-40B4-BE49-F238E27FC236}">
                  <a16:creationId xmlns:a16="http://schemas.microsoft.com/office/drawing/2014/main" id="{4FE3AA68-B798-4CE7-A2AB-E8B2C4CE627B}"/>
                </a:ext>
              </a:extLst>
            </p:cNvPr>
            <p:cNvCxnSpPr/>
            <p:nvPr/>
          </p:nvCxnSpPr>
          <p:spPr>
            <a:xfrm>
              <a:off x="3914775" y="1695450"/>
              <a:ext cx="0" cy="3467100"/>
            </a:xfrm>
            <a:prstGeom prst="line">
              <a:avLst/>
            </a:prstGeom>
            <a:ln w="349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E6EFB48-9595-498E-A8FC-3109B02DCF77}"/>
                </a:ext>
              </a:extLst>
            </p:cNvPr>
            <p:cNvCxnSpPr/>
            <p:nvPr/>
          </p:nvCxnSpPr>
          <p:spPr>
            <a:xfrm>
              <a:off x="7924800" y="1695450"/>
              <a:ext cx="0" cy="3467100"/>
            </a:xfrm>
            <a:prstGeom prst="line">
              <a:avLst/>
            </a:prstGeom>
            <a:ln w="349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310CAD4-4B37-46AB-9621-5B26BB05088B}"/>
                </a:ext>
              </a:extLst>
            </p:cNvPr>
            <p:cNvSpPr txBox="1"/>
            <p:nvPr/>
          </p:nvSpPr>
          <p:spPr>
            <a:xfrm>
              <a:off x="1439981" y="1726898"/>
              <a:ext cx="782587" cy="400110"/>
            </a:xfrm>
            <a:prstGeom prst="rect">
              <a:avLst/>
            </a:prstGeom>
            <a:noFill/>
          </p:spPr>
          <p:txBody>
            <a:bodyPr wrap="none" rtlCol="0">
              <a:spAutoFit/>
            </a:bodyPr>
            <a:lstStyle/>
            <a:p>
              <a:r>
                <a:rPr lang="en-SG" sz="2000" b="1" dirty="0">
                  <a:solidFill>
                    <a:srgbClr val="0070C0"/>
                  </a:solidFill>
                </a:rPr>
                <a:t>Tier 1</a:t>
              </a:r>
            </a:p>
          </p:txBody>
        </p:sp>
        <p:sp>
          <p:nvSpPr>
            <p:cNvPr id="20" name="TextBox 19">
              <a:extLst>
                <a:ext uri="{FF2B5EF4-FFF2-40B4-BE49-F238E27FC236}">
                  <a16:creationId xmlns:a16="http://schemas.microsoft.com/office/drawing/2014/main" id="{E3E6E340-75E2-4292-AF63-805AE6F79D17}"/>
                </a:ext>
              </a:extLst>
            </p:cNvPr>
            <p:cNvSpPr txBox="1"/>
            <p:nvPr/>
          </p:nvSpPr>
          <p:spPr>
            <a:xfrm>
              <a:off x="5481823" y="1726898"/>
              <a:ext cx="782587" cy="400110"/>
            </a:xfrm>
            <a:prstGeom prst="rect">
              <a:avLst/>
            </a:prstGeom>
            <a:noFill/>
          </p:spPr>
          <p:txBody>
            <a:bodyPr wrap="none" rtlCol="0">
              <a:spAutoFit/>
            </a:bodyPr>
            <a:lstStyle/>
            <a:p>
              <a:r>
                <a:rPr lang="en-SG" sz="2000" b="1" dirty="0">
                  <a:solidFill>
                    <a:srgbClr val="0070C0"/>
                  </a:solidFill>
                </a:rPr>
                <a:t>Tier 2</a:t>
              </a:r>
            </a:p>
          </p:txBody>
        </p:sp>
        <p:sp>
          <p:nvSpPr>
            <p:cNvPr id="21" name="TextBox 20">
              <a:extLst>
                <a:ext uri="{FF2B5EF4-FFF2-40B4-BE49-F238E27FC236}">
                  <a16:creationId xmlns:a16="http://schemas.microsoft.com/office/drawing/2014/main" id="{9F20D01F-63AA-41CA-8DDC-005FEED78728}"/>
                </a:ext>
              </a:extLst>
            </p:cNvPr>
            <p:cNvSpPr txBox="1"/>
            <p:nvPr/>
          </p:nvSpPr>
          <p:spPr>
            <a:xfrm>
              <a:off x="9533756" y="1729771"/>
              <a:ext cx="782587" cy="400110"/>
            </a:xfrm>
            <a:prstGeom prst="rect">
              <a:avLst/>
            </a:prstGeom>
            <a:noFill/>
          </p:spPr>
          <p:txBody>
            <a:bodyPr wrap="none" rtlCol="0">
              <a:spAutoFit/>
            </a:bodyPr>
            <a:lstStyle/>
            <a:p>
              <a:r>
                <a:rPr lang="en-SG" sz="2000" b="1" dirty="0">
                  <a:solidFill>
                    <a:srgbClr val="0070C0"/>
                  </a:solidFill>
                </a:rPr>
                <a:t>Tier 3</a:t>
              </a:r>
            </a:p>
          </p:txBody>
        </p:sp>
        <p:pic>
          <p:nvPicPr>
            <p:cNvPr id="1032" name="Picture 8" descr="Image result for HTML">
              <a:extLst>
                <a:ext uri="{FF2B5EF4-FFF2-40B4-BE49-F238E27FC236}">
                  <a16:creationId xmlns:a16="http://schemas.microsoft.com/office/drawing/2014/main" id="{D2460772-3558-4BDB-830A-9B7AA2FC828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9503" y="4781549"/>
              <a:ext cx="750418" cy="7504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CSS">
              <a:extLst>
                <a:ext uri="{FF2B5EF4-FFF2-40B4-BE49-F238E27FC236}">
                  <a16:creationId xmlns:a16="http://schemas.microsoft.com/office/drawing/2014/main" id="{28C6493E-A589-46F0-B489-10F593FBAD1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84792" y="4740133"/>
              <a:ext cx="548907" cy="774421"/>
            </a:xfrm>
            <a:prstGeom prst="rect">
              <a:avLst/>
            </a:prstGeom>
            <a:noFill/>
            <a:extLst>
              <a:ext uri="{909E8E84-426E-40DD-AFC4-6F175D3DCCD1}">
                <a14:hiddenFill xmlns:a14="http://schemas.microsoft.com/office/drawing/2010/main">
                  <a:solidFill>
                    <a:srgbClr val="FFFFFF"/>
                  </a:solidFill>
                </a14:hiddenFill>
              </a:ext>
            </a:extLst>
          </p:spPr>
        </p:pic>
        <p:sp>
          <p:nvSpPr>
            <p:cNvPr id="17" name="Plus Sign 16">
              <a:extLst>
                <a:ext uri="{FF2B5EF4-FFF2-40B4-BE49-F238E27FC236}">
                  <a16:creationId xmlns:a16="http://schemas.microsoft.com/office/drawing/2014/main" id="{6E4ECBA6-D740-4250-9D8C-C63D55FA2586}"/>
                </a:ext>
              </a:extLst>
            </p:cNvPr>
            <p:cNvSpPr/>
            <p:nvPr/>
          </p:nvSpPr>
          <p:spPr>
            <a:xfrm>
              <a:off x="1526530" y="4871007"/>
              <a:ext cx="535427" cy="571501"/>
            </a:xfrm>
            <a:prstGeom prst="math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036" name="Picture 12" descr="Image result for Javascript logo">
              <a:extLst>
                <a:ext uri="{FF2B5EF4-FFF2-40B4-BE49-F238E27FC236}">
                  <a16:creationId xmlns:a16="http://schemas.microsoft.com/office/drawing/2014/main" id="{DBB06C22-2284-449E-8B05-A4F6CD260D4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54720" y="4702926"/>
              <a:ext cx="576256" cy="811628"/>
            </a:xfrm>
            <a:prstGeom prst="rect">
              <a:avLst/>
            </a:prstGeom>
            <a:noFill/>
            <a:extLst>
              <a:ext uri="{909E8E84-426E-40DD-AFC4-6F175D3DCCD1}">
                <a14:hiddenFill xmlns:a14="http://schemas.microsoft.com/office/drawing/2010/main">
                  <a:solidFill>
                    <a:srgbClr val="FFFFFF"/>
                  </a:solidFill>
                </a14:hiddenFill>
              </a:ext>
            </a:extLst>
          </p:spPr>
        </p:pic>
        <p:sp>
          <p:nvSpPr>
            <p:cNvPr id="27" name="Plus Sign 26">
              <a:extLst>
                <a:ext uri="{FF2B5EF4-FFF2-40B4-BE49-F238E27FC236}">
                  <a16:creationId xmlns:a16="http://schemas.microsoft.com/office/drawing/2014/main" id="{4FD40452-4027-4D85-A297-8F3EC68A6478}"/>
                </a:ext>
              </a:extLst>
            </p:cNvPr>
            <p:cNvSpPr/>
            <p:nvPr/>
          </p:nvSpPr>
          <p:spPr>
            <a:xfrm>
              <a:off x="5337542" y="4871007"/>
              <a:ext cx="535427" cy="571501"/>
            </a:xfrm>
            <a:prstGeom prst="math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040" name="Picture 16" descr="Image result for Nodejs logo">
              <a:extLst>
                <a:ext uri="{FF2B5EF4-FFF2-40B4-BE49-F238E27FC236}">
                  <a16:creationId xmlns:a16="http://schemas.microsoft.com/office/drawing/2014/main" id="{756E6884-A622-424F-AC67-38F7F49FE98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996410" y="4752973"/>
              <a:ext cx="1338223" cy="819785"/>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Image result for mysql workbench logo">
              <a:extLst>
                <a:ext uri="{FF2B5EF4-FFF2-40B4-BE49-F238E27FC236}">
                  <a16:creationId xmlns:a16="http://schemas.microsoft.com/office/drawing/2014/main" id="{AF1E7285-2EC8-4C41-A9C6-97094D880FBC}"/>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183849" y="4702926"/>
              <a:ext cx="1494657" cy="77099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57994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Tier Architecture</a:t>
            </a:r>
          </a:p>
        </p:txBody>
      </p:sp>
      <p:sp>
        <p:nvSpPr>
          <p:cNvPr id="5" name="Slide Number Placeholder 4"/>
          <p:cNvSpPr>
            <a:spLocks noGrp="1"/>
          </p:cNvSpPr>
          <p:nvPr>
            <p:ph type="sldNum" sz="quarter" idx="12"/>
          </p:nvPr>
        </p:nvSpPr>
        <p:spPr/>
        <p:txBody>
          <a:bodyPr/>
          <a:lstStyle/>
          <a:p>
            <a:fld id="{0FF54DE5-C571-48E8-A5BC-B369434E2F44}" type="slidenum">
              <a:rPr lang="uk-UA" smtClean="0"/>
              <a:t>6</a:t>
            </a:fld>
            <a:endParaRPr lang="uk-UA"/>
          </a:p>
        </p:txBody>
      </p:sp>
      <p:sp>
        <p:nvSpPr>
          <p:cNvPr id="3" name="TextBox 2">
            <a:extLst>
              <a:ext uri="{FF2B5EF4-FFF2-40B4-BE49-F238E27FC236}">
                <a16:creationId xmlns:a16="http://schemas.microsoft.com/office/drawing/2014/main" id="{2EC3BCED-E5A3-46FD-A0DD-5F7F4E21ADA7}"/>
              </a:ext>
            </a:extLst>
          </p:cNvPr>
          <p:cNvSpPr txBox="1"/>
          <p:nvPr/>
        </p:nvSpPr>
        <p:spPr>
          <a:xfrm>
            <a:off x="696862" y="1933574"/>
            <a:ext cx="10496549" cy="3693319"/>
          </a:xfrm>
          <a:prstGeom prst="rect">
            <a:avLst/>
          </a:prstGeom>
          <a:noFill/>
        </p:spPr>
        <p:txBody>
          <a:bodyPr wrap="square" rtlCol="0">
            <a:spAutoFit/>
          </a:bodyPr>
          <a:lstStyle/>
          <a:p>
            <a:r>
              <a:rPr lang="en-US" b="1" dirty="0">
                <a:solidFill>
                  <a:srgbClr val="0070C0"/>
                </a:solidFill>
              </a:rPr>
              <a:t>Presentation (Client) tier </a:t>
            </a:r>
            <a:r>
              <a:rPr lang="en-US" b="1" dirty="0"/>
              <a:t>- </a:t>
            </a:r>
            <a:r>
              <a:rPr lang="en-US" dirty="0"/>
              <a:t>This tier is built with HTML5, cascading style sheets (CSS) and JavaScript. It is deployed to a computing device through a web browser or a web-based application. The presentation tier communicates with the other tiers through application program interface (API) calls.</a:t>
            </a:r>
          </a:p>
          <a:p>
            <a:endParaRPr lang="en-US" dirty="0"/>
          </a:p>
          <a:p>
            <a:r>
              <a:rPr lang="en-US" b="1" dirty="0">
                <a:solidFill>
                  <a:srgbClr val="0070C0"/>
                </a:solidFill>
              </a:rPr>
              <a:t>Application tier </a:t>
            </a:r>
            <a:r>
              <a:rPr lang="en-US" dirty="0"/>
              <a:t>- The application tier, which may also be referred to as the logic tier, is written in a programming language such as Java and contains the business logic that supports the application’s core functions. The underlying application tier can either be hosted on distributed servers in the cloud or on a dedicated in-house server, depending on how much processing power the application requires.</a:t>
            </a:r>
          </a:p>
          <a:p>
            <a:endParaRPr lang="en-US" dirty="0"/>
          </a:p>
          <a:p>
            <a:r>
              <a:rPr lang="en-US" b="1" dirty="0">
                <a:solidFill>
                  <a:srgbClr val="0070C0"/>
                </a:solidFill>
              </a:rPr>
              <a:t>Database tier </a:t>
            </a:r>
            <a:r>
              <a:rPr lang="en-US" dirty="0"/>
              <a:t>- The database tier consists of a database and a program for managing read and write access to a database. This tier may also be referred to as the storage tier and can be hosted on-premises or in the cloud. Popular database systems for managing read/write access include MySQL, PostgreSQL, Microsoft SQL Server and MongoDB.</a:t>
            </a:r>
            <a:endParaRPr lang="en-SG" dirty="0"/>
          </a:p>
        </p:txBody>
      </p:sp>
    </p:spTree>
    <p:extLst>
      <p:ext uri="{BB962C8B-B14F-4D97-AF65-F5344CB8AC3E}">
        <p14:creationId xmlns:p14="http://schemas.microsoft.com/office/powerpoint/2010/main" val="310992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the UI (User Interface)</a:t>
            </a:r>
          </a:p>
        </p:txBody>
      </p:sp>
      <p:sp>
        <p:nvSpPr>
          <p:cNvPr id="3" name="Text Placeholder 2"/>
          <p:cNvSpPr>
            <a:spLocks noGrp="1"/>
          </p:cNvSpPr>
          <p:nvPr>
            <p:ph type="body" idx="1"/>
          </p:nvPr>
        </p:nvSpPr>
        <p:spPr/>
        <p:txBody>
          <a:bodyPr/>
          <a:lstStyle/>
          <a:p>
            <a:endParaRPr lang="en-GB" dirty="0"/>
          </a:p>
        </p:txBody>
      </p:sp>
      <p:sp>
        <p:nvSpPr>
          <p:cNvPr id="5" name="Slide Number Placeholder 4"/>
          <p:cNvSpPr>
            <a:spLocks noGrp="1"/>
          </p:cNvSpPr>
          <p:nvPr>
            <p:ph type="sldNum" sz="quarter" idx="12"/>
          </p:nvPr>
        </p:nvSpPr>
        <p:spPr/>
        <p:txBody>
          <a:bodyPr/>
          <a:lstStyle/>
          <a:p>
            <a:fld id="{0FF54DE5-C571-48E8-A5BC-B369434E2F44}" type="slidenum">
              <a:rPr lang="uk-UA" smtClean="0"/>
              <a:t>7</a:t>
            </a:fld>
            <a:endParaRPr lang="uk-UA"/>
          </a:p>
        </p:txBody>
      </p:sp>
    </p:spTree>
    <p:extLst>
      <p:ext uri="{BB962C8B-B14F-4D97-AF65-F5344CB8AC3E}">
        <p14:creationId xmlns:p14="http://schemas.microsoft.com/office/powerpoint/2010/main" val="78372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the UI</a:t>
            </a:r>
          </a:p>
        </p:txBody>
      </p:sp>
      <p:sp>
        <p:nvSpPr>
          <p:cNvPr id="6" name="Content Placeholder 5"/>
          <p:cNvSpPr>
            <a:spLocks noGrp="1"/>
          </p:cNvSpPr>
          <p:nvPr>
            <p:ph sz="half" idx="1"/>
          </p:nvPr>
        </p:nvSpPr>
        <p:spPr/>
        <p:txBody>
          <a:bodyPr>
            <a:normAutofit fontScale="85000" lnSpcReduction="10000"/>
          </a:bodyPr>
          <a:lstStyle/>
          <a:p>
            <a:pPr>
              <a:lnSpc>
                <a:spcPct val="120000"/>
              </a:lnSpc>
            </a:pPr>
            <a:r>
              <a:rPr lang="en-US" dirty="0"/>
              <a:t>Watch the demo </a:t>
            </a:r>
            <a:r>
              <a:rPr lang="en-US" dirty="0">
                <a:hlinkClick r:id="rId2"/>
              </a:rPr>
              <a:t>here</a:t>
            </a:r>
            <a:endParaRPr lang="en-US" dirty="0"/>
          </a:p>
          <a:p>
            <a:pPr>
              <a:lnSpc>
                <a:spcPct val="120000"/>
              </a:lnSpc>
            </a:pPr>
            <a:r>
              <a:rPr lang="en-US" dirty="0"/>
              <a:t>We will begin by creating the </a:t>
            </a:r>
            <a:r>
              <a:rPr lang="en-US" b="1" dirty="0"/>
              <a:t>UI</a:t>
            </a:r>
            <a:r>
              <a:rPr lang="en-US" dirty="0"/>
              <a:t>.</a:t>
            </a:r>
          </a:p>
          <a:p>
            <a:pPr>
              <a:lnSpc>
                <a:spcPct val="120000"/>
              </a:lnSpc>
            </a:pPr>
            <a:r>
              <a:rPr lang="en-GB" dirty="0"/>
              <a:t>On the right are the files that we need to create for the </a:t>
            </a:r>
            <a:r>
              <a:rPr lang="en-GB" b="1" dirty="0"/>
              <a:t>UI</a:t>
            </a:r>
            <a:r>
              <a:rPr lang="en-GB" dirty="0"/>
              <a:t>.</a:t>
            </a:r>
            <a:br>
              <a:rPr lang="en-GB" dirty="0"/>
            </a:br>
            <a:r>
              <a:rPr lang="en-GB" dirty="0"/>
              <a:t>(All Images will be provided)</a:t>
            </a:r>
          </a:p>
          <a:p>
            <a:pPr>
              <a:lnSpc>
                <a:spcPct val="120000"/>
              </a:lnSpc>
            </a:pPr>
            <a:r>
              <a:rPr lang="en-GB" dirty="0"/>
              <a:t>Using your </a:t>
            </a:r>
            <a:r>
              <a:rPr lang="en-GB" dirty="0" err="1"/>
              <a:t>movie_review</a:t>
            </a:r>
            <a:r>
              <a:rPr lang="en-GB" dirty="0"/>
              <a:t> project, create all the folders and files according to the diagram on the right and ask your tutor to validate</a:t>
            </a:r>
          </a:p>
          <a:p>
            <a:pPr>
              <a:lnSpc>
                <a:spcPct val="120000"/>
              </a:lnSpc>
            </a:pPr>
            <a:endParaRPr lang="en-GB" dirty="0"/>
          </a:p>
        </p:txBody>
      </p:sp>
      <p:sp>
        <p:nvSpPr>
          <p:cNvPr id="5" name="Slide Number Placeholder 4"/>
          <p:cNvSpPr>
            <a:spLocks noGrp="1"/>
          </p:cNvSpPr>
          <p:nvPr>
            <p:ph type="sldNum" sz="quarter" idx="12"/>
          </p:nvPr>
        </p:nvSpPr>
        <p:spPr/>
        <p:txBody>
          <a:bodyPr/>
          <a:lstStyle/>
          <a:p>
            <a:fld id="{0FF54DE5-C571-48E8-A5BC-B369434E2F44}" type="slidenum">
              <a:rPr lang="uk-UA" smtClean="0"/>
              <a:t>8</a:t>
            </a:fld>
            <a:endParaRPr lang="uk-UA"/>
          </a:p>
        </p:txBody>
      </p:sp>
      <p:pic>
        <p:nvPicPr>
          <p:cNvPr id="9" name="Picture 8">
            <a:extLst>
              <a:ext uri="{FF2B5EF4-FFF2-40B4-BE49-F238E27FC236}">
                <a16:creationId xmlns:a16="http://schemas.microsoft.com/office/drawing/2014/main" id="{3E39429B-02F3-46BD-9AB3-B24474A2C4DB}"/>
              </a:ext>
            </a:extLst>
          </p:cNvPr>
          <p:cNvPicPr>
            <a:picLocks noChangeAspect="1"/>
          </p:cNvPicPr>
          <p:nvPr/>
        </p:nvPicPr>
        <p:blipFill>
          <a:blip r:embed="rId3"/>
          <a:stretch>
            <a:fillRect/>
          </a:stretch>
        </p:blipFill>
        <p:spPr>
          <a:xfrm>
            <a:off x="6678146" y="1692876"/>
            <a:ext cx="2478539" cy="4664580"/>
          </a:xfrm>
          <a:prstGeom prst="rect">
            <a:avLst/>
          </a:prstGeom>
        </p:spPr>
      </p:pic>
    </p:spTree>
    <p:extLst>
      <p:ext uri="{BB962C8B-B14F-4D97-AF65-F5344CB8AC3E}">
        <p14:creationId xmlns:p14="http://schemas.microsoft.com/office/powerpoint/2010/main" val="889509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E801171E-6282-49BE-93B1-EFD3E9633DE4}"/>
              </a:ext>
            </a:extLst>
          </p:cNvPr>
          <p:cNvPicPr>
            <a:picLocks noChangeAspect="1"/>
          </p:cNvPicPr>
          <p:nvPr/>
        </p:nvPicPr>
        <p:blipFill>
          <a:blip r:embed="rId3"/>
          <a:stretch>
            <a:fillRect/>
          </a:stretch>
        </p:blipFill>
        <p:spPr>
          <a:xfrm>
            <a:off x="2975731" y="2085504"/>
            <a:ext cx="6333447" cy="3952267"/>
          </a:xfrm>
          <a:prstGeom prst="rect">
            <a:avLst/>
          </a:prstGeom>
        </p:spPr>
      </p:pic>
      <p:sp>
        <p:nvSpPr>
          <p:cNvPr id="2" name="Title 1">
            <a:extLst>
              <a:ext uri="{FF2B5EF4-FFF2-40B4-BE49-F238E27FC236}">
                <a16:creationId xmlns:a16="http://schemas.microsoft.com/office/drawing/2014/main" id="{8302FE2D-C02A-417E-BCDC-0F4804A66E88}"/>
              </a:ext>
            </a:extLst>
          </p:cNvPr>
          <p:cNvSpPr>
            <a:spLocks noGrp="1"/>
          </p:cNvSpPr>
          <p:nvPr>
            <p:ph type="title"/>
          </p:nvPr>
        </p:nvSpPr>
        <p:spPr/>
        <p:txBody>
          <a:bodyPr/>
          <a:lstStyle/>
          <a:p>
            <a:r>
              <a:rPr lang="en-GB" dirty="0"/>
              <a:t>Wireframe</a:t>
            </a:r>
          </a:p>
        </p:txBody>
      </p:sp>
      <p:sp>
        <p:nvSpPr>
          <p:cNvPr id="4" name="Slide Number Placeholder 3">
            <a:extLst>
              <a:ext uri="{FF2B5EF4-FFF2-40B4-BE49-F238E27FC236}">
                <a16:creationId xmlns:a16="http://schemas.microsoft.com/office/drawing/2014/main" id="{7E1FA2F6-0E33-4172-BBD6-C2279860B264}"/>
              </a:ext>
            </a:extLst>
          </p:cNvPr>
          <p:cNvSpPr>
            <a:spLocks noGrp="1"/>
          </p:cNvSpPr>
          <p:nvPr>
            <p:ph type="sldNum" sz="quarter" idx="12"/>
          </p:nvPr>
        </p:nvSpPr>
        <p:spPr/>
        <p:txBody>
          <a:bodyPr/>
          <a:lstStyle/>
          <a:p>
            <a:fld id="{8E9E4023-6F3A-457B-B0BB-8C1F114B424F}" type="slidenum">
              <a:rPr lang="en-SG" smtClean="0"/>
              <a:t>9</a:t>
            </a:fld>
            <a:endParaRPr lang="en-SG"/>
          </a:p>
        </p:txBody>
      </p:sp>
      <p:sp>
        <p:nvSpPr>
          <p:cNvPr id="7" name="Rectangular Callout 21">
            <a:extLst>
              <a:ext uri="{FF2B5EF4-FFF2-40B4-BE49-F238E27FC236}">
                <a16:creationId xmlns:a16="http://schemas.microsoft.com/office/drawing/2014/main" id="{20103692-E14F-4547-AC8E-861AB7B47F55}"/>
              </a:ext>
            </a:extLst>
          </p:cNvPr>
          <p:cNvSpPr/>
          <p:nvPr/>
        </p:nvSpPr>
        <p:spPr>
          <a:xfrm>
            <a:off x="9843884" y="5679484"/>
            <a:ext cx="788675" cy="327801"/>
          </a:xfrm>
          <a:prstGeom prst="wedgeRectCallout">
            <a:avLst>
              <a:gd name="adj1" fmla="val -128024"/>
              <a:gd name="adj2" fmla="val 8447"/>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Footer</a:t>
            </a:r>
            <a:endParaRPr lang="en-GB" sz="1400" dirty="0">
              <a:latin typeface="Arial Unicode MS" charset="0"/>
              <a:ea typeface="Arial Unicode MS" charset="0"/>
              <a:cs typeface="Arial Unicode MS" charset="0"/>
            </a:endParaRPr>
          </a:p>
        </p:txBody>
      </p:sp>
      <p:sp>
        <p:nvSpPr>
          <p:cNvPr id="8" name="Rectangular Callout 21">
            <a:extLst>
              <a:ext uri="{FF2B5EF4-FFF2-40B4-BE49-F238E27FC236}">
                <a16:creationId xmlns:a16="http://schemas.microsoft.com/office/drawing/2014/main" id="{B6025984-2FD0-41D3-AE92-07846AA3A2F8}"/>
              </a:ext>
            </a:extLst>
          </p:cNvPr>
          <p:cNvSpPr/>
          <p:nvPr/>
        </p:nvSpPr>
        <p:spPr>
          <a:xfrm>
            <a:off x="9782110" y="1846520"/>
            <a:ext cx="1021400" cy="535174"/>
          </a:xfrm>
          <a:prstGeom prst="wedgeRectCallout">
            <a:avLst>
              <a:gd name="adj1" fmla="val -107872"/>
              <a:gd name="adj2" fmla="val 63019"/>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Navigation Bar</a:t>
            </a:r>
            <a:endParaRPr lang="en-GB" sz="1400" dirty="0">
              <a:latin typeface="Arial Unicode MS" charset="0"/>
              <a:ea typeface="Arial Unicode MS" charset="0"/>
              <a:cs typeface="Arial Unicode MS" charset="0"/>
            </a:endParaRPr>
          </a:p>
        </p:txBody>
      </p:sp>
      <p:sp>
        <p:nvSpPr>
          <p:cNvPr id="9" name="Rectangular Callout 21">
            <a:extLst>
              <a:ext uri="{FF2B5EF4-FFF2-40B4-BE49-F238E27FC236}">
                <a16:creationId xmlns:a16="http://schemas.microsoft.com/office/drawing/2014/main" id="{A6B8EA0C-28E8-48FA-9805-B002D97EF2E4}"/>
              </a:ext>
            </a:extLst>
          </p:cNvPr>
          <p:cNvSpPr/>
          <p:nvPr/>
        </p:nvSpPr>
        <p:spPr>
          <a:xfrm>
            <a:off x="1736652" y="2288676"/>
            <a:ext cx="660601" cy="327801"/>
          </a:xfrm>
          <a:prstGeom prst="wedgeRectCallout">
            <a:avLst>
              <a:gd name="adj1" fmla="val 158914"/>
              <a:gd name="adj2" fmla="val 17097"/>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Logo</a:t>
            </a:r>
            <a:endParaRPr lang="en-GB" sz="1400" dirty="0">
              <a:latin typeface="Arial Unicode MS" charset="0"/>
              <a:ea typeface="Arial Unicode MS" charset="0"/>
              <a:cs typeface="Arial Unicode MS" charset="0"/>
            </a:endParaRPr>
          </a:p>
        </p:txBody>
      </p:sp>
      <p:sp>
        <p:nvSpPr>
          <p:cNvPr id="10" name="Rectangular Callout 21">
            <a:extLst>
              <a:ext uri="{FF2B5EF4-FFF2-40B4-BE49-F238E27FC236}">
                <a16:creationId xmlns:a16="http://schemas.microsoft.com/office/drawing/2014/main" id="{54308D10-1407-43CD-B45E-918C70398352}"/>
              </a:ext>
            </a:extLst>
          </p:cNvPr>
          <p:cNvSpPr/>
          <p:nvPr/>
        </p:nvSpPr>
        <p:spPr>
          <a:xfrm>
            <a:off x="2133600" y="1490941"/>
            <a:ext cx="593953" cy="327801"/>
          </a:xfrm>
          <a:prstGeom prst="wedgeRectCallout">
            <a:avLst>
              <a:gd name="adj1" fmla="val 162133"/>
              <a:gd name="adj2" fmla="val 224688"/>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Title</a:t>
            </a:r>
            <a:endParaRPr lang="en-GB" sz="1400" dirty="0">
              <a:latin typeface="Arial Unicode MS" charset="0"/>
              <a:ea typeface="Arial Unicode MS" charset="0"/>
              <a:cs typeface="Arial Unicode MS" charset="0"/>
            </a:endParaRPr>
          </a:p>
        </p:txBody>
      </p:sp>
      <p:sp>
        <p:nvSpPr>
          <p:cNvPr id="11" name="Rectangular Callout 21">
            <a:extLst>
              <a:ext uri="{FF2B5EF4-FFF2-40B4-BE49-F238E27FC236}">
                <a16:creationId xmlns:a16="http://schemas.microsoft.com/office/drawing/2014/main" id="{B610EAA9-919A-4BB8-98B1-FAC26DC18389}"/>
              </a:ext>
            </a:extLst>
          </p:cNvPr>
          <p:cNvSpPr/>
          <p:nvPr/>
        </p:nvSpPr>
        <p:spPr>
          <a:xfrm>
            <a:off x="3215988" y="1389321"/>
            <a:ext cx="1674989" cy="836428"/>
          </a:xfrm>
          <a:prstGeom prst="wedgeRectCallout">
            <a:avLst>
              <a:gd name="adj1" fmla="val 1031"/>
              <a:gd name="adj2" fmla="val 71027"/>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Button or link that displays currently showing movies when clicked.</a:t>
            </a:r>
            <a:endParaRPr lang="en-GB" sz="1400" dirty="0">
              <a:latin typeface="Arial Unicode MS" charset="0"/>
              <a:ea typeface="Arial Unicode MS" charset="0"/>
              <a:cs typeface="Arial Unicode MS" charset="0"/>
            </a:endParaRPr>
          </a:p>
        </p:txBody>
      </p:sp>
      <p:sp>
        <p:nvSpPr>
          <p:cNvPr id="12" name="Rectangular Callout 21">
            <a:extLst>
              <a:ext uri="{FF2B5EF4-FFF2-40B4-BE49-F238E27FC236}">
                <a16:creationId xmlns:a16="http://schemas.microsoft.com/office/drawing/2014/main" id="{17598D9E-1F98-42BE-A196-F0662B7EF4B6}"/>
              </a:ext>
            </a:extLst>
          </p:cNvPr>
          <p:cNvSpPr/>
          <p:nvPr/>
        </p:nvSpPr>
        <p:spPr>
          <a:xfrm>
            <a:off x="1070344" y="2795495"/>
            <a:ext cx="1779182" cy="536040"/>
          </a:xfrm>
          <a:prstGeom prst="wedgeRectCallout">
            <a:avLst>
              <a:gd name="adj1" fmla="val 114169"/>
              <a:gd name="adj2" fmla="val -48257"/>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Heading informing number of movies </a:t>
            </a:r>
            <a:endParaRPr lang="en-GB" sz="1400" dirty="0">
              <a:latin typeface="Arial Unicode MS" charset="0"/>
              <a:ea typeface="Arial Unicode MS" charset="0"/>
              <a:cs typeface="Arial Unicode MS" charset="0"/>
            </a:endParaRPr>
          </a:p>
        </p:txBody>
      </p:sp>
      <p:sp>
        <p:nvSpPr>
          <p:cNvPr id="15" name="Rectangular Callout 21">
            <a:extLst>
              <a:ext uri="{FF2B5EF4-FFF2-40B4-BE49-F238E27FC236}">
                <a16:creationId xmlns:a16="http://schemas.microsoft.com/office/drawing/2014/main" id="{F943CA81-2A5B-4E97-8370-AC708F8A3A65}"/>
              </a:ext>
            </a:extLst>
          </p:cNvPr>
          <p:cNvSpPr/>
          <p:nvPr/>
        </p:nvSpPr>
        <p:spPr>
          <a:xfrm>
            <a:off x="4976036" y="1400528"/>
            <a:ext cx="1661813" cy="836428"/>
          </a:xfrm>
          <a:prstGeom prst="wedgeRectCallout">
            <a:avLst>
              <a:gd name="adj1" fmla="val -32577"/>
              <a:gd name="adj2" fmla="val 71027"/>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Button or link that displays coming soon movies when clicked.</a:t>
            </a:r>
            <a:endParaRPr lang="en-GB" sz="1400" dirty="0">
              <a:latin typeface="Arial Unicode MS" charset="0"/>
              <a:ea typeface="Arial Unicode MS" charset="0"/>
              <a:cs typeface="Arial Unicode MS" charset="0"/>
            </a:endParaRPr>
          </a:p>
        </p:txBody>
      </p:sp>
      <p:sp>
        <p:nvSpPr>
          <p:cNvPr id="16" name="Rectangular Callout 21">
            <a:extLst>
              <a:ext uri="{FF2B5EF4-FFF2-40B4-BE49-F238E27FC236}">
                <a16:creationId xmlns:a16="http://schemas.microsoft.com/office/drawing/2014/main" id="{52FD198C-8DB2-4B9E-B0FB-1F351B0E125B}"/>
              </a:ext>
            </a:extLst>
          </p:cNvPr>
          <p:cNvSpPr/>
          <p:nvPr/>
        </p:nvSpPr>
        <p:spPr>
          <a:xfrm>
            <a:off x="7188058" y="1407616"/>
            <a:ext cx="2105617" cy="836428"/>
          </a:xfrm>
          <a:prstGeom prst="wedgeRectCallout">
            <a:avLst>
              <a:gd name="adj1" fmla="val -107152"/>
              <a:gd name="adj2" fmla="val 71874"/>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Button or link that displays info of website in modal window when clicked.</a:t>
            </a:r>
            <a:endParaRPr lang="en-GB" sz="1400" dirty="0">
              <a:latin typeface="Arial Unicode MS" charset="0"/>
              <a:ea typeface="Arial Unicode MS" charset="0"/>
              <a:cs typeface="Arial Unicode MS" charset="0"/>
            </a:endParaRPr>
          </a:p>
        </p:txBody>
      </p:sp>
      <p:sp>
        <p:nvSpPr>
          <p:cNvPr id="17" name="Rectangular Callout 21">
            <a:extLst>
              <a:ext uri="{FF2B5EF4-FFF2-40B4-BE49-F238E27FC236}">
                <a16:creationId xmlns:a16="http://schemas.microsoft.com/office/drawing/2014/main" id="{B0950245-F14C-4B96-973B-9D5E8940D0E0}"/>
              </a:ext>
            </a:extLst>
          </p:cNvPr>
          <p:cNvSpPr/>
          <p:nvPr/>
        </p:nvSpPr>
        <p:spPr>
          <a:xfrm>
            <a:off x="857693" y="4227062"/>
            <a:ext cx="1869860" cy="900887"/>
          </a:xfrm>
          <a:prstGeom prst="wedgeRectCallout">
            <a:avLst>
              <a:gd name="adj1" fmla="val 125316"/>
              <a:gd name="adj2" fmla="val -79356"/>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Icon to reveal comments for the movies when clicked</a:t>
            </a:r>
          </a:p>
        </p:txBody>
      </p:sp>
      <p:sp>
        <p:nvSpPr>
          <p:cNvPr id="18" name="Rectangular Callout 21">
            <a:extLst>
              <a:ext uri="{FF2B5EF4-FFF2-40B4-BE49-F238E27FC236}">
                <a16:creationId xmlns:a16="http://schemas.microsoft.com/office/drawing/2014/main" id="{B8E11913-8268-4241-B653-3380A027CECC}"/>
              </a:ext>
            </a:extLst>
          </p:cNvPr>
          <p:cNvSpPr/>
          <p:nvPr/>
        </p:nvSpPr>
        <p:spPr>
          <a:xfrm>
            <a:off x="5318197" y="5505178"/>
            <a:ext cx="2209503" cy="863666"/>
          </a:xfrm>
          <a:prstGeom prst="wedgeRectCallout">
            <a:avLst>
              <a:gd name="adj1" fmla="val -71266"/>
              <a:gd name="adj2" fmla="val -221704"/>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Movie title to reveal Movie Description when clicked </a:t>
            </a:r>
          </a:p>
        </p:txBody>
      </p:sp>
    </p:spTree>
    <p:extLst>
      <p:ext uri="{BB962C8B-B14F-4D97-AF65-F5344CB8AC3E}">
        <p14:creationId xmlns:p14="http://schemas.microsoft.com/office/powerpoint/2010/main" val="2860816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mystyle.css File</a:t>
            </a:r>
          </a:p>
        </p:txBody>
      </p:sp>
      <p:sp>
        <p:nvSpPr>
          <p:cNvPr id="6" name="Slide Number Placeholder 5"/>
          <p:cNvSpPr>
            <a:spLocks noGrp="1"/>
          </p:cNvSpPr>
          <p:nvPr>
            <p:ph type="sldNum" sz="quarter" idx="12"/>
          </p:nvPr>
        </p:nvSpPr>
        <p:spPr/>
        <p:txBody>
          <a:bodyPr/>
          <a:lstStyle/>
          <a:p>
            <a:fld id="{0FF54DE5-C571-48E8-A5BC-B369434E2F44}" type="slidenum">
              <a:rPr lang="uk-UA" smtClean="0"/>
              <a:t>10</a:t>
            </a:fld>
            <a:endParaRPr lang="uk-UA"/>
          </a:p>
        </p:txBody>
      </p:sp>
      <p:sp>
        <p:nvSpPr>
          <p:cNvPr id="9" name="TextBox 8">
            <a:extLst>
              <a:ext uri="{FF2B5EF4-FFF2-40B4-BE49-F238E27FC236}">
                <a16:creationId xmlns:a16="http://schemas.microsoft.com/office/drawing/2014/main" id="{B689F585-C80D-4147-8DFA-FCDB4E386CB4}"/>
              </a:ext>
            </a:extLst>
          </p:cNvPr>
          <p:cNvSpPr txBox="1"/>
          <p:nvPr/>
        </p:nvSpPr>
        <p:spPr>
          <a:xfrm>
            <a:off x="5786718" y="1688086"/>
            <a:ext cx="3088342" cy="1754326"/>
          </a:xfrm>
          <a:prstGeom prst="rect">
            <a:avLst/>
          </a:prstGeom>
          <a:noFill/>
          <a:ln w="12700">
            <a:solidFill>
              <a:schemeClr val="tx1"/>
            </a:solidFill>
          </a:ln>
        </p:spPr>
        <p:txBody>
          <a:bodyPr wrap="square" rtlCol="0">
            <a:spAutoFit/>
          </a:bodyPr>
          <a:lstStyle/>
          <a:p>
            <a:r>
              <a:rPr lang="en-US" sz="1200" b="0" dirty="0">
                <a:effectLst/>
                <a:latin typeface="Consolas" panose="020B0609020204030204" pitchFamily="49" charset="0"/>
              </a:rPr>
              <a:t>footer {</a:t>
            </a:r>
          </a:p>
          <a:p>
            <a:r>
              <a:rPr lang="en-US" sz="1200" b="0" dirty="0">
                <a:effectLst/>
                <a:latin typeface="Consolas" panose="020B0609020204030204" pitchFamily="49" charset="0"/>
              </a:rPr>
              <a:t>    background: #aaa;</a:t>
            </a:r>
          </a:p>
          <a:p>
            <a:r>
              <a:rPr lang="en-US" sz="1200" b="0" dirty="0">
                <a:effectLst/>
                <a:latin typeface="Consolas" panose="020B0609020204030204" pitchFamily="49" charset="0"/>
              </a:rPr>
              <a:t>    color: white;</a:t>
            </a:r>
          </a:p>
          <a:p>
            <a:r>
              <a:rPr lang="en-US" sz="1200" b="0" dirty="0">
                <a:effectLst/>
                <a:latin typeface="Consolas" panose="020B0609020204030204" pitchFamily="49" charset="0"/>
              </a:rPr>
              <a:t>}</a:t>
            </a:r>
          </a:p>
          <a:p>
            <a:endParaRPr lang="en-US" sz="1200" b="0" dirty="0">
              <a:effectLst/>
              <a:latin typeface="Consolas" panose="020B0609020204030204" pitchFamily="49" charset="0"/>
            </a:endParaRPr>
          </a:p>
          <a:p>
            <a:r>
              <a:rPr lang="en-US" sz="1200" b="0" dirty="0">
                <a:effectLst/>
                <a:latin typeface="Consolas" panose="020B0609020204030204" pitchFamily="49" charset="0"/>
              </a:rPr>
              <a:t>.edit {</a:t>
            </a:r>
          </a:p>
          <a:p>
            <a:r>
              <a:rPr lang="en-US" sz="1200" b="0" dirty="0">
                <a:effectLst/>
                <a:latin typeface="Consolas" panose="020B0609020204030204" pitchFamily="49" charset="0"/>
              </a:rPr>
              <a:t>    float: right;</a:t>
            </a:r>
          </a:p>
          <a:p>
            <a:r>
              <a:rPr lang="en-US" sz="1200" b="0" dirty="0">
                <a:effectLst/>
                <a:latin typeface="Consolas" panose="020B0609020204030204" pitchFamily="49" charset="0"/>
              </a:rPr>
              <a:t>    padding-right: 10px;</a:t>
            </a:r>
          </a:p>
          <a:p>
            <a:r>
              <a:rPr lang="en-US" sz="1200" b="0" dirty="0">
                <a:effectLst/>
                <a:latin typeface="Consolas" panose="020B0609020204030204" pitchFamily="49" charset="0"/>
              </a:rPr>
              <a:t>}</a:t>
            </a:r>
            <a:endParaRPr lang="en-SG" sz="1200" dirty="0">
              <a:latin typeface="Courier"/>
            </a:endParaRPr>
          </a:p>
        </p:txBody>
      </p:sp>
      <p:sp>
        <p:nvSpPr>
          <p:cNvPr id="7" name="Content Placeholder 5">
            <a:extLst>
              <a:ext uri="{FF2B5EF4-FFF2-40B4-BE49-F238E27FC236}">
                <a16:creationId xmlns:a16="http://schemas.microsoft.com/office/drawing/2014/main" id="{BBD4B75C-2B3B-47CF-8572-1F3E363FA8E0}"/>
              </a:ext>
            </a:extLst>
          </p:cNvPr>
          <p:cNvSpPr>
            <a:spLocks noGrp="1"/>
          </p:cNvSpPr>
          <p:nvPr>
            <p:ph sz="half" idx="1"/>
          </p:nvPr>
        </p:nvSpPr>
        <p:spPr>
          <a:xfrm>
            <a:off x="871817" y="1420906"/>
            <a:ext cx="4914900" cy="4571999"/>
          </a:xfrm>
        </p:spPr>
        <p:txBody>
          <a:bodyPr>
            <a:normAutofit/>
          </a:bodyPr>
          <a:lstStyle/>
          <a:p>
            <a:pPr>
              <a:lnSpc>
                <a:spcPct val="120000"/>
              </a:lnSpc>
            </a:pPr>
            <a:r>
              <a:rPr lang="en-GB" dirty="0"/>
              <a:t>For most of the styling, we will using the stylings from bootstrap</a:t>
            </a:r>
          </a:p>
          <a:p>
            <a:pPr>
              <a:lnSpc>
                <a:spcPct val="120000"/>
              </a:lnSpc>
            </a:pPr>
            <a:r>
              <a:rPr lang="en-GB" dirty="0"/>
              <a:t>These are the only 2 stylings we will be using. One is for the placement of the edit icon and the other one is for the footer</a:t>
            </a:r>
          </a:p>
          <a:p>
            <a:pPr>
              <a:lnSpc>
                <a:spcPct val="120000"/>
              </a:lnSpc>
            </a:pPr>
            <a:endParaRPr lang="en-GB" dirty="0"/>
          </a:p>
        </p:txBody>
      </p:sp>
      <p:pic>
        <p:nvPicPr>
          <p:cNvPr id="8" name="Picture 7">
            <a:extLst>
              <a:ext uri="{FF2B5EF4-FFF2-40B4-BE49-F238E27FC236}">
                <a16:creationId xmlns:a16="http://schemas.microsoft.com/office/drawing/2014/main" id="{546FFB91-0EAC-4F42-8DB9-76C8C21028A8}"/>
              </a:ext>
            </a:extLst>
          </p:cNvPr>
          <p:cNvPicPr>
            <a:picLocks noChangeAspect="1"/>
          </p:cNvPicPr>
          <p:nvPr/>
        </p:nvPicPr>
        <p:blipFill>
          <a:blip r:embed="rId2"/>
          <a:stretch>
            <a:fillRect/>
          </a:stretch>
        </p:blipFill>
        <p:spPr>
          <a:xfrm>
            <a:off x="9320427" y="1519483"/>
            <a:ext cx="2478539" cy="4664580"/>
          </a:xfrm>
          <a:prstGeom prst="rect">
            <a:avLst/>
          </a:prstGeom>
        </p:spPr>
      </p:pic>
      <p:sp>
        <p:nvSpPr>
          <p:cNvPr id="3" name="Arrow: Right 2">
            <a:extLst>
              <a:ext uri="{FF2B5EF4-FFF2-40B4-BE49-F238E27FC236}">
                <a16:creationId xmlns:a16="http://schemas.microsoft.com/office/drawing/2014/main" id="{6F7F4EFA-05B8-4F20-910C-FC1C60D26101}"/>
              </a:ext>
            </a:extLst>
          </p:cNvPr>
          <p:cNvSpPr/>
          <p:nvPr/>
        </p:nvSpPr>
        <p:spPr>
          <a:xfrm rot="10381297">
            <a:off x="7996518" y="2142565"/>
            <a:ext cx="1783976" cy="2330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5177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the Home Page (Index.html – The Head)</a:t>
            </a:r>
          </a:p>
        </p:txBody>
      </p:sp>
      <p:sp>
        <p:nvSpPr>
          <p:cNvPr id="8" name="Slide Number Placeholder 7"/>
          <p:cNvSpPr>
            <a:spLocks noGrp="1"/>
          </p:cNvSpPr>
          <p:nvPr>
            <p:ph type="sldNum" sz="quarter" idx="12"/>
          </p:nvPr>
        </p:nvSpPr>
        <p:spPr/>
        <p:txBody>
          <a:bodyPr/>
          <a:lstStyle/>
          <a:p>
            <a:fld id="{0FF54DE5-C571-48E8-A5BC-B369434E2F44}" type="slidenum">
              <a:rPr lang="uk-UA" smtClean="0"/>
              <a:t>11</a:t>
            </a:fld>
            <a:endParaRPr lang="uk-UA"/>
          </a:p>
        </p:txBody>
      </p:sp>
      <p:sp>
        <p:nvSpPr>
          <p:cNvPr id="10" name="TextBox 9">
            <a:extLst>
              <a:ext uri="{FF2B5EF4-FFF2-40B4-BE49-F238E27FC236}">
                <a16:creationId xmlns:a16="http://schemas.microsoft.com/office/drawing/2014/main" id="{498AAB26-FB10-497A-B79D-0F34C90FDFC7}"/>
              </a:ext>
            </a:extLst>
          </p:cNvPr>
          <p:cNvSpPr txBox="1"/>
          <p:nvPr/>
        </p:nvSpPr>
        <p:spPr>
          <a:xfrm>
            <a:off x="328209" y="1476116"/>
            <a:ext cx="10651065" cy="3139321"/>
          </a:xfrm>
          <a:prstGeom prst="rect">
            <a:avLst/>
          </a:prstGeom>
          <a:noFill/>
          <a:ln w="12700">
            <a:solidFill>
              <a:schemeClr val="tx1"/>
            </a:solidFill>
          </a:ln>
        </p:spPr>
        <p:txBody>
          <a:bodyPr wrap="square" rtlCol="0">
            <a:spAutoFit/>
          </a:bodyPr>
          <a:lstStyle/>
          <a:p>
            <a:r>
              <a:rPr lang="en-US" b="0" dirty="0">
                <a:effectLst/>
                <a:latin typeface="Consolas" panose="020B0609020204030204" pitchFamily="49" charset="0"/>
              </a:rPr>
              <a:t>&lt;!DOCTYPE html&gt;</a:t>
            </a:r>
          </a:p>
          <a:p>
            <a:r>
              <a:rPr lang="en-US" b="0" dirty="0">
                <a:effectLst/>
                <a:latin typeface="Consolas" panose="020B0609020204030204" pitchFamily="49" charset="0"/>
              </a:rPr>
              <a:t>&lt;html lang="</a:t>
            </a:r>
            <a:r>
              <a:rPr lang="en-US" b="0" dirty="0" err="1">
                <a:effectLst/>
                <a:latin typeface="Consolas" panose="020B0609020204030204" pitchFamily="49" charset="0"/>
              </a:rPr>
              <a:t>en</a:t>
            </a:r>
            <a:r>
              <a:rPr lang="en-US" b="0" dirty="0">
                <a:effectLst/>
                <a:latin typeface="Consolas" panose="020B0609020204030204" pitchFamily="49" charset="0"/>
              </a:rPr>
              <a:t>"&gt;</a:t>
            </a:r>
          </a:p>
          <a:p>
            <a:endParaRPr lang="en-US" b="0" dirty="0">
              <a:effectLst/>
              <a:latin typeface="Consolas" panose="020B0609020204030204" pitchFamily="49" charset="0"/>
            </a:endParaRPr>
          </a:p>
          <a:p>
            <a:r>
              <a:rPr lang="en-US" b="0" dirty="0">
                <a:effectLst/>
                <a:latin typeface="Consolas" panose="020B0609020204030204" pitchFamily="49" charset="0"/>
              </a:rPr>
              <a:t>&lt;head&gt;</a:t>
            </a:r>
          </a:p>
          <a:p>
            <a:r>
              <a:rPr lang="en-US" b="0" dirty="0">
                <a:effectLst/>
                <a:latin typeface="Consolas" panose="020B0609020204030204" pitchFamily="49" charset="0"/>
              </a:rPr>
              <a:t>    &lt;title&gt;Movies Review Website&lt;/title&gt;</a:t>
            </a:r>
          </a:p>
          <a:p>
            <a:r>
              <a:rPr lang="en-US" b="0" dirty="0">
                <a:effectLst/>
                <a:latin typeface="Consolas" panose="020B0609020204030204" pitchFamily="49" charset="0"/>
              </a:rPr>
              <a:t>    &lt;meta charset="utf-8"&gt;</a:t>
            </a:r>
          </a:p>
          <a:p>
            <a:r>
              <a:rPr lang="en-US" b="0" dirty="0">
                <a:effectLst/>
                <a:latin typeface="Consolas" panose="020B0609020204030204" pitchFamily="49" charset="0"/>
              </a:rPr>
              <a:t>    &lt;link </a:t>
            </a:r>
            <a:r>
              <a:rPr lang="en-US" b="0" dirty="0" err="1">
                <a:effectLst/>
                <a:latin typeface="Consolas" panose="020B0609020204030204" pitchFamily="49" charset="0"/>
              </a:rPr>
              <a:t>rel</a:t>
            </a:r>
            <a:r>
              <a:rPr lang="en-US" b="0" dirty="0">
                <a:effectLst/>
                <a:latin typeface="Consolas" panose="020B0609020204030204" pitchFamily="49" charset="0"/>
              </a:rPr>
              <a:t>="stylesheet" </a:t>
            </a:r>
            <a:r>
              <a:rPr lang="en-US" b="0" dirty="0" err="1">
                <a:effectLst/>
                <a:latin typeface="Consolas" panose="020B0609020204030204" pitchFamily="49" charset="0"/>
              </a:rPr>
              <a:t>href</a:t>
            </a:r>
            <a:r>
              <a:rPr lang="en-US" b="0" dirty="0">
                <a:effectLst/>
                <a:latin typeface="Consolas" panose="020B0609020204030204" pitchFamily="49" charset="0"/>
              </a:rPr>
              <a:t>="https://maxcdn.bootstrapcdn.com/bootstrap/4.1.3/</a:t>
            </a:r>
            <a:r>
              <a:rPr lang="en-US" b="0" dirty="0" err="1">
                <a:effectLst/>
                <a:latin typeface="Consolas" panose="020B0609020204030204" pitchFamily="49" charset="0"/>
              </a:rPr>
              <a:t>css</a:t>
            </a:r>
            <a:r>
              <a:rPr lang="en-US" b="0" dirty="0">
                <a:effectLst/>
                <a:latin typeface="Consolas" panose="020B0609020204030204" pitchFamily="49" charset="0"/>
              </a:rPr>
              <a:t>/bootstrap.min.css"&gt;</a:t>
            </a:r>
          </a:p>
          <a:p>
            <a:r>
              <a:rPr lang="en-US" b="0" dirty="0">
                <a:effectLst/>
                <a:latin typeface="Consolas" panose="020B0609020204030204" pitchFamily="49" charset="0"/>
              </a:rPr>
              <a:t>    &lt;link </a:t>
            </a:r>
            <a:r>
              <a:rPr lang="en-US" b="0" dirty="0" err="1">
                <a:effectLst/>
                <a:latin typeface="Consolas" panose="020B0609020204030204" pitchFamily="49" charset="0"/>
              </a:rPr>
              <a:t>rel</a:t>
            </a:r>
            <a:r>
              <a:rPr lang="en-US" b="0" dirty="0">
                <a:effectLst/>
                <a:latin typeface="Consolas" panose="020B0609020204030204" pitchFamily="49" charset="0"/>
              </a:rPr>
              <a:t>="stylesheet" </a:t>
            </a:r>
            <a:r>
              <a:rPr lang="en-US" b="0" dirty="0" err="1">
                <a:effectLst/>
                <a:latin typeface="Consolas" panose="020B0609020204030204" pitchFamily="49" charset="0"/>
              </a:rPr>
              <a:t>href</a:t>
            </a:r>
            <a:r>
              <a:rPr lang="en-US" b="0" dirty="0">
                <a:effectLst/>
                <a:latin typeface="Consolas" panose="020B0609020204030204" pitchFamily="49" charset="0"/>
              </a:rPr>
              <a:t>="</a:t>
            </a:r>
            <a:r>
              <a:rPr lang="en-US" b="0" dirty="0" err="1">
                <a:effectLst/>
                <a:latin typeface="Consolas" panose="020B0609020204030204" pitchFamily="49" charset="0"/>
              </a:rPr>
              <a:t>css</a:t>
            </a:r>
            <a:r>
              <a:rPr lang="en-US" b="0" dirty="0">
                <a:effectLst/>
                <a:latin typeface="Consolas" panose="020B0609020204030204" pitchFamily="49" charset="0"/>
              </a:rPr>
              <a:t>/mystyle.css"&gt;</a:t>
            </a:r>
          </a:p>
          <a:p>
            <a:endParaRPr lang="en-US" b="0" dirty="0">
              <a:effectLst/>
              <a:latin typeface="Consolas" panose="020B0609020204030204" pitchFamily="49" charset="0"/>
            </a:endParaRPr>
          </a:p>
          <a:p>
            <a:r>
              <a:rPr lang="en-US" b="0" dirty="0">
                <a:effectLst/>
                <a:latin typeface="Consolas" panose="020B0609020204030204" pitchFamily="49" charset="0"/>
              </a:rPr>
              <a:t>&lt;/head&gt;</a:t>
            </a:r>
          </a:p>
        </p:txBody>
      </p:sp>
      <p:sp>
        <p:nvSpPr>
          <p:cNvPr id="7" name="Rectangular Callout 21">
            <a:extLst>
              <a:ext uri="{FF2B5EF4-FFF2-40B4-BE49-F238E27FC236}">
                <a16:creationId xmlns:a16="http://schemas.microsoft.com/office/drawing/2014/main" id="{FB493926-2A14-4206-ABB8-AACB87E720E5}"/>
              </a:ext>
            </a:extLst>
          </p:cNvPr>
          <p:cNvSpPr/>
          <p:nvPr/>
        </p:nvSpPr>
        <p:spPr>
          <a:xfrm>
            <a:off x="328209" y="4795773"/>
            <a:ext cx="5239728" cy="1344923"/>
          </a:xfrm>
          <a:prstGeom prst="wedgeRectCallout">
            <a:avLst>
              <a:gd name="adj1" fmla="val -36643"/>
              <a:gd name="adj2" fmla="val -156816"/>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Using the CDN (content Delivery Network) Bootstrap.css so that we can use their professional </a:t>
            </a:r>
            <a:r>
              <a:rPr lang="en-US" sz="1400" dirty="0" err="1">
                <a:latin typeface="Arial Unicode MS" charset="0"/>
                <a:ea typeface="Arial Unicode MS" charset="0"/>
                <a:cs typeface="Arial Unicode MS" charset="0"/>
              </a:rPr>
              <a:t>css</a:t>
            </a:r>
            <a:r>
              <a:rPr lang="en-US" sz="1400" dirty="0">
                <a:latin typeface="Arial Unicode MS" charset="0"/>
                <a:ea typeface="Arial Unicode MS" charset="0"/>
                <a:cs typeface="Arial Unicode MS" charset="0"/>
              </a:rPr>
              <a:t> stylings. There are pros and cons for using CDN. One main pro is your website will load faster and one main con is that if the CDN is down, then you will not be able to reference the </a:t>
            </a:r>
            <a:r>
              <a:rPr lang="en-US" sz="1400" dirty="0" err="1">
                <a:latin typeface="Arial Unicode MS" charset="0"/>
                <a:ea typeface="Arial Unicode MS" charset="0"/>
                <a:cs typeface="Arial Unicode MS" charset="0"/>
              </a:rPr>
              <a:t>css</a:t>
            </a:r>
            <a:endParaRPr lang="en-GB" sz="1400" dirty="0">
              <a:latin typeface="Arial Unicode MS" charset="0"/>
              <a:ea typeface="Arial Unicode MS" charset="0"/>
              <a:cs typeface="Arial Unicode MS" charset="0"/>
            </a:endParaRPr>
          </a:p>
        </p:txBody>
      </p:sp>
      <p:sp>
        <p:nvSpPr>
          <p:cNvPr id="9" name="Rectangular Callout 21">
            <a:extLst>
              <a:ext uri="{FF2B5EF4-FFF2-40B4-BE49-F238E27FC236}">
                <a16:creationId xmlns:a16="http://schemas.microsoft.com/office/drawing/2014/main" id="{8EA10F11-05CD-47AF-92B1-CF22B91D5925}"/>
              </a:ext>
            </a:extLst>
          </p:cNvPr>
          <p:cNvSpPr/>
          <p:nvPr/>
        </p:nvSpPr>
        <p:spPr>
          <a:xfrm>
            <a:off x="6185718" y="4197223"/>
            <a:ext cx="3003106" cy="836428"/>
          </a:xfrm>
          <a:prstGeom prst="wedgeRectCallout">
            <a:avLst>
              <a:gd name="adj1" fmla="val -162736"/>
              <a:gd name="adj2" fmla="val -69376"/>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Linking to our own mystyle.css. You can add additional styles here</a:t>
            </a:r>
            <a:endParaRPr lang="en-GB" sz="1400" dirty="0">
              <a:latin typeface="Arial Unicode MS" charset="0"/>
              <a:ea typeface="Arial Unicode MS" charset="0"/>
              <a:cs typeface="Arial Unicode MS" charset="0"/>
            </a:endParaRPr>
          </a:p>
        </p:txBody>
      </p:sp>
      <p:pic>
        <p:nvPicPr>
          <p:cNvPr id="11" name="Picture 10">
            <a:extLst>
              <a:ext uri="{FF2B5EF4-FFF2-40B4-BE49-F238E27FC236}">
                <a16:creationId xmlns:a16="http://schemas.microsoft.com/office/drawing/2014/main" id="{BD0613D0-3A1F-49FC-AB4D-EC192BDD185F}"/>
              </a:ext>
            </a:extLst>
          </p:cNvPr>
          <p:cNvPicPr>
            <a:picLocks noChangeAspect="1"/>
          </p:cNvPicPr>
          <p:nvPr/>
        </p:nvPicPr>
        <p:blipFill>
          <a:blip r:embed="rId3"/>
          <a:stretch>
            <a:fillRect/>
          </a:stretch>
        </p:blipFill>
        <p:spPr>
          <a:xfrm>
            <a:off x="9713461" y="1476116"/>
            <a:ext cx="2478539" cy="4664580"/>
          </a:xfrm>
          <a:prstGeom prst="rect">
            <a:avLst/>
          </a:prstGeom>
        </p:spPr>
      </p:pic>
      <p:sp>
        <p:nvSpPr>
          <p:cNvPr id="12" name="Arrow: Right 11">
            <a:extLst>
              <a:ext uri="{FF2B5EF4-FFF2-40B4-BE49-F238E27FC236}">
                <a16:creationId xmlns:a16="http://schemas.microsoft.com/office/drawing/2014/main" id="{0A7F0058-4084-467B-BD71-62D01348E08D}"/>
              </a:ext>
            </a:extLst>
          </p:cNvPr>
          <p:cNvSpPr/>
          <p:nvPr/>
        </p:nvSpPr>
        <p:spPr>
          <a:xfrm rot="13055623">
            <a:off x="6097681" y="3455875"/>
            <a:ext cx="4487745" cy="2330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9308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the Home Page (Index.html – the BODY)</a:t>
            </a:r>
          </a:p>
        </p:txBody>
      </p:sp>
      <p:sp>
        <p:nvSpPr>
          <p:cNvPr id="8" name="Slide Number Placeholder 7"/>
          <p:cNvSpPr>
            <a:spLocks noGrp="1"/>
          </p:cNvSpPr>
          <p:nvPr>
            <p:ph type="sldNum" sz="quarter" idx="12"/>
          </p:nvPr>
        </p:nvSpPr>
        <p:spPr/>
        <p:txBody>
          <a:bodyPr/>
          <a:lstStyle/>
          <a:p>
            <a:fld id="{0FF54DE5-C571-48E8-A5BC-B369434E2F44}" type="slidenum">
              <a:rPr lang="uk-UA" smtClean="0"/>
              <a:t>12</a:t>
            </a:fld>
            <a:endParaRPr lang="uk-UA"/>
          </a:p>
        </p:txBody>
      </p:sp>
      <p:sp>
        <p:nvSpPr>
          <p:cNvPr id="10" name="TextBox 9">
            <a:extLst>
              <a:ext uri="{FF2B5EF4-FFF2-40B4-BE49-F238E27FC236}">
                <a16:creationId xmlns:a16="http://schemas.microsoft.com/office/drawing/2014/main" id="{498AAB26-FB10-497A-B79D-0F34C90FDFC7}"/>
              </a:ext>
            </a:extLst>
          </p:cNvPr>
          <p:cNvSpPr txBox="1"/>
          <p:nvPr/>
        </p:nvSpPr>
        <p:spPr>
          <a:xfrm>
            <a:off x="328209" y="1476116"/>
            <a:ext cx="10651065" cy="4616648"/>
          </a:xfrm>
          <a:prstGeom prst="rect">
            <a:avLst/>
          </a:prstGeom>
          <a:noFill/>
          <a:ln w="12700">
            <a:solidFill>
              <a:schemeClr val="tx1"/>
            </a:solidFill>
          </a:ln>
        </p:spPr>
        <p:txBody>
          <a:bodyPr wrap="square" rtlCol="0">
            <a:spAutoFit/>
          </a:bodyPr>
          <a:lstStyle/>
          <a:p>
            <a:r>
              <a:rPr lang="en-US" sz="1400" b="0" dirty="0">
                <a:solidFill>
                  <a:srgbClr val="000000"/>
                </a:solidFill>
                <a:effectLst/>
                <a:latin typeface="Consolas" panose="020B0609020204030204" pitchFamily="49" charset="0"/>
              </a:rPr>
              <a:t>&lt;body onload="</a:t>
            </a:r>
            <a:r>
              <a:rPr lang="en-US" sz="1400" b="0" dirty="0" err="1">
                <a:solidFill>
                  <a:srgbClr val="000000"/>
                </a:solidFill>
                <a:effectLst/>
                <a:latin typeface="Consolas" panose="020B0609020204030204" pitchFamily="49" charset="0"/>
              </a:rPr>
              <a:t>getMovieData</a:t>
            </a:r>
            <a:r>
              <a:rPr lang="en-US" sz="1400" b="0" dirty="0">
                <a:solidFill>
                  <a:srgbClr val="000000"/>
                </a:solidFill>
                <a:effectLst/>
                <a:latin typeface="Consolas" panose="020B0609020204030204" pitchFamily="49" charset="0"/>
              </a:rPr>
              <a:t>()"&gt;</a:t>
            </a:r>
          </a:p>
          <a:p>
            <a:r>
              <a:rPr lang="en-US" sz="1400" b="0" dirty="0">
                <a:solidFill>
                  <a:srgbClr val="000000"/>
                </a:solidFill>
                <a:effectLst/>
                <a:latin typeface="Consolas" panose="020B0609020204030204" pitchFamily="49" charset="0"/>
              </a:rPr>
              <a:t>    &lt;!-- Include top navigation here --&gt;</a:t>
            </a:r>
          </a:p>
          <a:p>
            <a:r>
              <a:rPr lang="en-US" sz="1400" b="0" dirty="0">
                <a:solidFill>
                  <a:srgbClr val="000000"/>
                </a:solidFill>
                <a:effectLst/>
                <a:latin typeface="Consolas" panose="020B0609020204030204" pitchFamily="49" charset="0"/>
              </a:rPr>
              <a:t>    &lt;div w3-include-html="top-navigation.html"&gt;&lt;/div&gt;</a:t>
            </a:r>
          </a:p>
          <a:p>
            <a:r>
              <a:rPr lang="en-US" sz="1400" b="0" dirty="0">
                <a:solidFill>
                  <a:srgbClr val="000000"/>
                </a:solidFill>
                <a:effectLst/>
                <a:latin typeface="Consolas" panose="020B0609020204030204" pitchFamily="49" charset="0"/>
              </a:rPr>
              <a:t>    &lt;!-- This is the container that holds the initial message, heading, and movies --&gt;</a:t>
            </a:r>
          </a:p>
          <a:p>
            <a:r>
              <a:rPr lang="en-US" sz="1400" b="0" dirty="0">
                <a:solidFill>
                  <a:srgbClr val="000000"/>
                </a:solidFill>
                <a:effectLst/>
                <a:latin typeface="Consolas" panose="020B0609020204030204" pitchFamily="49" charset="0"/>
              </a:rPr>
              <a:t>    &lt;div class="container"&gt;</a:t>
            </a:r>
          </a:p>
          <a:p>
            <a:r>
              <a:rPr lang="en-US" sz="1400" b="0" dirty="0">
                <a:solidFill>
                  <a:srgbClr val="000000"/>
                </a:solidFill>
                <a:effectLst/>
                <a:latin typeface="Consolas" panose="020B0609020204030204" pitchFamily="49" charset="0"/>
              </a:rPr>
              <a:t>        &lt;!-- The message will be shown when the page loads and will</a:t>
            </a:r>
          </a:p>
          <a:p>
            <a:r>
              <a:rPr lang="en-US" sz="1400" b="0" dirty="0">
                <a:solidFill>
                  <a:srgbClr val="000000"/>
                </a:solidFill>
                <a:effectLst/>
                <a:latin typeface="Consolas" panose="020B0609020204030204" pitchFamily="49" charset="0"/>
              </a:rPr>
              <a:t>        disappear after the movies are loaded --&gt;</a:t>
            </a:r>
          </a:p>
          <a:p>
            <a:r>
              <a:rPr lang="en-US" sz="1400" b="0" dirty="0">
                <a:solidFill>
                  <a:srgbClr val="000000"/>
                </a:solidFill>
                <a:effectLst/>
                <a:latin typeface="Consolas" panose="020B0609020204030204" pitchFamily="49" charset="0"/>
              </a:rPr>
              <a:t>        &lt;div class="row" id="parent"&gt;</a:t>
            </a:r>
          </a:p>
          <a:p>
            <a:r>
              <a:rPr lang="en-US" sz="1400" b="0" dirty="0">
                <a:solidFill>
                  <a:srgbClr val="000000"/>
                </a:solidFill>
                <a:effectLst/>
                <a:latin typeface="Consolas" panose="020B0609020204030204" pitchFamily="49" charset="0"/>
              </a:rPr>
              <a:t>            Retrieving movies from database... Please wait...&lt;</a:t>
            </a:r>
            <a:r>
              <a:rPr lang="en-US" sz="1400" b="0" dirty="0" err="1">
                <a:solidFill>
                  <a:srgbClr val="000000"/>
                </a:solidFill>
                <a:effectLst/>
                <a:latin typeface="Consolas" panose="020B0609020204030204" pitchFamily="49" charset="0"/>
              </a:rPr>
              <a:t>br</a:t>
            </a:r>
            <a:r>
              <a:rPr lang="en-US" sz="1400" b="0" dirty="0">
                <a:solidFill>
                  <a:srgbClr val="000000"/>
                </a:solidFill>
                <a:effectLst/>
                <a:latin typeface="Consolas" panose="020B0609020204030204" pitchFamily="49" charset="0"/>
              </a:rPr>
              <a:t>&gt;&lt;</a:t>
            </a:r>
            <a:r>
              <a:rPr lang="en-US" sz="1400" b="0" dirty="0" err="1">
                <a:solidFill>
                  <a:srgbClr val="000000"/>
                </a:solidFill>
                <a:effectLst/>
                <a:latin typeface="Consolas" panose="020B0609020204030204" pitchFamily="49" charset="0"/>
              </a:rPr>
              <a:t>br</a:t>
            </a:r>
            <a:r>
              <a:rPr lang="en-US" sz="1400" b="0" dirty="0">
                <a:solidFill>
                  <a:srgbClr val="000000"/>
                </a:solidFill>
                <a:effectLst/>
                <a:latin typeface="Consolas" panose="020B0609020204030204" pitchFamily="49" charset="0"/>
              </a:rPr>
              <a:t>&gt;</a:t>
            </a:r>
          </a:p>
          <a:p>
            <a:r>
              <a:rPr lang="en-US" sz="1400" b="0" dirty="0">
                <a:solidFill>
                  <a:srgbClr val="000000"/>
                </a:solidFill>
                <a:effectLst/>
                <a:latin typeface="Consolas" panose="020B0609020204030204" pitchFamily="49" charset="0"/>
              </a:rPr>
              <a:t>            If you are seeing this message for a long time, it is likely</a:t>
            </a:r>
          </a:p>
          <a:p>
            <a:r>
              <a:rPr lang="en-US" sz="1400" b="0" dirty="0">
                <a:solidFill>
                  <a:srgbClr val="000000"/>
                </a:solidFill>
                <a:effectLst/>
                <a:latin typeface="Consolas" panose="020B0609020204030204" pitchFamily="49" charset="0"/>
              </a:rPr>
              <a:t>            that you have a JavaScript error. Troubleshoot your script by</a:t>
            </a:r>
          </a:p>
          <a:p>
            <a:r>
              <a:rPr lang="en-US" sz="1400" b="0" dirty="0">
                <a:solidFill>
                  <a:srgbClr val="000000"/>
                </a:solidFill>
                <a:effectLst/>
                <a:latin typeface="Consolas" panose="020B0609020204030204" pitchFamily="49" charset="0"/>
              </a:rPr>
              <a:t>            using the browser console panel now. Please use either Firefox</a:t>
            </a:r>
          </a:p>
          <a:p>
            <a:r>
              <a:rPr lang="en-US" sz="1400" b="0" dirty="0">
                <a:solidFill>
                  <a:srgbClr val="000000"/>
                </a:solidFill>
                <a:effectLst/>
                <a:latin typeface="Consolas" panose="020B0609020204030204" pitchFamily="49" charset="0"/>
              </a:rPr>
              <a:t>            or Chrome to render this webpage.</a:t>
            </a:r>
          </a:p>
          <a:p>
            <a:r>
              <a:rPr lang="en-US" sz="1400" b="0" dirty="0">
                <a:solidFill>
                  <a:srgbClr val="000000"/>
                </a:solidFill>
                <a:effectLst/>
                <a:latin typeface="Consolas" panose="020B0609020204030204" pitchFamily="49" charset="0"/>
              </a:rPr>
              <a:t>        &lt;/div&gt;</a:t>
            </a:r>
          </a:p>
          <a:p>
            <a:r>
              <a:rPr lang="en-US" sz="1400" b="0" dirty="0">
                <a:solidFill>
                  <a:srgbClr val="000000"/>
                </a:solidFill>
                <a:effectLst/>
                <a:latin typeface="Consolas" panose="020B0609020204030204" pitchFamily="49" charset="0"/>
              </a:rPr>
              <a:t>        &lt;p&gt;</a:t>
            </a:r>
          </a:p>
          <a:p>
            <a:r>
              <a:rPr lang="en-US" sz="1400" b="0" dirty="0">
                <a:solidFill>
                  <a:srgbClr val="000000"/>
                </a:solidFill>
                <a:effectLst/>
                <a:latin typeface="Consolas" panose="020B0609020204030204" pitchFamily="49" charset="0"/>
              </a:rPr>
              <a:t>            &lt;!-- This is the heading showing how many movies are there --&gt;</a:t>
            </a:r>
          </a:p>
          <a:p>
            <a:r>
              <a:rPr lang="en-US" sz="1400" b="0" dirty="0">
                <a:solidFill>
                  <a:srgbClr val="000000"/>
                </a:solidFill>
                <a:effectLst/>
                <a:latin typeface="Consolas" panose="020B0609020204030204" pitchFamily="49" charset="0"/>
              </a:rPr>
              <a:t>        &lt;h3 id="summary"&gt;&lt;/h3&gt;</a:t>
            </a:r>
          </a:p>
          <a:p>
            <a:r>
              <a:rPr lang="en-US" sz="1400" b="0" dirty="0">
                <a:solidFill>
                  <a:srgbClr val="000000"/>
                </a:solidFill>
                <a:effectLst/>
                <a:latin typeface="Consolas" panose="020B0609020204030204" pitchFamily="49" charset="0"/>
              </a:rPr>
              <a:t>        &lt;/p&gt;</a:t>
            </a:r>
          </a:p>
          <a:p>
            <a:r>
              <a:rPr lang="en-US" sz="1400" b="0" dirty="0">
                <a:solidFill>
                  <a:srgbClr val="000000"/>
                </a:solidFill>
                <a:effectLst/>
                <a:latin typeface="Consolas" panose="020B0609020204030204" pitchFamily="49" charset="0"/>
              </a:rPr>
              <a:t>        &lt;!-- Displays thumbnails of the movies here --&gt;</a:t>
            </a:r>
          </a:p>
          <a:p>
            <a:r>
              <a:rPr lang="en-US" sz="1400" b="0" dirty="0">
                <a:solidFill>
                  <a:srgbClr val="000000"/>
                </a:solidFill>
                <a:effectLst/>
                <a:latin typeface="Consolas" panose="020B0609020204030204" pitchFamily="49" charset="0"/>
              </a:rPr>
              <a:t>        &lt;div id="moviesTable" class="row"&gt;&lt;/div&gt;</a:t>
            </a:r>
          </a:p>
          <a:p>
            <a:r>
              <a:rPr lang="en-US" sz="1400" b="0" dirty="0">
                <a:solidFill>
                  <a:srgbClr val="000000"/>
                </a:solidFill>
                <a:effectLst/>
                <a:latin typeface="Consolas" panose="020B0609020204030204" pitchFamily="49" charset="0"/>
              </a:rPr>
              <a:t>    &lt;/div&gt;</a:t>
            </a:r>
          </a:p>
        </p:txBody>
      </p:sp>
      <p:sp>
        <p:nvSpPr>
          <p:cNvPr id="7" name="Rectangular Callout 21">
            <a:extLst>
              <a:ext uri="{FF2B5EF4-FFF2-40B4-BE49-F238E27FC236}">
                <a16:creationId xmlns:a16="http://schemas.microsoft.com/office/drawing/2014/main" id="{FB493926-2A14-4206-ABB8-AACB87E720E5}"/>
              </a:ext>
            </a:extLst>
          </p:cNvPr>
          <p:cNvSpPr/>
          <p:nvPr/>
        </p:nvSpPr>
        <p:spPr>
          <a:xfrm>
            <a:off x="7073154" y="1129841"/>
            <a:ext cx="4790637" cy="1039976"/>
          </a:xfrm>
          <a:prstGeom prst="wedgeRectCallout">
            <a:avLst>
              <a:gd name="adj1" fmla="val -119279"/>
              <a:gd name="adj2" fmla="val -12839"/>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This is a </a:t>
            </a:r>
            <a:r>
              <a:rPr lang="en-US" sz="1400" dirty="0" err="1">
                <a:latin typeface="Arial Unicode MS" charset="0"/>
                <a:ea typeface="Arial Unicode MS" charset="0"/>
                <a:cs typeface="Arial Unicode MS" charset="0"/>
              </a:rPr>
              <a:t>javascript</a:t>
            </a:r>
            <a:r>
              <a:rPr lang="en-US" sz="1400" dirty="0">
                <a:latin typeface="Arial Unicode MS" charset="0"/>
                <a:ea typeface="Arial Unicode MS" charset="0"/>
                <a:cs typeface="Arial Unicode MS" charset="0"/>
              </a:rPr>
              <a:t> event listener. What it means is that after the BODY is rendered by the browser, it will try to look for this function and executes it</a:t>
            </a:r>
            <a:endParaRPr lang="en-GB" sz="1400" dirty="0">
              <a:latin typeface="Arial Unicode MS" charset="0"/>
              <a:ea typeface="Arial Unicode MS" charset="0"/>
              <a:cs typeface="Arial Unicode MS" charset="0"/>
            </a:endParaRPr>
          </a:p>
        </p:txBody>
      </p:sp>
      <p:sp>
        <p:nvSpPr>
          <p:cNvPr id="9" name="Rectangular Callout 21">
            <a:extLst>
              <a:ext uri="{FF2B5EF4-FFF2-40B4-BE49-F238E27FC236}">
                <a16:creationId xmlns:a16="http://schemas.microsoft.com/office/drawing/2014/main" id="{8EA10F11-05CD-47AF-92B1-CF22B91D5925}"/>
              </a:ext>
            </a:extLst>
          </p:cNvPr>
          <p:cNvSpPr/>
          <p:nvPr/>
        </p:nvSpPr>
        <p:spPr>
          <a:xfrm>
            <a:off x="8278765" y="3038314"/>
            <a:ext cx="4034117" cy="1524503"/>
          </a:xfrm>
          <a:prstGeom prst="wedgeRectCallout">
            <a:avLst>
              <a:gd name="adj1" fmla="val -160320"/>
              <a:gd name="adj2" fmla="val -107511"/>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We are using a nifty </a:t>
            </a:r>
            <a:r>
              <a:rPr lang="en-US" sz="1400" dirty="0" err="1">
                <a:latin typeface="Arial Unicode MS" charset="0"/>
                <a:ea typeface="Arial Unicode MS" charset="0"/>
                <a:cs typeface="Arial Unicode MS" charset="0"/>
              </a:rPr>
              <a:t>javascript</a:t>
            </a:r>
            <a:r>
              <a:rPr lang="en-US" sz="1400" dirty="0">
                <a:latin typeface="Arial Unicode MS" charset="0"/>
                <a:ea typeface="Arial Unicode MS" charset="0"/>
                <a:cs typeface="Arial Unicode MS" charset="0"/>
              </a:rPr>
              <a:t> library to make the whole index.html less clutter. This </a:t>
            </a:r>
            <a:r>
              <a:rPr lang="en-US" sz="1400" dirty="0" err="1">
                <a:latin typeface="Arial Unicode MS" charset="0"/>
                <a:ea typeface="Arial Unicode MS" charset="0"/>
                <a:cs typeface="Arial Unicode MS" charset="0"/>
              </a:rPr>
              <a:t>javascript</a:t>
            </a:r>
            <a:r>
              <a:rPr lang="en-US" sz="1400" dirty="0">
                <a:latin typeface="Arial Unicode MS" charset="0"/>
                <a:ea typeface="Arial Unicode MS" charset="0"/>
                <a:cs typeface="Arial Unicode MS" charset="0"/>
              </a:rPr>
              <a:t> library will be able to look for a particular html and loads into this &lt;div&gt; during runtime.</a:t>
            </a:r>
            <a:endParaRPr lang="en-GB" sz="1400" dirty="0">
              <a:latin typeface="Arial Unicode MS" charset="0"/>
              <a:ea typeface="Arial Unicode MS" charset="0"/>
              <a:cs typeface="Arial Unicode MS" charset="0"/>
            </a:endParaRPr>
          </a:p>
        </p:txBody>
      </p:sp>
      <p:sp>
        <p:nvSpPr>
          <p:cNvPr id="11" name="Rectangular Callout 21">
            <a:extLst>
              <a:ext uri="{FF2B5EF4-FFF2-40B4-BE49-F238E27FC236}">
                <a16:creationId xmlns:a16="http://schemas.microsoft.com/office/drawing/2014/main" id="{DE88CB61-2B55-4C80-A047-E910545E3CF0}"/>
              </a:ext>
            </a:extLst>
          </p:cNvPr>
          <p:cNvSpPr/>
          <p:nvPr/>
        </p:nvSpPr>
        <p:spPr>
          <a:xfrm>
            <a:off x="7997458" y="5728160"/>
            <a:ext cx="4034117" cy="1039975"/>
          </a:xfrm>
          <a:prstGeom prst="wedgeRectCallout">
            <a:avLst>
              <a:gd name="adj1" fmla="val -178097"/>
              <a:gd name="adj2" fmla="val -41322"/>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These are IDs that we used in order to easily control them using </a:t>
            </a:r>
            <a:r>
              <a:rPr lang="en-US" sz="1400" dirty="0" err="1">
                <a:latin typeface="Arial Unicode MS" charset="0"/>
                <a:ea typeface="Arial Unicode MS" charset="0"/>
                <a:cs typeface="Arial Unicode MS" charset="0"/>
              </a:rPr>
              <a:t>javascript</a:t>
            </a:r>
            <a:endParaRPr lang="en-GB" sz="1400" dirty="0">
              <a:latin typeface="Arial Unicode MS" charset="0"/>
              <a:ea typeface="Arial Unicode MS" charset="0"/>
              <a:cs typeface="Arial Unicode MS" charset="0"/>
            </a:endParaRPr>
          </a:p>
        </p:txBody>
      </p:sp>
    </p:spTree>
    <p:extLst>
      <p:ext uri="{BB962C8B-B14F-4D97-AF65-F5344CB8AC3E}">
        <p14:creationId xmlns:p14="http://schemas.microsoft.com/office/powerpoint/2010/main" val="526330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the Home Page (Index.html – the BODY)</a:t>
            </a:r>
          </a:p>
        </p:txBody>
      </p:sp>
      <p:sp>
        <p:nvSpPr>
          <p:cNvPr id="8" name="Slide Number Placeholder 7"/>
          <p:cNvSpPr>
            <a:spLocks noGrp="1"/>
          </p:cNvSpPr>
          <p:nvPr>
            <p:ph type="sldNum" sz="quarter" idx="12"/>
          </p:nvPr>
        </p:nvSpPr>
        <p:spPr/>
        <p:txBody>
          <a:bodyPr/>
          <a:lstStyle/>
          <a:p>
            <a:fld id="{0FF54DE5-C571-48E8-A5BC-B369434E2F44}" type="slidenum">
              <a:rPr lang="uk-UA" smtClean="0"/>
              <a:t>13</a:t>
            </a:fld>
            <a:endParaRPr lang="uk-UA"/>
          </a:p>
        </p:txBody>
      </p:sp>
      <p:sp>
        <p:nvSpPr>
          <p:cNvPr id="10" name="TextBox 9">
            <a:extLst>
              <a:ext uri="{FF2B5EF4-FFF2-40B4-BE49-F238E27FC236}">
                <a16:creationId xmlns:a16="http://schemas.microsoft.com/office/drawing/2014/main" id="{498AAB26-FB10-497A-B79D-0F34C90FDFC7}"/>
              </a:ext>
            </a:extLst>
          </p:cNvPr>
          <p:cNvSpPr txBox="1"/>
          <p:nvPr/>
        </p:nvSpPr>
        <p:spPr>
          <a:xfrm>
            <a:off x="328209" y="1476116"/>
            <a:ext cx="10651065" cy="3108543"/>
          </a:xfrm>
          <a:prstGeom prst="rect">
            <a:avLst/>
          </a:prstGeom>
          <a:noFill/>
          <a:ln w="12700">
            <a:solidFill>
              <a:schemeClr val="tx1"/>
            </a:solidFill>
          </a:ln>
        </p:spPr>
        <p:txBody>
          <a:bodyPr wrap="square" rtlCol="0">
            <a:spAutoFit/>
          </a:bodyPr>
          <a:lstStyle/>
          <a:p>
            <a:r>
              <a:rPr lang="en-US" sz="1400" b="0" dirty="0">
                <a:solidFill>
                  <a:srgbClr val="000000"/>
                </a:solidFill>
                <a:effectLst/>
                <a:latin typeface="Consolas" panose="020B0609020204030204" pitchFamily="49" charset="0"/>
              </a:rPr>
              <a:t> &lt;!-- Include the movies modal here --&gt;</a:t>
            </a:r>
          </a:p>
          <a:p>
            <a:r>
              <a:rPr lang="en-US" sz="1400" b="0" dirty="0">
                <a:solidFill>
                  <a:srgbClr val="000000"/>
                </a:solidFill>
                <a:effectLst/>
                <a:latin typeface="Consolas" panose="020B0609020204030204" pitchFamily="49" charset="0"/>
              </a:rPr>
              <a:t>    &lt;div w3-include-html="movies-modal.html"&gt;&lt;/div&gt;</a:t>
            </a:r>
          </a:p>
          <a:p>
            <a:r>
              <a:rPr lang="en-US" sz="1400" b="0" dirty="0">
                <a:solidFill>
                  <a:srgbClr val="000000"/>
                </a:solidFill>
                <a:effectLst/>
                <a:latin typeface="Consolas" panose="020B0609020204030204" pitchFamily="49" charset="0"/>
              </a:rPr>
              <a:t>    &lt;!-- Include the comments modal here --&gt;</a:t>
            </a:r>
          </a:p>
          <a:p>
            <a:r>
              <a:rPr lang="en-US" sz="1400" b="0" dirty="0">
                <a:solidFill>
                  <a:srgbClr val="000000"/>
                </a:solidFill>
                <a:effectLst/>
                <a:latin typeface="Consolas" panose="020B0609020204030204" pitchFamily="49" charset="0"/>
              </a:rPr>
              <a:t>    &lt;div w3-include-html="comments-modal.html"&gt;&lt;/div&gt;</a:t>
            </a:r>
          </a:p>
          <a:p>
            <a:r>
              <a:rPr lang="en-US" sz="1400" b="0" dirty="0">
                <a:solidFill>
                  <a:srgbClr val="000000"/>
                </a:solidFill>
                <a:effectLst/>
                <a:latin typeface="Consolas" panose="020B0609020204030204" pitchFamily="49" charset="0"/>
              </a:rPr>
              <a:t>    &lt;!-- Include the new comments modal here --&gt;</a:t>
            </a:r>
          </a:p>
          <a:p>
            <a:r>
              <a:rPr lang="en-US" sz="1400" b="0" dirty="0">
                <a:solidFill>
                  <a:srgbClr val="000000"/>
                </a:solidFill>
                <a:effectLst/>
                <a:latin typeface="Consolas" panose="020B0609020204030204" pitchFamily="49" charset="0"/>
              </a:rPr>
              <a:t>    &lt;div w3-include-html="new-comments-modal.html"&gt;&lt;/div&gt;</a:t>
            </a:r>
          </a:p>
          <a:p>
            <a:r>
              <a:rPr lang="en-US" sz="1400" b="0" dirty="0">
                <a:solidFill>
                  <a:srgbClr val="000000"/>
                </a:solidFill>
                <a:effectLst/>
                <a:latin typeface="Consolas" panose="020B0609020204030204" pitchFamily="49" charset="0"/>
              </a:rPr>
              <a:t>    &lt;!-- Include the edit comments modal here --&gt;</a:t>
            </a:r>
          </a:p>
          <a:p>
            <a:r>
              <a:rPr lang="en-US" sz="1400" b="0" dirty="0">
                <a:solidFill>
                  <a:srgbClr val="000000"/>
                </a:solidFill>
                <a:effectLst/>
                <a:latin typeface="Consolas" panose="020B0609020204030204" pitchFamily="49" charset="0"/>
              </a:rPr>
              <a:t>    &lt;div w3-include-html="edit-comments-modal.html"&gt;&lt;/div&gt;</a:t>
            </a:r>
          </a:p>
          <a:p>
            <a:r>
              <a:rPr lang="en-US" sz="1400" b="0" dirty="0">
                <a:solidFill>
                  <a:srgbClr val="000000"/>
                </a:solidFill>
                <a:effectLst/>
                <a:latin typeface="Consolas" panose="020B0609020204030204" pitchFamily="49" charset="0"/>
              </a:rPr>
              <a:t>    &lt;!-- Include the message modal here --&gt;</a:t>
            </a:r>
          </a:p>
          <a:p>
            <a:r>
              <a:rPr lang="en-US" sz="1400" b="0" dirty="0">
                <a:solidFill>
                  <a:srgbClr val="000000"/>
                </a:solidFill>
                <a:effectLst/>
                <a:latin typeface="Consolas" panose="020B0609020204030204" pitchFamily="49" charset="0"/>
              </a:rPr>
              <a:t>    &lt;div w3-include-html="message-modal.html"&gt;&lt;/div&gt;</a:t>
            </a:r>
          </a:p>
          <a:p>
            <a:r>
              <a:rPr lang="en-US" sz="1400" b="0" dirty="0">
                <a:solidFill>
                  <a:srgbClr val="000000"/>
                </a:solidFill>
                <a:effectLst/>
                <a:latin typeface="Consolas" panose="020B0609020204030204" pitchFamily="49" charset="0"/>
              </a:rPr>
              <a:t>    &lt;</a:t>
            </a:r>
            <a:r>
              <a:rPr lang="en-US" sz="1400" b="0" dirty="0" err="1">
                <a:solidFill>
                  <a:srgbClr val="000000"/>
                </a:solidFill>
                <a:effectLst/>
                <a:latin typeface="Consolas" panose="020B0609020204030204" pitchFamily="49" charset="0"/>
              </a:rPr>
              <a:t>br</a:t>
            </a:r>
            <a:r>
              <a:rPr lang="en-US" sz="1400" b="0" dirty="0">
                <a:solidFill>
                  <a:srgbClr val="000000"/>
                </a:solidFill>
                <a:effectLst/>
                <a:latin typeface="Consolas" panose="020B0609020204030204" pitchFamily="49" charset="0"/>
              </a:rPr>
              <a:t>&gt;&lt;</a:t>
            </a:r>
            <a:r>
              <a:rPr lang="en-US" sz="1400" b="0" dirty="0" err="1">
                <a:solidFill>
                  <a:srgbClr val="000000"/>
                </a:solidFill>
                <a:effectLst/>
                <a:latin typeface="Consolas" panose="020B0609020204030204" pitchFamily="49" charset="0"/>
              </a:rPr>
              <a:t>br</a:t>
            </a:r>
            <a:r>
              <a:rPr lang="en-US" sz="1400" b="0" dirty="0">
                <a:solidFill>
                  <a:srgbClr val="000000"/>
                </a:solidFill>
                <a:effectLst/>
                <a:latin typeface="Consolas" panose="020B0609020204030204" pitchFamily="49" charset="0"/>
              </a:rPr>
              <a:t>&gt;</a:t>
            </a:r>
          </a:p>
          <a:p>
            <a:r>
              <a:rPr lang="en-US" sz="1400" b="0" dirty="0">
                <a:solidFill>
                  <a:srgbClr val="000000"/>
                </a:solidFill>
                <a:effectLst/>
                <a:latin typeface="Consolas" panose="020B0609020204030204" pitchFamily="49" charset="0"/>
              </a:rPr>
              <a:t>    &lt;!-- Include the footer here --&gt;</a:t>
            </a:r>
          </a:p>
          <a:p>
            <a:r>
              <a:rPr lang="en-US" sz="1400" b="0" dirty="0">
                <a:solidFill>
                  <a:srgbClr val="000000"/>
                </a:solidFill>
                <a:effectLst/>
                <a:latin typeface="Consolas" panose="020B0609020204030204" pitchFamily="49" charset="0"/>
              </a:rPr>
              <a:t>    &lt;div w3-include-html="footer.html"&gt;&lt;/div&gt;</a:t>
            </a:r>
          </a:p>
          <a:p>
            <a:r>
              <a:rPr lang="en-US" sz="1400" b="0" dirty="0">
                <a:solidFill>
                  <a:srgbClr val="000000"/>
                </a:solidFill>
                <a:effectLst/>
                <a:latin typeface="Consolas" panose="020B0609020204030204" pitchFamily="49" charset="0"/>
              </a:rPr>
              <a:t>&lt;/body&gt;</a:t>
            </a:r>
          </a:p>
        </p:txBody>
      </p:sp>
      <p:sp>
        <p:nvSpPr>
          <p:cNvPr id="12" name="Rectangular Callout 21">
            <a:extLst>
              <a:ext uri="{FF2B5EF4-FFF2-40B4-BE49-F238E27FC236}">
                <a16:creationId xmlns:a16="http://schemas.microsoft.com/office/drawing/2014/main" id="{BD5D1C83-5C38-46FC-A002-3214DBAF89DC}"/>
              </a:ext>
            </a:extLst>
          </p:cNvPr>
          <p:cNvSpPr/>
          <p:nvPr/>
        </p:nvSpPr>
        <p:spPr>
          <a:xfrm>
            <a:off x="7256789" y="3147832"/>
            <a:ext cx="4034117" cy="2159274"/>
          </a:xfrm>
          <a:prstGeom prst="wedgeRectCallout">
            <a:avLst>
              <a:gd name="adj1" fmla="val -116320"/>
              <a:gd name="adj2" fmla="val -30731"/>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These </a:t>
            </a:r>
            <a:r>
              <a:rPr lang="en-US" sz="1400" dirty="0" err="1">
                <a:latin typeface="Arial Unicode MS" charset="0"/>
                <a:ea typeface="Arial Unicode MS" charset="0"/>
                <a:cs typeface="Arial Unicode MS" charset="0"/>
              </a:rPr>
              <a:t>htmls</a:t>
            </a:r>
            <a:r>
              <a:rPr lang="en-US" sz="1400" dirty="0">
                <a:latin typeface="Arial Unicode MS" charset="0"/>
                <a:ea typeface="Arial Unicode MS" charset="0"/>
                <a:cs typeface="Arial Unicode MS" charset="0"/>
              </a:rPr>
              <a:t> (movies-modal, comments-modal </a:t>
            </a:r>
            <a:r>
              <a:rPr lang="en-US" sz="1400" dirty="0" err="1">
                <a:latin typeface="Arial Unicode MS" charset="0"/>
                <a:ea typeface="Arial Unicode MS" charset="0"/>
                <a:cs typeface="Arial Unicode MS" charset="0"/>
              </a:rPr>
              <a:t>etc</a:t>
            </a:r>
            <a:r>
              <a:rPr lang="en-US" sz="1400" dirty="0">
                <a:latin typeface="Arial Unicode MS" charset="0"/>
                <a:ea typeface="Arial Unicode MS" charset="0"/>
                <a:cs typeface="Arial Unicode MS" charset="0"/>
              </a:rPr>
              <a:t> ) will be loaded “on the fly” into this index.html when it is being rendered in the browser.</a:t>
            </a:r>
          </a:p>
          <a:p>
            <a:pPr algn="ctr"/>
            <a:r>
              <a:rPr lang="en-US" sz="1400" dirty="0">
                <a:latin typeface="Arial Unicode MS" charset="0"/>
                <a:ea typeface="Arial Unicode MS" charset="0"/>
                <a:cs typeface="Arial Unicode MS" charset="0"/>
              </a:rPr>
              <a:t>And the reason for using this method is to make the index.html less clutter</a:t>
            </a:r>
            <a:endParaRPr lang="en-GB" sz="1400" dirty="0">
              <a:latin typeface="Arial Unicode MS" charset="0"/>
              <a:ea typeface="Arial Unicode MS" charset="0"/>
              <a:cs typeface="Arial Unicode MS" charset="0"/>
            </a:endParaRPr>
          </a:p>
        </p:txBody>
      </p:sp>
    </p:spTree>
    <p:extLst>
      <p:ext uri="{BB962C8B-B14F-4D97-AF65-F5344CB8AC3E}">
        <p14:creationId xmlns:p14="http://schemas.microsoft.com/office/powerpoint/2010/main" val="2996322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the Home Page (Index.html – the SCRIPT TAG)</a:t>
            </a:r>
          </a:p>
        </p:txBody>
      </p:sp>
      <p:sp>
        <p:nvSpPr>
          <p:cNvPr id="8" name="Slide Number Placeholder 7"/>
          <p:cNvSpPr>
            <a:spLocks noGrp="1"/>
          </p:cNvSpPr>
          <p:nvPr>
            <p:ph type="sldNum" sz="quarter" idx="12"/>
          </p:nvPr>
        </p:nvSpPr>
        <p:spPr/>
        <p:txBody>
          <a:bodyPr/>
          <a:lstStyle/>
          <a:p>
            <a:fld id="{0FF54DE5-C571-48E8-A5BC-B369434E2F44}" type="slidenum">
              <a:rPr lang="uk-UA" smtClean="0"/>
              <a:t>14</a:t>
            </a:fld>
            <a:endParaRPr lang="uk-UA"/>
          </a:p>
        </p:txBody>
      </p:sp>
      <p:sp>
        <p:nvSpPr>
          <p:cNvPr id="10" name="TextBox 9">
            <a:extLst>
              <a:ext uri="{FF2B5EF4-FFF2-40B4-BE49-F238E27FC236}">
                <a16:creationId xmlns:a16="http://schemas.microsoft.com/office/drawing/2014/main" id="{498AAB26-FB10-497A-B79D-0F34C90FDFC7}"/>
              </a:ext>
            </a:extLst>
          </p:cNvPr>
          <p:cNvSpPr txBox="1"/>
          <p:nvPr/>
        </p:nvSpPr>
        <p:spPr>
          <a:xfrm>
            <a:off x="328209" y="1476116"/>
            <a:ext cx="10651065" cy="3108543"/>
          </a:xfrm>
          <a:prstGeom prst="rect">
            <a:avLst/>
          </a:prstGeom>
          <a:noFill/>
          <a:ln w="12700">
            <a:solidFill>
              <a:schemeClr val="tx1"/>
            </a:solidFill>
          </a:ln>
        </p:spPr>
        <p:txBody>
          <a:bodyPr wrap="square" rtlCol="0">
            <a:spAutoFit/>
          </a:bodyPr>
          <a:lstStyle/>
          <a:p>
            <a:r>
              <a:rPr lang="en-US" sz="1400" b="0" dirty="0">
                <a:effectLst/>
                <a:latin typeface="Consolas" panose="020B0609020204030204" pitchFamily="49" charset="0"/>
              </a:rPr>
              <a:t>&lt;script </a:t>
            </a:r>
            <a:r>
              <a:rPr lang="en-US" sz="1400" b="0" dirty="0" err="1">
                <a:effectLst/>
                <a:latin typeface="Consolas" panose="020B0609020204030204" pitchFamily="49" charset="0"/>
              </a:rPr>
              <a:t>src</a:t>
            </a:r>
            <a:r>
              <a:rPr lang="en-US" sz="1400" b="0" dirty="0">
                <a:effectLst/>
                <a:latin typeface="Consolas" panose="020B0609020204030204" pitchFamily="49" charset="0"/>
              </a:rPr>
              <a:t>="https://www.w3schools.com/lib/w3.js"&gt;&lt;/script&gt;</a:t>
            </a:r>
          </a:p>
          <a:p>
            <a:r>
              <a:rPr lang="en-US" sz="1400" b="0" dirty="0">
                <a:effectLst/>
                <a:latin typeface="Consolas" panose="020B0609020204030204" pitchFamily="49" charset="0"/>
              </a:rPr>
              <a:t>&lt;script&gt;</a:t>
            </a:r>
          </a:p>
          <a:p>
            <a:r>
              <a:rPr lang="en-US" sz="1400" b="0" dirty="0">
                <a:effectLst/>
                <a:latin typeface="Consolas" panose="020B0609020204030204" pitchFamily="49" charset="0"/>
              </a:rPr>
              <a:t>    //to bring in other HTML on the fly into this page</a:t>
            </a:r>
          </a:p>
          <a:p>
            <a:r>
              <a:rPr lang="en-US" sz="1400" b="0" dirty="0">
                <a:effectLst/>
                <a:latin typeface="Consolas" panose="020B0609020204030204" pitchFamily="49" charset="0"/>
              </a:rPr>
              <a:t>    w3.includeHTML();</a:t>
            </a:r>
          </a:p>
          <a:p>
            <a:r>
              <a:rPr lang="en-US" sz="1400" b="0" dirty="0">
                <a:effectLst/>
                <a:latin typeface="Consolas" panose="020B0609020204030204" pitchFamily="49" charset="0"/>
              </a:rPr>
              <a:t>&lt;/script&gt;</a:t>
            </a:r>
          </a:p>
          <a:p>
            <a:r>
              <a:rPr lang="en-US" sz="1400" b="0" dirty="0">
                <a:effectLst/>
                <a:latin typeface="Consolas" panose="020B0609020204030204" pitchFamily="49" charset="0"/>
              </a:rPr>
              <a:t>&lt;script </a:t>
            </a:r>
            <a:r>
              <a:rPr lang="en-US" sz="1400" b="0" dirty="0" err="1">
                <a:effectLst/>
                <a:latin typeface="Consolas" panose="020B0609020204030204" pitchFamily="49" charset="0"/>
              </a:rPr>
              <a:t>src</a:t>
            </a:r>
            <a:r>
              <a:rPr lang="en-US" sz="1400" b="0" dirty="0">
                <a:effectLst/>
                <a:latin typeface="Consolas" panose="020B0609020204030204" pitchFamily="49" charset="0"/>
              </a:rPr>
              <a:t>="https://ajax.googleapis.com/ajax/libs/</a:t>
            </a:r>
            <a:r>
              <a:rPr lang="en-US" sz="1400" b="0" dirty="0" err="1">
                <a:effectLst/>
                <a:latin typeface="Consolas" panose="020B0609020204030204" pitchFamily="49" charset="0"/>
              </a:rPr>
              <a:t>jquery</a:t>
            </a:r>
            <a:r>
              <a:rPr lang="en-US" sz="1400" b="0" dirty="0">
                <a:effectLst/>
                <a:latin typeface="Consolas" panose="020B0609020204030204" pitchFamily="49" charset="0"/>
              </a:rPr>
              <a:t>/3.3.1/jquery.min.js"&gt;&lt;/script&gt;</a:t>
            </a:r>
          </a:p>
          <a:p>
            <a:r>
              <a:rPr lang="en-US" sz="1400" b="0" dirty="0">
                <a:effectLst/>
                <a:latin typeface="Consolas" panose="020B0609020204030204" pitchFamily="49" charset="0"/>
              </a:rPr>
              <a:t>&lt;script </a:t>
            </a:r>
            <a:r>
              <a:rPr lang="en-US" sz="1400" b="0" dirty="0" err="1">
                <a:effectLst/>
                <a:latin typeface="Consolas" panose="020B0609020204030204" pitchFamily="49" charset="0"/>
              </a:rPr>
              <a:t>src</a:t>
            </a:r>
            <a:r>
              <a:rPr lang="en-US" sz="1400" b="0" dirty="0">
                <a:effectLst/>
                <a:latin typeface="Consolas" panose="020B0609020204030204" pitchFamily="49" charset="0"/>
              </a:rPr>
              <a:t>="https://maxcdn.bootstrapcdn.com/bootstrap/4.1.3/</a:t>
            </a:r>
            <a:r>
              <a:rPr lang="en-US" sz="1400" b="0" dirty="0" err="1">
                <a:effectLst/>
                <a:latin typeface="Consolas" panose="020B0609020204030204" pitchFamily="49" charset="0"/>
              </a:rPr>
              <a:t>js</a:t>
            </a:r>
            <a:r>
              <a:rPr lang="en-US" sz="1400" b="0" dirty="0">
                <a:effectLst/>
                <a:latin typeface="Consolas" panose="020B0609020204030204" pitchFamily="49" charset="0"/>
              </a:rPr>
              <a:t>/bootstrap.min.js"&gt;&lt;/script&gt;</a:t>
            </a:r>
          </a:p>
          <a:p>
            <a:r>
              <a:rPr lang="en-US" sz="1400" b="0" dirty="0">
                <a:effectLst/>
                <a:latin typeface="Consolas" panose="020B0609020204030204" pitchFamily="49" charset="0"/>
              </a:rPr>
              <a:t>&lt;script </a:t>
            </a:r>
            <a:r>
              <a:rPr lang="en-US" sz="1400" b="0" dirty="0" err="1">
                <a:effectLst/>
                <a:latin typeface="Consolas" panose="020B0609020204030204" pitchFamily="49" charset="0"/>
              </a:rPr>
              <a:t>src</a:t>
            </a:r>
            <a:r>
              <a:rPr lang="en-US" sz="1400" b="0" dirty="0">
                <a:effectLst/>
                <a:latin typeface="Consolas" panose="020B0609020204030204" pitchFamily="49" charset="0"/>
              </a:rPr>
              <a:t>="https://kit.fontawesome.com/86ec7c1143.js" &gt;&lt;/script&gt;</a:t>
            </a:r>
          </a:p>
          <a:p>
            <a:r>
              <a:rPr lang="en-US" sz="1400" b="0" dirty="0">
                <a:effectLst/>
                <a:latin typeface="Consolas" panose="020B0609020204030204" pitchFamily="49" charset="0"/>
              </a:rPr>
              <a:t>&lt;script </a:t>
            </a:r>
            <a:r>
              <a:rPr lang="en-US" sz="1400" b="0" dirty="0" err="1">
                <a:effectLst/>
                <a:latin typeface="Consolas" panose="020B0609020204030204" pitchFamily="49" charset="0"/>
              </a:rPr>
              <a:t>src</a:t>
            </a:r>
            <a:r>
              <a:rPr lang="en-US" sz="1400" b="0" dirty="0">
                <a:effectLst/>
                <a:latin typeface="Consolas" panose="020B0609020204030204" pitchFamily="49" charset="0"/>
              </a:rPr>
              <a:t>="</a:t>
            </a:r>
            <a:r>
              <a:rPr lang="en-US" sz="1400" b="0" dirty="0" err="1">
                <a:effectLst/>
                <a:latin typeface="Consolas" panose="020B0609020204030204" pitchFamily="49" charset="0"/>
              </a:rPr>
              <a:t>js</a:t>
            </a:r>
            <a:r>
              <a:rPr lang="en-US" sz="1400" b="0" dirty="0">
                <a:effectLst/>
                <a:latin typeface="Consolas" panose="020B0609020204030204" pitchFamily="49" charset="0"/>
              </a:rPr>
              <a:t>/app.js"&gt;&lt;/script&gt;</a:t>
            </a:r>
          </a:p>
          <a:p>
            <a:r>
              <a:rPr lang="en-US" sz="1400" b="0" dirty="0">
                <a:effectLst/>
                <a:latin typeface="Consolas" panose="020B0609020204030204" pitchFamily="49" charset="0"/>
              </a:rPr>
              <a:t>&lt;script </a:t>
            </a:r>
            <a:r>
              <a:rPr lang="en-US" sz="1400" b="0" dirty="0" err="1">
                <a:effectLst/>
                <a:latin typeface="Consolas" panose="020B0609020204030204" pitchFamily="49" charset="0"/>
              </a:rPr>
              <a:t>src</a:t>
            </a:r>
            <a:r>
              <a:rPr lang="en-US" sz="1400" b="0" dirty="0">
                <a:effectLst/>
                <a:latin typeface="Consolas" panose="020B0609020204030204" pitchFamily="49" charset="0"/>
              </a:rPr>
              <a:t>="</a:t>
            </a:r>
            <a:r>
              <a:rPr lang="en-US" sz="1400" b="0" dirty="0" err="1">
                <a:effectLst/>
                <a:latin typeface="Consolas" panose="020B0609020204030204" pitchFamily="49" charset="0"/>
              </a:rPr>
              <a:t>js</a:t>
            </a:r>
            <a:r>
              <a:rPr lang="en-US" sz="1400" b="0" dirty="0">
                <a:effectLst/>
                <a:latin typeface="Consolas" panose="020B0609020204030204" pitchFamily="49" charset="0"/>
              </a:rPr>
              <a:t>/comments.js"&gt;&lt;/script&gt;</a:t>
            </a:r>
          </a:p>
          <a:p>
            <a:r>
              <a:rPr lang="en-US" sz="1400" b="0" dirty="0">
                <a:effectLst/>
                <a:latin typeface="Consolas" panose="020B0609020204030204" pitchFamily="49" charset="0"/>
              </a:rPr>
              <a:t>&lt;script </a:t>
            </a:r>
            <a:r>
              <a:rPr lang="en-US" sz="1400" b="0" dirty="0" err="1">
                <a:effectLst/>
                <a:latin typeface="Consolas" panose="020B0609020204030204" pitchFamily="49" charset="0"/>
              </a:rPr>
              <a:t>src</a:t>
            </a:r>
            <a:r>
              <a:rPr lang="en-US" sz="1400" b="0" dirty="0">
                <a:effectLst/>
                <a:latin typeface="Consolas" panose="020B0609020204030204" pitchFamily="49" charset="0"/>
              </a:rPr>
              <a:t>="</a:t>
            </a:r>
            <a:r>
              <a:rPr lang="en-US" sz="1400" b="0" dirty="0" err="1">
                <a:effectLst/>
                <a:latin typeface="Consolas" panose="020B0609020204030204" pitchFamily="49" charset="0"/>
              </a:rPr>
              <a:t>js</a:t>
            </a:r>
            <a:r>
              <a:rPr lang="en-US" sz="1400" b="0" dirty="0">
                <a:effectLst/>
                <a:latin typeface="Consolas" panose="020B0609020204030204" pitchFamily="49" charset="0"/>
              </a:rPr>
              <a:t>/movies.js"&gt;&lt;/script&gt;</a:t>
            </a:r>
          </a:p>
          <a:p>
            <a:endParaRPr lang="en-US" sz="1400" b="0" dirty="0">
              <a:effectLst/>
              <a:latin typeface="Consolas" panose="020B0609020204030204" pitchFamily="49" charset="0"/>
            </a:endParaRPr>
          </a:p>
          <a:p>
            <a:endParaRPr lang="en-US" sz="1400" b="0" dirty="0">
              <a:effectLst/>
              <a:latin typeface="Consolas" panose="020B0609020204030204" pitchFamily="49" charset="0"/>
            </a:endParaRPr>
          </a:p>
          <a:p>
            <a:r>
              <a:rPr lang="en-US" sz="1400" b="0" dirty="0">
                <a:effectLst/>
                <a:latin typeface="Consolas" panose="020B0609020204030204" pitchFamily="49" charset="0"/>
              </a:rPr>
              <a:t>&lt;/html&gt;</a:t>
            </a:r>
          </a:p>
        </p:txBody>
      </p:sp>
      <p:sp>
        <p:nvSpPr>
          <p:cNvPr id="12" name="Rectangular Callout 21">
            <a:extLst>
              <a:ext uri="{FF2B5EF4-FFF2-40B4-BE49-F238E27FC236}">
                <a16:creationId xmlns:a16="http://schemas.microsoft.com/office/drawing/2014/main" id="{BD5D1C83-5C38-46FC-A002-3214DBAF89DC}"/>
              </a:ext>
            </a:extLst>
          </p:cNvPr>
          <p:cNvSpPr/>
          <p:nvPr/>
        </p:nvSpPr>
        <p:spPr>
          <a:xfrm>
            <a:off x="6467894" y="3938329"/>
            <a:ext cx="4034117" cy="696424"/>
          </a:xfrm>
          <a:prstGeom prst="wedgeRectCallout">
            <a:avLst>
              <a:gd name="adj1" fmla="val -98320"/>
              <a:gd name="adj2" fmla="val -143550"/>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This is a CDN </a:t>
            </a:r>
            <a:r>
              <a:rPr lang="en-US" sz="1400" dirty="0" err="1">
                <a:latin typeface="Arial Unicode MS" charset="0"/>
                <a:ea typeface="Arial Unicode MS" charset="0"/>
                <a:cs typeface="Arial Unicode MS" charset="0"/>
              </a:rPr>
              <a:t>javascript</a:t>
            </a:r>
            <a:r>
              <a:rPr lang="en-US" sz="1400" dirty="0">
                <a:latin typeface="Arial Unicode MS" charset="0"/>
                <a:ea typeface="Arial Unicode MS" charset="0"/>
                <a:cs typeface="Arial Unicode MS" charset="0"/>
              </a:rPr>
              <a:t> whereby we can use it to display very nice and professional icons.</a:t>
            </a:r>
            <a:endParaRPr lang="en-GB" sz="1400" dirty="0">
              <a:latin typeface="Arial Unicode MS" charset="0"/>
              <a:ea typeface="Arial Unicode MS" charset="0"/>
              <a:cs typeface="Arial Unicode MS" charset="0"/>
            </a:endParaRPr>
          </a:p>
        </p:txBody>
      </p:sp>
      <p:sp>
        <p:nvSpPr>
          <p:cNvPr id="9" name="Rectangular Callout 21">
            <a:extLst>
              <a:ext uri="{FF2B5EF4-FFF2-40B4-BE49-F238E27FC236}">
                <a16:creationId xmlns:a16="http://schemas.microsoft.com/office/drawing/2014/main" id="{AC448616-7C40-4B09-8686-0420F693015C}"/>
              </a:ext>
            </a:extLst>
          </p:cNvPr>
          <p:cNvSpPr/>
          <p:nvPr/>
        </p:nvSpPr>
        <p:spPr>
          <a:xfrm>
            <a:off x="6559238" y="1176525"/>
            <a:ext cx="5239728" cy="307976"/>
          </a:xfrm>
          <a:prstGeom prst="wedgeRectCallout">
            <a:avLst>
              <a:gd name="adj1" fmla="val -55634"/>
              <a:gd name="adj2" fmla="val 110235"/>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Here we are using the CDN w3.js</a:t>
            </a:r>
            <a:endParaRPr lang="en-GB" sz="1400" dirty="0">
              <a:latin typeface="Arial Unicode MS" charset="0"/>
              <a:ea typeface="Arial Unicode MS" charset="0"/>
              <a:cs typeface="Arial Unicode MS" charset="0"/>
            </a:endParaRPr>
          </a:p>
        </p:txBody>
      </p:sp>
      <p:sp>
        <p:nvSpPr>
          <p:cNvPr id="11" name="Rectangular Callout 21">
            <a:extLst>
              <a:ext uri="{FF2B5EF4-FFF2-40B4-BE49-F238E27FC236}">
                <a16:creationId xmlns:a16="http://schemas.microsoft.com/office/drawing/2014/main" id="{58114FE0-E172-4C4B-9573-3B1AC543E2DA}"/>
              </a:ext>
            </a:extLst>
          </p:cNvPr>
          <p:cNvSpPr/>
          <p:nvPr/>
        </p:nvSpPr>
        <p:spPr>
          <a:xfrm>
            <a:off x="6791847" y="1775707"/>
            <a:ext cx="5239728" cy="626834"/>
          </a:xfrm>
          <a:prstGeom prst="wedgeRectCallout">
            <a:avLst>
              <a:gd name="adj1" fmla="val -131085"/>
              <a:gd name="adj2" fmla="val 25747"/>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The code will start the process of the </a:t>
            </a:r>
            <a:r>
              <a:rPr lang="en-US" sz="1400" dirty="0" err="1">
                <a:latin typeface="Arial Unicode MS" charset="0"/>
                <a:ea typeface="Arial Unicode MS" charset="0"/>
                <a:cs typeface="Arial Unicode MS" charset="0"/>
              </a:rPr>
              <a:t>javascript</a:t>
            </a:r>
            <a:r>
              <a:rPr lang="en-US" sz="1400" dirty="0">
                <a:latin typeface="Arial Unicode MS" charset="0"/>
                <a:ea typeface="Arial Unicode MS" charset="0"/>
                <a:cs typeface="Arial Unicode MS" charset="0"/>
              </a:rPr>
              <a:t> loading in all the content of the other </a:t>
            </a:r>
            <a:r>
              <a:rPr lang="en-US" sz="1400" dirty="0" err="1">
                <a:latin typeface="Arial Unicode MS" charset="0"/>
                <a:ea typeface="Arial Unicode MS" charset="0"/>
                <a:cs typeface="Arial Unicode MS" charset="0"/>
              </a:rPr>
              <a:t>htmls</a:t>
            </a:r>
            <a:r>
              <a:rPr lang="en-US" sz="1400" dirty="0">
                <a:latin typeface="Arial Unicode MS" charset="0"/>
                <a:ea typeface="Arial Unicode MS" charset="0"/>
                <a:cs typeface="Arial Unicode MS" charset="0"/>
              </a:rPr>
              <a:t>. Those </a:t>
            </a:r>
            <a:r>
              <a:rPr lang="en-US" sz="1400" dirty="0" err="1">
                <a:latin typeface="Arial Unicode MS" charset="0"/>
                <a:ea typeface="Arial Unicode MS" charset="0"/>
                <a:cs typeface="Arial Unicode MS" charset="0"/>
              </a:rPr>
              <a:t>htmls</a:t>
            </a:r>
            <a:r>
              <a:rPr lang="en-US" sz="1400" dirty="0">
                <a:latin typeface="Arial Unicode MS" charset="0"/>
                <a:ea typeface="Arial Unicode MS" charset="0"/>
                <a:cs typeface="Arial Unicode MS" charset="0"/>
              </a:rPr>
              <a:t> currently are empty</a:t>
            </a:r>
            <a:endParaRPr lang="en-GB" sz="1400" dirty="0">
              <a:latin typeface="Arial Unicode MS" charset="0"/>
              <a:ea typeface="Arial Unicode MS" charset="0"/>
              <a:cs typeface="Arial Unicode MS" charset="0"/>
            </a:endParaRPr>
          </a:p>
        </p:txBody>
      </p:sp>
      <p:sp>
        <p:nvSpPr>
          <p:cNvPr id="13" name="Rectangular Callout 21">
            <a:extLst>
              <a:ext uri="{FF2B5EF4-FFF2-40B4-BE49-F238E27FC236}">
                <a16:creationId xmlns:a16="http://schemas.microsoft.com/office/drawing/2014/main" id="{713E9CFA-5D19-4972-9A53-E8301921B2E7}"/>
              </a:ext>
            </a:extLst>
          </p:cNvPr>
          <p:cNvSpPr/>
          <p:nvPr/>
        </p:nvSpPr>
        <p:spPr>
          <a:xfrm>
            <a:off x="3358365" y="5039136"/>
            <a:ext cx="5239728" cy="626834"/>
          </a:xfrm>
          <a:prstGeom prst="wedgeRectCallout">
            <a:avLst>
              <a:gd name="adj1" fmla="val -53923"/>
              <a:gd name="adj2" fmla="val -310340"/>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Unicode MS" charset="0"/>
                <a:ea typeface="Arial Unicode MS" charset="0"/>
                <a:cs typeface="Arial Unicode MS" charset="0"/>
              </a:rPr>
              <a:t>Linking to our own </a:t>
            </a:r>
            <a:r>
              <a:rPr lang="en-US" sz="1400" dirty="0" err="1">
                <a:latin typeface="Arial Unicode MS" charset="0"/>
                <a:ea typeface="Arial Unicode MS" charset="0"/>
                <a:cs typeface="Arial Unicode MS" charset="0"/>
              </a:rPr>
              <a:t>javascripts</a:t>
            </a:r>
            <a:r>
              <a:rPr lang="en-US" sz="1400" dirty="0">
                <a:latin typeface="Arial Unicode MS" charset="0"/>
                <a:ea typeface="Arial Unicode MS" charset="0"/>
                <a:cs typeface="Arial Unicode MS" charset="0"/>
              </a:rPr>
              <a:t>. Currently they are also empty</a:t>
            </a:r>
            <a:endParaRPr lang="en-GB" sz="1400" dirty="0">
              <a:latin typeface="Arial Unicode MS" charset="0"/>
              <a:ea typeface="Arial Unicode MS" charset="0"/>
              <a:cs typeface="Arial Unicode MS" charset="0"/>
            </a:endParaRPr>
          </a:p>
        </p:txBody>
      </p:sp>
    </p:spTree>
    <p:extLst>
      <p:ext uri="{BB962C8B-B14F-4D97-AF65-F5344CB8AC3E}">
        <p14:creationId xmlns:p14="http://schemas.microsoft.com/office/powerpoint/2010/main" val="49692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7B8510-584E-433E-BEED-BBABF910C536}"/>
              </a:ext>
            </a:extLst>
          </p:cNvPr>
          <p:cNvPicPr>
            <a:picLocks noChangeAspect="1"/>
          </p:cNvPicPr>
          <p:nvPr/>
        </p:nvPicPr>
        <p:blipFill>
          <a:blip r:embed="rId2"/>
          <a:stretch>
            <a:fillRect/>
          </a:stretch>
        </p:blipFill>
        <p:spPr>
          <a:xfrm>
            <a:off x="1452157" y="2193989"/>
            <a:ext cx="8753475" cy="4317454"/>
          </a:xfrm>
          <a:prstGeom prst="rect">
            <a:avLst/>
          </a:prstGeom>
        </p:spPr>
      </p:pic>
      <p:sp>
        <p:nvSpPr>
          <p:cNvPr id="2" name="Title 1">
            <a:extLst>
              <a:ext uri="{FF2B5EF4-FFF2-40B4-BE49-F238E27FC236}">
                <a16:creationId xmlns:a16="http://schemas.microsoft.com/office/drawing/2014/main" id="{B6053F9C-DDB0-4098-936A-6595AF715340}"/>
              </a:ext>
            </a:extLst>
          </p:cNvPr>
          <p:cNvSpPr>
            <a:spLocks noGrp="1"/>
          </p:cNvSpPr>
          <p:nvPr>
            <p:ph type="title"/>
          </p:nvPr>
        </p:nvSpPr>
        <p:spPr/>
        <p:txBody>
          <a:bodyPr/>
          <a:lstStyle/>
          <a:p>
            <a:r>
              <a:rPr lang="en-GB" dirty="0"/>
              <a:t>Test Your Homepage</a:t>
            </a:r>
          </a:p>
        </p:txBody>
      </p:sp>
      <p:sp>
        <p:nvSpPr>
          <p:cNvPr id="5" name="Slide Number Placeholder 4">
            <a:extLst>
              <a:ext uri="{FF2B5EF4-FFF2-40B4-BE49-F238E27FC236}">
                <a16:creationId xmlns:a16="http://schemas.microsoft.com/office/drawing/2014/main" id="{58EAD1C9-F1F5-40BB-808C-4284638A5D48}"/>
              </a:ext>
            </a:extLst>
          </p:cNvPr>
          <p:cNvSpPr>
            <a:spLocks noGrp="1"/>
          </p:cNvSpPr>
          <p:nvPr>
            <p:ph type="sldNum" sz="quarter" idx="12"/>
          </p:nvPr>
        </p:nvSpPr>
        <p:spPr/>
        <p:txBody>
          <a:bodyPr/>
          <a:lstStyle/>
          <a:p>
            <a:fld id="{0FF54DE5-C571-48E8-A5BC-B369434E2F44}" type="slidenum">
              <a:rPr lang="en-US" smtClean="0"/>
              <a:t>15</a:t>
            </a:fld>
            <a:endParaRPr lang="en-US"/>
          </a:p>
        </p:txBody>
      </p:sp>
      <p:sp>
        <p:nvSpPr>
          <p:cNvPr id="9" name="Rectangular Callout 21">
            <a:extLst>
              <a:ext uri="{FF2B5EF4-FFF2-40B4-BE49-F238E27FC236}">
                <a16:creationId xmlns:a16="http://schemas.microsoft.com/office/drawing/2014/main" id="{279C7C75-0EE9-4063-B86B-03515ECE461A}"/>
              </a:ext>
            </a:extLst>
          </p:cNvPr>
          <p:cNvSpPr/>
          <p:nvPr/>
        </p:nvSpPr>
        <p:spPr>
          <a:xfrm>
            <a:off x="1577663" y="1377006"/>
            <a:ext cx="6735650" cy="724745"/>
          </a:xfrm>
          <a:prstGeom prst="wedgeRectCallout">
            <a:avLst>
              <a:gd name="adj1" fmla="val -22305"/>
              <a:gd name="adj2" fmla="val 80519"/>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It is paramount to do testing whenever you make some small changes rather than wait till the end. Type </a:t>
            </a:r>
            <a:r>
              <a:rPr lang="en-GB" sz="1400" b="1" dirty="0">
                <a:solidFill>
                  <a:schemeClr val="bg1"/>
                </a:solidFill>
                <a:highlight>
                  <a:srgbClr val="1CADE4"/>
                </a:highlight>
                <a:latin typeface="Courier"/>
                <a:ea typeface="Arial Unicode MS" charset="0"/>
                <a:cs typeface="Arial Unicode MS" charset="0"/>
              </a:rPr>
              <a:t>localhost:8080</a:t>
            </a:r>
            <a:r>
              <a:rPr lang="en-GB" sz="1400" dirty="0">
                <a:latin typeface="Arial Unicode MS" charset="0"/>
                <a:ea typeface="Arial Unicode MS" charset="0"/>
                <a:cs typeface="Arial Unicode MS" charset="0"/>
              </a:rPr>
              <a:t> in your browser address bar and you should see this page.</a:t>
            </a:r>
          </a:p>
        </p:txBody>
      </p:sp>
      <p:sp>
        <p:nvSpPr>
          <p:cNvPr id="8" name="Rectangular Callout 21">
            <a:extLst>
              <a:ext uri="{FF2B5EF4-FFF2-40B4-BE49-F238E27FC236}">
                <a16:creationId xmlns:a16="http://schemas.microsoft.com/office/drawing/2014/main" id="{8735B5C9-4434-43DF-813D-D6D00ABD1B61}"/>
              </a:ext>
            </a:extLst>
          </p:cNvPr>
          <p:cNvSpPr/>
          <p:nvPr/>
        </p:nvSpPr>
        <p:spPr>
          <a:xfrm>
            <a:off x="2214158" y="5480994"/>
            <a:ext cx="6735650" cy="724745"/>
          </a:xfrm>
          <a:prstGeom prst="wedgeRectCallout">
            <a:avLst>
              <a:gd name="adj1" fmla="val -34084"/>
              <a:gd name="adj2" fmla="val -105023"/>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This error is expected as we have not written the </a:t>
            </a:r>
            <a:r>
              <a:rPr lang="en-GB" sz="1400" dirty="0" err="1">
                <a:latin typeface="Arial Unicode MS" charset="0"/>
                <a:ea typeface="Arial Unicode MS" charset="0"/>
                <a:cs typeface="Arial Unicode MS" charset="0"/>
              </a:rPr>
              <a:t>getMovieData</a:t>
            </a:r>
            <a:r>
              <a:rPr lang="en-GB" sz="1400" dirty="0">
                <a:latin typeface="Arial Unicode MS" charset="0"/>
                <a:ea typeface="Arial Unicode MS" charset="0"/>
                <a:cs typeface="Arial Unicode MS" charset="0"/>
              </a:rPr>
              <a:t> function yet</a:t>
            </a:r>
          </a:p>
        </p:txBody>
      </p:sp>
    </p:spTree>
    <p:extLst>
      <p:ext uri="{BB962C8B-B14F-4D97-AF65-F5344CB8AC3E}">
        <p14:creationId xmlns:p14="http://schemas.microsoft.com/office/powerpoint/2010/main" val="752832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3EC45-824C-40C2-A3E3-3CBF92CB18DF}"/>
              </a:ext>
            </a:extLst>
          </p:cNvPr>
          <p:cNvSpPr>
            <a:spLocks noGrp="1"/>
          </p:cNvSpPr>
          <p:nvPr>
            <p:ph type="title"/>
          </p:nvPr>
        </p:nvSpPr>
        <p:spPr/>
        <p:txBody>
          <a:bodyPr/>
          <a:lstStyle/>
          <a:p>
            <a:r>
              <a:rPr lang="en-GB" dirty="0"/>
              <a:t>Adding footer.html</a:t>
            </a:r>
          </a:p>
        </p:txBody>
      </p:sp>
      <p:sp>
        <p:nvSpPr>
          <p:cNvPr id="4" name="Slide Number Placeholder 3">
            <a:extLst>
              <a:ext uri="{FF2B5EF4-FFF2-40B4-BE49-F238E27FC236}">
                <a16:creationId xmlns:a16="http://schemas.microsoft.com/office/drawing/2014/main" id="{2DA53D24-D3CE-4393-9344-848A4A3E5F7F}"/>
              </a:ext>
            </a:extLst>
          </p:cNvPr>
          <p:cNvSpPr>
            <a:spLocks noGrp="1"/>
          </p:cNvSpPr>
          <p:nvPr>
            <p:ph type="sldNum" sz="quarter" idx="12"/>
          </p:nvPr>
        </p:nvSpPr>
        <p:spPr/>
        <p:txBody>
          <a:bodyPr/>
          <a:lstStyle/>
          <a:p>
            <a:fld id="{8E9E4023-6F3A-457B-B0BB-8C1F114B424F}" type="slidenum">
              <a:rPr lang="en-SG" smtClean="0"/>
              <a:t>16</a:t>
            </a:fld>
            <a:endParaRPr lang="en-SG"/>
          </a:p>
        </p:txBody>
      </p:sp>
      <p:sp>
        <p:nvSpPr>
          <p:cNvPr id="9" name="TextBox 8">
            <a:extLst>
              <a:ext uri="{FF2B5EF4-FFF2-40B4-BE49-F238E27FC236}">
                <a16:creationId xmlns:a16="http://schemas.microsoft.com/office/drawing/2014/main" id="{DEA8533D-4B92-441E-AB19-1089AEB1F839}"/>
              </a:ext>
            </a:extLst>
          </p:cNvPr>
          <p:cNvSpPr txBox="1"/>
          <p:nvPr/>
        </p:nvSpPr>
        <p:spPr>
          <a:xfrm>
            <a:off x="770467" y="1942280"/>
            <a:ext cx="10651065" cy="738664"/>
          </a:xfrm>
          <a:prstGeom prst="rect">
            <a:avLst/>
          </a:prstGeom>
          <a:noFill/>
          <a:ln w="12700">
            <a:solidFill>
              <a:schemeClr val="tx1"/>
            </a:solidFill>
          </a:ln>
        </p:spPr>
        <p:txBody>
          <a:bodyPr wrap="square" rtlCol="0">
            <a:spAutoFit/>
          </a:bodyPr>
          <a:lstStyle/>
          <a:p>
            <a:r>
              <a:rPr lang="en-US" sz="1400" b="0" dirty="0">
                <a:effectLst/>
                <a:latin typeface="Consolas" panose="020B0609020204030204" pitchFamily="49" charset="0"/>
              </a:rPr>
              <a:t>&lt;footer&gt;</a:t>
            </a:r>
          </a:p>
          <a:p>
            <a:r>
              <a:rPr lang="en-US" sz="1400" b="0" dirty="0">
                <a:effectLst/>
                <a:latin typeface="Consolas" panose="020B0609020204030204" pitchFamily="49" charset="0"/>
              </a:rPr>
              <a:t>    Copyright &amp;copy; Temasek Polytechnic</a:t>
            </a:r>
          </a:p>
          <a:p>
            <a:r>
              <a:rPr lang="en-US" sz="1400" b="0" dirty="0">
                <a:effectLst/>
                <a:latin typeface="Consolas" panose="020B0609020204030204" pitchFamily="49" charset="0"/>
              </a:rPr>
              <a:t>&lt;/footer&gt;</a:t>
            </a:r>
          </a:p>
        </p:txBody>
      </p:sp>
    </p:spTree>
    <p:extLst>
      <p:ext uri="{BB962C8B-B14F-4D97-AF65-F5344CB8AC3E}">
        <p14:creationId xmlns:p14="http://schemas.microsoft.com/office/powerpoint/2010/main" val="429580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0DED8D-59F8-4201-A440-928B660BF345}"/>
              </a:ext>
            </a:extLst>
          </p:cNvPr>
          <p:cNvPicPr>
            <a:picLocks noChangeAspect="1"/>
          </p:cNvPicPr>
          <p:nvPr/>
        </p:nvPicPr>
        <p:blipFill>
          <a:blip r:embed="rId2"/>
          <a:stretch>
            <a:fillRect/>
          </a:stretch>
        </p:blipFill>
        <p:spPr>
          <a:xfrm>
            <a:off x="1633537" y="1452282"/>
            <a:ext cx="8924925" cy="4189038"/>
          </a:xfrm>
          <a:prstGeom prst="rect">
            <a:avLst/>
          </a:prstGeom>
        </p:spPr>
      </p:pic>
      <p:sp>
        <p:nvSpPr>
          <p:cNvPr id="2" name="Title 1">
            <a:extLst>
              <a:ext uri="{FF2B5EF4-FFF2-40B4-BE49-F238E27FC236}">
                <a16:creationId xmlns:a16="http://schemas.microsoft.com/office/drawing/2014/main" id="{5FBD63B2-AF5D-40DD-B6A1-9E743CBAA19C}"/>
              </a:ext>
            </a:extLst>
          </p:cNvPr>
          <p:cNvSpPr>
            <a:spLocks noGrp="1"/>
          </p:cNvSpPr>
          <p:nvPr>
            <p:ph type="title"/>
          </p:nvPr>
        </p:nvSpPr>
        <p:spPr/>
        <p:txBody>
          <a:bodyPr/>
          <a:lstStyle/>
          <a:p>
            <a:r>
              <a:rPr lang="en-GB" dirty="0"/>
              <a:t>Test the Footer</a:t>
            </a:r>
          </a:p>
        </p:txBody>
      </p:sp>
      <p:sp>
        <p:nvSpPr>
          <p:cNvPr id="5" name="Slide Number Placeholder 4">
            <a:extLst>
              <a:ext uri="{FF2B5EF4-FFF2-40B4-BE49-F238E27FC236}">
                <a16:creationId xmlns:a16="http://schemas.microsoft.com/office/drawing/2014/main" id="{867902A5-7A57-43AE-A502-11F3F13FBEA0}"/>
              </a:ext>
            </a:extLst>
          </p:cNvPr>
          <p:cNvSpPr>
            <a:spLocks noGrp="1"/>
          </p:cNvSpPr>
          <p:nvPr>
            <p:ph type="sldNum" sz="quarter" idx="12"/>
          </p:nvPr>
        </p:nvSpPr>
        <p:spPr/>
        <p:txBody>
          <a:bodyPr/>
          <a:lstStyle/>
          <a:p>
            <a:fld id="{0FF54DE5-C571-48E8-A5BC-B369434E2F44}" type="slidenum">
              <a:rPr lang="en-US" smtClean="0"/>
              <a:t>17</a:t>
            </a:fld>
            <a:endParaRPr lang="en-US"/>
          </a:p>
        </p:txBody>
      </p:sp>
      <p:sp>
        <p:nvSpPr>
          <p:cNvPr id="9" name="Rectangular Callout 21">
            <a:extLst>
              <a:ext uri="{FF2B5EF4-FFF2-40B4-BE49-F238E27FC236}">
                <a16:creationId xmlns:a16="http://schemas.microsoft.com/office/drawing/2014/main" id="{A0218B09-8475-4300-8D23-740DA9EE042C}"/>
              </a:ext>
            </a:extLst>
          </p:cNvPr>
          <p:cNvSpPr/>
          <p:nvPr/>
        </p:nvSpPr>
        <p:spPr>
          <a:xfrm>
            <a:off x="3042873" y="5503755"/>
            <a:ext cx="6735650" cy="724745"/>
          </a:xfrm>
          <a:prstGeom prst="wedgeRectCallout">
            <a:avLst>
              <a:gd name="adj1" fmla="val 24863"/>
              <a:gd name="adj2" fmla="val -255778"/>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Reload the </a:t>
            </a:r>
            <a:r>
              <a:rPr lang="en-GB" sz="1400" b="1" dirty="0">
                <a:highlight>
                  <a:srgbClr val="1CADE4"/>
                </a:highlight>
                <a:latin typeface="Courier"/>
                <a:ea typeface="Arial Unicode MS" charset="0"/>
                <a:cs typeface="Arial Unicode MS" charset="0"/>
              </a:rPr>
              <a:t>index.html</a:t>
            </a:r>
            <a:r>
              <a:rPr lang="en-GB" sz="1400" dirty="0">
                <a:latin typeface="Arial Unicode MS" charset="0"/>
                <a:ea typeface="Arial Unicode MS" charset="0"/>
                <a:cs typeface="Arial Unicode MS" charset="0"/>
              </a:rPr>
              <a:t> page in your browser address bar and you should see the footer appearing below.</a:t>
            </a:r>
          </a:p>
        </p:txBody>
      </p:sp>
    </p:spTree>
    <p:extLst>
      <p:ext uri="{BB962C8B-B14F-4D97-AF65-F5344CB8AC3E}">
        <p14:creationId xmlns:p14="http://schemas.microsoft.com/office/powerpoint/2010/main" val="3370261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Adding Top Navigation – top-navigation.html</a:t>
            </a:r>
          </a:p>
        </p:txBody>
      </p:sp>
      <p:sp>
        <p:nvSpPr>
          <p:cNvPr id="8" name="Slide Number Placeholder 7"/>
          <p:cNvSpPr>
            <a:spLocks noGrp="1"/>
          </p:cNvSpPr>
          <p:nvPr>
            <p:ph type="sldNum" sz="quarter" idx="12"/>
          </p:nvPr>
        </p:nvSpPr>
        <p:spPr/>
        <p:txBody>
          <a:bodyPr/>
          <a:lstStyle/>
          <a:p>
            <a:fld id="{0FF54DE5-C571-48E8-A5BC-B369434E2F44}" type="slidenum">
              <a:rPr lang="uk-UA" smtClean="0"/>
              <a:t>18</a:t>
            </a:fld>
            <a:endParaRPr lang="uk-UA"/>
          </a:p>
        </p:txBody>
      </p:sp>
      <p:sp>
        <p:nvSpPr>
          <p:cNvPr id="7" name="TextBox 6">
            <a:extLst>
              <a:ext uri="{FF2B5EF4-FFF2-40B4-BE49-F238E27FC236}">
                <a16:creationId xmlns:a16="http://schemas.microsoft.com/office/drawing/2014/main" id="{D581591B-9203-46B0-BB4C-A47ED0F5F1F0}"/>
              </a:ext>
            </a:extLst>
          </p:cNvPr>
          <p:cNvSpPr txBox="1"/>
          <p:nvPr/>
        </p:nvSpPr>
        <p:spPr>
          <a:xfrm>
            <a:off x="505511" y="1577607"/>
            <a:ext cx="10651065" cy="4154984"/>
          </a:xfrm>
          <a:prstGeom prst="rect">
            <a:avLst/>
          </a:prstGeom>
          <a:noFill/>
          <a:ln w="12700">
            <a:solidFill>
              <a:schemeClr val="tx1"/>
            </a:solidFill>
          </a:ln>
        </p:spPr>
        <p:txBody>
          <a:bodyPr wrap="square" rtlCol="0">
            <a:spAutoFit/>
          </a:bodyPr>
          <a:lstStyle/>
          <a:p>
            <a:r>
              <a:rPr lang="en-SG" sz="1100" dirty="0">
                <a:latin typeface="Courier"/>
              </a:rPr>
              <a:t>&lt;nav class="navbar navbar-expand-md </a:t>
            </a:r>
            <a:r>
              <a:rPr lang="en-SG" sz="1100" dirty="0" err="1">
                <a:latin typeface="Courier"/>
              </a:rPr>
              <a:t>bg</a:t>
            </a:r>
            <a:r>
              <a:rPr lang="en-SG" sz="1100" dirty="0">
                <a:latin typeface="Courier"/>
              </a:rPr>
              <a:t>-dark navbar-dark"&gt;</a:t>
            </a:r>
          </a:p>
          <a:p>
            <a:r>
              <a:rPr lang="en-SG" sz="1100" dirty="0">
                <a:latin typeface="Courier"/>
              </a:rPr>
              <a:t>    &lt;a class="navbar-brand" </a:t>
            </a:r>
            <a:r>
              <a:rPr lang="en-SG" sz="1100" dirty="0" err="1">
                <a:latin typeface="Courier"/>
              </a:rPr>
              <a:t>href</a:t>
            </a:r>
            <a:r>
              <a:rPr lang="en-SG" sz="1100" dirty="0">
                <a:latin typeface="Courier"/>
              </a:rPr>
              <a:t>="#"&gt;</a:t>
            </a:r>
          </a:p>
          <a:p>
            <a:r>
              <a:rPr lang="en-SG" sz="1100" dirty="0">
                <a:latin typeface="Courier"/>
              </a:rPr>
              <a:t>        &lt;</a:t>
            </a:r>
            <a:r>
              <a:rPr lang="en-SG" sz="1100" dirty="0" err="1">
                <a:latin typeface="Courier"/>
              </a:rPr>
              <a:t>img</a:t>
            </a:r>
            <a:r>
              <a:rPr lang="en-SG" sz="1100" dirty="0">
                <a:latin typeface="Courier"/>
              </a:rPr>
              <a:t> </a:t>
            </a:r>
            <a:r>
              <a:rPr lang="en-SG" sz="1100" dirty="0" err="1">
                <a:latin typeface="Courier"/>
              </a:rPr>
              <a:t>src</a:t>
            </a:r>
            <a:r>
              <a:rPr lang="en-SG" sz="1100" dirty="0">
                <a:latin typeface="Courier"/>
              </a:rPr>
              <a:t>="images/popcorn.png" width="30" height="30" class="d-inline-block align-top" alt=""&gt; SG Movies</a:t>
            </a:r>
          </a:p>
          <a:p>
            <a:r>
              <a:rPr lang="en-SG" sz="1100" dirty="0">
                <a:latin typeface="Courier"/>
              </a:rPr>
              <a:t>    &lt;/a&gt;</a:t>
            </a:r>
          </a:p>
          <a:p>
            <a:r>
              <a:rPr lang="en-SG" sz="1100" dirty="0">
                <a:latin typeface="Courier"/>
              </a:rPr>
              <a:t>    &lt;button class="navbar-toggler" type="button" data-toggle="collapse" data-target="#</a:t>
            </a:r>
            <a:r>
              <a:rPr lang="en-SG" sz="1100" dirty="0" err="1">
                <a:latin typeface="Courier"/>
              </a:rPr>
              <a:t>navbarSupportedContent</a:t>
            </a:r>
            <a:r>
              <a:rPr lang="en-SG" sz="1100" dirty="0">
                <a:latin typeface="Courier"/>
              </a:rPr>
              <a:t>"&gt;</a:t>
            </a:r>
          </a:p>
          <a:p>
            <a:r>
              <a:rPr lang="en-SG" sz="1100" dirty="0">
                <a:latin typeface="Courier"/>
              </a:rPr>
              <a:t>        &lt;span class="navbar-toggler-icon"&gt;&lt;/span&gt;</a:t>
            </a:r>
          </a:p>
          <a:p>
            <a:r>
              <a:rPr lang="en-SG" sz="1100" dirty="0">
                <a:latin typeface="Courier"/>
              </a:rPr>
              <a:t>    &lt;/button&gt;</a:t>
            </a:r>
          </a:p>
          <a:p>
            <a:endParaRPr lang="en-SG" sz="1100" dirty="0">
              <a:latin typeface="Courier"/>
            </a:endParaRPr>
          </a:p>
          <a:p>
            <a:r>
              <a:rPr lang="en-SG" sz="1100" dirty="0">
                <a:latin typeface="Courier"/>
              </a:rPr>
              <a:t>    &lt;div class="collapse navbar-collapse" id="</a:t>
            </a:r>
            <a:r>
              <a:rPr lang="en-SG" sz="1100" dirty="0" err="1">
                <a:latin typeface="Courier"/>
              </a:rPr>
              <a:t>navbarSupportedContent</a:t>
            </a:r>
            <a:r>
              <a:rPr lang="en-SG" sz="1100" dirty="0">
                <a:latin typeface="Courier"/>
              </a:rPr>
              <a:t>"&gt;</a:t>
            </a:r>
          </a:p>
          <a:p>
            <a:r>
              <a:rPr lang="en-SG" sz="1100" dirty="0">
                <a:latin typeface="Courier"/>
              </a:rPr>
              <a:t>        &lt;ul class="navbar-nav"&gt;</a:t>
            </a:r>
          </a:p>
          <a:p>
            <a:r>
              <a:rPr lang="en-SG" sz="1100" dirty="0">
                <a:latin typeface="Courier"/>
              </a:rPr>
              <a:t>            &lt;li class="nav-item active" id="</a:t>
            </a:r>
            <a:r>
              <a:rPr lang="en-SG" sz="1100" dirty="0" err="1">
                <a:latin typeface="Courier"/>
              </a:rPr>
              <a:t>nowMenu</a:t>
            </a:r>
            <a:r>
              <a:rPr lang="en-SG" sz="1100" dirty="0">
                <a:latin typeface="Courier"/>
              </a:rPr>
              <a:t>"&gt;</a:t>
            </a:r>
          </a:p>
          <a:p>
            <a:r>
              <a:rPr lang="en-SG" sz="1100" dirty="0">
                <a:latin typeface="Courier"/>
              </a:rPr>
              <a:t>                &lt;a class="nav-link" </a:t>
            </a:r>
            <a:r>
              <a:rPr lang="en-SG" sz="1100" dirty="0" err="1">
                <a:latin typeface="Courier"/>
              </a:rPr>
              <a:t>href</a:t>
            </a:r>
            <a:r>
              <a:rPr lang="en-SG" sz="1100" dirty="0">
                <a:latin typeface="Courier"/>
              </a:rPr>
              <a:t>="#" id="now" </a:t>
            </a:r>
            <a:r>
              <a:rPr lang="en-SG" sz="1100" dirty="0" err="1">
                <a:latin typeface="Courier"/>
              </a:rPr>
              <a:t>onClick</a:t>
            </a:r>
            <a:r>
              <a:rPr lang="en-SG" sz="1100" dirty="0">
                <a:latin typeface="Courier"/>
              </a:rPr>
              <a:t>="</a:t>
            </a:r>
            <a:r>
              <a:rPr lang="en-SG" sz="1100" dirty="0" err="1">
                <a:latin typeface="Courier"/>
              </a:rPr>
              <a:t>listNowShowingMovies</a:t>
            </a:r>
            <a:r>
              <a:rPr lang="en-SG" sz="1100" dirty="0">
                <a:latin typeface="Courier"/>
              </a:rPr>
              <a:t>()"&gt;Now Showing&lt;/a&gt;</a:t>
            </a:r>
          </a:p>
          <a:p>
            <a:r>
              <a:rPr lang="en-SG" sz="1100" dirty="0">
                <a:latin typeface="Courier"/>
              </a:rPr>
              <a:t>            &lt;/li&gt;</a:t>
            </a:r>
          </a:p>
          <a:p>
            <a:r>
              <a:rPr lang="en-SG" sz="1100" dirty="0">
                <a:latin typeface="Courier"/>
              </a:rPr>
              <a:t>            &lt;li class="nav-item" id="</a:t>
            </a:r>
            <a:r>
              <a:rPr lang="en-SG" sz="1100" dirty="0" err="1">
                <a:latin typeface="Courier"/>
              </a:rPr>
              <a:t>comingMenu</a:t>
            </a:r>
            <a:r>
              <a:rPr lang="en-SG" sz="1100" dirty="0">
                <a:latin typeface="Courier"/>
              </a:rPr>
              <a:t>"&gt;</a:t>
            </a:r>
          </a:p>
          <a:p>
            <a:r>
              <a:rPr lang="en-SG" sz="1100" dirty="0">
                <a:latin typeface="Courier"/>
              </a:rPr>
              <a:t>                &lt;a class="nav-link" </a:t>
            </a:r>
            <a:r>
              <a:rPr lang="en-SG" sz="1100" dirty="0" err="1">
                <a:latin typeface="Courier"/>
              </a:rPr>
              <a:t>href</a:t>
            </a:r>
            <a:r>
              <a:rPr lang="en-SG" sz="1100" dirty="0">
                <a:latin typeface="Courier"/>
              </a:rPr>
              <a:t>="#" id="coming" </a:t>
            </a:r>
            <a:r>
              <a:rPr lang="en-SG" sz="1100" dirty="0" err="1">
                <a:latin typeface="Courier"/>
              </a:rPr>
              <a:t>onClick</a:t>
            </a:r>
            <a:r>
              <a:rPr lang="en-SG" sz="1100" dirty="0">
                <a:latin typeface="Courier"/>
              </a:rPr>
              <a:t>="</a:t>
            </a:r>
            <a:r>
              <a:rPr lang="en-SG" sz="1100" dirty="0" err="1">
                <a:latin typeface="Courier"/>
              </a:rPr>
              <a:t>listComingMovies</a:t>
            </a:r>
            <a:r>
              <a:rPr lang="en-SG" sz="1100" dirty="0">
                <a:latin typeface="Courier"/>
              </a:rPr>
              <a:t>()"&gt;Coming Soon&lt;/a&gt;</a:t>
            </a:r>
          </a:p>
          <a:p>
            <a:r>
              <a:rPr lang="en-SG" sz="1100" dirty="0">
                <a:latin typeface="Courier"/>
              </a:rPr>
              <a:t>            &lt;/li&gt;</a:t>
            </a:r>
          </a:p>
          <a:p>
            <a:r>
              <a:rPr lang="en-SG" sz="1100" dirty="0">
                <a:latin typeface="Courier"/>
              </a:rPr>
              <a:t>            &lt;li class="nav-item" id="</a:t>
            </a:r>
            <a:r>
              <a:rPr lang="en-SG" sz="1100" dirty="0" err="1">
                <a:latin typeface="Courier"/>
              </a:rPr>
              <a:t>aboutMenu</a:t>
            </a:r>
            <a:r>
              <a:rPr lang="en-SG" sz="1100" dirty="0">
                <a:latin typeface="Courier"/>
              </a:rPr>
              <a:t>"&gt;</a:t>
            </a:r>
          </a:p>
          <a:p>
            <a:r>
              <a:rPr lang="en-SG" sz="1100" dirty="0">
                <a:latin typeface="Courier"/>
              </a:rPr>
              <a:t>                    &lt;a class="nav-link" </a:t>
            </a:r>
            <a:r>
              <a:rPr lang="en-SG" sz="1100" dirty="0" err="1">
                <a:latin typeface="Courier"/>
              </a:rPr>
              <a:t>href</a:t>
            </a:r>
            <a:r>
              <a:rPr lang="en-SG" sz="1100" dirty="0">
                <a:latin typeface="Courier"/>
              </a:rPr>
              <a:t>="#" id="about" data-toggle="modal" data-target="#</a:t>
            </a:r>
            <a:r>
              <a:rPr lang="en-SG" sz="1100" dirty="0" err="1">
                <a:latin typeface="Courier"/>
              </a:rPr>
              <a:t>messageModal</a:t>
            </a:r>
            <a:r>
              <a:rPr lang="en-SG" sz="1100" dirty="0">
                <a:latin typeface="Courier"/>
              </a:rPr>
              <a:t>"&gt;  </a:t>
            </a:r>
          </a:p>
          <a:p>
            <a:r>
              <a:rPr lang="en-SG" sz="1100" dirty="0">
                <a:latin typeface="Courier"/>
              </a:rPr>
              <a:t>                            About</a:t>
            </a:r>
          </a:p>
          <a:p>
            <a:r>
              <a:rPr lang="en-SG" sz="1100" dirty="0">
                <a:latin typeface="Courier"/>
              </a:rPr>
              <a:t>                    &lt;/a&gt;</a:t>
            </a:r>
          </a:p>
          <a:p>
            <a:r>
              <a:rPr lang="en-SG" sz="1100" dirty="0">
                <a:latin typeface="Courier"/>
              </a:rPr>
              <a:t>            &lt;/li&gt;</a:t>
            </a:r>
          </a:p>
          <a:p>
            <a:r>
              <a:rPr lang="en-SG" sz="1100" dirty="0">
                <a:latin typeface="Courier"/>
              </a:rPr>
              <a:t>        &lt;/ul&gt;</a:t>
            </a:r>
          </a:p>
          <a:p>
            <a:r>
              <a:rPr lang="en-SG" sz="1100" dirty="0">
                <a:latin typeface="Courier"/>
              </a:rPr>
              <a:t>    &lt;/div&gt;</a:t>
            </a:r>
          </a:p>
          <a:p>
            <a:r>
              <a:rPr lang="en-SG" sz="1100" dirty="0">
                <a:latin typeface="Courier"/>
              </a:rPr>
              <a:t>&lt;/nav&gt;</a:t>
            </a:r>
          </a:p>
        </p:txBody>
      </p:sp>
      <p:sp>
        <p:nvSpPr>
          <p:cNvPr id="5" name="Rectangular Callout 21">
            <a:extLst>
              <a:ext uri="{FF2B5EF4-FFF2-40B4-BE49-F238E27FC236}">
                <a16:creationId xmlns:a16="http://schemas.microsoft.com/office/drawing/2014/main" id="{425EB747-DDA6-4449-976C-D20A64B6EA54}"/>
              </a:ext>
            </a:extLst>
          </p:cNvPr>
          <p:cNvSpPr/>
          <p:nvPr/>
        </p:nvSpPr>
        <p:spPr>
          <a:xfrm>
            <a:off x="3042873" y="5503755"/>
            <a:ext cx="6735650" cy="724745"/>
          </a:xfrm>
          <a:prstGeom prst="wedgeRectCallout">
            <a:avLst>
              <a:gd name="adj1" fmla="val 3435"/>
              <a:gd name="adj2" fmla="val -120951"/>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This is a standard Navbar in Bootstrap 4. Refer to the official website to customize in the manner you desire</a:t>
            </a:r>
          </a:p>
        </p:txBody>
      </p:sp>
    </p:spTree>
    <p:extLst>
      <p:ext uri="{BB962C8B-B14F-4D97-AF65-F5344CB8AC3E}">
        <p14:creationId xmlns:p14="http://schemas.microsoft.com/office/powerpoint/2010/main" val="686921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2F396-4597-4583-8DD8-6FD6F6582159}"/>
              </a:ext>
            </a:extLst>
          </p:cNvPr>
          <p:cNvSpPr>
            <a:spLocks noGrp="1"/>
          </p:cNvSpPr>
          <p:nvPr>
            <p:ph type="title"/>
          </p:nvPr>
        </p:nvSpPr>
        <p:spPr/>
        <p:txBody>
          <a:bodyPr/>
          <a:lstStyle/>
          <a:p>
            <a:r>
              <a:rPr lang="en-GB" dirty="0"/>
              <a:t>Test the Top Navigation</a:t>
            </a:r>
          </a:p>
        </p:txBody>
      </p:sp>
      <p:sp>
        <p:nvSpPr>
          <p:cNvPr id="4" name="Slide Number Placeholder 3">
            <a:extLst>
              <a:ext uri="{FF2B5EF4-FFF2-40B4-BE49-F238E27FC236}">
                <a16:creationId xmlns:a16="http://schemas.microsoft.com/office/drawing/2014/main" id="{40EA3D1D-E631-4358-99EE-4E715DA16101}"/>
              </a:ext>
            </a:extLst>
          </p:cNvPr>
          <p:cNvSpPr>
            <a:spLocks noGrp="1"/>
          </p:cNvSpPr>
          <p:nvPr>
            <p:ph type="sldNum" sz="quarter" idx="12"/>
          </p:nvPr>
        </p:nvSpPr>
        <p:spPr/>
        <p:txBody>
          <a:bodyPr/>
          <a:lstStyle/>
          <a:p>
            <a:fld id="{8E9E4023-6F3A-457B-B0BB-8C1F114B424F}" type="slidenum">
              <a:rPr lang="en-SG" smtClean="0"/>
              <a:t>19</a:t>
            </a:fld>
            <a:endParaRPr lang="en-SG"/>
          </a:p>
        </p:txBody>
      </p:sp>
      <p:pic>
        <p:nvPicPr>
          <p:cNvPr id="5" name="Picture 4">
            <a:extLst>
              <a:ext uri="{FF2B5EF4-FFF2-40B4-BE49-F238E27FC236}">
                <a16:creationId xmlns:a16="http://schemas.microsoft.com/office/drawing/2014/main" id="{60E54735-F551-4F0C-AEF2-7658A77D5255}"/>
              </a:ext>
            </a:extLst>
          </p:cNvPr>
          <p:cNvPicPr>
            <a:picLocks noChangeAspect="1"/>
          </p:cNvPicPr>
          <p:nvPr/>
        </p:nvPicPr>
        <p:blipFill>
          <a:blip r:embed="rId2"/>
          <a:stretch>
            <a:fillRect/>
          </a:stretch>
        </p:blipFill>
        <p:spPr>
          <a:xfrm>
            <a:off x="1065263" y="2044699"/>
            <a:ext cx="8858250" cy="4448175"/>
          </a:xfrm>
          <a:prstGeom prst="rect">
            <a:avLst/>
          </a:prstGeom>
        </p:spPr>
      </p:pic>
      <p:sp>
        <p:nvSpPr>
          <p:cNvPr id="9" name="Rectangular Callout 21">
            <a:extLst>
              <a:ext uri="{FF2B5EF4-FFF2-40B4-BE49-F238E27FC236}">
                <a16:creationId xmlns:a16="http://schemas.microsoft.com/office/drawing/2014/main" id="{636F8151-377B-4D2F-A811-4048F963A5C4}"/>
              </a:ext>
            </a:extLst>
          </p:cNvPr>
          <p:cNvSpPr/>
          <p:nvPr/>
        </p:nvSpPr>
        <p:spPr>
          <a:xfrm>
            <a:off x="2728175" y="1398494"/>
            <a:ext cx="6735650" cy="1238995"/>
          </a:xfrm>
          <a:prstGeom prst="wedgeRectCallout">
            <a:avLst>
              <a:gd name="adj1" fmla="val -32277"/>
              <a:gd name="adj2" fmla="val 100788"/>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Reload the </a:t>
            </a:r>
            <a:r>
              <a:rPr lang="en-GB" sz="1400" b="1" dirty="0">
                <a:highlight>
                  <a:srgbClr val="1CADE4"/>
                </a:highlight>
                <a:latin typeface="Courier"/>
                <a:ea typeface="Arial Unicode MS" charset="0"/>
                <a:cs typeface="Arial Unicode MS" charset="0"/>
              </a:rPr>
              <a:t>index.html</a:t>
            </a:r>
            <a:r>
              <a:rPr lang="en-GB" sz="1400" dirty="0">
                <a:latin typeface="Arial Unicode MS" charset="0"/>
                <a:ea typeface="Arial Unicode MS" charset="0"/>
                <a:cs typeface="Arial Unicode MS" charset="0"/>
              </a:rPr>
              <a:t> page in your browser address bar and you should see the top navigation appearing at the top. Each of the links does not do anything yet and in fact will generate a </a:t>
            </a:r>
            <a:r>
              <a:rPr lang="en-GB" sz="1400" dirty="0" err="1">
                <a:latin typeface="Arial Unicode MS" charset="0"/>
                <a:ea typeface="Arial Unicode MS" charset="0"/>
                <a:cs typeface="Arial Unicode MS" charset="0"/>
              </a:rPr>
              <a:t>javascript</a:t>
            </a:r>
            <a:r>
              <a:rPr lang="en-GB" sz="1400" dirty="0">
                <a:latin typeface="Arial Unicode MS" charset="0"/>
                <a:ea typeface="Arial Unicode MS" charset="0"/>
                <a:cs typeface="Arial Unicode MS" charset="0"/>
              </a:rPr>
              <a:t> error as it cannot find the </a:t>
            </a:r>
            <a:r>
              <a:rPr lang="en-GB" sz="1400" dirty="0" err="1">
                <a:latin typeface="Arial Unicode MS" charset="0"/>
                <a:ea typeface="Arial Unicode MS" charset="0"/>
                <a:cs typeface="Arial Unicode MS" charset="0"/>
              </a:rPr>
              <a:t>javascript</a:t>
            </a:r>
            <a:r>
              <a:rPr lang="en-GB" sz="1400" dirty="0">
                <a:latin typeface="Arial Unicode MS" charset="0"/>
                <a:ea typeface="Arial Unicode MS" charset="0"/>
                <a:cs typeface="Arial Unicode MS" charset="0"/>
              </a:rPr>
              <a:t> function to execute</a:t>
            </a:r>
          </a:p>
        </p:txBody>
      </p:sp>
    </p:spTree>
    <p:extLst>
      <p:ext uri="{BB962C8B-B14F-4D97-AF65-F5344CB8AC3E}">
        <p14:creationId xmlns:p14="http://schemas.microsoft.com/office/powerpoint/2010/main" val="2218463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D8DA2-57A3-4941-9BEF-FD559A895062}"/>
              </a:ext>
            </a:extLst>
          </p:cNvPr>
          <p:cNvSpPr>
            <a:spLocks noGrp="1"/>
          </p:cNvSpPr>
          <p:nvPr>
            <p:ph type="title"/>
          </p:nvPr>
        </p:nvSpPr>
        <p:spPr/>
        <p:txBody>
          <a:bodyPr>
            <a:normAutofit fontScale="90000"/>
          </a:bodyPr>
          <a:lstStyle/>
          <a:p>
            <a:r>
              <a:rPr lang="en-GB" dirty="0"/>
              <a:t>Adding “About” Modal Window – message-modal.html</a:t>
            </a:r>
          </a:p>
        </p:txBody>
      </p:sp>
      <p:sp>
        <p:nvSpPr>
          <p:cNvPr id="4" name="Slide Number Placeholder 3">
            <a:extLst>
              <a:ext uri="{FF2B5EF4-FFF2-40B4-BE49-F238E27FC236}">
                <a16:creationId xmlns:a16="http://schemas.microsoft.com/office/drawing/2014/main" id="{5D8AD838-0214-4BB3-810E-BA5F60460106}"/>
              </a:ext>
            </a:extLst>
          </p:cNvPr>
          <p:cNvSpPr>
            <a:spLocks noGrp="1"/>
          </p:cNvSpPr>
          <p:nvPr>
            <p:ph type="sldNum" sz="quarter" idx="12"/>
          </p:nvPr>
        </p:nvSpPr>
        <p:spPr/>
        <p:txBody>
          <a:bodyPr/>
          <a:lstStyle/>
          <a:p>
            <a:fld id="{8E9E4023-6F3A-457B-B0BB-8C1F114B424F}" type="slidenum">
              <a:rPr lang="en-SG" smtClean="0"/>
              <a:t>20</a:t>
            </a:fld>
            <a:endParaRPr lang="en-SG" dirty="0"/>
          </a:p>
        </p:txBody>
      </p:sp>
      <p:sp>
        <p:nvSpPr>
          <p:cNvPr id="10" name="TextBox 9">
            <a:extLst>
              <a:ext uri="{FF2B5EF4-FFF2-40B4-BE49-F238E27FC236}">
                <a16:creationId xmlns:a16="http://schemas.microsoft.com/office/drawing/2014/main" id="{07BE1934-1311-46CF-A9CB-7BF4116B270F}"/>
              </a:ext>
            </a:extLst>
          </p:cNvPr>
          <p:cNvSpPr txBox="1"/>
          <p:nvPr/>
        </p:nvSpPr>
        <p:spPr>
          <a:xfrm>
            <a:off x="927919" y="1524000"/>
            <a:ext cx="10336161" cy="4524315"/>
          </a:xfrm>
          <a:prstGeom prst="rect">
            <a:avLst/>
          </a:prstGeom>
          <a:noFill/>
        </p:spPr>
        <p:txBody>
          <a:bodyPr wrap="square">
            <a:spAutoFit/>
          </a:bodyPr>
          <a:lstStyle/>
          <a:p>
            <a:r>
              <a:rPr lang="en-US" dirty="0"/>
              <a:t>&lt;!-- this is a structure of Bootstrap Modal --&gt;</a:t>
            </a:r>
          </a:p>
          <a:p>
            <a:r>
              <a:rPr lang="en-US" dirty="0"/>
              <a:t>&lt;div class="modal fade " id="</a:t>
            </a:r>
            <a:r>
              <a:rPr lang="en-US" dirty="0" err="1"/>
              <a:t>messageModal</a:t>
            </a:r>
            <a:r>
              <a:rPr lang="en-US" dirty="0"/>
              <a:t>" </a:t>
            </a:r>
            <a:r>
              <a:rPr lang="en-US" dirty="0" err="1"/>
              <a:t>tabindex</a:t>
            </a:r>
            <a:r>
              <a:rPr lang="en-US" dirty="0"/>
              <a:t>="-1" role="dialog"&gt;    </a:t>
            </a:r>
          </a:p>
          <a:p>
            <a:r>
              <a:rPr lang="en-US" dirty="0"/>
              <a:t>	&lt;div class="modal-dialog modal-</a:t>
            </a:r>
            <a:r>
              <a:rPr lang="en-US" dirty="0" err="1"/>
              <a:t>sm</a:t>
            </a:r>
            <a:r>
              <a:rPr lang="en-US" dirty="0"/>
              <a:t> " role="document"&gt;        </a:t>
            </a:r>
          </a:p>
          <a:p>
            <a:r>
              <a:rPr lang="en-US" dirty="0"/>
              <a:t>		&lt;div class="modal-content"&gt;            </a:t>
            </a:r>
          </a:p>
          <a:p>
            <a:r>
              <a:rPr lang="en-US" dirty="0"/>
              <a:t>			&lt;div class="modal-body px-5"&gt;                </a:t>
            </a:r>
          </a:p>
          <a:p>
            <a:r>
              <a:rPr lang="en-US" dirty="0"/>
              <a:t>				&lt;span id="message"&gt;This is an academic website teaching students on fundamentals of various web technologies such as CSS, HTML, </a:t>
            </a:r>
            <a:r>
              <a:rPr lang="en-US" dirty="0" err="1"/>
              <a:t>Javascript</a:t>
            </a:r>
            <a:r>
              <a:rPr lang="en-US" dirty="0"/>
              <a:t> and Restful Web APIs&lt;</a:t>
            </a:r>
            <a:r>
              <a:rPr lang="en-US" dirty="0" err="1"/>
              <a:t>br</a:t>
            </a:r>
            <a:r>
              <a:rPr lang="en-US" dirty="0"/>
              <a:t>&gt;&lt;</a:t>
            </a:r>
            <a:r>
              <a:rPr lang="en-US" dirty="0" err="1"/>
              <a:t>br</a:t>
            </a:r>
            <a:r>
              <a:rPr lang="en-US" dirty="0"/>
              <a:t>&gt;Please use Firefox or Chrome&lt;/span&gt;                </a:t>
            </a:r>
          </a:p>
          <a:p>
            <a:r>
              <a:rPr lang="en-US" dirty="0"/>
              <a:t>			&lt;div class="modal-footer"&gt;                    </a:t>
            </a:r>
          </a:p>
          <a:p>
            <a:r>
              <a:rPr lang="en-US" dirty="0"/>
              <a:t>				&lt;button type="button" class="</a:t>
            </a:r>
            <a:r>
              <a:rPr lang="en-US" dirty="0" err="1"/>
              <a:t>btn</a:t>
            </a:r>
            <a:r>
              <a:rPr lang="en-US" dirty="0"/>
              <a:t> </a:t>
            </a:r>
            <a:r>
              <a:rPr lang="en-US" dirty="0" err="1"/>
              <a:t>btn</a:t>
            </a:r>
            <a:r>
              <a:rPr lang="en-US" dirty="0"/>
              <a:t>-secondary </a:t>
            </a:r>
            <a:r>
              <a:rPr lang="en-US" dirty="0" err="1"/>
              <a:t>bg</a:t>
            </a:r>
            <a:r>
              <a:rPr lang="en-US" dirty="0"/>
              <a:t>-dark" data-dismiss="modal" style="float: none; margin: 0 auto;"&gt;Close&lt;/button&gt;                </a:t>
            </a:r>
          </a:p>
          <a:p>
            <a:r>
              <a:rPr lang="en-US" dirty="0"/>
              <a:t>			&lt;/div&gt;            </a:t>
            </a:r>
          </a:p>
          <a:p>
            <a:r>
              <a:rPr lang="en-US" dirty="0"/>
              <a:t>			&lt;/div&gt;        </a:t>
            </a:r>
          </a:p>
          <a:p>
            <a:r>
              <a:rPr lang="en-US" dirty="0"/>
              <a:t>		&lt;/div&gt;    </a:t>
            </a:r>
          </a:p>
          <a:p>
            <a:r>
              <a:rPr lang="en-US" dirty="0"/>
              <a:t>	&lt;/div&gt;</a:t>
            </a:r>
          </a:p>
          <a:p>
            <a:r>
              <a:rPr lang="en-US" dirty="0"/>
              <a:t>&lt;/div&gt;</a:t>
            </a:r>
          </a:p>
        </p:txBody>
      </p:sp>
      <p:sp>
        <p:nvSpPr>
          <p:cNvPr id="5" name="Rectangular Callout 21">
            <a:extLst>
              <a:ext uri="{FF2B5EF4-FFF2-40B4-BE49-F238E27FC236}">
                <a16:creationId xmlns:a16="http://schemas.microsoft.com/office/drawing/2014/main" id="{1288C09B-5600-49BB-BE97-CBE50212D845}"/>
              </a:ext>
            </a:extLst>
          </p:cNvPr>
          <p:cNvSpPr/>
          <p:nvPr/>
        </p:nvSpPr>
        <p:spPr>
          <a:xfrm>
            <a:off x="3042873" y="5503755"/>
            <a:ext cx="6735650" cy="724745"/>
          </a:xfrm>
          <a:prstGeom prst="wedgeRectCallout">
            <a:avLst>
              <a:gd name="adj1" fmla="val 3435"/>
              <a:gd name="adj2" fmla="val -120951"/>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This is a standard Modal in Bootstrap 4. Refer to the official website to customize in the manner you desire</a:t>
            </a:r>
          </a:p>
        </p:txBody>
      </p:sp>
    </p:spTree>
    <p:extLst>
      <p:ext uri="{BB962C8B-B14F-4D97-AF65-F5344CB8AC3E}">
        <p14:creationId xmlns:p14="http://schemas.microsoft.com/office/powerpoint/2010/main" val="2809167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7538D44-15C9-46CE-B3C5-D72C6C21BBE7}"/>
              </a:ext>
            </a:extLst>
          </p:cNvPr>
          <p:cNvPicPr>
            <a:picLocks noChangeAspect="1"/>
          </p:cNvPicPr>
          <p:nvPr/>
        </p:nvPicPr>
        <p:blipFill>
          <a:blip r:embed="rId2"/>
          <a:stretch>
            <a:fillRect/>
          </a:stretch>
        </p:blipFill>
        <p:spPr>
          <a:xfrm>
            <a:off x="1714500" y="1381042"/>
            <a:ext cx="7400925" cy="5019758"/>
          </a:xfrm>
          <a:prstGeom prst="rect">
            <a:avLst/>
          </a:prstGeom>
        </p:spPr>
      </p:pic>
      <p:sp>
        <p:nvSpPr>
          <p:cNvPr id="2" name="Title 1">
            <a:extLst>
              <a:ext uri="{FF2B5EF4-FFF2-40B4-BE49-F238E27FC236}">
                <a16:creationId xmlns:a16="http://schemas.microsoft.com/office/drawing/2014/main" id="{989D8DA2-57A3-4941-9BEF-FD559A895062}"/>
              </a:ext>
            </a:extLst>
          </p:cNvPr>
          <p:cNvSpPr>
            <a:spLocks noGrp="1"/>
          </p:cNvSpPr>
          <p:nvPr>
            <p:ph type="title"/>
          </p:nvPr>
        </p:nvSpPr>
        <p:spPr/>
        <p:txBody>
          <a:bodyPr/>
          <a:lstStyle/>
          <a:p>
            <a:r>
              <a:rPr lang="en-GB" dirty="0"/>
              <a:t>Test the “About” Modal Window</a:t>
            </a:r>
          </a:p>
        </p:txBody>
      </p:sp>
      <p:sp>
        <p:nvSpPr>
          <p:cNvPr id="4" name="Slide Number Placeholder 3">
            <a:extLst>
              <a:ext uri="{FF2B5EF4-FFF2-40B4-BE49-F238E27FC236}">
                <a16:creationId xmlns:a16="http://schemas.microsoft.com/office/drawing/2014/main" id="{5D8AD838-0214-4BB3-810E-BA5F60460106}"/>
              </a:ext>
            </a:extLst>
          </p:cNvPr>
          <p:cNvSpPr>
            <a:spLocks noGrp="1"/>
          </p:cNvSpPr>
          <p:nvPr>
            <p:ph type="sldNum" sz="quarter" idx="12"/>
          </p:nvPr>
        </p:nvSpPr>
        <p:spPr/>
        <p:txBody>
          <a:bodyPr/>
          <a:lstStyle/>
          <a:p>
            <a:fld id="{8E9E4023-6F3A-457B-B0BB-8C1F114B424F}" type="slidenum">
              <a:rPr lang="en-SG" smtClean="0"/>
              <a:t>21</a:t>
            </a:fld>
            <a:endParaRPr lang="en-SG"/>
          </a:p>
        </p:txBody>
      </p:sp>
      <p:sp>
        <p:nvSpPr>
          <p:cNvPr id="12" name="Rectangular Callout 21">
            <a:extLst>
              <a:ext uri="{FF2B5EF4-FFF2-40B4-BE49-F238E27FC236}">
                <a16:creationId xmlns:a16="http://schemas.microsoft.com/office/drawing/2014/main" id="{996FBA6D-1AE5-41B7-BFEB-334A426B0CDE}"/>
              </a:ext>
            </a:extLst>
          </p:cNvPr>
          <p:cNvSpPr/>
          <p:nvPr/>
        </p:nvSpPr>
        <p:spPr>
          <a:xfrm>
            <a:off x="5535502" y="2016590"/>
            <a:ext cx="6427898" cy="724745"/>
          </a:xfrm>
          <a:prstGeom prst="wedgeRectCallout">
            <a:avLst>
              <a:gd name="adj1" fmla="val -32250"/>
              <a:gd name="adj2" fmla="val -84467"/>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Reload the </a:t>
            </a:r>
            <a:r>
              <a:rPr lang="en-GB" sz="1400" b="1" dirty="0">
                <a:highlight>
                  <a:srgbClr val="1CADE4"/>
                </a:highlight>
                <a:latin typeface="Courier"/>
                <a:ea typeface="Arial Unicode MS" charset="0"/>
                <a:cs typeface="Arial Unicode MS" charset="0"/>
              </a:rPr>
              <a:t>index.html</a:t>
            </a:r>
            <a:r>
              <a:rPr lang="en-GB" sz="1400" dirty="0">
                <a:latin typeface="Arial Unicode MS" charset="0"/>
                <a:ea typeface="Arial Unicode MS" charset="0"/>
                <a:cs typeface="Arial Unicode MS" charset="0"/>
              </a:rPr>
              <a:t> page in your browser address bar and click on the </a:t>
            </a:r>
            <a:r>
              <a:rPr lang="en-GB" sz="1400" b="1" dirty="0">
                <a:latin typeface="Arial Unicode MS" charset="0"/>
                <a:ea typeface="Arial Unicode MS" charset="0"/>
                <a:cs typeface="Arial Unicode MS" charset="0"/>
              </a:rPr>
              <a:t>About</a:t>
            </a:r>
            <a:r>
              <a:rPr lang="en-GB" sz="1400" dirty="0">
                <a:latin typeface="Arial Unicode MS" charset="0"/>
                <a:ea typeface="Arial Unicode MS" charset="0"/>
                <a:cs typeface="Arial Unicode MS" charset="0"/>
              </a:rPr>
              <a:t> menu item. The modal window should appear as shown.</a:t>
            </a:r>
          </a:p>
        </p:txBody>
      </p:sp>
    </p:spTree>
    <p:extLst>
      <p:ext uri="{BB962C8B-B14F-4D97-AF65-F5344CB8AC3E}">
        <p14:creationId xmlns:p14="http://schemas.microsoft.com/office/powerpoint/2010/main" val="1589031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08DE-4177-49A2-B6F1-114A0015079A}"/>
              </a:ext>
            </a:extLst>
          </p:cNvPr>
          <p:cNvSpPr>
            <a:spLocks noGrp="1"/>
          </p:cNvSpPr>
          <p:nvPr>
            <p:ph type="title"/>
          </p:nvPr>
        </p:nvSpPr>
        <p:spPr/>
        <p:txBody>
          <a:bodyPr/>
          <a:lstStyle/>
          <a:p>
            <a:r>
              <a:rPr lang="en-GB" dirty="0"/>
              <a:t>Showing List of Movies – app.js</a:t>
            </a:r>
          </a:p>
        </p:txBody>
      </p:sp>
      <p:sp>
        <p:nvSpPr>
          <p:cNvPr id="3" name="Content Placeholder 2">
            <a:extLst>
              <a:ext uri="{FF2B5EF4-FFF2-40B4-BE49-F238E27FC236}">
                <a16:creationId xmlns:a16="http://schemas.microsoft.com/office/drawing/2014/main" id="{A7D35E75-5642-49D5-90AD-A067876C5429}"/>
              </a:ext>
            </a:extLst>
          </p:cNvPr>
          <p:cNvSpPr>
            <a:spLocks noGrp="1"/>
          </p:cNvSpPr>
          <p:nvPr>
            <p:ph idx="1"/>
          </p:nvPr>
        </p:nvSpPr>
        <p:spPr>
          <a:xfrm>
            <a:off x="1017638" y="1631314"/>
            <a:ext cx="10548720" cy="1797686"/>
          </a:xfrm>
        </p:spPr>
        <p:txBody>
          <a:bodyPr>
            <a:normAutofit/>
          </a:bodyPr>
          <a:lstStyle/>
          <a:p>
            <a:pPr>
              <a:lnSpc>
                <a:spcPct val="120000"/>
              </a:lnSpc>
            </a:pPr>
            <a:r>
              <a:rPr lang="en-GB" dirty="0"/>
              <a:t>We’ll now build the </a:t>
            </a:r>
            <a:r>
              <a:rPr lang="en-GB" dirty="0" err="1"/>
              <a:t>javascript</a:t>
            </a:r>
            <a:r>
              <a:rPr lang="en-GB" dirty="0"/>
              <a:t> codes to show the list of movies.</a:t>
            </a:r>
          </a:p>
        </p:txBody>
      </p:sp>
      <p:sp>
        <p:nvSpPr>
          <p:cNvPr id="4" name="Slide Number Placeholder 3">
            <a:extLst>
              <a:ext uri="{FF2B5EF4-FFF2-40B4-BE49-F238E27FC236}">
                <a16:creationId xmlns:a16="http://schemas.microsoft.com/office/drawing/2014/main" id="{E9A63B02-F44D-49FA-94AE-E51FB7731C92}"/>
              </a:ext>
            </a:extLst>
          </p:cNvPr>
          <p:cNvSpPr>
            <a:spLocks noGrp="1"/>
          </p:cNvSpPr>
          <p:nvPr>
            <p:ph type="sldNum" sz="quarter" idx="12"/>
          </p:nvPr>
        </p:nvSpPr>
        <p:spPr/>
        <p:txBody>
          <a:bodyPr/>
          <a:lstStyle/>
          <a:p>
            <a:fld id="{8E9E4023-6F3A-457B-B0BB-8C1F114B424F}" type="slidenum">
              <a:rPr lang="en-SG" smtClean="0"/>
              <a:t>22</a:t>
            </a:fld>
            <a:endParaRPr lang="en-SG"/>
          </a:p>
        </p:txBody>
      </p:sp>
      <p:sp>
        <p:nvSpPr>
          <p:cNvPr id="8" name="TextBox 7">
            <a:extLst>
              <a:ext uri="{FF2B5EF4-FFF2-40B4-BE49-F238E27FC236}">
                <a16:creationId xmlns:a16="http://schemas.microsoft.com/office/drawing/2014/main" id="{9B6F9645-D98F-404E-A336-EEFE951B3A7A}"/>
              </a:ext>
            </a:extLst>
          </p:cNvPr>
          <p:cNvSpPr txBox="1"/>
          <p:nvPr/>
        </p:nvSpPr>
        <p:spPr>
          <a:xfrm>
            <a:off x="1143144" y="2660868"/>
            <a:ext cx="8712200" cy="1200329"/>
          </a:xfrm>
          <a:prstGeom prst="rect">
            <a:avLst/>
          </a:prstGeom>
          <a:noFill/>
          <a:ln w="12700">
            <a:solidFill>
              <a:schemeClr val="tx1"/>
            </a:solidFill>
          </a:ln>
        </p:spPr>
        <p:txBody>
          <a:bodyPr wrap="square" rtlCol="0">
            <a:spAutoFit/>
          </a:bodyPr>
          <a:lstStyle/>
          <a:p>
            <a:r>
              <a:rPr lang="en-US" sz="1200" dirty="0">
                <a:solidFill>
                  <a:srgbClr val="034ABD"/>
                </a:solidFill>
                <a:latin typeface="Courier"/>
              </a:rPr>
              <a:t>var </a:t>
            </a:r>
            <a:r>
              <a:rPr lang="en-US" sz="1200" dirty="0" err="1">
                <a:latin typeface="Courier"/>
              </a:rPr>
              <a:t>movie_url</a:t>
            </a:r>
            <a:r>
              <a:rPr lang="en-US" sz="1200" dirty="0">
                <a:solidFill>
                  <a:srgbClr val="034ABD"/>
                </a:solidFill>
                <a:latin typeface="Courier"/>
              </a:rPr>
              <a:t> = </a:t>
            </a:r>
            <a:r>
              <a:rPr lang="en-US" sz="1200" dirty="0">
                <a:solidFill>
                  <a:srgbClr val="86553A"/>
                </a:solidFill>
                <a:latin typeface="Courier"/>
              </a:rPr>
              <a:t>"/movies"</a:t>
            </a:r>
            <a:r>
              <a:rPr lang="en-US" sz="1200" dirty="0">
                <a:solidFill>
                  <a:srgbClr val="034ABD"/>
                </a:solidFill>
                <a:latin typeface="Courier"/>
              </a:rPr>
              <a:t>;</a:t>
            </a:r>
          </a:p>
          <a:p>
            <a:r>
              <a:rPr lang="en-US" sz="1200" dirty="0">
                <a:solidFill>
                  <a:srgbClr val="034ABD"/>
                </a:solidFill>
                <a:latin typeface="Courier"/>
              </a:rPr>
              <a:t>var </a:t>
            </a:r>
            <a:r>
              <a:rPr lang="en-US" sz="1200" dirty="0" err="1">
                <a:latin typeface="Courier"/>
              </a:rPr>
              <a:t>movie_array</a:t>
            </a:r>
            <a:r>
              <a:rPr lang="en-US" sz="1200" dirty="0">
                <a:latin typeface="Courier"/>
              </a:rPr>
              <a:t> </a:t>
            </a:r>
            <a:r>
              <a:rPr lang="en-US" sz="1200" dirty="0">
                <a:solidFill>
                  <a:srgbClr val="034ABD"/>
                </a:solidFill>
                <a:latin typeface="Courier"/>
              </a:rPr>
              <a:t>= </a:t>
            </a:r>
            <a:r>
              <a:rPr lang="en-US" sz="1200" dirty="0">
                <a:latin typeface="Courier"/>
              </a:rPr>
              <a:t>[]</a:t>
            </a:r>
            <a:r>
              <a:rPr lang="en-US" sz="1200" dirty="0">
                <a:solidFill>
                  <a:srgbClr val="034ABD"/>
                </a:solidFill>
                <a:latin typeface="Courier"/>
              </a:rPr>
              <a:t>; </a:t>
            </a:r>
            <a:r>
              <a:rPr lang="en-US" sz="1200" dirty="0">
                <a:solidFill>
                  <a:schemeClr val="accent5"/>
                </a:solidFill>
                <a:latin typeface="Courier"/>
              </a:rPr>
              <a:t>// This creates an empty movie array</a:t>
            </a:r>
          </a:p>
          <a:p>
            <a:r>
              <a:rPr lang="en-US" sz="1200" dirty="0">
                <a:solidFill>
                  <a:srgbClr val="034ABD"/>
                </a:solidFill>
                <a:latin typeface="Courier"/>
              </a:rPr>
              <a:t>var </a:t>
            </a:r>
            <a:r>
              <a:rPr lang="en-US" sz="1200" dirty="0">
                <a:latin typeface="Courier"/>
              </a:rPr>
              <a:t>movieCount</a:t>
            </a:r>
            <a:r>
              <a:rPr lang="en-US" sz="1200" dirty="0">
                <a:solidFill>
                  <a:srgbClr val="034ABD"/>
                </a:solidFill>
                <a:latin typeface="Courier"/>
              </a:rPr>
              <a:t> = </a:t>
            </a:r>
            <a:r>
              <a:rPr lang="en-US" sz="1200" dirty="0">
                <a:solidFill>
                  <a:schemeClr val="accent5"/>
                </a:solidFill>
                <a:latin typeface="Courier"/>
              </a:rPr>
              <a:t>0</a:t>
            </a:r>
            <a:r>
              <a:rPr lang="en-US" sz="1200" dirty="0">
                <a:solidFill>
                  <a:srgbClr val="034ABD"/>
                </a:solidFill>
                <a:latin typeface="Courier"/>
              </a:rPr>
              <a:t>;</a:t>
            </a:r>
          </a:p>
          <a:p>
            <a:r>
              <a:rPr lang="en-US" sz="1200" dirty="0">
                <a:solidFill>
                  <a:schemeClr val="accent5"/>
                </a:solidFill>
                <a:latin typeface="Courier"/>
              </a:rPr>
              <a:t>/*  There are two categories: "Now Showing" and "Coming Soon". This variable states which </a:t>
            </a:r>
          </a:p>
          <a:p>
            <a:r>
              <a:rPr lang="en-US" sz="1200" dirty="0">
                <a:solidFill>
                  <a:schemeClr val="accent5"/>
                </a:solidFill>
                <a:latin typeface="Courier"/>
              </a:rPr>
              <a:t>    category of movies should be listed when the home page is first loaded. */</a:t>
            </a:r>
          </a:p>
          <a:p>
            <a:r>
              <a:rPr lang="en-US" sz="1200" dirty="0">
                <a:solidFill>
                  <a:srgbClr val="034ABD"/>
                </a:solidFill>
                <a:latin typeface="Courier"/>
              </a:rPr>
              <a:t>var </a:t>
            </a:r>
            <a:r>
              <a:rPr lang="en-US" sz="1200" dirty="0">
                <a:latin typeface="Courier"/>
              </a:rPr>
              <a:t>category</a:t>
            </a:r>
            <a:r>
              <a:rPr lang="en-US" sz="1200" dirty="0">
                <a:solidFill>
                  <a:srgbClr val="034ABD"/>
                </a:solidFill>
                <a:latin typeface="Courier"/>
              </a:rPr>
              <a:t> = </a:t>
            </a:r>
            <a:r>
              <a:rPr lang="en-US" sz="1200" dirty="0">
                <a:solidFill>
                  <a:srgbClr val="86553A"/>
                </a:solidFill>
                <a:latin typeface="Courier"/>
              </a:rPr>
              <a:t>"Now Showing"</a:t>
            </a:r>
            <a:r>
              <a:rPr lang="en-US" sz="1200" dirty="0">
                <a:solidFill>
                  <a:srgbClr val="034ABD"/>
                </a:solidFill>
                <a:latin typeface="Courier"/>
              </a:rPr>
              <a:t>;</a:t>
            </a:r>
            <a:endParaRPr lang="en-SG" sz="1200" dirty="0">
              <a:latin typeface="Courier"/>
            </a:endParaRPr>
          </a:p>
        </p:txBody>
      </p:sp>
      <p:sp>
        <p:nvSpPr>
          <p:cNvPr id="6" name="Rectangular Callout 21">
            <a:extLst>
              <a:ext uri="{FF2B5EF4-FFF2-40B4-BE49-F238E27FC236}">
                <a16:creationId xmlns:a16="http://schemas.microsoft.com/office/drawing/2014/main" id="{FCB99F5B-CEA5-4ECF-9B27-FEE54644E254}"/>
              </a:ext>
            </a:extLst>
          </p:cNvPr>
          <p:cNvSpPr/>
          <p:nvPr/>
        </p:nvSpPr>
        <p:spPr>
          <a:xfrm>
            <a:off x="3042873" y="5503755"/>
            <a:ext cx="6735650" cy="724745"/>
          </a:xfrm>
          <a:prstGeom prst="wedgeRectCallout">
            <a:avLst>
              <a:gd name="adj1" fmla="val -28641"/>
              <a:gd name="adj2" fmla="val -258252"/>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Declaring some global variables for use in the app</a:t>
            </a:r>
          </a:p>
        </p:txBody>
      </p:sp>
    </p:spTree>
    <p:extLst>
      <p:ext uri="{BB962C8B-B14F-4D97-AF65-F5344CB8AC3E}">
        <p14:creationId xmlns:p14="http://schemas.microsoft.com/office/powerpoint/2010/main" val="3165821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08DE-4177-49A2-B6F1-114A0015079A}"/>
              </a:ext>
            </a:extLst>
          </p:cNvPr>
          <p:cNvSpPr>
            <a:spLocks noGrp="1"/>
          </p:cNvSpPr>
          <p:nvPr>
            <p:ph type="title"/>
          </p:nvPr>
        </p:nvSpPr>
        <p:spPr/>
        <p:txBody>
          <a:bodyPr/>
          <a:lstStyle/>
          <a:p>
            <a:r>
              <a:rPr lang="en-GB" dirty="0"/>
              <a:t>Showing List of Movies – movies.js</a:t>
            </a:r>
          </a:p>
        </p:txBody>
      </p:sp>
      <p:sp>
        <p:nvSpPr>
          <p:cNvPr id="4" name="Slide Number Placeholder 3">
            <a:extLst>
              <a:ext uri="{FF2B5EF4-FFF2-40B4-BE49-F238E27FC236}">
                <a16:creationId xmlns:a16="http://schemas.microsoft.com/office/drawing/2014/main" id="{E9A63B02-F44D-49FA-94AE-E51FB7731C92}"/>
              </a:ext>
            </a:extLst>
          </p:cNvPr>
          <p:cNvSpPr>
            <a:spLocks noGrp="1"/>
          </p:cNvSpPr>
          <p:nvPr>
            <p:ph type="sldNum" sz="quarter" idx="12"/>
          </p:nvPr>
        </p:nvSpPr>
        <p:spPr/>
        <p:txBody>
          <a:bodyPr/>
          <a:lstStyle/>
          <a:p>
            <a:fld id="{8E9E4023-6F3A-457B-B0BB-8C1F114B424F}" type="slidenum">
              <a:rPr lang="en-SG" smtClean="0"/>
              <a:t>23</a:t>
            </a:fld>
            <a:endParaRPr lang="en-SG"/>
          </a:p>
        </p:txBody>
      </p:sp>
      <p:sp>
        <p:nvSpPr>
          <p:cNvPr id="5" name="TextBox 4">
            <a:extLst>
              <a:ext uri="{FF2B5EF4-FFF2-40B4-BE49-F238E27FC236}">
                <a16:creationId xmlns:a16="http://schemas.microsoft.com/office/drawing/2014/main" id="{D67EA87C-6C39-460B-962E-E673CF7F4793}"/>
              </a:ext>
            </a:extLst>
          </p:cNvPr>
          <p:cNvSpPr txBox="1"/>
          <p:nvPr/>
        </p:nvSpPr>
        <p:spPr>
          <a:xfrm>
            <a:off x="450073" y="1588433"/>
            <a:ext cx="11291855" cy="3970318"/>
          </a:xfrm>
          <a:prstGeom prst="rect">
            <a:avLst/>
          </a:prstGeom>
          <a:noFill/>
          <a:ln w="12700">
            <a:solidFill>
              <a:schemeClr val="tx1"/>
            </a:solidFill>
          </a:ln>
        </p:spPr>
        <p:txBody>
          <a:bodyPr wrap="square" rtlCol="0">
            <a:spAutoFit/>
          </a:bodyPr>
          <a:lstStyle/>
          <a:p>
            <a:r>
              <a:rPr lang="en-US" sz="1400" dirty="0">
                <a:latin typeface="Courier"/>
              </a:rPr>
              <a:t>//This function is to call the movies </a:t>
            </a:r>
            <a:r>
              <a:rPr lang="en-US" sz="1400" dirty="0" err="1">
                <a:latin typeface="Courier"/>
              </a:rPr>
              <a:t>api</a:t>
            </a:r>
            <a:r>
              <a:rPr lang="en-US" sz="1400" dirty="0">
                <a:latin typeface="Courier"/>
              </a:rPr>
              <a:t> and get all the movies</a:t>
            </a:r>
          </a:p>
          <a:p>
            <a:r>
              <a:rPr lang="en-US" sz="1400" dirty="0">
                <a:latin typeface="Courier"/>
              </a:rPr>
              <a:t>//that is showing in Shaw Theatres for Showing Now and Coming Soon</a:t>
            </a:r>
          </a:p>
          <a:p>
            <a:r>
              <a:rPr lang="en-US" sz="1400" dirty="0">
                <a:latin typeface="Courier"/>
              </a:rPr>
              <a:t>function </a:t>
            </a:r>
            <a:r>
              <a:rPr lang="en-US" sz="1400" dirty="0" err="1">
                <a:latin typeface="Courier"/>
              </a:rPr>
              <a:t>getMovieData</a:t>
            </a:r>
            <a:r>
              <a:rPr lang="en-US" sz="1400" dirty="0">
                <a:latin typeface="Courier"/>
              </a:rPr>
              <a:t>() {    </a:t>
            </a:r>
          </a:p>
          <a:p>
            <a:r>
              <a:rPr lang="en-US" sz="1400" dirty="0">
                <a:latin typeface="Courier"/>
              </a:rPr>
              <a:t>	var request = new </a:t>
            </a:r>
            <a:r>
              <a:rPr lang="en-US" sz="1400" dirty="0" err="1">
                <a:latin typeface="Courier"/>
              </a:rPr>
              <a:t>XMLHttpRequest</a:t>
            </a:r>
            <a:r>
              <a:rPr lang="en-US" sz="1400" dirty="0">
                <a:latin typeface="Courier"/>
              </a:rPr>
              <a:t>();    </a:t>
            </a:r>
          </a:p>
          <a:p>
            <a:r>
              <a:rPr lang="en-US" sz="1400" dirty="0">
                <a:latin typeface="Courier"/>
              </a:rPr>
              <a:t>	</a:t>
            </a:r>
            <a:r>
              <a:rPr lang="en-US" sz="1400" dirty="0" err="1">
                <a:latin typeface="Courier"/>
              </a:rPr>
              <a:t>request.open</a:t>
            </a:r>
            <a:r>
              <a:rPr lang="en-US" sz="1400" dirty="0">
                <a:latin typeface="Courier"/>
              </a:rPr>
              <a:t>('GET', </a:t>
            </a:r>
            <a:r>
              <a:rPr lang="en-US" sz="1400" dirty="0" err="1">
                <a:latin typeface="Courier"/>
              </a:rPr>
              <a:t>movie_url</a:t>
            </a:r>
            <a:r>
              <a:rPr lang="en-US" sz="1400" dirty="0">
                <a:latin typeface="Courier"/>
              </a:rPr>
              <a:t>, true);    </a:t>
            </a:r>
          </a:p>
          <a:p>
            <a:r>
              <a:rPr lang="en-US" sz="1400" dirty="0">
                <a:latin typeface="Courier"/>
              </a:rPr>
              <a:t>	//This function will be called when data returns from the web </a:t>
            </a:r>
            <a:r>
              <a:rPr lang="en-US" sz="1400" dirty="0" err="1">
                <a:latin typeface="Courier"/>
              </a:rPr>
              <a:t>api</a:t>
            </a:r>
            <a:r>
              <a:rPr lang="en-US" sz="1400" dirty="0">
                <a:latin typeface="Courier"/>
              </a:rPr>
              <a:t>    </a:t>
            </a:r>
          </a:p>
          <a:p>
            <a:r>
              <a:rPr lang="en-US" sz="1400" dirty="0">
                <a:latin typeface="Courier"/>
              </a:rPr>
              <a:t>	</a:t>
            </a:r>
            <a:r>
              <a:rPr lang="en-US" sz="1400" dirty="0" err="1">
                <a:latin typeface="Courier"/>
              </a:rPr>
              <a:t>request.onload</a:t>
            </a:r>
            <a:r>
              <a:rPr lang="en-US" sz="1400" dirty="0">
                <a:latin typeface="Courier"/>
              </a:rPr>
              <a:t> = function() {        </a:t>
            </a:r>
          </a:p>
          <a:p>
            <a:r>
              <a:rPr lang="en-US" sz="1400" dirty="0">
                <a:latin typeface="Courier"/>
              </a:rPr>
              <a:t>	//get all the movies records into our movie array        </a:t>
            </a:r>
          </a:p>
          <a:p>
            <a:r>
              <a:rPr lang="en-US" sz="1400" dirty="0">
                <a:latin typeface="Courier"/>
              </a:rPr>
              <a:t>	</a:t>
            </a:r>
            <a:r>
              <a:rPr lang="en-US" sz="1400" dirty="0" err="1">
                <a:latin typeface="Courier"/>
              </a:rPr>
              <a:t>movie_array</a:t>
            </a:r>
            <a:r>
              <a:rPr lang="en-US" sz="1400" dirty="0">
                <a:latin typeface="Courier"/>
              </a:rPr>
              <a:t> = </a:t>
            </a:r>
            <a:r>
              <a:rPr lang="en-US" sz="1400" dirty="0" err="1">
                <a:latin typeface="Courier"/>
              </a:rPr>
              <a:t>JSON.parse</a:t>
            </a:r>
            <a:r>
              <a:rPr lang="en-US" sz="1400" dirty="0">
                <a:latin typeface="Courier"/>
              </a:rPr>
              <a:t>(</a:t>
            </a:r>
            <a:r>
              <a:rPr lang="en-US" sz="1400" dirty="0" err="1">
                <a:latin typeface="Courier"/>
              </a:rPr>
              <a:t>request.responseText</a:t>
            </a:r>
            <a:r>
              <a:rPr lang="en-US" sz="1400" dirty="0">
                <a:latin typeface="Courier"/>
              </a:rPr>
              <a:t>);        </a:t>
            </a:r>
          </a:p>
          <a:p>
            <a:r>
              <a:rPr lang="en-US" sz="1400" dirty="0">
                <a:latin typeface="Courier"/>
              </a:rPr>
              <a:t>	//Fetch the comments as well        </a:t>
            </a:r>
          </a:p>
          <a:p>
            <a:r>
              <a:rPr lang="en-US" sz="1400" dirty="0">
                <a:latin typeface="Courier"/>
              </a:rPr>
              <a:t>	//</a:t>
            </a:r>
            <a:r>
              <a:rPr lang="en-US" sz="1400" dirty="0" err="1">
                <a:latin typeface="Courier"/>
              </a:rPr>
              <a:t>fetchComments</a:t>
            </a:r>
            <a:r>
              <a:rPr lang="en-US" sz="1400" dirty="0">
                <a:latin typeface="Courier"/>
              </a:rPr>
              <a:t>();</a:t>
            </a:r>
          </a:p>
          <a:p>
            <a:r>
              <a:rPr lang="en-US" sz="1400" dirty="0">
                <a:latin typeface="Courier"/>
              </a:rPr>
              <a:t>	console.log(</a:t>
            </a:r>
            <a:r>
              <a:rPr lang="en-US" sz="1400" dirty="0" err="1">
                <a:latin typeface="Courier"/>
              </a:rPr>
              <a:t>movie_array</a:t>
            </a:r>
            <a:r>
              <a:rPr lang="en-US" sz="1400" dirty="0">
                <a:latin typeface="Courier"/>
              </a:rPr>
              <a:t>) // output to console        </a:t>
            </a:r>
          </a:p>
          <a:p>
            <a:r>
              <a:rPr lang="en-US" sz="1400" dirty="0">
                <a:latin typeface="Courier"/>
              </a:rPr>
              <a:t>	//call the function so as to display all movies tiles for "Now Showing"        	displayMovies(category);    </a:t>
            </a:r>
          </a:p>
          <a:p>
            <a:r>
              <a:rPr lang="en-US" sz="1400" dirty="0">
                <a:latin typeface="Courier"/>
              </a:rPr>
              <a:t>};    </a:t>
            </a:r>
          </a:p>
          <a:p>
            <a:endParaRPr lang="en-US" sz="1400" dirty="0">
              <a:latin typeface="Courier"/>
            </a:endParaRPr>
          </a:p>
          <a:p>
            <a:r>
              <a:rPr lang="en-US" sz="1400" dirty="0">
                <a:latin typeface="Courier"/>
              </a:rPr>
              <a:t>//This command starts the calling of the movies web </a:t>
            </a:r>
            <a:r>
              <a:rPr lang="en-US" sz="1400" dirty="0" err="1">
                <a:latin typeface="Courier"/>
              </a:rPr>
              <a:t>api</a:t>
            </a:r>
            <a:r>
              <a:rPr lang="en-US" sz="1400" dirty="0">
                <a:latin typeface="Courier"/>
              </a:rPr>
              <a:t>    </a:t>
            </a:r>
          </a:p>
          <a:p>
            <a:r>
              <a:rPr lang="en-US" sz="1400" dirty="0" err="1">
                <a:latin typeface="Courier"/>
              </a:rPr>
              <a:t>request.send</a:t>
            </a:r>
            <a:r>
              <a:rPr lang="en-US" sz="1400" dirty="0">
                <a:latin typeface="Courier"/>
              </a:rPr>
              <a:t>();}</a:t>
            </a:r>
            <a:endParaRPr lang="en-GB" sz="1400" dirty="0">
              <a:latin typeface="Courier"/>
            </a:endParaRPr>
          </a:p>
        </p:txBody>
      </p:sp>
      <p:sp>
        <p:nvSpPr>
          <p:cNvPr id="6" name="Rectangular Callout 21">
            <a:extLst>
              <a:ext uri="{FF2B5EF4-FFF2-40B4-BE49-F238E27FC236}">
                <a16:creationId xmlns:a16="http://schemas.microsoft.com/office/drawing/2014/main" id="{D0F486BB-7CF5-4777-B0F5-31D1190AC6F5}"/>
              </a:ext>
            </a:extLst>
          </p:cNvPr>
          <p:cNvSpPr/>
          <p:nvPr/>
        </p:nvSpPr>
        <p:spPr>
          <a:xfrm>
            <a:off x="8763563" y="3374082"/>
            <a:ext cx="2978364" cy="1014622"/>
          </a:xfrm>
          <a:prstGeom prst="wedgeRectCallout">
            <a:avLst>
              <a:gd name="adj1" fmla="val -223896"/>
              <a:gd name="adj2" fmla="val -4421"/>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This code will be uncommented later for the comments feature</a:t>
            </a:r>
          </a:p>
        </p:txBody>
      </p:sp>
      <p:sp>
        <p:nvSpPr>
          <p:cNvPr id="9" name="Rectangular Callout 21">
            <a:extLst>
              <a:ext uri="{FF2B5EF4-FFF2-40B4-BE49-F238E27FC236}">
                <a16:creationId xmlns:a16="http://schemas.microsoft.com/office/drawing/2014/main" id="{1599EFDA-847B-46BF-8BC4-917FDEA8E9D9}"/>
              </a:ext>
            </a:extLst>
          </p:cNvPr>
          <p:cNvSpPr/>
          <p:nvPr/>
        </p:nvSpPr>
        <p:spPr>
          <a:xfrm>
            <a:off x="4509247" y="5470715"/>
            <a:ext cx="7522327" cy="1014622"/>
          </a:xfrm>
          <a:prstGeom prst="wedgeRectCallout">
            <a:avLst>
              <a:gd name="adj1" fmla="val -76745"/>
              <a:gd name="adj2" fmla="val -45653"/>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This function is to consume the web </a:t>
            </a:r>
            <a:r>
              <a:rPr lang="en-GB" sz="1400" dirty="0" err="1">
                <a:latin typeface="Arial Unicode MS" charset="0"/>
                <a:ea typeface="Arial Unicode MS" charset="0"/>
                <a:cs typeface="Arial Unicode MS" charset="0"/>
              </a:rPr>
              <a:t>api</a:t>
            </a:r>
            <a:r>
              <a:rPr lang="en-GB" sz="1400" dirty="0">
                <a:latin typeface="Arial Unicode MS" charset="0"/>
                <a:ea typeface="Arial Unicode MS" charset="0"/>
                <a:cs typeface="Arial Unicode MS" charset="0"/>
              </a:rPr>
              <a:t> endpoint that will return the movies data in json format</a:t>
            </a:r>
          </a:p>
        </p:txBody>
      </p:sp>
      <p:sp>
        <p:nvSpPr>
          <p:cNvPr id="10" name="Rectangular Callout 21">
            <a:extLst>
              <a:ext uri="{FF2B5EF4-FFF2-40B4-BE49-F238E27FC236}">
                <a16:creationId xmlns:a16="http://schemas.microsoft.com/office/drawing/2014/main" id="{3EF8AC4F-4565-4D9C-AB5E-1780A4A05B69}"/>
              </a:ext>
            </a:extLst>
          </p:cNvPr>
          <p:cNvSpPr/>
          <p:nvPr/>
        </p:nvSpPr>
        <p:spPr>
          <a:xfrm>
            <a:off x="8136034" y="4422398"/>
            <a:ext cx="2978364" cy="1014622"/>
          </a:xfrm>
          <a:prstGeom prst="wedgeRectCallout">
            <a:avLst>
              <a:gd name="adj1" fmla="val -189583"/>
              <a:gd name="adj2" fmla="val -75105"/>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Console.log to see if we are successful in getting back the data</a:t>
            </a:r>
          </a:p>
        </p:txBody>
      </p:sp>
    </p:spTree>
    <p:extLst>
      <p:ext uri="{BB962C8B-B14F-4D97-AF65-F5344CB8AC3E}">
        <p14:creationId xmlns:p14="http://schemas.microsoft.com/office/powerpoint/2010/main" val="2202068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D8DA2-57A3-4941-9BEF-FD559A895062}"/>
              </a:ext>
            </a:extLst>
          </p:cNvPr>
          <p:cNvSpPr>
            <a:spLocks noGrp="1"/>
          </p:cNvSpPr>
          <p:nvPr>
            <p:ph type="title"/>
          </p:nvPr>
        </p:nvSpPr>
        <p:spPr/>
        <p:txBody>
          <a:bodyPr/>
          <a:lstStyle/>
          <a:p>
            <a:r>
              <a:rPr lang="en-GB" dirty="0"/>
              <a:t>Test the app.js and movies.js</a:t>
            </a:r>
          </a:p>
        </p:txBody>
      </p:sp>
      <p:sp>
        <p:nvSpPr>
          <p:cNvPr id="4" name="Slide Number Placeholder 3">
            <a:extLst>
              <a:ext uri="{FF2B5EF4-FFF2-40B4-BE49-F238E27FC236}">
                <a16:creationId xmlns:a16="http://schemas.microsoft.com/office/drawing/2014/main" id="{5D8AD838-0214-4BB3-810E-BA5F60460106}"/>
              </a:ext>
            </a:extLst>
          </p:cNvPr>
          <p:cNvSpPr>
            <a:spLocks noGrp="1"/>
          </p:cNvSpPr>
          <p:nvPr>
            <p:ph type="sldNum" sz="quarter" idx="12"/>
          </p:nvPr>
        </p:nvSpPr>
        <p:spPr/>
        <p:txBody>
          <a:bodyPr/>
          <a:lstStyle/>
          <a:p>
            <a:fld id="{8E9E4023-6F3A-457B-B0BB-8C1F114B424F}" type="slidenum">
              <a:rPr lang="en-SG" smtClean="0"/>
              <a:t>24</a:t>
            </a:fld>
            <a:endParaRPr lang="en-SG"/>
          </a:p>
        </p:txBody>
      </p:sp>
      <p:pic>
        <p:nvPicPr>
          <p:cNvPr id="5" name="Picture 4">
            <a:extLst>
              <a:ext uri="{FF2B5EF4-FFF2-40B4-BE49-F238E27FC236}">
                <a16:creationId xmlns:a16="http://schemas.microsoft.com/office/drawing/2014/main" id="{1990F36B-1A7F-431D-A890-6B411BB4A996}"/>
              </a:ext>
            </a:extLst>
          </p:cNvPr>
          <p:cNvPicPr>
            <a:picLocks noChangeAspect="1"/>
          </p:cNvPicPr>
          <p:nvPr/>
        </p:nvPicPr>
        <p:blipFill>
          <a:blip r:embed="rId2"/>
          <a:stretch>
            <a:fillRect/>
          </a:stretch>
        </p:blipFill>
        <p:spPr>
          <a:xfrm>
            <a:off x="1681162" y="1645919"/>
            <a:ext cx="7398439" cy="4421505"/>
          </a:xfrm>
          <a:prstGeom prst="rect">
            <a:avLst/>
          </a:prstGeom>
        </p:spPr>
      </p:pic>
      <p:sp>
        <p:nvSpPr>
          <p:cNvPr id="8" name="Rectangular Callout 21">
            <a:extLst>
              <a:ext uri="{FF2B5EF4-FFF2-40B4-BE49-F238E27FC236}">
                <a16:creationId xmlns:a16="http://schemas.microsoft.com/office/drawing/2014/main" id="{DF8A5EF2-C5CA-4F5C-BDDB-C9CAA4945514}"/>
              </a:ext>
            </a:extLst>
          </p:cNvPr>
          <p:cNvSpPr/>
          <p:nvPr/>
        </p:nvSpPr>
        <p:spPr>
          <a:xfrm>
            <a:off x="5138460" y="1184910"/>
            <a:ext cx="6427898" cy="592877"/>
          </a:xfrm>
          <a:prstGeom prst="wedgeRectCallout">
            <a:avLst>
              <a:gd name="adj1" fmla="val -33910"/>
              <a:gd name="adj2" fmla="val 101632"/>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Reload the </a:t>
            </a:r>
            <a:r>
              <a:rPr lang="en-GB" sz="1400" b="1" dirty="0">
                <a:highlight>
                  <a:srgbClr val="1CADE4"/>
                </a:highlight>
                <a:latin typeface="Courier"/>
                <a:ea typeface="Arial Unicode MS" charset="0"/>
                <a:cs typeface="Arial Unicode MS" charset="0"/>
              </a:rPr>
              <a:t>index.html</a:t>
            </a:r>
            <a:r>
              <a:rPr lang="en-GB" sz="1400" dirty="0">
                <a:latin typeface="Arial Unicode MS" charset="0"/>
                <a:ea typeface="Arial Unicode MS" charset="0"/>
                <a:cs typeface="Arial Unicode MS" charset="0"/>
              </a:rPr>
              <a:t> page in your browser address bar</a:t>
            </a:r>
          </a:p>
        </p:txBody>
      </p:sp>
      <p:sp>
        <p:nvSpPr>
          <p:cNvPr id="9" name="Rectangular Callout 21">
            <a:extLst>
              <a:ext uri="{FF2B5EF4-FFF2-40B4-BE49-F238E27FC236}">
                <a16:creationId xmlns:a16="http://schemas.microsoft.com/office/drawing/2014/main" id="{0A410BB0-17B0-46C8-9B19-F7C58205B435}"/>
              </a:ext>
            </a:extLst>
          </p:cNvPr>
          <p:cNvSpPr/>
          <p:nvPr/>
        </p:nvSpPr>
        <p:spPr>
          <a:xfrm>
            <a:off x="5371068" y="3474744"/>
            <a:ext cx="6427898" cy="592877"/>
          </a:xfrm>
          <a:prstGeom prst="wedgeRectCallout">
            <a:avLst>
              <a:gd name="adj1" fmla="val -36637"/>
              <a:gd name="adj2" fmla="val 235299"/>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Output the contents of the </a:t>
            </a:r>
            <a:r>
              <a:rPr lang="en-GB" sz="1400" dirty="0" err="1">
                <a:latin typeface="Arial Unicode MS" charset="0"/>
                <a:ea typeface="Arial Unicode MS" charset="0"/>
                <a:cs typeface="Arial Unicode MS" charset="0"/>
              </a:rPr>
              <a:t>movie_array</a:t>
            </a:r>
            <a:r>
              <a:rPr lang="en-GB" sz="1400" dirty="0">
                <a:latin typeface="Arial Unicode MS" charset="0"/>
                <a:ea typeface="Arial Unicode MS" charset="0"/>
                <a:cs typeface="Arial Unicode MS" charset="0"/>
              </a:rPr>
              <a:t> Array</a:t>
            </a:r>
          </a:p>
        </p:txBody>
      </p:sp>
    </p:spTree>
    <p:extLst>
      <p:ext uri="{BB962C8B-B14F-4D97-AF65-F5344CB8AC3E}">
        <p14:creationId xmlns:p14="http://schemas.microsoft.com/office/powerpoint/2010/main" val="2888989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08DE-4177-49A2-B6F1-114A0015079A}"/>
              </a:ext>
            </a:extLst>
          </p:cNvPr>
          <p:cNvSpPr>
            <a:spLocks noGrp="1"/>
          </p:cNvSpPr>
          <p:nvPr>
            <p:ph type="title"/>
          </p:nvPr>
        </p:nvSpPr>
        <p:spPr/>
        <p:txBody>
          <a:bodyPr/>
          <a:lstStyle/>
          <a:p>
            <a:r>
              <a:rPr lang="en-GB" dirty="0"/>
              <a:t>Showing the Movies Posters – movies.js</a:t>
            </a:r>
          </a:p>
        </p:txBody>
      </p:sp>
      <p:sp>
        <p:nvSpPr>
          <p:cNvPr id="4" name="Slide Number Placeholder 3">
            <a:extLst>
              <a:ext uri="{FF2B5EF4-FFF2-40B4-BE49-F238E27FC236}">
                <a16:creationId xmlns:a16="http://schemas.microsoft.com/office/drawing/2014/main" id="{E9A63B02-F44D-49FA-94AE-E51FB7731C92}"/>
              </a:ext>
            </a:extLst>
          </p:cNvPr>
          <p:cNvSpPr>
            <a:spLocks noGrp="1"/>
          </p:cNvSpPr>
          <p:nvPr>
            <p:ph type="sldNum" sz="quarter" idx="12"/>
          </p:nvPr>
        </p:nvSpPr>
        <p:spPr/>
        <p:txBody>
          <a:bodyPr/>
          <a:lstStyle/>
          <a:p>
            <a:fld id="{8E9E4023-6F3A-457B-B0BB-8C1F114B424F}" type="slidenum">
              <a:rPr lang="en-SG" smtClean="0"/>
              <a:t>25</a:t>
            </a:fld>
            <a:endParaRPr lang="en-SG"/>
          </a:p>
        </p:txBody>
      </p:sp>
      <p:sp>
        <p:nvSpPr>
          <p:cNvPr id="5" name="TextBox 4">
            <a:extLst>
              <a:ext uri="{FF2B5EF4-FFF2-40B4-BE49-F238E27FC236}">
                <a16:creationId xmlns:a16="http://schemas.microsoft.com/office/drawing/2014/main" id="{D67EA87C-6C39-460B-962E-E673CF7F4793}"/>
              </a:ext>
            </a:extLst>
          </p:cNvPr>
          <p:cNvSpPr txBox="1"/>
          <p:nvPr/>
        </p:nvSpPr>
        <p:spPr>
          <a:xfrm>
            <a:off x="450072" y="1377314"/>
            <a:ext cx="11291855" cy="3477875"/>
          </a:xfrm>
          <a:prstGeom prst="rect">
            <a:avLst/>
          </a:prstGeom>
          <a:noFill/>
          <a:ln w="12700">
            <a:solidFill>
              <a:schemeClr val="tx1"/>
            </a:solidFill>
          </a:ln>
        </p:spPr>
        <p:txBody>
          <a:bodyPr wrap="square" rtlCol="0">
            <a:spAutoFit/>
          </a:bodyPr>
          <a:lstStyle/>
          <a:p>
            <a:r>
              <a:rPr lang="en-US" sz="1000" b="0" dirty="0">
                <a:solidFill>
                  <a:srgbClr val="000000"/>
                </a:solidFill>
                <a:effectLst/>
                <a:latin typeface="Consolas" panose="020B0609020204030204" pitchFamily="49" charset="0"/>
              </a:rPr>
              <a:t>function displayMovies(category) {</a:t>
            </a:r>
          </a:p>
          <a:p>
            <a:r>
              <a:rPr lang="en-US" sz="1000" b="0" dirty="0">
                <a:solidFill>
                  <a:srgbClr val="000000"/>
                </a:solidFill>
                <a:effectLst/>
                <a:latin typeface="Consolas" panose="020B0609020204030204" pitchFamily="49" charset="0"/>
              </a:rPr>
              <a:t>    var table = document.getElementById("moviesTable");</a:t>
            </a:r>
          </a:p>
          <a:p>
            <a:r>
              <a:rPr lang="en-US" sz="1000" b="0" dirty="0">
                <a:solidFill>
                  <a:srgbClr val="000000"/>
                </a:solidFill>
                <a:effectLst/>
                <a:latin typeface="Consolas" panose="020B0609020204030204" pitchFamily="49" charset="0"/>
              </a:rPr>
              <a:t>    var movieCount = 0;</a:t>
            </a:r>
          </a:p>
          <a:p>
            <a:r>
              <a:rPr lang="en-US" sz="1000" b="0" dirty="0">
                <a:solidFill>
                  <a:srgbClr val="000000"/>
                </a:solidFill>
                <a:effectLst/>
                <a:latin typeface="Consolas" panose="020B0609020204030204" pitchFamily="49" charset="0"/>
              </a:rPr>
              <a:t>    var message = "";</a:t>
            </a:r>
          </a:p>
          <a:p>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table.innerHTML = "";</a:t>
            </a:r>
          </a:p>
          <a:p>
            <a:r>
              <a:rPr lang="en-US" sz="1000" b="0" dirty="0">
                <a:solidFill>
                  <a:srgbClr val="000000"/>
                </a:solidFill>
                <a:effectLst/>
                <a:latin typeface="Consolas" panose="020B0609020204030204" pitchFamily="49" charset="0"/>
              </a:rPr>
              <a:t>    totalMovies = movie_array.length;</a:t>
            </a:r>
          </a:p>
          <a:p>
            <a:r>
              <a:rPr lang="en-US" sz="1000" b="0" dirty="0">
                <a:solidFill>
                  <a:srgbClr val="000000"/>
                </a:solidFill>
                <a:effectLst/>
                <a:latin typeface="Consolas" panose="020B0609020204030204" pitchFamily="49" charset="0"/>
              </a:rPr>
              <a:t>    for (var count = 0; count &lt; totalMovies; count++) {</a:t>
            </a:r>
          </a:p>
          <a:p>
            <a:r>
              <a:rPr lang="en-US" sz="1000" b="0" dirty="0">
                <a:solidFill>
                  <a:srgbClr val="000000"/>
                </a:solidFill>
                <a:effectLst/>
                <a:latin typeface="Consolas" panose="020B0609020204030204" pitchFamily="49" charset="0"/>
              </a:rPr>
              <a:t>        if (movie_array[count].availability == category) {</a:t>
            </a:r>
          </a:p>
          <a:p>
            <a:r>
              <a:rPr lang="en-US" sz="1000" b="0" dirty="0">
                <a:solidFill>
                  <a:srgbClr val="000000"/>
                </a:solidFill>
                <a:effectLst/>
                <a:latin typeface="Consolas" panose="020B0609020204030204" pitchFamily="49" charset="0"/>
              </a:rPr>
              <a:t>            var thumbnail = movie_array[count].thumb;</a:t>
            </a:r>
          </a:p>
          <a:p>
            <a:r>
              <a:rPr lang="en-US" sz="1000" b="0" dirty="0">
                <a:solidFill>
                  <a:srgbClr val="000000"/>
                </a:solidFill>
                <a:effectLst/>
                <a:latin typeface="Consolas" panose="020B0609020204030204" pitchFamily="49" charset="0"/>
              </a:rPr>
              <a:t>            var title = movie_array[count].title;</a:t>
            </a:r>
          </a:p>
          <a:p>
            <a:r>
              <a:rPr lang="en-US" sz="1000" b="0" dirty="0">
                <a:solidFill>
                  <a:srgbClr val="000000"/>
                </a:solidFill>
                <a:effectLst/>
                <a:latin typeface="Consolas" panose="020B0609020204030204" pitchFamily="49" charset="0"/>
              </a:rPr>
              <a:t>	var cell = '&lt;div class="card col-md-3" &gt;&lt;</a:t>
            </a:r>
            <a:r>
              <a:rPr lang="en-US" sz="1000" b="0" dirty="0" err="1">
                <a:solidFill>
                  <a:srgbClr val="000000"/>
                </a:solidFill>
                <a:effectLst/>
                <a:latin typeface="Consolas" panose="020B0609020204030204" pitchFamily="49" charset="0"/>
              </a:rPr>
              <a:t>img</a:t>
            </a:r>
            <a:r>
              <a:rPr lang="en-US" sz="1000" b="0" dirty="0">
                <a:solidFill>
                  <a:srgbClr val="000000"/>
                </a:solidFill>
                <a:effectLst/>
                <a:latin typeface="Consolas" panose="020B0609020204030204" pitchFamily="49" charset="0"/>
              </a:rPr>
              <a:t> class="card-</a:t>
            </a:r>
            <a:r>
              <a:rPr lang="en-US" sz="1000" b="0" dirty="0" err="1">
                <a:solidFill>
                  <a:srgbClr val="000000"/>
                </a:solidFill>
                <a:effectLst/>
                <a:latin typeface="Consolas" panose="020B0609020204030204" pitchFamily="49" charset="0"/>
              </a:rPr>
              <a:t>img</a:t>
            </a:r>
            <a:r>
              <a:rPr lang="en-US" sz="1000" b="0" dirty="0">
                <a:solidFill>
                  <a:srgbClr val="000000"/>
                </a:solidFill>
                <a:effectLst/>
                <a:latin typeface="Consolas" panose="020B0609020204030204" pitchFamily="49" charset="0"/>
              </a:rPr>
              <a:t>-top" </a:t>
            </a:r>
            <a:r>
              <a:rPr lang="en-US" sz="1000" b="0" dirty="0" err="1">
                <a:solidFill>
                  <a:srgbClr val="000000"/>
                </a:solidFill>
                <a:effectLst/>
                <a:latin typeface="Consolas" panose="020B0609020204030204" pitchFamily="49" charset="0"/>
              </a:rPr>
              <a:t>src</a:t>
            </a:r>
            <a:r>
              <a:rPr lang="en-US" sz="1000" b="0" dirty="0">
                <a:solidFill>
                  <a:srgbClr val="000000"/>
                </a:solidFill>
                <a:effectLst/>
                <a:latin typeface="Consolas" panose="020B0609020204030204" pitchFamily="49" charset="0"/>
              </a:rPr>
              <a:t>="' + thumbnail + '" alt="Card image cap"&gt;\</a:t>
            </a:r>
          </a:p>
          <a:p>
            <a:r>
              <a:rPr lang="en-US" sz="1000" b="0" dirty="0">
                <a:solidFill>
                  <a:srgbClr val="000000"/>
                </a:solidFill>
                <a:effectLst/>
                <a:latin typeface="Consolas" panose="020B0609020204030204" pitchFamily="49" charset="0"/>
              </a:rPr>
              <a:t>                        &lt;div class="card-body"&gt;&lt;</a:t>
            </a:r>
            <a:r>
              <a:rPr lang="en-US" sz="1000" b="0" dirty="0" err="1">
                <a:solidFill>
                  <a:srgbClr val="000000"/>
                </a:solidFill>
                <a:effectLst/>
                <a:latin typeface="Consolas" panose="020B0609020204030204" pitchFamily="49" charset="0"/>
              </a:rPr>
              <a:t>i</a:t>
            </a:r>
            <a:r>
              <a:rPr lang="en-US" sz="1000" b="0" dirty="0">
                <a:solidFill>
                  <a:srgbClr val="000000"/>
                </a:solidFill>
                <a:effectLst/>
                <a:latin typeface="Consolas" panose="020B0609020204030204" pitchFamily="49" charset="0"/>
              </a:rPr>
              <a:t> class="far fa-comment fa-lg" style="</a:t>
            </a:r>
            <a:r>
              <a:rPr lang="en-US" sz="1000" b="0" dirty="0" err="1">
                <a:solidFill>
                  <a:srgbClr val="000000"/>
                </a:solidFill>
                <a:effectLst/>
                <a:latin typeface="Consolas" panose="020B0609020204030204" pitchFamily="49" charset="0"/>
              </a:rPr>
              <a:t>float:left;cursor:pointer</a:t>
            </a:r>
            <a:r>
              <a:rPr lang="en-US" sz="1000" b="0" dirty="0">
                <a:solidFill>
                  <a:srgbClr val="000000"/>
                </a:solidFill>
                <a:effectLst/>
                <a:latin typeface="Consolas" panose="020B0609020204030204" pitchFamily="49" charset="0"/>
              </a:rPr>
              <a:t>" data-toggle="modal" data-target="#</a:t>
            </a:r>
            <a:r>
              <a:rPr lang="en-US" sz="1000" b="0" dirty="0" err="1">
                <a:solidFill>
                  <a:srgbClr val="000000"/>
                </a:solidFill>
                <a:effectLst/>
                <a:latin typeface="Consolas" panose="020B0609020204030204" pitchFamily="49" charset="0"/>
              </a:rPr>
              <a:t>commentModal</a:t>
            </a:r>
            <a:r>
              <a:rPr lang="en-US" sz="1000" b="0" dirty="0">
                <a:solidFill>
                  <a:srgbClr val="000000"/>
                </a:solidFill>
                <a:effectLst/>
                <a:latin typeface="Consolas" panose="020B0609020204030204" pitchFamily="49" charset="0"/>
              </a:rPr>
              <a:t>" item="' + count + '" </a:t>
            </a:r>
            <a:r>
              <a:rPr lang="en-US" sz="1000" b="0" dirty="0" err="1">
                <a:solidFill>
                  <a:srgbClr val="000000"/>
                </a:solidFill>
                <a:effectLst/>
                <a:latin typeface="Consolas" panose="020B0609020204030204" pitchFamily="49" charset="0"/>
              </a:rPr>
              <a:t>onClick</a:t>
            </a:r>
            <a:r>
              <a:rPr lang="en-US" sz="1000" b="0" dirty="0">
                <a:solidFill>
                  <a:srgbClr val="000000"/>
                </a:solidFill>
                <a:effectLst/>
                <a:latin typeface="Consolas" panose="020B0609020204030204" pitchFamily="49" charset="0"/>
              </a:rPr>
              <a:t>="</a:t>
            </a:r>
            <a:r>
              <a:rPr lang="en-US" sz="1000" b="0" dirty="0" err="1">
                <a:solidFill>
                  <a:srgbClr val="000000"/>
                </a:solidFill>
                <a:effectLst/>
                <a:latin typeface="Consolas" panose="020B0609020204030204" pitchFamily="49" charset="0"/>
              </a:rPr>
              <a:t>showMovieComments</a:t>
            </a:r>
            <a:r>
              <a:rPr lang="en-US" sz="1000" b="0" dirty="0">
                <a:solidFill>
                  <a:srgbClr val="000000"/>
                </a:solidFill>
                <a:effectLst/>
                <a:latin typeface="Consolas" panose="020B0609020204030204" pitchFamily="49" charset="0"/>
              </a:rPr>
              <a:t>(this)"&gt;&lt;/</a:t>
            </a:r>
            <a:r>
              <a:rPr lang="en-US" sz="1000" b="0" dirty="0" err="1">
                <a:solidFill>
                  <a:srgbClr val="000000"/>
                </a:solidFill>
                <a:effectLst/>
                <a:latin typeface="Consolas" panose="020B0609020204030204" pitchFamily="49" charset="0"/>
              </a:rPr>
              <a:t>i</a:t>
            </a:r>
            <a:r>
              <a:rPr lang="en-US" sz="1000" b="0" dirty="0">
                <a:solidFill>
                  <a:srgbClr val="000000"/>
                </a:solidFill>
                <a:effectLst/>
                <a:latin typeface="Consolas" panose="020B0609020204030204" pitchFamily="49" charset="0"/>
              </a:rPr>
              <a:t>&gt;\</a:t>
            </a:r>
          </a:p>
          <a:p>
            <a:r>
              <a:rPr lang="en-US" sz="1000" b="0" dirty="0">
                <a:solidFill>
                  <a:srgbClr val="000000"/>
                </a:solidFill>
                <a:effectLst/>
                <a:latin typeface="Consolas" panose="020B0609020204030204" pitchFamily="49" charset="0"/>
              </a:rPr>
              <a:t>                        &lt;h5 style="padding-left:30px;cursor:pointer" data-toggle="modal" data-target="#</a:t>
            </a:r>
            <a:r>
              <a:rPr lang="en-US" sz="1000" b="0" dirty="0" err="1">
                <a:solidFill>
                  <a:srgbClr val="000000"/>
                </a:solidFill>
                <a:effectLst/>
                <a:latin typeface="Consolas" panose="020B0609020204030204" pitchFamily="49" charset="0"/>
              </a:rPr>
              <a:t>movieModal</a:t>
            </a:r>
            <a:r>
              <a:rPr lang="en-US" sz="1000" b="0" dirty="0">
                <a:solidFill>
                  <a:srgbClr val="000000"/>
                </a:solidFill>
                <a:effectLst/>
                <a:latin typeface="Consolas" panose="020B0609020204030204" pitchFamily="49" charset="0"/>
              </a:rPr>
              <a:t>" class="card-title" item="' + count + '" </a:t>
            </a:r>
            <a:r>
              <a:rPr lang="en-US" sz="1000" b="0" dirty="0" err="1">
                <a:solidFill>
                  <a:srgbClr val="000000"/>
                </a:solidFill>
                <a:effectLst/>
                <a:latin typeface="Consolas" panose="020B0609020204030204" pitchFamily="49" charset="0"/>
              </a:rPr>
              <a:t>onClick</a:t>
            </a:r>
            <a:r>
              <a:rPr lang="en-US" sz="1000" b="0" dirty="0">
                <a:solidFill>
                  <a:srgbClr val="000000"/>
                </a:solidFill>
                <a:effectLst/>
                <a:latin typeface="Consolas" panose="020B0609020204030204" pitchFamily="49" charset="0"/>
              </a:rPr>
              <a:t>="</a:t>
            </a:r>
            <a:r>
              <a:rPr lang="en-US" sz="1000" b="0" dirty="0" err="1">
                <a:solidFill>
                  <a:srgbClr val="000000"/>
                </a:solidFill>
                <a:effectLst/>
                <a:latin typeface="Consolas" panose="020B0609020204030204" pitchFamily="49" charset="0"/>
              </a:rPr>
              <a:t>showMovieDetails</a:t>
            </a:r>
            <a:r>
              <a:rPr lang="en-US" sz="1000" b="0" dirty="0">
                <a:solidFill>
                  <a:srgbClr val="000000"/>
                </a:solidFill>
                <a:effectLst/>
                <a:latin typeface="Consolas" panose="020B0609020204030204" pitchFamily="49" charset="0"/>
              </a:rPr>
              <a:t>(this)"&gt;' + title + '&lt;/h5&gt;&lt;/div&gt;\</a:t>
            </a:r>
          </a:p>
          <a:p>
            <a:r>
              <a:rPr lang="en-US" sz="1000" b="0" dirty="0">
                <a:solidFill>
                  <a:srgbClr val="000000"/>
                </a:solidFill>
                <a:effectLst/>
                <a:latin typeface="Consolas" panose="020B0609020204030204" pitchFamily="49" charset="0"/>
              </a:rPr>
              <a:t>&lt;/div&gt;'</a:t>
            </a:r>
          </a:p>
          <a:p>
            <a:r>
              <a:rPr lang="en-US" sz="1000" b="0" dirty="0">
                <a:solidFill>
                  <a:srgbClr val="000000"/>
                </a:solidFill>
                <a:effectLst/>
                <a:latin typeface="Consolas" panose="020B0609020204030204" pitchFamily="49" charset="0"/>
              </a:rPr>
              <a:t>            </a:t>
            </a:r>
            <a:r>
              <a:rPr lang="en-US" sz="1000" b="0" dirty="0" err="1">
                <a:solidFill>
                  <a:srgbClr val="000000"/>
                </a:solidFill>
                <a:effectLst/>
                <a:latin typeface="Consolas" panose="020B0609020204030204" pitchFamily="49" charset="0"/>
              </a:rPr>
              <a:t>table.insertAdjacentHTML</a:t>
            </a:r>
            <a:r>
              <a:rPr lang="en-US" sz="1000" b="0" dirty="0">
                <a:solidFill>
                  <a:srgbClr val="000000"/>
                </a:solidFill>
                <a:effectLst/>
                <a:latin typeface="Consolas" panose="020B0609020204030204" pitchFamily="49" charset="0"/>
              </a:rPr>
              <a:t>('</a:t>
            </a:r>
            <a:r>
              <a:rPr lang="en-US" sz="1000" b="0" dirty="0" err="1">
                <a:solidFill>
                  <a:srgbClr val="000000"/>
                </a:solidFill>
                <a:effectLst/>
                <a:latin typeface="Consolas" panose="020B0609020204030204" pitchFamily="49" charset="0"/>
              </a:rPr>
              <a:t>beforeend</a:t>
            </a:r>
            <a:r>
              <a:rPr lang="en-US" sz="1000" b="0" dirty="0">
                <a:solidFill>
                  <a:srgbClr val="000000"/>
                </a:solidFill>
                <a:effectLst/>
                <a:latin typeface="Consolas" panose="020B0609020204030204" pitchFamily="49" charset="0"/>
              </a:rPr>
              <a:t>', cell);</a:t>
            </a:r>
          </a:p>
          <a:p>
            <a:r>
              <a:rPr lang="en-US" sz="1000" b="0" dirty="0">
                <a:solidFill>
                  <a:srgbClr val="000000"/>
                </a:solidFill>
                <a:effectLst/>
                <a:latin typeface="Consolas" panose="020B0609020204030204" pitchFamily="49" charset="0"/>
              </a:rPr>
              <a:t>            movieCount++;</a:t>
            </a:r>
          </a:p>
          <a:p>
            <a:r>
              <a:rPr lang="en-US" sz="1000" b="0" dirty="0">
                <a:solidFill>
                  <a:srgbClr val="000000"/>
                </a:solidFill>
                <a:effectLst/>
                <a:latin typeface="Consolas" panose="020B0609020204030204" pitchFamily="49" charset="0"/>
              </a:rPr>
              <a:t>        }</a:t>
            </a:r>
          </a:p>
          <a:p>
            <a:r>
              <a:rPr lang="en-US" sz="1000" b="0" dirty="0">
                <a:solidFill>
                  <a:srgbClr val="000000"/>
                </a:solidFill>
                <a:effectLst/>
                <a:latin typeface="Consolas" panose="020B0609020204030204" pitchFamily="49" charset="0"/>
              </a:rPr>
              <a:t>    }</a:t>
            </a:r>
          </a:p>
          <a:p>
            <a:r>
              <a:rPr lang="en-US" sz="1000" dirty="0">
                <a:solidFill>
                  <a:srgbClr val="000000"/>
                </a:solidFill>
                <a:latin typeface="Consolas" panose="020B0609020204030204" pitchFamily="49" charset="0"/>
              </a:rPr>
              <a:t>}</a:t>
            </a:r>
            <a:endParaRPr lang="en-US" sz="1000" b="0" dirty="0">
              <a:solidFill>
                <a:srgbClr val="000000"/>
              </a:solidFill>
              <a:effectLst/>
              <a:latin typeface="Consolas" panose="020B0609020204030204" pitchFamily="49" charset="0"/>
            </a:endParaRPr>
          </a:p>
        </p:txBody>
      </p:sp>
      <p:sp>
        <p:nvSpPr>
          <p:cNvPr id="9" name="Rectangular Callout 21">
            <a:extLst>
              <a:ext uri="{FF2B5EF4-FFF2-40B4-BE49-F238E27FC236}">
                <a16:creationId xmlns:a16="http://schemas.microsoft.com/office/drawing/2014/main" id="{5224A0CA-F7CF-486B-A03B-38502C380BB8}"/>
              </a:ext>
            </a:extLst>
          </p:cNvPr>
          <p:cNvSpPr/>
          <p:nvPr/>
        </p:nvSpPr>
        <p:spPr>
          <a:xfrm>
            <a:off x="8520258" y="773800"/>
            <a:ext cx="3046099" cy="1184539"/>
          </a:xfrm>
          <a:prstGeom prst="wedgeRectCallout">
            <a:avLst>
              <a:gd name="adj1" fmla="val -23484"/>
              <a:gd name="adj2" fmla="val 147686"/>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 - This is a special character to tell </a:t>
            </a:r>
            <a:r>
              <a:rPr lang="en-GB" sz="1400" dirty="0" err="1">
                <a:latin typeface="Arial Unicode MS" charset="0"/>
                <a:ea typeface="Arial Unicode MS" charset="0"/>
                <a:cs typeface="Arial Unicode MS" charset="0"/>
              </a:rPr>
              <a:t>javascript</a:t>
            </a:r>
            <a:r>
              <a:rPr lang="en-GB" sz="1400" dirty="0">
                <a:latin typeface="Arial Unicode MS" charset="0"/>
                <a:ea typeface="Arial Unicode MS" charset="0"/>
                <a:cs typeface="Arial Unicode MS" charset="0"/>
              </a:rPr>
              <a:t> to continue reading the next line as though there is no break. Without this, the formatting will be harder to read</a:t>
            </a:r>
          </a:p>
        </p:txBody>
      </p:sp>
      <p:sp>
        <p:nvSpPr>
          <p:cNvPr id="6" name="Rectangular Callout 21">
            <a:extLst>
              <a:ext uri="{FF2B5EF4-FFF2-40B4-BE49-F238E27FC236}">
                <a16:creationId xmlns:a16="http://schemas.microsoft.com/office/drawing/2014/main" id="{A9B91E4E-A235-448D-9CF8-5203F8C8D504}"/>
              </a:ext>
            </a:extLst>
          </p:cNvPr>
          <p:cNvSpPr/>
          <p:nvPr/>
        </p:nvSpPr>
        <p:spPr>
          <a:xfrm>
            <a:off x="6933505" y="4682412"/>
            <a:ext cx="4808422" cy="1810462"/>
          </a:xfrm>
          <a:prstGeom prst="wedgeRectCallout">
            <a:avLst>
              <a:gd name="adj1" fmla="val -149151"/>
              <a:gd name="adj2" fmla="val -60437"/>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This function essentially is to use the movies data and compose new HTML content and display them for the user</a:t>
            </a:r>
          </a:p>
        </p:txBody>
      </p:sp>
      <p:sp>
        <p:nvSpPr>
          <p:cNvPr id="8" name="TextBox 7">
            <a:extLst>
              <a:ext uri="{FF2B5EF4-FFF2-40B4-BE49-F238E27FC236}">
                <a16:creationId xmlns:a16="http://schemas.microsoft.com/office/drawing/2014/main" id="{86F2969C-C21F-4AAC-9602-FC59463BEF60}"/>
              </a:ext>
            </a:extLst>
          </p:cNvPr>
          <p:cNvSpPr txBox="1"/>
          <p:nvPr/>
        </p:nvSpPr>
        <p:spPr>
          <a:xfrm>
            <a:off x="547857" y="5203776"/>
            <a:ext cx="6096000" cy="402546"/>
          </a:xfrm>
          <a:prstGeom prst="rect">
            <a:avLst/>
          </a:prstGeom>
          <a:noFill/>
        </p:spPr>
        <p:txBody>
          <a:bodyPr wrap="square">
            <a:spAutoFit/>
          </a:bodyPr>
          <a:lstStyle/>
          <a:p>
            <a:pPr>
              <a:lnSpc>
                <a:spcPct val="120000"/>
              </a:lnSpc>
            </a:pPr>
            <a:r>
              <a:rPr lang="en-US" dirty="0"/>
              <a:t>Watch the Video explanation for the Iteration  </a:t>
            </a:r>
            <a:r>
              <a:rPr lang="en-US" dirty="0">
                <a:hlinkClick r:id="rId2"/>
              </a:rPr>
              <a:t>here</a:t>
            </a:r>
            <a:endParaRPr lang="en-US" dirty="0"/>
          </a:p>
        </p:txBody>
      </p:sp>
    </p:spTree>
    <p:extLst>
      <p:ext uri="{BB962C8B-B14F-4D97-AF65-F5344CB8AC3E}">
        <p14:creationId xmlns:p14="http://schemas.microsoft.com/office/powerpoint/2010/main" val="470080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E9A2308-0D86-4296-ABE2-E98453A2E23D}"/>
              </a:ext>
            </a:extLst>
          </p:cNvPr>
          <p:cNvPicPr>
            <a:picLocks noChangeAspect="1"/>
          </p:cNvPicPr>
          <p:nvPr/>
        </p:nvPicPr>
        <p:blipFill>
          <a:blip r:embed="rId2"/>
          <a:stretch>
            <a:fillRect/>
          </a:stretch>
        </p:blipFill>
        <p:spPr>
          <a:xfrm>
            <a:off x="1318260" y="1671107"/>
            <a:ext cx="9022080" cy="3136100"/>
          </a:xfrm>
          <a:prstGeom prst="rect">
            <a:avLst/>
          </a:prstGeom>
        </p:spPr>
      </p:pic>
      <p:sp>
        <p:nvSpPr>
          <p:cNvPr id="2" name="Title 1">
            <a:extLst>
              <a:ext uri="{FF2B5EF4-FFF2-40B4-BE49-F238E27FC236}">
                <a16:creationId xmlns:a16="http://schemas.microsoft.com/office/drawing/2014/main" id="{989D8DA2-57A3-4941-9BEF-FD559A895062}"/>
              </a:ext>
            </a:extLst>
          </p:cNvPr>
          <p:cNvSpPr>
            <a:spLocks noGrp="1"/>
          </p:cNvSpPr>
          <p:nvPr>
            <p:ph type="title"/>
          </p:nvPr>
        </p:nvSpPr>
        <p:spPr/>
        <p:txBody>
          <a:bodyPr/>
          <a:lstStyle/>
          <a:p>
            <a:r>
              <a:rPr lang="en-GB" dirty="0"/>
              <a:t>Test the movies.js</a:t>
            </a:r>
          </a:p>
        </p:txBody>
      </p:sp>
      <p:sp>
        <p:nvSpPr>
          <p:cNvPr id="4" name="Slide Number Placeholder 3">
            <a:extLst>
              <a:ext uri="{FF2B5EF4-FFF2-40B4-BE49-F238E27FC236}">
                <a16:creationId xmlns:a16="http://schemas.microsoft.com/office/drawing/2014/main" id="{5D8AD838-0214-4BB3-810E-BA5F60460106}"/>
              </a:ext>
            </a:extLst>
          </p:cNvPr>
          <p:cNvSpPr>
            <a:spLocks noGrp="1"/>
          </p:cNvSpPr>
          <p:nvPr>
            <p:ph type="sldNum" sz="quarter" idx="12"/>
          </p:nvPr>
        </p:nvSpPr>
        <p:spPr/>
        <p:txBody>
          <a:bodyPr/>
          <a:lstStyle/>
          <a:p>
            <a:fld id="{8E9E4023-6F3A-457B-B0BB-8C1F114B424F}" type="slidenum">
              <a:rPr lang="en-SG" smtClean="0"/>
              <a:t>26</a:t>
            </a:fld>
            <a:endParaRPr lang="en-SG"/>
          </a:p>
        </p:txBody>
      </p:sp>
    </p:spTree>
    <p:extLst>
      <p:ext uri="{BB962C8B-B14F-4D97-AF65-F5344CB8AC3E}">
        <p14:creationId xmlns:p14="http://schemas.microsoft.com/office/powerpoint/2010/main" val="3677972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08DE-4177-49A2-B6F1-114A0015079A}"/>
              </a:ext>
            </a:extLst>
          </p:cNvPr>
          <p:cNvSpPr>
            <a:spLocks noGrp="1"/>
          </p:cNvSpPr>
          <p:nvPr>
            <p:ph type="title"/>
          </p:nvPr>
        </p:nvSpPr>
        <p:spPr/>
        <p:txBody>
          <a:bodyPr/>
          <a:lstStyle/>
          <a:p>
            <a:r>
              <a:rPr lang="en-GB" dirty="0"/>
              <a:t>Showing the Movies Posters – movies.js</a:t>
            </a:r>
          </a:p>
        </p:txBody>
      </p:sp>
      <p:sp>
        <p:nvSpPr>
          <p:cNvPr id="4" name="Slide Number Placeholder 3">
            <a:extLst>
              <a:ext uri="{FF2B5EF4-FFF2-40B4-BE49-F238E27FC236}">
                <a16:creationId xmlns:a16="http://schemas.microsoft.com/office/drawing/2014/main" id="{E9A63B02-F44D-49FA-94AE-E51FB7731C92}"/>
              </a:ext>
            </a:extLst>
          </p:cNvPr>
          <p:cNvSpPr>
            <a:spLocks noGrp="1"/>
          </p:cNvSpPr>
          <p:nvPr>
            <p:ph type="sldNum" sz="quarter" idx="12"/>
          </p:nvPr>
        </p:nvSpPr>
        <p:spPr/>
        <p:txBody>
          <a:bodyPr/>
          <a:lstStyle/>
          <a:p>
            <a:fld id="{8E9E4023-6F3A-457B-B0BB-8C1F114B424F}" type="slidenum">
              <a:rPr lang="en-SG" smtClean="0"/>
              <a:t>27</a:t>
            </a:fld>
            <a:endParaRPr lang="en-SG"/>
          </a:p>
        </p:txBody>
      </p:sp>
      <p:sp>
        <p:nvSpPr>
          <p:cNvPr id="5" name="TextBox 4">
            <a:extLst>
              <a:ext uri="{FF2B5EF4-FFF2-40B4-BE49-F238E27FC236}">
                <a16:creationId xmlns:a16="http://schemas.microsoft.com/office/drawing/2014/main" id="{D67EA87C-6C39-460B-962E-E673CF7F4793}"/>
              </a:ext>
            </a:extLst>
          </p:cNvPr>
          <p:cNvSpPr txBox="1"/>
          <p:nvPr/>
        </p:nvSpPr>
        <p:spPr>
          <a:xfrm>
            <a:off x="625643" y="1593584"/>
            <a:ext cx="11291855" cy="553998"/>
          </a:xfrm>
          <a:prstGeom prst="rect">
            <a:avLst/>
          </a:prstGeom>
          <a:noFill/>
          <a:ln w="12700">
            <a:solidFill>
              <a:schemeClr val="tx1"/>
            </a:solidFill>
          </a:ln>
        </p:spPr>
        <p:txBody>
          <a:bodyPr wrap="square" rtlCol="0">
            <a:spAutoFit/>
          </a:bodyPr>
          <a:lstStyle/>
          <a:p>
            <a:r>
              <a:rPr lang="en-US" sz="1000" b="0" dirty="0">
                <a:solidFill>
                  <a:srgbClr val="000000"/>
                </a:solidFill>
                <a:effectLst/>
                <a:latin typeface="Consolas" panose="020B0609020204030204" pitchFamily="49" charset="0"/>
              </a:rPr>
              <a:t>    </a:t>
            </a:r>
            <a:r>
              <a:rPr lang="en-US" sz="1000" b="0" dirty="0">
                <a:solidFill>
                  <a:srgbClr val="001080"/>
                </a:solidFill>
                <a:effectLst/>
                <a:latin typeface="Consolas" panose="020B0609020204030204" pitchFamily="49" charset="0"/>
              </a:rPr>
              <a:t>message</a:t>
            </a:r>
            <a:r>
              <a:rPr lang="en-US" sz="1000" b="0" dirty="0">
                <a:solidFill>
                  <a:srgbClr val="000000"/>
                </a:solidFill>
                <a:effectLst/>
                <a:latin typeface="Consolas" panose="020B0609020204030204" pitchFamily="49" charset="0"/>
              </a:rPr>
              <a:t> = </a:t>
            </a:r>
            <a:r>
              <a:rPr lang="en-US" sz="1000" b="0" dirty="0">
                <a:solidFill>
                  <a:srgbClr val="001080"/>
                </a:solidFill>
                <a:effectLst/>
                <a:latin typeface="Consolas" panose="020B0609020204030204" pitchFamily="49" charset="0"/>
              </a:rPr>
              <a:t>movieCount</a:t>
            </a:r>
            <a:r>
              <a:rPr lang="en-US" sz="1000" b="0" dirty="0">
                <a:solidFill>
                  <a:srgbClr val="000000"/>
                </a:solidFill>
                <a:effectLst/>
                <a:latin typeface="Consolas" panose="020B0609020204030204" pitchFamily="49" charset="0"/>
              </a:rPr>
              <a:t> + </a:t>
            </a:r>
            <a:r>
              <a:rPr lang="en-US" sz="1000" b="0" dirty="0">
                <a:solidFill>
                  <a:srgbClr val="A31515"/>
                </a:solidFill>
                <a:effectLst/>
                <a:latin typeface="Consolas" panose="020B0609020204030204" pitchFamily="49" charset="0"/>
              </a:rPr>
              <a:t>" Movies "</a:t>
            </a:r>
            <a:r>
              <a:rPr lang="en-US" sz="1000" b="0" dirty="0">
                <a:solidFill>
                  <a:srgbClr val="000000"/>
                </a:solidFill>
                <a:effectLst/>
                <a:latin typeface="Consolas" panose="020B0609020204030204" pitchFamily="49" charset="0"/>
              </a:rPr>
              <a:t> + </a:t>
            </a:r>
            <a:r>
              <a:rPr lang="en-US" sz="1000" b="0" dirty="0">
                <a:solidFill>
                  <a:srgbClr val="001080"/>
                </a:solidFill>
                <a:effectLst/>
                <a:latin typeface="Consolas" panose="020B0609020204030204" pitchFamily="49" charset="0"/>
              </a:rPr>
              <a:t>category</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a:t>
            </a:r>
            <a:r>
              <a:rPr lang="en-US" sz="1000" b="0" dirty="0">
                <a:solidFill>
                  <a:srgbClr val="001080"/>
                </a:solidFill>
                <a:effectLst/>
                <a:latin typeface="Consolas" panose="020B0609020204030204" pitchFamily="49" charset="0"/>
              </a:rPr>
              <a:t>document</a:t>
            </a:r>
            <a:r>
              <a:rPr lang="en-US" sz="1000" b="0" dirty="0">
                <a:solidFill>
                  <a:srgbClr val="000000"/>
                </a:solidFill>
                <a:effectLst/>
                <a:latin typeface="Consolas" panose="020B0609020204030204" pitchFamily="49" charset="0"/>
              </a:rPr>
              <a:t>.</a:t>
            </a:r>
            <a:r>
              <a:rPr lang="en-US" sz="1000" b="0" dirty="0">
                <a:solidFill>
                  <a:srgbClr val="795E26"/>
                </a:solidFill>
                <a:effectLst/>
                <a:latin typeface="Consolas" panose="020B0609020204030204" pitchFamily="49" charset="0"/>
              </a:rPr>
              <a:t>getElementById</a:t>
            </a:r>
            <a:r>
              <a:rPr lang="en-US" sz="1000" b="0" dirty="0">
                <a:solidFill>
                  <a:srgbClr val="000000"/>
                </a:solidFill>
                <a:effectLst/>
                <a:latin typeface="Consolas" panose="020B0609020204030204" pitchFamily="49" charset="0"/>
              </a:rPr>
              <a:t>(</a:t>
            </a:r>
            <a:r>
              <a:rPr lang="en-US" sz="1000" b="0" dirty="0">
                <a:solidFill>
                  <a:srgbClr val="A31515"/>
                </a:solidFill>
                <a:effectLst/>
                <a:latin typeface="Consolas" panose="020B0609020204030204" pitchFamily="49" charset="0"/>
              </a:rPr>
              <a:t>"summary"</a:t>
            </a:r>
            <a:r>
              <a:rPr lang="en-US" sz="1000" b="0" dirty="0">
                <a:solidFill>
                  <a:srgbClr val="000000"/>
                </a:solidFill>
                <a:effectLst/>
                <a:latin typeface="Consolas" panose="020B0609020204030204" pitchFamily="49" charset="0"/>
              </a:rPr>
              <a:t>).</a:t>
            </a:r>
            <a:r>
              <a:rPr lang="en-US" sz="1000" b="0" dirty="0" err="1">
                <a:solidFill>
                  <a:srgbClr val="001080"/>
                </a:solidFill>
                <a:effectLst/>
                <a:latin typeface="Consolas" panose="020B0609020204030204" pitchFamily="49" charset="0"/>
              </a:rPr>
              <a:t>textContent</a:t>
            </a:r>
            <a:r>
              <a:rPr lang="en-US" sz="1000" b="0" dirty="0">
                <a:solidFill>
                  <a:srgbClr val="000000"/>
                </a:solidFill>
                <a:effectLst/>
                <a:latin typeface="Consolas" panose="020B0609020204030204" pitchFamily="49" charset="0"/>
              </a:rPr>
              <a:t> = </a:t>
            </a:r>
            <a:r>
              <a:rPr lang="en-US" sz="1000" b="0" dirty="0">
                <a:solidFill>
                  <a:srgbClr val="001080"/>
                </a:solidFill>
                <a:effectLst/>
                <a:latin typeface="Consolas" panose="020B0609020204030204" pitchFamily="49" charset="0"/>
              </a:rPr>
              <a:t>message</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a:t>
            </a:r>
            <a:r>
              <a:rPr lang="en-US" sz="1000" b="0" dirty="0">
                <a:solidFill>
                  <a:srgbClr val="001080"/>
                </a:solidFill>
                <a:effectLst/>
                <a:latin typeface="Consolas" panose="020B0609020204030204" pitchFamily="49" charset="0"/>
              </a:rPr>
              <a:t>document</a:t>
            </a:r>
            <a:r>
              <a:rPr lang="en-US" sz="1000" b="0" dirty="0">
                <a:solidFill>
                  <a:srgbClr val="000000"/>
                </a:solidFill>
                <a:effectLst/>
                <a:latin typeface="Consolas" panose="020B0609020204030204" pitchFamily="49" charset="0"/>
              </a:rPr>
              <a:t>.</a:t>
            </a:r>
            <a:r>
              <a:rPr lang="en-US" sz="1000" b="0" dirty="0">
                <a:solidFill>
                  <a:srgbClr val="795E26"/>
                </a:solidFill>
                <a:effectLst/>
                <a:latin typeface="Consolas" panose="020B0609020204030204" pitchFamily="49" charset="0"/>
              </a:rPr>
              <a:t>getElementById</a:t>
            </a:r>
            <a:r>
              <a:rPr lang="en-US" sz="1000" b="0" dirty="0">
                <a:solidFill>
                  <a:srgbClr val="000000"/>
                </a:solidFill>
                <a:effectLst/>
                <a:latin typeface="Consolas" panose="020B0609020204030204" pitchFamily="49" charset="0"/>
              </a:rPr>
              <a:t>(</a:t>
            </a:r>
            <a:r>
              <a:rPr lang="en-US" sz="1000" b="0" dirty="0">
                <a:solidFill>
                  <a:srgbClr val="A31515"/>
                </a:solidFill>
                <a:effectLst/>
                <a:latin typeface="Consolas" panose="020B0609020204030204" pitchFamily="49" charset="0"/>
              </a:rPr>
              <a:t>"parent"</a:t>
            </a:r>
            <a:r>
              <a:rPr lang="en-US" sz="1000" b="0" dirty="0">
                <a:solidFill>
                  <a:srgbClr val="000000"/>
                </a:solidFill>
                <a:effectLst/>
                <a:latin typeface="Consolas" panose="020B0609020204030204" pitchFamily="49" charset="0"/>
              </a:rPr>
              <a:t>).</a:t>
            </a:r>
            <a:r>
              <a:rPr lang="en-US" sz="1000" b="0" dirty="0" err="1">
                <a:solidFill>
                  <a:srgbClr val="001080"/>
                </a:solidFill>
                <a:effectLst/>
                <a:latin typeface="Consolas" panose="020B0609020204030204" pitchFamily="49" charset="0"/>
              </a:rPr>
              <a:t>textContent</a:t>
            </a:r>
            <a:r>
              <a:rPr lang="en-US" sz="1000" b="0" dirty="0">
                <a:solidFill>
                  <a:srgbClr val="000000"/>
                </a:solidFill>
                <a:effectLst/>
                <a:latin typeface="Consolas" panose="020B0609020204030204" pitchFamily="49" charset="0"/>
              </a:rPr>
              <a:t> = </a:t>
            </a:r>
            <a:r>
              <a:rPr lang="en-US" sz="1000" b="0" dirty="0">
                <a:solidFill>
                  <a:srgbClr val="A31515"/>
                </a:solidFill>
                <a:effectLst/>
                <a:latin typeface="Consolas" panose="020B0609020204030204" pitchFamily="49" charset="0"/>
              </a:rPr>
              <a:t>""</a:t>
            </a:r>
            <a:r>
              <a:rPr lang="en-US" sz="1000" b="0" dirty="0">
                <a:solidFill>
                  <a:srgbClr val="000000"/>
                </a:solidFill>
                <a:effectLst/>
                <a:latin typeface="Consolas" panose="020B0609020204030204" pitchFamily="49" charset="0"/>
              </a:rPr>
              <a:t>;</a:t>
            </a:r>
          </a:p>
        </p:txBody>
      </p:sp>
      <p:sp>
        <p:nvSpPr>
          <p:cNvPr id="9" name="Rectangular Callout 21">
            <a:extLst>
              <a:ext uri="{FF2B5EF4-FFF2-40B4-BE49-F238E27FC236}">
                <a16:creationId xmlns:a16="http://schemas.microsoft.com/office/drawing/2014/main" id="{5224A0CA-F7CF-486B-A03B-38502C380BB8}"/>
              </a:ext>
            </a:extLst>
          </p:cNvPr>
          <p:cNvSpPr/>
          <p:nvPr/>
        </p:nvSpPr>
        <p:spPr>
          <a:xfrm>
            <a:off x="6851478" y="3227440"/>
            <a:ext cx="4255793" cy="1254913"/>
          </a:xfrm>
          <a:prstGeom prst="wedgeRectCallout">
            <a:avLst>
              <a:gd name="adj1" fmla="val -97530"/>
              <a:gd name="adj2" fmla="val -156589"/>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Remove the initial message and to display the current category and the number of movies</a:t>
            </a:r>
          </a:p>
        </p:txBody>
      </p:sp>
    </p:spTree>
    <p:extLst>
      <p:ext uri="{BB962C8B-B14F-4D97-AF65-F5344CB8AC3E}">
        <p14:creationId xmlns:p14="http://schemas.microsoft.com/office/powerpoint/2010/main" val="3486904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D8DA2-57A3-4941-9BEF-FD559A895062}"/>
              </a:ext>
            </a:extLst>
          </p:cNvPr>
          <p:cNvSpPr>
            <a:spLocks noGrp="1"/>
          </p:cNvSpPr>
          <p:nvPr>
            <p:ph type="title"/>
          </p:nvPr>
        </p:nvSpPr>
        <p:spPr/>
        <p:txBody>
          <a:bodyPr/>
          <a:lstStyle/>
          <a:p>
            <a:r>
              <a:rPr lang="en-GB" dirty="0"/>
              <a:t>Test the movies.js</a:t>
            </a:r>
          </a:p>
        </p:txBody>
      </p:sp>
      <p:sp>
        <p:nvSpPr>
          <p:cNvPr id="4" name="Slide Number Placeholder 3">
            <a:extLst>
              <a:ext uri="{FF2B5EF4-FFF2-40B4-BE49-F238E27FC236}">
                <a16:creationId xmlns:a16="http://schemas.microsoft.com/office/drawing/2014/main" id="{5D8AD838-0214-4BB3-810E-BA5F60460106}"/>
              </a:ext>
            </a:extLst>
          </p:cNvPr>
          <p:cNvSpPr>
            <a:spLocks noGrp="1"/>
          </p:cNvSpPr>
          <p:nvPr>
            <p:ph type="sldNum" sz="quarter" idx="12"/>
          </p:nvPr>
        </p:nvSpPr>
        <p:spPr/>
        <p:txBody>
          <a:bodyPr/>
          <a:lstStyle/>
          <a:p>
            <a:fld id="{8E9E4023-6F3A-457B-B0BB-8C1F114B424F}" type="slidenum">
              <a:rPr lang="en-SG" smtClean="0"/>
              <a:t>28</a:t>
            </a:fld>
            <a:endParaRPr lang="en-SG"/>
          </a:p>
        </p:txBody>
      </p:sp>
      <p:pic>
        <p:nvPicPr>
          <p:cNvPr id="5" name="Picture 4">
            <a:extLst>
              <a:ext uri="{FF2B5EF4-FFF2-40B4-BE49-F238E27FC236}">
                <a16:creationId xmlns:a16="http://schemas.microsoft.com/office/drawing/2014/main" id="{D5954A9A-C5B4-4F28-B047-7F8FBC4A83A9}"/>
              </a:ext>
            </a:extLst>
          </p:cNvPr>
          <p:cNvPicPr>
            <a:picLocks noChangeAspect="1"/>
          </p:cNvPicPr>
          <p:nvPr/>
        </p:nvPicPr>
        <p:blipFill>
          <a:blip r:embed="rId2"/>
          <a:stretch>
            <a:fillRect/>
          </a:stretch>
        </p:blipFill>
        <p:spPr>
          <a:xfrm>
            <a:off x="1017638" y="1638463"/>
            <a:ext cx="8803341" cy="2689313"/>
          </a:xfrm>
          <a:prstGeom prst="rect">
            <a:avLst/>
          </a:prstGeom>
        </p:spPr>
      </p:pic>
    </p:spTree>
    <p:extLst>
      <p:ext uri="{BB962C8B-B14F-4D97-AF65-F5344CB8AC3E}">
        <p14:creationId xmlns:p14="http://schemas.microsoft.com/office/powerpoint/2010/main" val="2383368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08DE-4177-49A2-B6F1-114A0015079A}"/>
              </a:ext>
            </a:extLst>
          </p:cNvPr>
          <p:cNvSpPr>
            <a:spLocks noGrp="1"/>
          </p:cNvSpPr>
          <p:nvPr>
            <p:ph type="title"/>
          </p:nvPr>
        </p:nvSpPr>
        <p:spPr/>
        <p:txBody>
          <a:bodyPr/>
          <a:lstStyle/>
          <a:p>
            <a:r>
              <a:rPr lang="en-GB" dirty="0"/>
              <a:t>Showing the Movies Posters – movies.js</a:t>
            </a:r>
          </a:p>
        </p:txBody>
      </p:sp>
      <p:sp>
        <p:nvSpPr>
          <p:cNvPr id="3" name="Content Placeholder 2">
            <a:extLst>
              <a:ext uri="{FF2B5EF4-FFF2-40B4-BE49-F238E27FC236}">
                <a16:creationId xmlns:a16="http://schemas.microsoft.com/office/drawing/2014/main" id="{A7D35E75-5642-49D5-90AD-A067876C5429}"/>
              </a:ext>
            </a:extLst>
          </p:cNvPr>
          <p:cNvSpPr>
            <a:spLocks noGrp="1"/>
          </p:cNvSpPr>
          <p:nvPr>
            <p:ph sz="half" idx="1"/>
          </p:nvPr>
        </p:nvSpPr>
        <p:spPr>
          <a:xfrm>
            <a:off x="1104899" y="1600200"/>
            <a:ext cx="8030633" cy="4571999"/>
          </a:xfrm>
        </p:spPr>
        <p:txBody>
          <a:bodyPr>
            <a:noAutofit/>
          </a:bodyPr>
          <a:lstStyle/>
          <a:p>
            <a:pPr>
              <a:lnSpc>
                <a:spcPct val="100000"/>
              </a:lnSpc>
            </a:pPr>
            <a:r>
              <a:rPr lang="en-GB" sz="1600" dirty="0"/>
              <a:t>Next, add the codes for the two functions on the right into </a:t>
            </a:r>
            <a:r>
              <a:rPr lang="en-GB" sz="1600" b="1" dirty="0">
                <a:solidFill>
                  <a:srgbClr val="FF0000"/>
                </a:solidFill>
                <a:latin typeface="Courier"/>
              </a:rPr>
              <a:t>movies.js</a:t>
            </a:r>
            <a:r>
              <a:rPr lang="en-GB" sz="1600" dirty="0"/>
              <a:t>.</a:t>
            </a:r>
          </a:p>
          <a:p>
            <a:pPr>
              <a:lnSpc>
                <a:spcPct val="100000"/>
              </a:lnSpc>
            </a:pPr>
            <a:r>
              <a:rPr lang="en-GB" sz="1600" dirty="0"/>
              <a:t>Remember that the two functions: </a:t>
            </a:r>
            <a:r>
              <a:rPr lang="en-GB" sz="1600" b="1" dirty="0" err="1">
                <a:solidFill>
                  <a:srgbClr val="FF0000"/>
                </a:solidFill>
                <a:latin typeface="Courier"/>
              </a:rPr>
              <a:t>listNowShowingMovies</a:t>
            </a:r>
            <a:r>
              <a:rPr lang="en-GB" sz="1600" b="1" dirty="0">
                <a:solidFill>
                  <a:srgbClr val="FF0000"/>
                </a:solidFill>
                <a:latin typeface="Courier"/>
              </a:rPr>
              <a:t>()</a:t>
            </a:r>
            <a:r>
              <a:rPr lang="en-GB" sz="1600" dirty="0"/>
              <a:t> and </a:t>
            </a:r>
            <a:r>
              <a:rPr lang="en-GB" sz="1600" b="1" dirty="0" err="1">
                <a:solidFill>
                  <a:srgbClr val="FF0000"/>
                </a:solidFill>
                <a:latin typeface="Courier"/>
              </a:rPr>
              <a:t>listComingMovies</a:t>
            </a:r>
            <a:r>
              <a:rPr lang="en-GB" sz="1600" b="1" dirty="0">
                <a:solidFill>
                  <a:srgbClr val="FF0000"/>
                </a:solidFill>
                <a:latin typeface="Courier"/>
              </a:rPr>
              <a:t>()</a:t>
            </a:r>
            <a:r>
              <a:rPr lang="en-GB" sz="1600" dirty="0"/>
              <a:t> appeared in the </a:t>
            </a:r>
            <a:r>
              <a:rPr lang="en-GB" sz="1600" b="1" dirty="0">
                <a:solidFill>
                  <a:srgbClr val="FF0000"/>
                </a:solidFill>
                <a:latin typeface="Courier"/>
              </a:rPr>
              <a:t>top-navigation.html</a:t>
            </a:r>
            <a:r>
              <a:rPr lang="en-GB" sz="1600" dirty="0"/>
              <a:t> file for </a:t>
            </a:r>
            <a:r>
              <a:rPr lang="en-GB" sz="1600" b="1" dirty="0" err="1">
                <a:solidFill>
                  <a:srgbClr val="FF0000"/>
                </a:solidFill>
                <a:latin typeface="Courier"/>
              </a:rPr>
              <a:t>onClick</a:t>
            </a:r>
            <a:r>
              <a:rPr lang="en-GB" sz="1600" dirty="0"/>
              <a:t> events?</a:t>
            </a:r>
          </a:p>
        </p:txBody>
      </p:sp>
      <p:sp>
        <p:nvSpPr>
          <p:cNvPr id="4" name="Slide Number Placeholder 3">
            <a:extLst>
              <a:ext uri="{FF2B5EF4-FFF2-40B4-BE49-F238E27FC236}">
                <a16:creationId xmlns:a16="http://schemas.microsoft.com/office/drawing/2014/main" id="{E9A63B02-F44D-49FA-94AE-E51FB7731C92}"/>
              </a:ext>
            </a:extLst>
          </p:cNvPr>
          <p:cNvSpPr>
            <a:spLocks noGrp="1"/>
          </p:cNvSpPr>
          <p:nvPr>
            <p:ph type="sldNum" sz="quarter" idx="12"/>
          </p:nvPr>
        </p:nvSpPr>
        <p:spPr/>
        <p:txBody>
          <a:bodyPr/>
          <a:lstStyle/>
          <a:p>
            <a:fld id="{8E9E4023-6F3A-457B-B0BB-8C1F114B424F}" type="slidenum">
              <a:rPr lang="en-SG" smtClean="0"/>
              <a:t>29</a:t>
            </a:fld>
            <a:endParaRPr lang="en-SG"/>
          </a:p>
        </p:txBody>
      </p:sp>
      <p:sp>
        <p:nvSpPr>
          <p:cNvPr id="9" name="TextBox 8">
            <a:extLst>
              <a:ext uri="{FF2B5EF4-FFF2-40B4-BE49-F238E27FC236}">
                <a16:creationId xmlns:a16="http://schemas.microsoft.com/office/drawing/2014/main" id="{56CF1C1E-8EB3-491A-9771-82FFCBD2EA88}"/>
              </a:ext>
            </a:extLst>
          </p:cNvPr>
          <p:cNvSpPr txBox="1"/>
          <p:nvPr/>
        </p:nvSpPr>
        <p:spPr>
          <a:xfrm>
            <a:off x="1397000" y="3266056"/>
            <a:ext cx="7543800" cy="2970044"/>
          </a:xfrm>
          <a:prstGeom prst="rect">
            <a:avLst/>
          </a:prstGeom>
          <a:noFill/>
          <a:ln w="12700">
            <a:solidFill>
              <a:schemeClr val="tx1"/>
            </a:solidFill>
          </a:ln>
        </p:spPr>
        <p:txBody>
          <a:bodyPr wrap="square" rtlCol="0">
            <a:spAutoFit/>
          </a:bodyPr>
          <a:lstStyle/>
          <a:p>
            <a:r>
              <a:rPr lang="en-GB" sz="1100" dirty="0">
                <a:solidFill>
                  <a:schemeClr val="accent5"/>
                </a:solidFill>
                <a:latin typeface="Courier"/>
              </a:rPr>
              <a:t>//This function is to display the "Now Showing" movies</a:t>
            </a:r>
          </a:p>
          <a:p>
            <a:r>
              <a:rPr lang="en-GB" sz="1100" dirty="0">
                <a:solidFill>
                  <a:srgbClr val="034ABD"/>
                </a:solidFill>
                <a:latin typeface="Courier"/>
              </a:rPr>
              <a:t>function</a:t>
            </a:r>
            <a:r>
              <a:rPr lang="en-GB" sz="1100" dirty="0">
                <a:latin typeface="Courier"/>
              </a:rPr>
              <a:t> </a:t>
            </a:r>
            <a:r>
              <a:rPr lang="en-GB" sz="1100" dirty="0" err="1">
                <a:latin typeface="Courier"/>
              </a:rPr>
              <a:t>listNowShowingMovies</a:t>
            </a:r>
            <a:r>
              <a:rPr lang="en-GB" sz="1100" dirty="0">
                <a:latin typeface="Courier"/>
              </a:rPr>
              <a:t>() {</a:t>
            </a:r>
          </a:p>
          <a:p>
            <a:r>
              <a:rPr lang="en-GB" sz="1100" dirty="0">
                <a:latin typeface="Courier"/>
              </a:rPr>
              <a:t>    category = </a:t>
            </a:r>
            <a:r>
              <a:rPr lang="en-GB" sz="1100" dirty="0">
                <a:solidFill>
                  <a:srgbClr val="86553A"/>
                </a:solidFill>
                <a:latin typeface="Courier"/>
              </a:rPr>
              <a:t>"Now Showing"</a:t>
            </a:r>
            <a:r>
              <a:rPr lang="en-GB" sz="1100" dirty="0">
                <a:latin typeface="Courier"/>
              </a:rPr>
              <a:t>;</a:t>
            </a:r>
          </a:p>
          <a:p>
            <a:r>
              <a:rPr lang="en-GB" sz="1100" dirty="0">
                <a:latin typeface="Courier"/>
              </a:rPr>
              <a:t>    </a:t>
            </a:r>
            <a:r>
              <a:rPr lang="en-GB" sz="1100" dirty="0" err="1">
                <a:latin typeface="Courier"/>
              </a:rPr>
              <a:t>displayMovies</a:t>
            </a:r>
            <a:r>
              <a:rPr lang="en-GB" sz="1100" dirty="0">
                <a:latin typeface="Courier"/>
              </a:rPr>
              <a:t>(category);</a:t>
            </a:r>
          </a:p>
          <a:p>
            <a:r>
              <a:rPr lang="en-GB" sz="1100" dirty="0">
                <a:latin typeface="Courier"/>
              </a:rPr>
              <a:t>    </a:t>
            </a:r>
            <a:r>
              <a:rPr lang="en-GB" sz="1100" dirty="0" err="1">
                <a:latin typeface="Courier"/>
              </a:rPr>
              <a:t>document.getElementById</a:t>
            </a:r>
            <a:r>
              <a:rPr lang="en-GB" sz="1100" dirty="0">
                <a:latin typeface="Courier"/>
              </a:rPr>
              <a:t>(</a:t>
            </a:r>
            <a:r>
              <a:rPr lang="en-GB" sz="1100" dirty="0">
                <a:solidFill>
                  <a:srgbClr val="86553A"/>
                </a:solidFill>
                <a:latin typeface="Courier"/>
              </a:rPr>
              <a:t>"</a:t>
            </a:r>
            <a:r>
              <a:rPr lang="en-GB" sz="1100" dirty="0" err="1">
                <a:solidFill>
                  <a:srgbClr val="86553A"/>
                </a:solidFill>
                <a:latin typeface="Courier"/>
              </a:rPr>
              <a:t>nowMenu</a:t>
            </a:r>
            <a:r>
              <a:rPr lang="en-GB" sz="1100" dirty="0">
                <a:solidFill>
                  <a:srgbClr val="86553A"/>
                </a:solidFill>
                <a:latin typeface="Courier"/>
              </a:rPr>
              <a:t>"</a:t>
            </a:r>
            <a:r>
              <a:rPr lang="en-GB" sz="1100" dirty="0">
                <a:latin typeface="Courier"/>
              </a:rPr>
              <a:t>).</a:t>
            </a:r>
            <a:r>
              <a:rPr lang="en-GB" sz="1100" dirty="0" err="1">
                <a:latin typeface="Courier"/>
              </a:rPr>
              <a:t>classList.add</a:t>
            </a:r>
            <a:r>
              <a:rPr lang="en-GB" sz="1100" dirty="0">
                <a:latin typeface="Courier"/>
              </a:rPr>
              <a:t>(</a:t>
            </a:r>
            <a:r>
              <a:rPr lang="en-GB" sz="1100" dirty="0">
                <a:solidFill>
                  <a:srgbClr val="86553A"/>
                </a:solidFill>
                <a:latin typeface="Courier"/>
              </a:rPr>
              <a:t>"active"</a:t>
            </a:r>
            <a:r>
              <a:rPr lang="en-GB" sz="1100" dirty="0">
                <a:latin typeface="Courier"/>
              </a:rPr>
              <a:t>);</a:t>
            </a:r>
          </a:p>
          <a:p>
            <a:r>
              <a:rPr lang="en-GB" sz="1100" dirty="0">
                <a:latin typeface="Courier"/>
              </a:rPr>
              <a:t>    </a:t>
            </a:r>
            <a:r>
              <a:rPr lang="en-GB" sz="1100" dirty="0" err="1">
                <a:latin typeface="Courier"/>
              </a:rPr>
              <a:t>document.getElementById</a:t>
            </a:r>
            <a:r>
              <a:rPr lang="en-GB" sz="1100" dirty="0">
                <a:latin typeface="Courier"/>
              </a:rPr>
              <a:t>(</a:t>
            </a:r>
            <a:r>
              <a:rPr lang="en-GB" sz="1100" dirty="0">
                <a:solidFill>
                  <a:srgbClr val="86553A"/>
                </a:solidFill>
                <a:latin typeface="Courier"/>
              </a:rPr>
              <a:t>"</a:t>
            </a:r>
            <a:r>
              <a:rPr lang="en-GB" sz="1100" dirty="0" err="1">
                <a:solidFill>
                  <a:srgbClr val="86553A"/>
                </a:solidFill>
                <a:latin typeface="Courier"/>
              </a:rPr>
              <a:t>comingMenu</a:t>
            </a:r>
            <a:r>
              <a:rPr lang="en-GB" sz="1100" dirty="0">
                <a:solidFill>
                  <a:srgbClr val="86553A"/>
                </a:solidFill>
                <a:latin typeface="Courier"/>
              </a:rPr>
              <a:t>"</a:t>
            </a:r>
            <a:r>
              <a:rPr lang="en-GB" sz="1100" dirty="0">
                <a:latin typeface="Courier"/>
              </a:rPr>
              <a:t>).</a:t>
            </a:r>
            <a:r>
              <a:rPr lang="en-GB" sz="1100" dirty="0" err="1">
                <a:latin typeface="Courier"/>
              </a:rPr>
              <a:t>classList.remove</a:t>
            </a:r>
            <a:r>
              <a:rPr lang="en-GB" sz="1100" dirty="0">
                <a:latin typeface="Courier"/>
              </a:rPr>
              <a:t>(</a:t>
            </a:r>
            <a:r>
              <a:rPr lang="en-GB" sz="1100" dirty="0">
                <a:solidFill>
                  <a:srgbClr val="86553A"/>
                </a:solidFill>
                <a:latin typeface="Courier"/>
              </a:rPr>
              <a:t>"active"</a:t>
            </a:r>
            <a:r>
              <a:rPr lang="en-GB" sz="1100" dirty="0">
                <a:latin typeface="Courier"/>
              </a:rPr>
              <a:t>);</a:t>
            </a:r>
          </a:p>
          <a:p>
            <a:r>
              <a:rPr lang="en-GB" sz="1100" dirty="0">
                <a:latin typeface="Courier"/>
              </a:rPr>
              <a:t>    </a:t>
            </a:r>
            <a:r>
              <a:rPr lang="en-GB" sz="1100" dirty="0" err="1">
                <a:latin typeface="Courier"/>
              </a:rPr>
              <a:t>document.getElementById</a:t>
            </a:r>
            <a:r>
              <a:rPr lang="en-GB" sz="1100" dirty="0">
                <a:latin typeface="Courier"/>
              </a:rPr>
              <a:t>(</a:t>
            </a:r>
            <a:r>
              <a:rPr lang="en-GB" sz="1100" dirty="0">
                <a:solidFill>
                  <a:srgbClr val="86553A"/>
                </a:solidFill>
                <a:latin typeface="Courier"/>
              </a:rPr>
              <a:t>"</a:t>
            </a:r>
            <a:r>
              <a:rPr lang="en-GB" sz="1100" dirty="0" err="1">
                <a:solidFill>
                  <a:srgbClr val="86553A"/>
                </a:solidFill>
                <a:latin typeface="Courier"/>
              </a:rPr>
              <a:t>aboutMenu</a:t>
            </a:r>
            <a:r>
              <a:rPr lang="en-GB" sz="1100" dirty="0">
                <a:solidFill>
                  <a:srgbClr val="86553A"/>
                </a:solidFill>
                <a:latin typeface="Courier"/>
              </a:rPr>
              <a:t>"</a:t>
            </a:r>
            <a:r>
              <a:rPr lang="en-GB" sz="1100" dirty="0">
                <a:latin typeface="Courier"/>
              </a:rPr>
              <a:t>).</a:t>
            </a:r>
            <a:r>
              <a:rPr lang="en-GB" sz="1100" dirty="0" err="1">
                <a:latin typeface="Courier"/>
              </a:rPr>
              <a:t>classList.remove</a:t>
            </a:r>
            <a:r>
              <a:rPr lang="en-GB" sz="1100" dirty="0">
                <a:latin typeface="Courier"/>
              </a:rPr>
              <a:t>(</a:t>
            </a:r>
            <a:r>
              <a:rPr lang="en-GB" sz="1100" dirty="0">
                <a:solidFill>
                  <a:srgbClr val="86553A"/>
                </a:solidFill>
                <a:latin typeface="Courier"/>
              </a:rPr>
              <a:t>"active"</a:t>
            </a:r>
            <a:r>
              <a:rPr lang="en-GB" sz="1100" dirty="0">
                <a:latin typeface="Courier"/>
              </a:rPr>
              <a:t>);</a:t>
            </a:r>
          </a:p>
          <a:p>
            <a:r>
              <a:rPr lang="en-GB" sz="1100" dirty="0">
                <a:latin typeface="Courier"/>
              </a:rPr>
              <a:t>}</a:t>
            </a:r>
          </a:p>
          <a:p>
            <a:endParaRPr lang="en-GB" sz="1100" dirty="0">
              <a:solidFill>
                <a:schemeClr val="accent5"/>
              </a:solidFill>
              <a:latin typeface="Courier"/>
            </a:endParaRPr>
          </a:p>
          <a:p>
            <a:r>
              <a:rPr lang="en-GB" sz="1100" dirty="0">
                <a:solidFill>
                  <a:schemeClr val="accent5"/>
                </a:solidFill>
                <a:latin typeface="Courier"/>
              </a:rPr>
              <a:t>//This function is to display the "Coming Soon" movies</a:t>
            </a:r>
          </a:p>
          <a:p>
            <a:r>
              <a:rPr lang="en-GB" sz="1100" dirty="0">
                <a:solidFill>
                  <a:srgbClr val="034ABD"/>
                </a:solidFill>
                <a:latin typeface="Courier"/>
              </a:rPr>
              <a:t>function</a:t>
            </a:r>
            <a:r>
              <a:rPr lang="en-GB" sz="1100" dirty="0">
                <a:latin typeface="Courier"/>
              </a:rPr>
              <a:t> </a:t>
            </a:r>
            <a:r>
              <a:rPr lang="en-GB" sz="1100" dirty="0" err="1">
                <a:latin typeface="Courier"/>
              </a:rPr>
              <a:t>listComingMovies</a:t>
            </a:r>
            <a:r>
              <a:rPr lang="en-GB" sz="1100" dirty="0">
                <a:latin typeface="Courier"/>
              </a:rPr>
              <a:t>() {</a:t>
            </a:r>
          </a:p>
          <a:p>
            <a:r>
              <a:rPr lang="en-GB" sz="1100" dirty="0">
                <a:latin typeface="Courier"/>
              </a:rPr>
              <a:t>    category = "Coming Soon";</a:t>
            </a:r>
          </a:p>
          <a:p>
            <a:r>
              <a:rPr lang="en-GB" sz="1100" dirty="0">
                <a:latin typeface="Courier"/>
              </a:rPr>
              <a:t>    </a:t>
            </a:r>
            <a:r>
              <a:rPr lang="en-GB" sz="1100" dirty="0" err="1">
                <a:latin typeface="Courier"/>
              </a:rPr>
              <a:t>displayMovies</a:t>
            </a:r>
            <a:r>
              <a:rPr lang="en-GB" sz="1100" dirty="0">
                <a:latin typeface="Courier"/>
              </a:rPr>
              <a:t>(category);</a:t>
            </a:r>
          </a:p>
          <a:p>
            <a:r>
              <a:rPr lang="en-GB" sz="1100" dirty="0">
                <a:latin typeface="Courier"/>
              </a:rPr>
              <a:t>    </a:t>
            </a:r>
            <a:r>
              <a:rPr lang="en-GB" sz="1100" dirty="0" err="1">
                <a:latin typeface="Courier"/>
              </a:rPr>
              <a:t>document.getElementById</a:t>
            </a:r>
            <a:r>
              <a:rPr lang="en-GB" sz="1100" dirty="0">
                <a:latin typeface="Courier"/>
              </a:rPr>
              <a:t>(</a:t>
            </a:r>
            <a:r>
              <a:rPr lang="en-GB" sz="1100" dirty="0">
                <a:solidFill>
                  <a:srgbClr val="86553A"/>
                </a:solidFill>
                <a:latin typeface="Courier"/>
              </a:rPr>
              <a:t>"</a:t>
            </a:r>
            <a:r>
              <a:rPr lang="en-GB" sz="1100" dirty="0" err="1">
                <a:solidFill>
                  <a:srgbClr val="86553A"/>
                </a:solidFill>
                <a:latin typeface="Courier"/>
              </a:rPr>
              <a:t>nowMenu</a:t>
            </a:r>
            <a:r>
              <a:rPr lang="en-GB" sz="1100" dirty="0">
                <a:solidFill>
                  <a:srgbClr val="86553A"/>
                </a:solidFill>
                <a:latin typeface="Courier"/>
              </a:rPr>
              <a:t>"</a:t>
            </a:r>
            <a:r>
              <a:rPr lang="en-GB" sz="1100" dirty="0">
                <a:latin typeface="Courier"/>
              </a:rPr>
              <a:t>).</a:t>
            </a:r>
            <a:r>
              <a:rPr lang="en-GB" sz="1100" dirty="0" err="1">
                <a:latin typeface="Courier"/>
              </a:rPr>
              <a:t>classList.remove</a:t>
            </a:r>
            <a:r>
              <a:rPr lang="en-GB" sz="1100" dirty="0">
                <a:latin typeface="Courier"/>
              </a:rPr>
              <a:t>(</a:t>
            </a:r>
            <a:r>
              <a:rPr lang="en-GB" sz="1100" dirty="0">
                <a:solidFill>
                  <a:srgbClr val="86553A"/>
                </a:solidFill>
                <a:latin typeface="Courier"/>
              </a:rPr>
              <a:t>"active"</a:t>
            </a:r>
            <a:r>
              <a:rPr lang="en-GB" sz="1100" dirty="0">
                <a:latin typeface="Courier"/>
              </a:rPr>
              <a:t>);</a:t>
            </a:r>
          </a:p>
          <a:p>
            <a:r>
              <a:rPr lang="en-GB" sz="1100" dirty="0">
                <a:latin typeface="Courier"/>
              </a:rPr>
              <a:t>    </a:t>
            </a:r>
            <a:r>
              <a:rPr lang="en-GB" sz="1100" dirty="0" err="1">
                <a:latin typeface="Courier"/>
              </a:rPr>
              <a:t>document.getElementById</a:t>
            </a:r>
            <a:r>
              <a:rPr lang="en-GB" sz="1100" dirty="0">
                <a:latin typeface="Courier"/>
              </a:rPr>
              <a:t>(</a:t>
            </a:r>
            <a:r>
              <a:rPr lang="en-GB" sz="1100" dirty="0">
                <a:solidFill>
                  <a:srgbClr val="86553A"/>
                </a:solidFill>
                <a:latin typeface="Courier"/>
              </a:rPr>
              <a:t>"</a:t>
            </a:r>
            <a:r>
              <a:rPr lang="en-GB" sz="1100" dirty="0" err="1">
                <a:solidFill>
                  <a:srgbClr val="86553A"/>
                </a:solidFill>
                <a:latin typeface="Courier"/>
              </a:rPr>
              <a:t>comingMenu</a:t>
            </a:r>
            <a:r>
              <a:rPr lang="en-GB" sz="1100" dirty="0">
                <a:solidFill>
                  <a:srgbClr val="86553A"/>
                </a:solidFill>
                <a:latin typeface="Courier"/>
              </a:rPr>
              <a:t>"</a:t>
            </a:r>
            <a:r>
              <a:rPr lang="en-GB" sz="1100" dirty="0">
                <a:latin typeface="Courier"/>
              </a:rPr>
              <a:t>).</a:t>
            </a:r>
            <a:r>
              <a:rPr lang="en-GB" sz="1100" dirty="0" err="1">
                <a:latin typeface="Courier"/>
              </a:rPr>
              <a:t>classList.add</a:t>
            </a:r>
            <a:r>
              <a:rPr lang="en-GB" sz="1100" dirty="0">
                <a:latin typeface="Courier"/>
              </a:rPr>
              <a:t>(</a:t>
            </a:r>
            <a:r>
              <a:rPr lang="en-GB" sz="1100" dirty="0">
                <a:solidFill>
                  <a:srgbClr val="86553A"/>
                </a:solidFill>
                <a:latin typeface="Courier"/>
              </a:rPr>
              <a:t>"active"</a:t>
            </a:r>
            <a:r>
              <a:rPr lang="en-GB" sz="1100" dirty="0">
                <a:latin typeface="Courier"/>
              </a:rPr>
              <a:t>);</a:t>
            </a:r>
          </a:p>
          <a:p>
            <a:r>
              <a:rPr lang="en-GB" sz="1100" dirty="0">
                <a:latin typeface="Courier"/>
              </a:rPr>
              <a:t>    </a:t>
            </a:r>
            <a:r>
              <a:rPr lang="en-GB" sz="1100" dirty="0" err="1">
                <a:latin typeface="Courier"/>
              </a:rPr>
              <a:t>document.getElementById</a:t>
            </a:r>
            <a:r>
              <a:rPr lang="en-GB" sz="1100" dirty="0">
                <a:latin typeface="Courier"/>
              </a:rPr>
              <a:t>(</a:t>
            </a:r>
            <a:r>
              <a:rPr lang="en-GB" sz="1100" dirty="0">
                <a:solidFill>
                  <a:srgbClr val="86553A"/>
                </a:solidFill>
                <a:latin typeface="Courier"/>
              </a:rPr>
              <a:t>"</a:t>
            </a:r>
            <a:r>
              <a:rPr lang="en-GB" sz="1100" dirty="0" err="1">
                <a:solidFill>
                  <a:srgbClr val="86553A"/>
                </a:solidFill>
                <a:latin typeface="Courier"/>
              </a:rPr>
              <a:t>aboutMenu</a:t>
            </a:r>
            <a:r>
              <a:rPr lang="en-GB" sz="1100" dirty="0">
                <a:solidFill>
                  <a:srgbClr val="86553A"/>
                </a:solidFill>
                <a:latin typeface="Courier"/>
              </a:rPr>
              <a:t>"</a:t>
            </a:r>
            <a:r>
              <a:rPr lang="en-GB" sz="1100" dirty="0">
                <a:latin typeface="Courier"/>
              </a:rPr>
              <a:t>).</a:t>
            </a:r>
            <a:r>
              <a:rPr lang="en-GB" sz="1100" dirty="0" err="1">
                <a:latin typeface="Courier"/>
              </a:rPr>
              <a:t>classList.remove</a:t>
            </a:r>
            <a:r>
              <a:rPr lang="en-GB" sz="1100" dirty="0">
                <a:latin typeface="Courier"/>
              </a:rPr>
              <a:t>(</a:t>
            </a:r>
            <a:r>
              <a:rPr lang="en-GB" sz="1100" dirty="0">
                <a:solidFill>
                  <a:srgbClr val="86553A"/>
                </a:solidFill>
                <a:latin typeface="Courier"/>
              </a:rPr>
              <a:t>"active"</a:t>
            </a:r>
            <a:r>
              <a:rPr lang="en-GB" sz="1100" dirty="0">
                <a:latin typeface="Courier"/>
              </a:rPr>
              <a:t>);</a:t>
            </a:r>
          </a:p>
          <a:p>
            <a:r>
              <a:rPr lang="en-GB" sz="1100" dirty="0">
                <a:latin typeface="Courier"/>
              </a:rPr>
              <a:t>}</a:t>
            </a:r>
          </a:p>
        </p:txBody>
      </p:sp>
    </p:spTree>
    <p:extLst>
      <p:ext uri="{BB962C8B-B14F-4D97-AF65-F5344CB8AC3E}">
        <p14:creationId xmlns:p14="http://schemas.microsoft.com/office/powerpoint/2010/main" val="123660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670221-4977-41D7-A05A-65AF03F1BCD8}"/>
              </a:ext>
            </a:extLst>
          </p:cNvPr>
          <p:cNvPicPr>
            <a:picLocks noChangeAspect="1"/>
          </p:cNvPicPr>
          <p:nvPr/>
        </p:nvPicPr>
        <p:blipFill>
          <a:blip r:embed="rId2"/>
          <a:stretch>
            <a:fillRect/>
          </a:stretch>
        </p:blipFill>
        <p:spPr>
          <a:xfrm>
            <a:off x="1017638" y="2155393"/>
            <a:ext cx="8717280" cy="3196504"/>
          </a:xfrm>
          <a:prstGeom prst="rect">
            <a:avLst/>
          </a:prstGeom>
        </p:spPr>
      </p:pic>
      <p:sp>
        <p:nvSpPr>
          <p:cNvPr id="2" name="Title 1">
            <a:extLst>
              <a:ext uri="{FF2B5EF4-FFF2-40B4-BE49-F238E27FC236}">
                <a16:creationId xmlns:a16="http://schemas.microsoft.com/office/drawing/2014/main" id="{989D8DA2-57A3-4941-9BEF-FD559A895062}"/>
              </a:ext>
            </a:extLst>
          </p:cNvPr>
          <p:cNvSpPr>
            <a:spLocks noGrp="1"/>
          </p:cNvSpPr>
          <p:nvPr>
            <p:ph type="title"/>
          </p:nvPr>
        </p:nvSpPr>
        <p:spPr/>
        <p:txBody>
          <a:bodyPr/>
          <a:lstStyle/>
          <a:p>
            <a:r>
              <a:rPr lang="en-GB" dirty="0"/>
              <a:t>Test the Movies Listing</a:t>
            </a:r>
          </a:p>
        </p:txBody>
      </p:sp>
      <p:sp>
        <p:nvSpPr>
          <p:cNvPr id="4" name="Slide Number Placeholder 3">
            <a:extLst>
              <a:ext uri="{FF2B5EF4-FFF2-40B4-BE49-F238E27FC236}">
                <a16:creationId xmlns:a16="http://schemas.microsoft.com/office/drawing/2014/main" id="{5D8AD838-0214-4BB3-810E-BA5F60460106}"/>
              </a:ext>
            </a:extLst>
          </p:cNvPr>
          <p:cNvSpPr>
            <a:spLocks noGrp="1"/>
          </p:cNvSpPr>
          <p:nvPr>
            <p:ph type="sldNum" sz="quarter" idx="12"/>
          </p:nvPr>
        </p:nvSpPr>
        <p:spPr/>
        <p:txBody>
          <a:bodyPr/>
          <a:lstStyle/>
          <a:p>
            <a:fld id="{8E9E4023-6F3A-457B-B0BB-8C1F114B424F}" type="slidenum">
              <a:rPr lang="en-SG" smtClean="0"/>
              <a:t>30</a:t>
            </a:fld>
            <a:endParaRPr lang="en-SG"/>
          </a:p>
        </p:txBody>
      </p:sp>
      <p:sp>
        <p:nvSpPr>
          <p:cNvPr id="12" name="Rectangular Callout 21">
            <a:extLst>
              <a:ext uri="{FF2B5EF4-FFF2-40B4-BE49-F238E27FC236}">
                <a16:creationId xmlns:a16="http://schemas.microsoft.com/office/drawing/2014/main" id="{996FBA6D-1AE5-41B7-BFEB-334A426B0CDE}"/>
              </a:ext>
            </a:extLst>
          </p:cNvPr>
          <p:cNvSpPr/>
          <p:nvPr/>
        </p:nvSpPr>
        <p:spPr>
          <a:xfrm>
            <a:off x="3428572" y="1143730"/>
            <a:ext cx="6735650" cy="724745"/>
          </a:xfrm>
          <a:prstGeom prst="wedgeRectCallout">
            <a:avLst>
              <a:gd name="adj1" fmla="val -24218"/>
              <a:gd name="adj2" fmla="val 108063"/>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Reload the </a:t>
            </a:r>
            <a:r>
              <a:rPr lang="en-GB" sz="1400" b="1" dirty="0">
                <a:highlight>
                  <a:srgbClr val="1CADE4"/>
                </a:highlight>
                <a:latin typeface="Courier"/>
                <a:ea typeface="Arial Unicode MS" charset="0"/>
                <a:cs typeface="Arial Unicode MS" charset="0"/>
              </a:rPr>
              <a:t>index.html</a:t>
            </a:r>
            <a:r>
              <a:rPr lang="en-GB" sz="1400" dirty="0">
                <a:latin typeface="Arial Unicode MS" charset="0"/>
                <a:ea typeface="Arial Unicode MS" charset="0"/>
                <a:cs typeface="Arial Unicode MS" charset="0"/>
              </a:rPr>
              <a:t> page in your browser address bar and the page should appear as shown. Click on “</a:t>
            </a:r>
            <a:r>
              <a:rPr lang="en-GB" sz="1400" b="1" dirty="0">
                <a:latin typeface="Arial Unicode MS" charset="0"/>
                <a:ea typeface="Arial Unicode MS" charset="0"/>
                <a:cs typeface="Arial Unicode MS" charset="0"/>
              </a:rPr>
              <a:t>Coming Soon</a:t>
            </a:r>
            <a:r>
              <a:rPr lang="en-GB" sz="1400" dirty="0">
                <a:latin typeface="Arial Unicode MS" charset="0"/>
                <a:ea typeface="Arial Unicode MS" charset="0"/>
                <a:cs typeface="Arial Unicode MS" charset="0"/>
              </a:rPr>
              <a:t>” to see the list of coming movies!</a:t>
            </a:r>
          </a:p>
        </p:txBody>
      </p:sp>
    </p:spTree>
    <p:extLst>
      <p:ext uri="{BB962C8B-B14F-4D97-AF65-F5344CB8AC3E}">
        <p14:creationId xmlns:p14="http://schemas.microsoft.com/office/powerpoint/2010/main" val="940006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75C5A-233F-4C52-8792-BFD597CB80C6}"/>
              </a:ext>
            </a:extLst>
          </p:cNvPr>
          <p:cNvSpPr>
            <a:spLocks noGrp="1"/>
          </p:cNvSpPr>
          <p:nvPr>
            <p:ph type="title"/>
          </p:nvPr>
        </p:nvSpPr>
        <p:spPr/>
        <p:txBody>
          <a:bodyPr/>
          <a:lstStyle/>
          <a:p>
            <a:r>
              <a:rPr lang="en-GB" dirty="0"/>
              <a:t>Next Episode…</a:t>
            </a:r>
          </a:p>
        </p:txBody>
      </p:sp>
      <p:sp>
        <p:nvSpPr>
          <p:cNvPr id="3" name="Content Placeholder 2">
            <a:extLst>
              <a:ext uri="{FF2B5EF4-FFF2-40B4-BE49-F238E27FC236}">
                <a16:creationId xmlns:a16="http://schemas.microsoft.com/office/drawing/2014/main" id="{FD1CAB83-5345-4851-A34A-8D9FBABB5791}"/>
              </a:ext>
            </a:extLst>
          </p:cNvPr>
          <p:cNvSpPr>
            <a:spLocks noGrp="1"/>
          </p:cNvSpPr>
          <p:nvPr>
            <p:ph idx="1"/>
          </p:nvPr>
        </p:nvSpPr>
        <p:spPr/>
        <p:txBody>
          <a:bodyPr/>
          <a:lstStyle/>
          <a:p>
            <a:pPr>
              <a:lnSpc>
                <a:spcPct val="100000"/>
              </a:lnSpc>
            </a:pPr>
            <a:r>
              <a:rPr lang="en-GB" dirty="0"/>
              <a:t>In the next episode, we will build the modal windows to display movie details and the comments.</a:t>
            </a:r>
          </a:p>
        </p:txBody>
      </p:sp>
      <p:sp>
        <p:nvSpPr>
          <p:cNvPr id="4" name="Slide Number Placeholder 3">
            <a:extLst>
              <a:ext uri="{FF2B5EF4-FFF2-40B4-BE49-F238E27FC236}">
                <a16:creationId xmlns:a16="http://schemas.microsoft.com/office/drawing/2014/main" id="{D48ACFA0-CAB0-4572-96C1-F05AC64261D8}"/>
              </a:ext>
            </a:extLst>
          </p:cNvPr>
          <p:cNvSpPr>
            <a:spLocks noGrp="1"/>
          </p:cNvSpPr>
          <p:nvPr>
            <p:ph type="sldNum" sz="quarter" idx="12"/>
          </p:nvPr>
        </p:nvSpPr>
        <p:spPr/>
        <p:txBody>
          <a:bodyPr/>
          <a:lstStyle/>
          <a:p>
            <a:fld id="{8E9E4023-6F3A-457B-B0BB-8C1F114B424F}" type="slidenum">
              <a:rPr lang="en-SG" smtClean="0"/>
              <a:t>31</a:t>
            </a:fld>
            <a:endParaRPr lang="en-SG"/>
          </a:p>
        </p:txBody>
      </p:sp>
    </p:spTree>
    <p:extLst>
      <p:ext uri="{BB962C8B-B14F-4D97-AF65-F5344CB8AC3E}">
        <p14:creationId xmlns:p14="http://schemas.microsoft.com/office/powerpoint/2010/main" val="3322016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dirty="0"/>
              <a:t>The End</a:t>
            </a:r>
          </a:p>
        </p:txBody>
      </p:sp>
      <p:sp>
        <p:nvSpPr>
          <p:cNvPr id="2" name="Slide Number Placeholder 1">
            <a:extLst>
              <a:ext uri="{FF2B5EF4-FFF2-40B4-BE49-F238E27FC236}">
                <a16:creationId xmlns:a16="http://schemas.microsoft.com/office/drawing/2014/main" id="{5560D1F0-3F78-4F63-8353-5B213B578FF0}"/>
              </a:ext>
            </a:extLst>
          </p:cNvPr>
          <p:cNvSpPr>
            <a:spLocks noGrp="1"/>
          </p:cNvSpPr>
          <p:nvPr>
            <p:ph type="sldNum" sz="quarter" idx="12"/>
          </p:nvPr>
        </p:nvSpPr>
        <p:spPr/>
        <p:txBody>
          <a:bodyPr/>
          <a:lstStyle/>
          <a:p>
            <a:fld id="{8E9E4023-6F3A-457B-B0BB-8C1F114B424F}" type="slidenum">
              <a:rPr lang="en-SG" smtClean="0"/>
              <a:pPr/>
              <a:t>32</a:t>
            </a:fld>
            <a:endParaRPr lang="en-SG"/>
          </a:p>
        </p:txBody>
      </p:sp>
    </p:spTree>
    <p:extLst>
      <p:ext uri="{BB962C8B-B14F-4D97-AF65-F5344CB8AC3E}">
        <p14:creationId xmlns:p14="http://schemas.microsoft.com/office/powerpoint/2010/main" val="1275475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0.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HTML Form and Controls II&amp;quot;&quot;/&gt;&lt;property id=&quot;20307&quot; value=&quot;256&quot;/&gt;&lt;/object&gt;&lt;object type=&quot;3&quot; unique_id=&quot;13467&quot;&gt;&lt;property id=&quot;20148&quot; value=&quot;5&quot;/&gt;&lt;property id=&quot;20300&quot; value=&quot;Slide 21 - &amp;quot;The End&amp;quot;&quot;/&gt;&lt;property id=&quot;20307&quot; value=&quot;288&quot;/&gt;&lt;/object&gt;&lt;object type=&quot;3&quot; unique_id=&quot;17361&quot;&gt;&lt;property id=&quot;20148&quot; value=&quot;5&quot;/&gt;&lt;property id=&quot;20300&quot; value=&quot;Slide 2 - &amp;quot;Objectives&amp;quot;&quot;/&gt;&lt;property id=&quot;20307&quot; value=&quot;289&quot;/&gt;&lt;/object&gt;&lt;object type=&quot;3&quot; unique_id=&quot;17362&quot;&gt;&lt;property id=&quot;20148&quot; value=&quot;5&quot;/&gt;&lt;property id=&quot;20300&quot; value=&quot;Slide 3 - &amp;quot;Tools Required&amp;quot;&quot;/&gt;&lt;property id=&quot;20307&quot; value=&quot;308&quot;/&gt;&lt;/object&gt;&lt;object type=&quot;3&quot; unique_id=&quot;17363&quot;&gt;&lt;property id=&quot;20148&quot; value=&quot;5&quot;/&gt;&lt;property id=&quot;20300&quot; value=&quot;Slide 4 - &amp;quot;GET AND POST&amp;quot;&quot;/&gt;&lt;property id=&quot;20307&quot; value=&quot;291&quot;/&gt;&lt;/object&gt;&lt;object type=&quot;3&quot; unique_id=&quot;17364&quot;&gt;&lt;property id=&quot;20148&quot; value=&quot;5&quot;/&gt;&lt;property id=&quot;20300&quot; value=&quot;Slide 5 - &amp;quot;HTTP Request Method: GET&amp;quot;&quot;/&gt;&lt;property id=&quot;20307&quot; value=&quot;292&quot;/&gt;&lt;/object&gt;&lt;object type=&quot;3&quot; unique_id=&quot;17365&quot;&gt;&lt;property id=&quot;20148&quot; value=&quot;5&quot;/&gt;&lt;property id=&quot;20300&quot; value=&quot;Slide 6 - &amp;quot;HTTP Request Method: POST&amp;quot;&quot;/&gt;&lt;property id=&quot;20307&quot; value=&quot;293&quot;/&gt;&lt;/object&gt;&lt;object type=&quot;3&quot; unique_id=&quot;17366&quot;&gt;&lt;property id=&quot;20148&quot; value=&quot;5&quot;/&gt;&lt;property id=&quot;20300&quot; value=&quot;Slide 7 - &amp;quot;GET vs POST&amp;quot;&quot;/&gt;&lt;property id=&quot;20307&quot; value=&quot;294&quot;/&gt;&lt;/object&gt;&lt;object type=&quot;3&quot; unique_id=&quot;17367&quot;&gt;&lt;property id=&quot;20148&quot; value=&quot;5&quot;/&gt;&lt;property id=&quot;20300&quot; value=&quot;Slide 8 - &amp;quot;When To Use?&amp;quot;&quot;/&gt;&lt;property id=&quot;20307&quot; value=&quot;295&quot;/&gt;&lt;/object&gt;&lt;object type=&quot;3&quot; unique_id=&quot;17368&quot;&gt;&lt;property id=&quot;20148&quot; value=&quot;5&quot;/&gt;&lt;property id=&quot;20300&quot; value=&quot;Slide 9 - &amp;quot;FORM ELEMENTS&amp;quot;&quot;/&gt;&lt;property id=&quot;20307&quot; value=&quot;296&quot;/&gt;&lt;/object&gt;&lt;object type=&quot;3&quot; unique_id=&quot;17369&quot;&gt;&lt;property id=&quot;20148&quot; value=&quot;5&quot;/&gt;&lt;property id=&quot;20300&quot; value=&quot;Slide 10 - &amp;quot;Label Element&amp;quot;&quot;/&gt;&lt;property id=&quot;20307&quot; value=&quot;297&quot;/&gt;&lt;/object&gt;&lt;object type=&quot;3&quot; unique_id=&quot;17370&quot;&gt;&lt;property id=&quot;20148&quot; value=&quot;5&quot;/&gt;&lt;property id=&quot;20300&quot; value=&quot;Slide 11 - &amp;quot;Input Element: Textbox&amp;quot;&quot;/&gt;&lt;property id=&quot;20307&quot; value=&quot;298&quot;/&gt;&lt;/object&gt;&lt;object type=&quot;3&quot; unique_id=&quot;17371&quot;&gt;&lt;property id=&quot;20148&quot; value=&quot;5&quot;/&gt;&lt;property id=&quot;20300&quot; value=&quot;Slide 12 - &amp;quot;Input Element: Checkbox&amp;quot;&quot;/&gt;&lt;property id=&quot;20307&quot; value=&quot;299&quot;/&gt;&lt;/object&gt;&lt;object type=&quot;3&quot; unique_id=&quot;17372&quot;&gt;&lt;property id=&quot;20148&quot; value=&quot;5&quot;/&gt;&lt;property id=&quot;20300&quot; value=&quot;Slide 13 - &amp;quot;Input Element: Radio Button&amp;quot;&quot;/&gt;&lt;property id=&quot;20307&quot; value=&quot;300&quot;/&gt;&lt;/object&gt;&lt;object type=&quot;3&quot; unique_id=&quot;17373&quot;&gt;&lt;property id=&quot;20148&quot; value=&quot;5&quot;/&gt;&lt;property id=&quot;20300&quot; value=&quot;Slide 14 - &amp;quot;Button Element&amp;quot;&quot;/&gt;&lt;property id=&quot;20307&quot; value=&quot;301&quot;/&gt;&lt;/object&gt;&lt;object type=&quot;3&quot; unique_id=&quot;17374&quot;&gt;&lt;property id=&quot;20148&quot; value=&quot;5&quot;/&gt;&lt;property id=&quot;20300&quot; value=&quot;Slide 15 - &amp;quot;Select Element&amp;quot;&quot;/&gt;&lt;property id=&quot;20307&quot; value=&quot;302&quot;/&gt;&lt;/object&gt;&lt;object type=&quot;3&quot; unique_id=&quot;17375&quot;&gt;&lt;property id=&quot;20148&quot; value=&quot;5&quot;/&gt;&lt;property id=&quot;20300&quot; value=&quot;Slide 16 - &amp;quot;Textarea Element&amp;quot;&quot;/&gt;&lt;property id=&quot;20307&quot; value=&quot;303&quot;/&gt;&lt;/object&gt;&lt;object type=&quot;3&quot; unique_id=&quot;17376&quot;&gt;&lt;property id=&quot;20148&quot; value=&quot;5&quot;/&gt;&lt;property id=&quot;20300&quot; value=&quot;Slide 17 - &amp;quot;Other Elements in HTML5&amp;quot;&quot;/&gt;&lt;property id=&quot;20307&quot; value=&quot;304&quot;/&gt;&lt;/object&gt;&lt;object type=&quot;3&quot; unique_id=&quot;17377&quot;&gt;&lt;property id=&quot;20148&quot; value=&quot;5&quot;/&gt;&lt;property id=&quot;20300&quot; value=&quot;Slide 18 - &amp;quot;Iframe Element&amp;quot;&quot;/&gt;&lt;property id=&quot;20307&quot; value=&quot;305&quot;/&gt;&lt;/object&gt;&lt;object type=&quot;3&quot; unique_id=&quot;17378&quot;&gt;&lt;property id=&quot;20148&quot; value=&quot;5&quot;/&gt;&lt;property id=&quot;20300&quot; value=&quot;Slide 19 - &amp;quot;Compatibilities and Support&amp;quot;&quot;/&gt;&lt;property id=&quot;20307&quot; value=&quot;306&quot;/&gt;&lt;/object&gt;&lt;object type=&quot;3&quot; unique_id=&quot;17379&quot;&gt;&lt;property id=&quot;20148&quot; value=&quot;5&quot;/&gt;&lt;property id=&quot;20300&quot; value=&quot;Slide 20 - &amp;quot;challenge&amp;quot;&quot;/&gt;&lt;property id=&quot;20307&quot; value=&quot;307&quot;/&gt;&lt;/object&gt;&lt;/object&gt;&lt;/object&gt;&lt;/database&gt;"/>
  <p:tag name="SECTOMILLISECCONVERTED" val="1"/>
</p:tagLst>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8930</TotalTime>
  <Words>3003</Words>
  <Application>Microsoft Office PowerPoint</Application>
  <PresentationFormat>Widescreen</PresentationFormat>
  <Paragraphs>312</Paragraphs>
  <Slides>32</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Arial Unicode MS</vt:lpstr>
      <vt:lpstr>Calibri</vt:lpstr>
      <vt:lpstr>Consolas</vt:lpstr>
      <vt:lpstr>Courier</vt:lpstr>
      <vt:lpstr>Roboto</vt:lpstr>
      <vt:lpstr>Roboto light</vt:lpstr>
      <vt:lpstr>Verdana</vt:lpstr>
      <vt:lpstr>Office Theme</vt:lpstr>
      <vt:lpstr>Building Movie Review Website I</vt:lpstr>
      <vt:lpstr>Objectives</vt:lpstr>
      <vt:lpstr>Tools Required</vt:lpstr>
      <vt:lpstr>3 Tier Architecture</vt:lpstr>
      <vt:lpstr>3 Tier Architecture</vt:lpstr>
      <vt:lpstr>3 Tier Architecture</vt:lpstr>
      <vt:lpstr>Creating the UI (User Interface)</vt:lpstr>
      <vt:lpstr>Creating the UI</vt:lpstr>
      <vt:lpstr>Wireframe</vt:lpstr>
      <vt:lpstr>Creating mystyle.css File</vt:lpstr>
      <vt:lpstr>Creating the Home Page (Index.html – The Head)</vt:lpstr>
      <vt:lpstr>Creating the Home Page (Index.html – the BODY)</vt:lpstr>
      <vt:lpstr>Creating the Home Page (Index.html – the BODY)</vt:lpstr>
      <vt:lpstr>Creating the Home Page (Index.html – the SCRIPT TAG)</vt:lpstr>
      <vt:lpstr>Test Your Homepage</vt:lpstr>
      <vt:lpstr>Adding footer.html</vt:lpstr>
      <vt:lpstr>Test the Footer</vt:lpstr>
      <vt:lpstr>Adding Top Navigation – top-navigation.html</vt:lpstr>
      <vt:lpstr>Test the Top Navigation</vt:lpstr>
      <vt:lpstr>Adding “About” Modal Window – message-modal.html</vt:lpstr>
      <vt:lpstr>Test the “About” Modal Window</vt:lpstr>
      <vt:lpstr>Showing List of Movies – app.js</vt:lpstr>
      <vt:lpstr>Showing List of Movies – movies.js</vt:lpstr>
      <vt:lpstr>Test the app.js and movies.js</vt:lpstr>
      <vt:lpstr>Showing the Movies Posters – movies.js</vt:lpstr>
      <vt:lpstr>Test the movies.js</vt:lpstr>
      <vt:lpstr>Showing the Movies Posters – movies.js</vt:lpstr>
      <vt:lpstr>Test the movies.js</vt:lpstr>
      <vt:lpstr>Showing the Movies Posters – movies.js</vt:lpstr>
      <vt:lpstr>Test the Movies Listing</vt:lpstr>
      <vt:lpstr>Next Episode…</vt:lpstr>
      <vt:lpstr>The End</vt:lpstr>
    </vt:vector>
  </TitlesOfParts>
  <Manager/>
  <Company>Temasek Polytechnic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Movie Review Website I</dc:title>
  <dc:subject>Coding and Testing</dc:subject>
  <dc:creator>Tan Sio Poh</dc:creator>
  <cp:keywords>CODT, CIT1C16, ADEV, CIT1C17, Building Movie Review Web Pages</cp:keywords>
  <dc:description/>
  <cp:lastModifiedBy>temasek poly</cp:lastModifiedBy>
  <cp:revision>415</cp:revision>
  <dcterms:created xsi:type="dcterms:W3CDTF">2016-03-04T00:57:19Z</dcterms:created>
  <dcterms:modified xsi:type="dcterms:W3CDTF">2021-09-23T12:39:19Z</dcterms:modified>
  <cp:category>Software Cluster</cp:category>
</cp:coreProperties>
</file>