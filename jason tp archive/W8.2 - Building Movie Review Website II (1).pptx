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2"/>
  </p:notesMasterIdLst>
  <p:sldIdLst>
    <p:sldId id="256" r:id="rId2"/>
    <p:sldId id="289" r:id="rId3"/>
    <p:sldId id="373" r:id="rId4"/>
    <p:sldId id="402" r:id="rId5"/>
    <p:sldId id="426" r:id="rId6"/>
    <p:sldId id="376" r:id="rId7"/>
    <p:sldId id="377" r:id="rId8"/>
    <p:sldId id="429" r:id="rId9"/>
    <p:sldId id="428" r:id="rId10"/>
    <p:sldId id="406" r:id="rId11"/>
    <p:sldId id="431" r:id="rId12"/>
    <p:sldId id="424" r:id="rId13"/>
    <p:sldId id="432" r:id="rId14"/>
    <p:sldId id="440" r:id="rId15"/>
    <p:sldId id="441" r:id="rId16"/>
    <p:sldId id="444" r:id="rId17"/>
    <p:sldId id="443" r:id="rId18"/>
    <p:sldId id="445" r:id="rId19"/>
    <p:sldId id="423" r:id="rId20"/>
    <p:sldId id="288" r:id="rId21"/>
  </p:sldIdLst>
  <p:sldSz cx="12192000" cy="6858000"/>
  <p:notesSz cx="6858000" cy="9144000"/>
  <p:custDataLst>
    <p:tags r:id="rId2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lena Saleh" initials="SS" lastIdx="8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DDA"/>
    <a:srgbClr val="0070C0"/>
    <a:srgbClr val="1CADE4"/>
    <a:srgbClr val="FAD22C"/>
    <a:srgbClr val="61C5FF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200181-3ABF-40C9-AC34-9C500CB4495B}" v="10" dt="2018-09-28T07:09:19.8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47" autoAdjust="0"/>
    <p:restoredTop sz="93887" autoAdjust="0"/>
  </p:normalViewPr>
  <p:slideViewPr>
    <p:cSldViewPr snapToGrid="0">
      <p:cViewPr varScale="1">
        <p:scale>
          <a:sx n="107" d="100"/>
          <a:sy n="107" d="100"/>
        </p:scale>
        <p:origin x="942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m Su Yi" userId="43bb02ba-2a64-4c57-886a-7f9577835f3c" providerId="ADAL" clId="{25200181-3ABF-40C9-AC34-9C500CB4495B}"/>
    <pc:docChg chg="modMainMaster">
      <pc:chgData name="Lam Su Yi" userId="43bb02ba-2a64-4c57-886a-7f9577835f3c" providerId="ADAL" clId="{25200181-3ABF-40C9-AC34-9C500CB4495B}" dt="2018-09-28T07:09:19.879" v="9" actId="20577"/>
      <pc:docMkLst>
        <pc:docMk/>
      </pc:docMkLst>
      <pc:sldMasterChg chg="modSldLayout">
        <pc:chgData name="Lam Su Yi" userId="43bb02ba-2a64-4c57-886a-7f9577835f3c" providerId="ADAL" clId="{25200181-3ABF-40C9-AC34-9C500CB4495B}" dt="2018-09-28T07:09:19.879" v="9" actId="20577"/>
        <pc:sldMasterMkLst>
          <pc:docMk/>
          <pc:sldMasterMk cId="758345117" sldId="2147483672"/>
        </pc:sldMasterMkLst>
        <pc:sldLayoutChg chg="modSp">
          <pc:chgData name="Lam Su Yi" userId="43bb02ba-2a64-4c57-886a-7f9577835f3c" providerId="ADAL" clId="{25200181-3ABF-40C9-AC34-9C500CB4495B}" dt="2018-09-28T07:09:19.879" v="9" actId="20577"/>
          <pc:sldLayoutMkLst>
            <pc:docMk/>
            <pc:sldMasterMk cId="758345117" sldId="2147483672"/>
            <pc:sldLayoutMk cId="1526603819" sldId="2147483673"/>
          </pc:sldLayoutMkLst>
          <pc:spChg chg="mod">
            <ac:chgData name="Lam Su Yi" userId="43bb02ba-2a64-4c57-886a-7f9577835f3c" providerId="ADAL" clId="{25200181-3ABF-40C9-AC34-9C500CB4495B}" dt="2018-09-28T01:21:56.030" v="4" actId="20577"/>
            <ac:spMkLst>
              <pc:docMk/>
              <pc:sldMasterMk cId="758345117" sldId="2147483672"/>
              <pc:sldLayoutMk cId="1526603819" sldId="2147483673"/>
              <ac:spMk id="12" creationId="{00000000-0000-0000-0000-000000000000}"/>
            </ac:spMkLst>
          </pc:spChg>
          <pc:spChg chg="mod">
            <ac:chgData name="Lam Su Yi" userId="43bb02ba-2a64-4c57-886a-7f9577835f3c" providerId="ADAL" clId="{25200181-3ABF-40C9-AC34-9C500CB4495B}" dt="2018-09-28T07:09:19.879" v="9" actId="20577"/>
            <ac:spMkLst>
              <pc:docMk/>
              <pc:sldMasterMk cId="758345117" sldId="2147483672"/>
              <pc:sldLayoutMk cId="1526603819" sldId="2147483673"/>
              <ac:spMk id="16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97268A-7AE4-432A-9318-AFE0CD5AF515}" type="datetimeFigureOut">
              <a:rPr lang="en-SG" smtClean="0"/>
              <a:t>23/9/2021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5443D8-64E2-477C-8585-14786302454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517629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https://wireframe.cc/Xj6ybf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5443D8-64E2-477C-8585-147863024541}" type="slidenum">
              <a:rPr lang="en-SG" smtClean="0"/>
              <a:t>6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813823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https://wireframe.cc/RfBRRH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5443D8-64E2-477C-8585-147863024541}" type="slidenum">
              <a:rPr lang="en-SG" smtClean="0"/>
              <a:t>12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42420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"/>
            <a:ext cx="9269729" cy="6096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 userDrawn="1"/>
        </p:nvSpPr>
        <p:spPr>
          <a:xfrm>
            <a:off x="9349740" y="2"/>
            <a:ext cx="2845841" cy="6096000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9119" y="1445341"/>
            <a:ext cx="6770539" cy="2195327"/>
          </a:xfrm>
        </p:spPr>
        <p:txBody>
          <a:bodyPr anchor="b">
            <a:normAutofit/>
          </a:bodyPr>
          <a:lstStyle>
            <a:lvl1pPr algn="l">
              <a:defRPr sz="40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9119" y="3732744"/>
            <a:ext cx="6735463" cy="1655762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1857" y="6356350"/>
            <a:ext cx="1692869" cy="365125"/>
          </a:xfrm>
        </p:spPr>
        <p:txBody>
          <a:bodyPr/>
          <a:lstStyle>
            <a:lvl1pPr algn="ctr">
              <a:defRPr/>
            </a:lvl1pPr>
          </a:lstStyle>
          <a:p>
            <a:fld id="{8E9E4023-6F3A-457B-B0BB-8C1F114B424F}" type="slidenum">
              <a:rPr lang="en-SG" smtClean="0"/>
              <a:pPr/>
              <a:t>‹#›</a:t>
            </a:fld>
            <a:endParaRPr lang="en-SG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912" y="593958"/>
            <a:ext cx="4324551" cy="533504"/>
          </a:xfrm>
          <a:prstGeom prst="rect">
            <a:avLst/>
          </a:prstGeom>
          <a:effectLst>
            <a:outerShdw blurRad="50800" dist="25400" dir="2700000" algn="tl" rotWithShape="0">
              <a:prstClr val="black">
                <a:alpha val="33000"/>
              </a:prstClr>
            </a:outerShdw>
          </a:effectLst>
        </p:spPr>
      </p:pic>
      <p:sp>
        <p:nvSpPr>
          <p:cNvPr id="16" name="Rectangle 15"/>
          <p:cNvSpPr/>
          <p:nvPr userDrawn="1"/>
        </p:nvSpPr>
        <p:spPr>
          <a:xfrm>
            <a:off x="9352667" y="291179"/>
            <a:ext cx="2782059" cy="1569660"/>
          </a:xfrm>
          <a:prstGeom prst="rect">
            <a:avLst/>
          </a:prstGeom>
          <a:effectLst>
            <a:reflection blurRad="6350" stA="50000" endA="300" endPos="55500" dist="50800" dir="5400000" sy="-100000" algn="bl" rotWithShape="0"/>
          </a:effectLst>
        </p:spPr>
        <p:txBody>
          <a:bodyPr wrap="square">
            <a:spAutoFit/>
          </a:bodyPr>
          <a:lstStyle/>
          <a:p>
            <a:pPr algn="ctr"/>
            <a:r>
              <a:rPr lang="en-SG" sz="4800" b="1" spc="80" dirty="0">
                <a:solidFill>
                  <a:schemeClr val="bg1"/>
                </a:solidFill>
                <a:effectLst>
                  <a:reflection blurRad="6350" stA="60000" endA="900" endPos="60000" dist="25400" dir="5400000" sy="-100000" algn="bl" rotWithShape="0"/>
                </a:effectLst>
                <a:latin typeface="Roboto" pitchFamily="2" charset="0"/>
                <a:ea typeface="Roboto" pitchFamily="2" charset="0"/>
                <a:cs typeface="Calibri" panose="020F0502020204030204" pitchFamily="34" charset="0"/>
              </a:rPr>
              <a:t>CDEV</a:t>
            </a:r>
          </a:p>
          <a:p>
            <a:pPr algn="ctr"/>
            <a:r>
              <a:rPr lang="en-SG" sz="4800" b="1" spc="80" dirty="0">
                <a:solidFill>
                  <a:schemeClr val="bg1"/>
                </a:solidFill>
                <a:effectLst>
                  <a:reflection blurRad="6350" stA="60000" endA="900" endPos="60000" dist="25400" dir="5400000" sy="-100000" algn="bl" rotWithShape="0"/>
                </a:effectLst>
                <a:latin typeface="Roboto" pitchFamily="2" charset="0"/>
                <a:ea typeface="Roboto" pitchFamily="2" charset="0"/>
                <a:cs typeface="Calibri" panose="020F0502020204030204" pitchFamily="34" charset="0"/>
              </a:rPr>
              <a:t>DBAV</a:t>
            </a:r>
            <a:endParaRPr lang="en-SG" sz="4800" spc="80" dirty="0">
              <a:solidFill>
                <a:schemeClr val="bg1"/>
              </a:solidFill>
              <a:effectLst>
                <a:reflection blurRad="6350" stA="60000" endA="900" endPos="60000" dist="25400" dir="5400000" sy="-100000" algn="bl" rotWithShape="0"/>
              </a:effectLst>
              <a:latin typeface="Roboto light" pitchFamily="2" charset="0"/>
              <a:ea typeface="Roboto light" pitchFamily="2" charset="0"/>
              <a:cs typeface="Calibri" panose="020F0502020204030204" pitchFamily="34" charset="0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483724" y="6166170"/>
            <a:ext cx="8866016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SG" sz="1400" b="1" spc="8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SOFTWARE</a:t>
            </a:r>
            <a:r>
              <a:rPr lang="en-SG" sz="1400" spc="8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CLUSTER</a:t>
            </a:r>
            <a:r>
              <a:rPr lang="en-SG" sz="1200" spc="8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SG" sz="1200" spc="8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SG" sz="1200" spc="8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 CDEV • Coding and Development Project ] [ DBAV • Database Application Development ]</a:t>
            </a:r>
            <a:endParaRPr lang="en-US" sz="1200" spc="8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7464598" y="2544224"/>
            <a:ext cx="4648963" cy="3765492"/>
            <a:chOff x="7464598" y="2544224"/>
            <a:chExt cx="4648963" cy="3765492"/>
          </a:xfrm>
          <a:effectLst>
            <a:outerShdw blurRad="38100" dist="25400" dir="2700000" algn="tl" rotWithShape="0">
              <a:prstClr val="black">
                <a:alpha val="28000"/>
              </a:prstClr>
            </a:outerShdw>
          </a:effectLst>
        </p:grpSpPr>
        <p:pic>
          <p:nvPicPr>
            <p:cNvPr id="15" name="Picture 14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81551" y="4482380"/>
              <a:ext cx="1032010" cy="850475"/>
            </a:xfrm>
            <a:prstGeom prst="rect">
              <a:avLst/>
            </a:prstGeom>
          </p:spPr>
        </p:pic>
        <p:pic>
          <p:nvPicPr>
            <p:cNvPr id="17" name="Picture 16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64598" y="2544224"/>
              <a:ext cx="3896323" cy="3765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26603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4023-6F3A-457B-B0BB-8C1F114B424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85431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Content"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774" y="3917739"/>
            <a:ext cx="10336161" cy="819784"/>
          </a:xfrm>
        </p:spPr>
        <p:txBody>
          <a:bodyPr>
            <a:normAutofit/>
          </a:bodyPr>
          <a:lstStyle>
            <a:lvl1pPr algn="ctr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E9E4023-6F3A-457B-B0BB-8C1F114B424F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5" name="Rectangle 4"/>
          <p:cNvSpPr/>
          <p:nvPr userDrawn="1"/>
        </p:nvSpPr>
        <p:spPr>
          <a:xfrm>
            <a:off x="0" y="5011843"/>
            <a:ext cx="9141619" cy="14973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73476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12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/>
          <a:lstStyle>
            <a:lvl1pPr>
              <a:defRPr>
                <a:latin typeface="Arial Unicode MS" charset="0"/>
                <a:ea typeface="Arial Unicode MS" charset="0"/>
                <a:cs typeface="Arial Unicode MS" charset="0"/>
              </a:defRPr>
            </a:lvl1pPr>
            <a:lvl2pPr>
              <a:defRPr>
                <a:latin typeface="Arial Unicode MS" charset="0"/>
                <a:ea typeface="Arial Unicode MS" charset="0"/>
                <a:cs typeface="Arial Unicode MS" charset="0"/>
              </a:defRPr>
            </a:lvl2pPr>
            <a:lvl3pPr>
              <a:defRPr>
                <a:latin typeface="Arial Unicode MS" charset="0"/>
                <a:ea typeface="Arial Unicode MS" charset="0"/>
                <a:cs typeface="Arial Unicode MS" charset="0"/>
              </a:defRPr>
            </a:lvl3pPr>
            <a:lvl4pPr>
              <a:defRPr>
                <a:latin typeface="Arial Unicode MS" charset="0"/>
                <a:ea typeface="Arial Unicode MS" charset="0"/>
                <a:cs typeface="Arial Unicode MS" charset="0"/>
              </a:defRPr>
            </a:lvl4pPr>
            <a:lvl5pPr>
              <a:defRPr>
                <a:latin typeface="Arial Unicode MS" charset="0"/>
                <a:ea typeface="Arial Unicode MS" charset="0"/>
                <a:cs typeface="Arial Unicode MS" charset="0"/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/>
          <a:lstStyle>
            <a:lvl1pPr>
              <a:defRPr>
                <a:latin typeface="Arial Unicode MS" charset="0"/>
                <a:ea typeface="Arial Unicode MS" charset="0"/>
                <a:cs typeface="Arial Unicode MS" charset="0"/>
              </a:defRPr>
            </a:lvl1pPr>
            <a:lvl2pPr>
              <a:defRPr>
                <a:latin typeface="Arial Unicode MS" charset="0"/>
                <a:ea typeface="Arial Unicode MS" charset="0"/>
                <a:cs typeface="Arial Unicode MS" charset="0"/>
              </a:defRPr>
            </a:lvl2pPr>
            <a:lvl3pPr>
              <a:defRPr>
                <a:latin typeface="Arial Unicode MS" charset="0"/>
                <a:ea typeface="Arial Unicode MS" charset="0"/>
                <a:cs typeface="Arial Unicode MS" charset="0"/>
              </a:defRPr>
            </a:lvl3pPr>
            <a:lvl4pPr>
              <a:defRPr>
                <a:latin typeface="Arial Unicode MS" charset="0"/>
                <a:ea typeface="Arial Unicode MS" charset="0"/>
                <a:cs typeface="Arial Unicode MS" charset="0"/>
              </a:defRPr>
            </a:lvl4pPr>
            <a:lvl5pPr>
              <a:defRPr>
                <a:latin typeface="Arial Unicode MS" charset="0"/>
                <a:ea typeface="Arial Unicode MS" charset="0"/>
                <a:cs typeface="Arial Unicode MS" charset="0"/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/>
          <a:lstStyle/>
          <a:p>
            <a:fld id="{B1F42F74-75E5-42CB-8590-502DC3F95CF0}" type="datetime1">
              <a:rPr lang="en-US" smtClean="0"/>
              <a:t>9/23/2021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/>
          <a:lstStyle>
            <a:lvl1pPr>
              <a:defRPr>
                <a:latin typeface="Verdana" charset="0"/>
                <a:ea typeface="Verdana" charset="0"/>
                <a:cs typeface="Verdana" charset="0"/>
              </a:defRPr>
            </a:lvl1pPr>
          </a:lstStyle>
          <a:p>
            <a:r>
              <a:rPr lang="en-US" dirty="0" err="1"/>
              <a:t>Temasek</a:t>
            </a:r>
            <a:r>
              <a:rPr lang="en-US" dirty="0"/>
              <a:t> Polytechnic  •  School of Informatics &amp; IT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33236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Group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Straight Connector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1" name="Group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anchor="ctr">
            <a:normAutofit/>
          </a:bodyPr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Arial Unicode MS" charset="0"/>
                <a:ea typeface="Arial Unicode MS" charset="0"/>
                <a:cs typeface="Arial Unicode MS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5DC50-FC28-472D-98A7-6638A1527CA2}" type="datetime1">
              <a:rPr lang="en-US" smtClean="0"/>
              <a:t>9/23/2021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Verdana" charset="0"/>
                <a:ea typeface="Verdana" charset="0"/>
                <a:cs typeface="Verdana" charset="0"/>
              </a:defRPr>
            </a:lvl1pPr>
          </a:lstStyle>
          <a:p>
            <a:r>
              <a:rPr lang="en-US" dirty="0" err="1"/>
              <a:t>Temasek</a:t>
            </a:r>
            <a:r>
              <a:rPr lang="en-US" dirty="0"/>
              <a:t> Polytechnic  •  School of Informatics &amp; 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675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184910"/>
            <a:ext cx="9141619" cy="14973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 userDrawn="1"/>
        </p:nvSpPr>
        <p:spPr>
          <a:xfrm>
            <a:off x="9270263" y="1184910"/>
            <a:ext cx="2921737" cy="13843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b="0" i="0" u="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7638" y="1631314"/>
            <a:ext cx="10336162" cy="45866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66358" y="6357456"/>
            <a:ext cx="465217" cy="307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9E4023-6F3A-457B-B0BB-8C1F114B424F}" type="slidenum">
              <a:rPr lang="en-SG" smtClean="0"/>
              <a:pPr/>
              <a:t>‹#›</a:t>
            </a:fld>
            <a:endParaRPr lang="en-SG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81" y="0"/>
            <a:ext cx="1269849" cy="104647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17638" y="365126"/>
            <a:ext cx="10336161" cy="819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978524" y="6388432"/>
            <a:ext cx="1058783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spc="8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TEMASEK POLYTECHNIC I </a:t>
            </a:r>
            <a:r>
              <a:rPr lang="en-US" sz="1200" b="1" spc="8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School of Informatics &amp; IT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-3077" y="130629"/>
            <a:ext cx="652384" cy="786947"/>
            <a:chOff x="-3077" y="130629"/>
            <a:chExt cx="652384" cy="786947"/>
          </a:xfrm>
        </p:grpSpPr>
        <p:sp>
          <p:nvSpPr>
            <p:cNvPr id="4" name="Rectangle 3"/>
            <p:cNvSpPr/>
            <p:nvPr userDrawn="1"/>
          </p:nvSpPr>
          <p:spPr>
            <a:xfrm>
              <a:off x="255037" y="130629"/>
              <a:ext cx="130628" cy="130628"/>
            </a:xfrm>
            <a:prstGeom prst="rect">
              <a:avLst/>
            </a:prstGeom>
            <a:solidFill>
              <a:srgbClr val="007DDA">
                <a:alpha val="8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127551" y="523239"/>
              <a:ext cx="130628" cy="130628"/>
            </a:xfrm>
            <a:prstGeom prst="rect">
              <a:avLst/>
            </a:prstGeom>
            <a:solidFill>
              <a:srgbClr val="007DDA">
                <a:alpha val="8117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-3077" y="261257"/>
              <a:ext cx="130628" cy="130628"/>
            </a:xfrm>
            <a:prstGeom prst="rect">
              <a:avLst/>
            </a:prstGeom>
            <a:solidFill>
              <a:srgbClr val="007D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518679" y="261257"/>
              <a:ext cx="130628" cy="130628"/>
            </a:xfrm>
            <a:prstGeom prst="rect">
              <a:avLst/>
            </a:prstGeom>
            <a:solidFill>
              <a:srgbClr val="007DDA">
                <a:alpha val="9098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388195" y="393884"/>
              <a:ext cx="130628" cy="130628"/>
            </a:xfrm>
            <a:prstGeom prst="rect">
              <a:avLst/>
            </a:prstGeom>
            <a:solidFill>
              <a:srgbClr val="007DDA">
                <a:alpha val="9098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387783" y="786948"/>
              <a:ext cx="130628" cy="130628"/>
            </a:xfrm>
            <a:prstGeom prst="rect">
              <a:avLst/>
            </a:prstGeom>
            <a:solidFill>
              <a:srgbClr val="007DDA">
                <a:alpha val="9098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</p:spTree>
    <p:extLst>
      <p:ext uri="{BB962C8B-B14F-4D97-AF65-F5344CB8AC3E}">
        <p14:creationId xmlns:p14="http://schemas.microsoft.com/office/powerpoint/2010/main" val="758345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84" r:id="rId3"/>
    <p:sldLayoutId id="2147483675" r:id="rId4"/>
    <p:sldLayoutId id="2147483685" r:id="rId5"/>
    <p:sldLayoutId id="2147483686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i="0" u="none" kern="1200">
          <a:solidFill>
            <a:srgbClr val="0070C0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6OkGgFaTVfg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/>
          <p:cNvCxnSpPr/>
          <p:nvPr/>
        </p:nvCxnSpPr>
        <p:spPr>
          <a:xfrm>
            <a:off x="863672" y="3954162"/>
            <a:ext cx="6499654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783462" y="1410689"/>
            <a:ext cx="7928404" cy="2387600"/>
          </a:xfrm>
        </p:spPr>
        <p:txBody>
          <a:bodyPr/>
          <a:lstStyle/>
          <a:p>
            <a:r>
              <a:rPr lang="en-US" dirty="0">
                <a:ea typeface="Calisto MT" charset="0"/>
                <a:cs typeface="Calisto MT" charset="0"/>
              </a:rPr>
              <a:t>Building Movie Review Website II</a:t>
            </a:r>
            <a:endParaRPr lang="en-SG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815546" y="4106778"/>
            <a:ext cx="7928404" cy="1151021"/>
          </a:xfrm>
        </p:spPr>
        <p:txBody>
          <a:bodyPr/>
          <a:lstStyle/>
          <a:p>
            <a:r>
              <a:rPr lang="en-SG"/>
              <a:t>Week 08.</a:t>
            </a:r>
            <a:endParaRPr lang="en-SG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F056B3-4CEB-4FFD-BE48-F055B70D0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4023-6F3A-457B-B0BB-8C1F114B424F}" type="slidenum">
              <a:rPr lang="en-SG" smtClean="0"/>
              <a:pPr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20979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en-US" dirty="0">
                <a:ea typeface="ＭＳ Ｐゴシック" charset="0"/>
              </a:rPr>
              <a:t>Demonstrate how to build the basic architecture of a web application based on a Movie Review website;</a:t>
            </a:r>
          </a:p>
          <a:p>
            <a:pPr>
              <a:lnSpc>
                <a:spcPct val="100000"/>
              </a:lnSpc>
              <a:defRPr/>
            </a:pPr>
            <a:r>
              <a:rPr lang="en-US" dirty="0">
                <a:ea typeface="ＭＳ Ｐゴシック" charset="0"/>
              </a:rPr>
              <a:t>Demonstrate how to build the web pages of a Movie Review website.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524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Tools Required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dirty="0"/>
              <a:t>Visual Studio Code</a:t>
            </a:r>
          </a:p>
          <a:p>
            <a:pPr>
              <a:lnSpc>
                <a:spcPct val="100000"/>
              </a:lnSpc>
            </a:pPr>
            <a:r>
              <a:rPr lang="en-GB" dirty="0"/>
              <a:t>Node.js</a:t>
            </a:r>
          </a:p>
          <a:p>
            <a:pPr>
              <a:lnSpc>
                <a:spcPct val="100000"/>
              </a:lnSpc>
            </a:pPr>
            <a:r>
              <a:rPr lang="en-GB" dirty="0"/>
              <a:t>Browser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Google Chrome (recommended) 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Mozilla Firefox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21257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the View…Continue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83725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7B587-5537-4A24-9A2F-86E2E5E64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Movie Details Modal Window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46B33-CCED-427A-9E46-ACF8C78BEB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 will now build the Movie Details modal window where we will continue to use the Bootstrap </a:t>
            </a:r>
            <a:r>
              <a:rPr lang="en-GB" b="1" dirty="0">
                <a:solidFill>
                  <a:srgbClr val="FF0000"/>
                </a:solidFill>
                <a:latin typeface="Courier"/>
              </a:rPr>
              <a:t>modal</a:t>
            </a:r>
            <a:r>
              <a:rPr lang="en-GB" dirty="0"/>
              <a:t> class.</a:t>
            </a:r>
          </a:p>
          <a:p>
            <a:r>
              <a:rPr lang="en-GB" dirty="0"/>
              <a:t>Watch the demo </a:t>
            </a:r>
            <a:r>
              <a:rPr lang="en-GB" dirty="0">
                <a:hlinkClick r:id="rId2"/>
              </a:rPr>
              <a:t>here</a:t>
            </a:r>
            <a:endParaRPr lang="en-GB" dirty="0"/>
          </a:p>
          <a:p>
            <a:r>
              <a:rPr lang="en-GB" dirty="0"/>
              <a:t>Let’s look at the wireframe for this in the next slide.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D314B9-4530-4237-976C-22BFDB172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4023-6F3A-457B-B0BB-8C1F114B424F}" type="slidenum">
              <a:rPr lang="en-SG" smtClean="0"/>
              <a:t>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81905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Wireframe – Movie Details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6</a:t>
            </a:fld>
            <a:endParaRPr lang="uk-UA"/>
          </a:p>
        </p:txBody>
      </p:sp>
      <p:pic>
        <p:nvPicPr>
          <p:cNvPr id="20" name="Content Placeholder 19">
            <a:extLst>
              <a:ext uri="{FF2B5EF4-FFF2-40B4-BE49-F238E27FC236}">
                <a16:creationId xmlns:a16="http://schemas.microsoft.com/office/drawing/2014/main" id="{83B7677F-99C2-458F-8380-440F96AF1F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5497" y="1819064"/>
            <a:ext cx="6620441" cy="4096519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1" name="Rectangular Callout 21">
            <a:extLst>
              <a:ext uri="{FF2B5EF4-FFF2-40B4-BE49-F238E27FC236}">
                <a16:creationId xmlns:a16="http://schemas.microsoft.com/office/drawing/2014/main" id="{BC02C65A-932D-4F69-8A56-140808D97E9B}"/>
              </a:ext>
            </a:extLst>
          </p:cNvPr>
          <p:cNvSpPr/>
          <p:nvPr/>
        </p:nvSpPr>
        <p:spPr>
          <a:xfrm>
            <a:off x="2140157" y="2409130"/>
            <a:ext cx="1470680" cy="540132"/>
          </a:xfrm>
          <a:prstGeom prst="wedgeRectCallout">
            <a:avLst>
              <a:gd name="adj1" fmla="val 94848"/>
              <a:gd name="adj2" fmla="val 25431"/>
            </a:avLst>
          </a:prstGeom>
          <a:solidFill>
            <a:schemeClr val="accent5">
              <a:lumMod val="75000"/>
            </a:schemeClr>
          </a:solidFill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Arial Unicode MS" charset="0"/>
                <a:ea typeface="Arial Unicode MS" charset="0"/>
                <a:cs typeface="Arial Unicode MS" charset="0"/>
              </a:rPr>
              <a:t>Image of movie poster.</a:t>
            </a:r>
          </a:p>
        </p:txBody>
      </p:sp>
      <p:sp>
        <p:nvSpPr>
          <p:cNvPr id="22" name="Rectangular Callout 21">
            <a:extLst>
              <a:ext uri="{FF2B5EF4-FFF2-40B4-BE49-F238E27FC236}">
                <a16:creationId xmlns:a16="http://schemas.microsoft.com/office/drawing/2014/main" id="{CD94AC87-C768-4648-A1B1-D0B22ED007EB}"/>
              </a:ext>
            </a:extLst>
          </p:cNvPr>
          <p:cNvSpPr/>
          <p:nvPr/>
        </p:nvSpPr>
        <p:spPr>
          <a:xfrm>
            <a:off x="2275326" y="1742958"/>
            <a:ext cx="1110189" cy="349095"/>
          </a:xfrm>
          <a:prstGeom prst="wedgeRectCallout">
            <a:avLst>
              <a:gd name="adj1" fmla="val 113881"/>
              <a:gd name="adj2" fmla="val 75978"/>
            </a:avLst>
          </a:prstGeom>
          <a:solidFill>
            <a:schemeClr val="accent5">
              <a:lumMod val="75000"/>
            </a:schemeClr>
          </a:solidFill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Arial Unicode MS" charset="0"/>
                <a:ea typeface="Arial Unicode MS" charset="0"/>
                <a:cs typeface="Arial Unicode MS" charset="0"/>
              </a:rPr>
              <a:t>Movie Title.</a:t>
            </a:r>
          </a:p>
        </p:txBody>
      </p:sp>
      <p:sp>
        <p:nvSpPr>
          <p:cNvPr id="23" name="Rectangular Callout 21">
            <a:extLst>
              <a:ext uri="{FF2B5EF4-FFF2-40B4-BE49-F238E27FC236}">
                <a16:creationId xmlns:a16="http://schemas.microsoft.com/office/drawing/2014/main" id="{147C096C-13CD-454F-831D-C0BA8B226E59}"/>
              </a:ext>
            </a:extLst>
          </p:cNvPr>
          <p:cNvSpPr/>
          <p:nvPr/>
        </p:nvSpPr>
        <p:spPr>
          <a:xfrm>
            <a:off x="4198512" y="5859887"/>
            <a:ext cx="1371601" cy="471031"/>
          </a:xfrm>
          <a:prstGeom prst="wedgeRectCallout">
            <a:avLst>
              <a:gd name="adj1" fmla="val -8783"/>
              <a:gd name="adj2" fmla="val -90149"/>
            </a:avLst>
          </a:prstGeom>
          <a:solidFill>
            <a:schemeClr val="accent5">
              <a:lumMod val="75000"/>
            </a:schemeClr>
          </a:solidFill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Arial Unicode MS" charset="0"/>
                <a:ea typeface="Arial Unicode MS" charset="0"/>
                <a:cs typeface="Arial Unicode MS" charset="0"/>
              </a:rPr>
              <a:t>Movie Trailer 1 from YouTube</a:t>
            </a:r>
          </a:p>
        </p:txBody>
      </p:sp>
      <p:sp>
        <p:nvSpPr>
          <p:cNvPr id="24" name="Rectangular Callout 21">
            <a:extLst>
              <a:ext uri="{FF2B5EF4-FFF2-40B4-BE49-F238E27FC236}">
                <a16:creationId xmlns:a16="http://schemas.microsoft.com/office/drawing/2014/main" id="{93F71AF3-C236-4CF5-947F-D826B77D855E}"/>
              </a:ext>
            </a:extLst>
          </p:cNvPr>
          <p:cNvSpPr/>
          <p:nvPr/>
        </p:nvSpPr>
        <p:spPr>
          <a:xfrm>
            <a:off x="6185717" y="5769204"/>
            <a:ext cx="1352282" cy="654008"/>
          </a:xfrm>
          <a:prstGeom prst="wedgeRectCallout">
            <a:avLst>
              <a:gd name="adj1" fmla="val -16791"/>
              <a:gd name="adj2" fmla="val -92883"/>
            </a:avLst>
          </a:prstGeom>
          <a:solidFill>
            <a:schemeClr val="accent5">
              <a:lumMod val="75000"/>
            </a:schemeClr>
          </a:solidFill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Arial Unicode MS" charset="0"/>
                <a:ea typeface="Arial Unicode MS" charset="0"/>
                <a:cs typeface="Arial Unicode MS" charset="0"/>
              </a:rPr>
              <a:t>Movie Trailer 2 from YouTube</a:t>
            </a:r>
          </a:p>
        </p:txBody>
      </p:sp>
      <p:sp>
        <p:nvSpPr>
          <p:cNvPr id="25" name="Rectangular Callout 21">
            <a:extLst>
              <a:ext uri="{FF2B5EF4-FFF2-40B4-BE49-F238E27FC236}">
                <a16:creationId xmlns:a16="http://schemas.microsoft.com/office/drawing/2014/main" id="{B67113FE-5435-41D1-9201-4821FB269B7C}"/>
              </a:ext>
            </a:extLst>
          </p:cNvPr>
          <p:cNvSpPr/>
          <p:nvPr/>
        </p:nvSpPr>
        <p:spPr>
          <a:xfrm>
            <a:off x="8514647" y="5566488"/>
            <a:ext cx="1788452" cy="654008"/>
          </a:xfrm>
          <a:prstGeom prst="wedgeRectCallout">
            <a:avLst>
              <a:gd name="adj1" fmla="val -73388"/>
              <a:gd name="adj2" fmla="val -17873"/>
            </a:avLst>
          </a:prstGeom>
          <a:solidFill>
            <a:schemeClr val="accent5">
              <a:lumMod val="75000"/>
            </a:schemeClr>
          </a:solidFill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Arial Unicode MS" charset="0"/>
                <a:ea typeface="Arial Unicode MS" charset="0"/>
                <a:cs typeface="Arial Unicode MS" charset="0"/>
              </a:rPr>
              <a:t>Button to close modal window when clicked. </a:t>
            </a:r>
          </a:p>
        </p:txBody>
      </p:sp>
      <p:sp>
        <p:nvSpPr>
          <p:cNvPr id="26" name="Rectangular Callout 21">
            <a:extLst>
              <a:ext uri="{FF2B5EF4-FFF2-40B4-BE49-F238E27FC236}">
                <a16:creationId xmlns:a16="http://schemas.microsoft.com/office/drawing/2014/main" id="{38A6331C-63FF-4430-8F48-E806B1979085}"/>
              </a:ext>
            </a:extLst>
          </p:cNvPr>
          <p:cNvSpPr/>
          <p:nvPr/>
        </p:nvSpPr>
        <p:spPr>
          <a:xfrm>
            <a:off x="8514647" y="1971136"/>
            <a:ext cx="1788452" cy="654008"/>
          </a:xfrm>
          <a:prstGeom prst="wedgeRectCallout">
            <a:avLst>
              <a:gd name="adj1" fmla="val -73388"/>
              <a:gd name="adj2" fmla="val -20827"/>
            </a:avLst>
          </a:prstGeom>
          <a:solidFill>
            <a:schemeClr val="accent5">
              <a:lumMod val="75000"/>
            </a:schemeClr>
          </a:solidFill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Arial Unicode MS" charset="0"/>
                <a:ea typeface="Arial Unicode MS" charset="0"/>
                <a:cs typeface="Arial Unicode MS" charset="0"/>
              </a:rPr>
              <a:t>Image icon to close modal window when clicked. </a:t>
            </a:r>
          </a:p>
        </p:txBody>
      </p:sp>
      <p:sp>
        <p:nvSpPr>
          <p:cNvPr id="27" name="Rectangular Callout 21">
            <a:extLst>
              <a:ext uri="{FF2B5EF4-FFF2-40B4-BE49-F238E27FC236}">
                <a16:creationId xmlns:a16="http://schemas.microsoft.com/office/drawing/2014/main" id="{25DB0353-6B80-444C-97A2-492DBC74D2FC}"/>
              </a:ext>
            </a:extLst>
          </p:cNvPr>
          <p:cNvSpPr/>
          <p:nvPr/>
        </p:nvSpPr>
        <p:spPr>
          <a:xfrm>
            <a:off x="8364393" y="2932294"/>
            <a:ext cx="2202722" cy="957126"/>
          </a:xfrm>
          <a:prstGeom prst="wedgeRectCallout">
            <a:avLst>
              <a:gd name="adj1" fmla="val -70465"/>
              <a:gd name="adj2" fmla="val -29573"/>
            </a:avLst>
          </a:prstGeom>
          <a:solidFill>
            <a:schemeClr val="accent5">
              <a:lumMod val="75000"/>
            </a:schemeClr>
          </a:solidFill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Arial Unicode MS" charset="0"/>
                <a:ea typeface="Arial Unicode MS" charset="0"/>
                <a:cs typeface="Arial Unicode MS" charset="0"/>
              </a:rPr>
              <a:t>Button to launch ticket purchase page in SHAW website in new browser tab when clicked. </a:t>
            </a:r>
          </a:p>
        </p:txBody>
      </p:sp>
    </p:spTree>
    <p:extLst>
      <p:ext uri="{BB962C8B-B14F-4D97-AF65-F5344CB8AC3E}">
        <p14:creationId xmlns:p14="http://schemas.microsoft.com/office/powerpoint/2010/main" val="889509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Creating Movie Details Modal Window - movies-modal.html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7</a:t>
            </a:fld>
            <a:endParaRPr lang="uk-U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9FAE34-BF3F-4934-8FBA-3036FBE985F3}"/>
              </a:ext>
            </a:extLst>
          </p:cNvPr>
          <p:cNvSpPr/>
          <p:nvPr/>
        </p:nvSpPr>
        <p:spPr>
          <a:xfrm>
            <a:off x="2142565" y="1308847"/>
            <a:ext cx="7530353" cy="55491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600" dirty="0">
                <a:solidFill>
                  <a:schemeClr val="accent5"/>
                </a:solidFill>
                <a:latin typeface="Courier"/>
              </a:rPr>
              <a:t>&lt;!-- this is a structure of Bootstrap Modal --&gt;</a:t>
            </a:r>
          </a:p>
          <a:p>
            <a:r>
              <a:rPr lang="en-SG" sz="600" dirty="0">
                <a:solidFill>
                  <a:srgbClr val="C00000"/>
                </a:solidFill>
                <a:latin typeface="Courier"/>
              </a:rPr>
              <a:t>&lt;div </a:t>
            </a:r>
            <a:r>
              <a:rPr lang="en-SG" sz="600" dirty="0">
                <a:solidFill>
                  <a:srgbClr val="FF0000"/>
                </a:solidFill>
                <a:latin typeface="Courier"/>
              </a:rPr>
              <a:t>class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SG" sz="600" dirty="0">
                <a:solidFill>
                  <a:srgbClr val="007DDA"/>
                </a:solidFill>
                <a:latin typeface="Courier"/>
              </a:rPr>
              <a:t>modal fade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" </a:t>
            </a:r>
            <a:r>
              <a:rPr lang="en-SG" sz="600" dirty="0">
                <a:solidFill>
                  <a:srgbClr val="FF0000"/>
                </a:solidFill>
                <a:latin typeface="Courier"/>
              </a:rPr>
              <a:t>id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SG" sz="600" dirty="0" err="1">
                <a:solidFill>
                  <a:srgbClr val="007DDA"/>
                </a:solidFill>
                <a:latin typeface="Courier"/>
              </a:rPr>
              <a:t>movieModal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" </a:t>
            </a:r>
            <a:r>
              <a:rPr lang="en-SG" sz="600" dirty="0" err="1">
                <a:solidFill>
                  <a:srgbClr val="FF0000"/>
                </a:solidFill>
                <a:latin typeface="Courier"/>
              </a:rPr>
              <a:t>tabindex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SG" sz="600" dirty="0">
                <a:solidFill>
                  <a:srgbClr val="007DDA"/>
                </a:solidFill>
                <a:latin typeface="Courier"/>
              </a:rPr>
              <a:t>-1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" </a:t>
            </a:r>
            <a:r>
              <a:rPr lang="en-SG" sz="600" dirty="0">
                <a:solidFill>
                  <a:srgbClr val="FF0000"/>
                </a:solidFill>
                <a:latin typeface="Courier"/>
              </a:rPr>
              <a:t>role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SG" sz="600" dirty="0">
                <a:solidFill>
                  <a:srgbClr val="007DDA"/>
                </a:solidFill>
                <a:latin typeface="Courier"/>
              </a:rPr>
              <a:t>dialog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"&gt;</a:t>
            </a:r>
          </a:p>
          <a:p>
            <a:r>
              <a:rPr lang="en-SG" sz="600" dirty="0">
                <a:solidFill>
                  <a:srgbClr val="C00000"/>
                </a:solidFill>
                <a:latin typeface="Courier"/>
              </a:rPr>
              <a:t>    &lt;div </a:t>
            </a:r>
            <a:r>
              <a:rPr lang="en-SG" sz="600" dirty="0">
                <a:solidFill>
                  <a:srgbClr val="FF0000"/>
                </a:solidFill>
                <a:latin typeface="Courier"/>
              </a:rPr>
              <a:t>class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SG" sz="600" dirty="0">
                <a:solidFill>
                  <a:srgbClr val="007DDA"/>
                </a:solidFill>
                <a:latin typeface="Courier"/>
              </a:rPr>
              <a:t>modal-dialog modal-</a:t>
            </a:r>
            <a:r>
              <a:rPr lang="en-SG" sz="600" dirty="0" err="1">
                <a:solidFill>
                  <a:srgbClr val="007DDA"/>
                </a:solidFill>
                <a:latin typeface="Courier"/>
              </a:rPr>
              <a:t>lg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" </a:t>
            </a:r>
            <a:r>
              <a:rPr lang="en-SG" sz="600" dirty="0">
                <a:solidFill>
                  <a:srgbClr val="FF0000"/>
                </a:solidFill>
                <a:latin typeface="Courier"/>
              </a:rPr>
              <a:t>role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SG" sz="600" dirty="0">
                <a:solidFill>
                  <a:srgbClr val="007DDA"/>
                </a:solidFill>
                <a:latin typeface="Courier"/>
              </a:rPr>
              <a:t>document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"&gt;</a:t>
            </a:r>
          </a:p>
          <a:p>
            <a:r>
              <a:rPr lang="en-SG" sz="600" dirty="0">
                <a:solidFill>
                  <a:srgbClr val="C00000"/>
                </a:solidFill>
                <a:latin typeface="Courier"/>
              </a:rPr>
              <a:t>        &lt;div </a:t>
            </a:r>
            <a:r>
              <a:rPr lang="en-SG" sz="600" dirty="0">
                <a:solidFill>
                  <a:srgbClr val="FF0000"/>
                </a:solidFill>
                <a:latin typeface="Courier"/>
              </a:rPr>
              <a:t>class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SG" sz="600" dirty="0">
                <a:solidFill>
                  <a:srgbClr val="007DDA"/>
                </a:solidFill>
                <a:latin typeface="Courier"/>
              </a:rPr>
              <a:t>modal-content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"&gt;</a:t>
            </a:r>
          </a:p>
          <a:p>
            <a:r>
              <a:rPr lang="en-SG" sz="600" dirty="0">
                <a:solidFill>
                  <a:srgbClr val="C00000"/>
                </a:solidFill>
                <a:latin typeface="Courier"/>
              </a:rPr>
              <a:t>            &lt;div </a:t>
            </a:r>
            <a:r>
              <a:rPr lang="en-SG" sz="600" dirty="0">
                <a:solidFill>
                  <a:srgbClr val="FF0000"/>
                </a:solidFill>
                <a:latin typeface="Courier"/>
              </a:rPr>
              <a:t>class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SG" sz="600" dirty="0">
                <a:solidFill>
                  <a:srgbClr val="007DDA"/>
                </a:solidFill>
                <a:latin typeface="Courier"/>
              </a:rPr>
              <a:t>modal-header </a:t>
            </a:r>
            <a:r>
              <a:rPr lang="en-SG" sz="600" dirty="0" err="1">
                <a:solidFill>
                  <a:srgbClr val="007DDA"/>
                </a:solidFill>
                <a:latin typeface="Courier"/>
              </a:rPr>
              <a:t>bg</a:t>
            </a:r>
            <a:r>
              <a:rPr lang="en-SG" sz="600" dirty="0">
                <a:solidFill>
                  <a:srgbClr val="007DDA"/>
                </a:solidFill>
                <a:latin typeface="Courier"/>
              </a:rPr>
              <a:t>-dark text-</a:t>
            </a:r>
            <a:r>
              <a:rPr lang="en-SG" sz="600" dirty="0" err="1">
                <a:solidFill>
                  <a:srgbClr val="007DDA"/>
                </a:solidFill>
                <a:latin typeface="Courier"/>
              </a:rPr>
              <a:t>center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"&gt;</a:t>
            </a:r>
          </a:p>
          <a:p>
            <a:r>
              <a:rPr lang="en-SG" sz="600" dirty="0">
                <a:solidFill>
                  <a:srgbClr val="C00000"/>
                </a:solidFill>
                <a:latin typeface="Courier"/>
              </a:rPr>
              <a:t>                &lt;h3 </a:t>
            </a:r>
            <a:r>
              <a:rPr lang="en-SG" sz="600" dirty="0">
                <a:solidFill>
                  <a:srgbClr val="FF0000"/>
                </a:solidFill>
                <a:latin typeface="Courier"/>
              </a:rPr>
              <a:t>class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SG" sz="600" dirty="0">
                <a:solidFill>
                  <a:srgbClr val="007DDA"/>
                </a:solidFill>
                <a:latin typeface="Courier"/>
              </a:rPr>
              <a:t>modal-title text-light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" </a:t>
            </a:r>
            <a:r>
              <a:rPr lang="en-SG" sz="600" dirty="0">
                <a:solidFill>
                  <a:srgbClr val="FF0000"/>
                </a:solidFill>
                <a:latin typeface="Courier"/>
              </a:rPr>
              <a:t>id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SG" sz="600" dirty="0" err="1">
                <a:solidFill>
                  <a:srgbClr val="007DDA"/>
                </a:solidFill>
                <a:latin typeface="Courier"/>
              </a:rPr>
              <a:t>movieTitle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"&gt;</a:t>
            </a:r>
            <a:r>
              <a:rPr lang="en-SG" sz="600" dirty="0">
                <a:solidFill>
                  <a:schemeClr val="tx1"/>
                </a:solidFill>
                <a:latin typeface="Courier"/>
              </a:rPr>
              <a:t>Modal title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&lt;/h3&gt;</a:t>
            </a:r>
          </a:p>
          <a:p>
            <a:r>
              <a:rPr lang="en-SG" sz="600" dirty="0">
                <a:solidFill>
                  <a:srgbClr val="C00000"/>
                </a:solidFill>
                <a:latin typeface="Courier"/>
              </a:rPr>
              <a:t>                &lt;button </a:t>
            </a:r>
            <a:r>
              <a:rPr lang="en-SG" sz="600" dirty="0">
                <a:solidFill>
                  <a:srgbClr val="FF0000"/>
                </a:solidFill>
                <a:latin typeface="Courier"/>
              </a:rPr>
              <a:t>type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SG" sz="600" dirty="0">
                <a:solidFill>
                  <a:srgbClr val="007DDA"/>
                </a:solidFill>
                <a:latin typeface="Courier"/>
              </a:rPr>
              <a:t>button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" </a:t>
            </a:r>
            <a:r>
              <a:rPr lang="en-SG" sz="600" dirty="0">
                <a:solidFill>
                  <a:srgbClr val="FF0000"/>
                </a:solidFill>
                <a:latin typeface="Courier"/>
              </a:rPr>
              <a:t>class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SG" sz="600" dirty="0">
                <a:solidFill>
                  <a:srgbClr val="007DDA"/>
                </a:solidFill>
                <a:latin typeface="Courier"/>
              </a:rPr>
              <a:t>close </a:t>
            </a:r>
            <a:r>
              <a:rPr lang="en-SG" sz="600" dirty="0" err="1">
                <a:solidFill>
                  <a:srgbClr val="007DDA"/>
                </a:solidFill>
                <a:latin typeface="Courier"/>
              </a:rPr>
              <a:t>bg</a:t>
            </a:r>
            <a:r>
              <a:rPr lang="en-SG" sz="600" dirty="0">
                <a:solidFill>
                  <a:srgbClr val="007DDA"/>
                </a:solidFill>
                <a:latin typeface="Courier"/>
              </a:rPr>
              <a:t>-light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" </a:t>
            </a:r>
            <a:r>
              <a:rPr lang="en-SG" sz="600" dirty="0">
                <a:solidFill>
                  <a:srgbClr val="FF0000"/>
                </a:solidFill>
                <a:latin typeface="Courier"/>
              </a:rPr>
              <a:t>data-dismiss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SG" sz="600" dirty="0">
                <a:solidFill>
                  <a:srgbClr val="007DDA"/>
                </a:solidFill>
                <a:latin typeface="Courier"/>
              </a:rPr>
              <a:t>modal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"&gt;</a:t>
            </a:r>
          </a:p>
          <a:p>
            <a:r>
              <a:rPr lang="en-SG" sz="600" dirty="0">
                <a:solidFill>
                  <a:srgbClr val="C00000"/>
                </a:solidFill>
                <a:latin typeface="Courier"/>
              </a:rPr>
              <a:t>                    &lt;span</a:t>
            </a:r>
            <a:r>
              <a:rPr lang="en-SG" sz="600" dirty="0">
                <a:solidFill>
                  <a:schemeClr val="tx1"/>
                </a:solidFill>
                <a:latin typeface="Courier"/>
              </a:rPr>
              <a:t>&gt;&amp;times;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&lt;/span&gt;</a:t>
            </a:r>
          </a:p>
          <a:p>
            <a:r>
              <a:rPr lang="en-SG" sz="600" dirty="0">
                <a:solidFill>
                  <a:srgbClr val="C00000"/>
                </a:solidFill>
                <a:latin typeface="Courier"/>
              </a:rPr>
              <a:t>                &lt;/button&gt;</a:t>
            </a:r>
          </a:p>
          <a:p>
            <a:r>
              <a:rPr lang="en-SG" sz="600" dirty="0">
                <a:solidFill>
                  <a:srgbClr val="C00000"/>
                </a:solidFill>
                <a:latin typeface="Courier"/>
              </a:rPr>
              <a:t>            &lt;/div&gt;</a:t>
            </a:r>
          </a:p>
          <a:p>
            <a:r>
              <a:rPr lang="en-SG" sz="600" dirty="0">
                <a:solidFill>
                  <a:srgbClr val="C00000"/>
                </a:solidFill>
                <a:latin typeface="Courier"/>
              </a:rPr>
              <a:t>            &lt;div </a:t>
            </a:r>
            <a:r>
              <a:rPr lang="en-SG" sz="600" dirty="0">
                <a:solidFill>
                  <a:srgbClr val="FF0000"/>
                </a:solidFill>
                <a:latin typeface="Courier"/>
              </a:rPr>
              <a:t>class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SG" sz="600" dirty="0">
                <a:solidFill>
                  <a:srgbClr val="007DDA"/>
                </a:solidFill>
                <a:latin typeface="Courier"/>
              </a:rPr>
              <a:t>modal-body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"&gt;</a:t>
            </a:r>
          </a:p>
          <a:p>
            <a:r>
              <a:rPr lang="en-SG" sz="600" dirty="0">
                <a:solidFill>
                  <a:srgbClr val="C00000"/>
                </a:solidFill>
                <a:latin typeface="Courier"/>
              </a:rPr>
              <a:t>                &lt;div </a:t>
            </a:r>
            <a:r>
              <a:rPr lang="en-SG" sz="600" dirty="0">
                <a:solidFill>
                  <a:srgbClr val="FF0000"/>
                </a:solidFill>
                <a:latin typeface="Courier"/>
              </a:rPr>
              <a:t>class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SG" sz="600" dirty="0">
                <a:solidFill>
                  <a:srgbClr val="007DDA"/>
                </a:solidFill>
                <a:latin typeface="Courier"/>
              </a:rPr>
              <a:t>row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 </a:t>
            </a:r>
            <a:r>
              <a:rPr lang="en-SG" sz="600" dirty="0">
                <a:solidFill>
                  <a:srgbClr val="007DDA"/>
                </a:solidFill>
                <a:latin typeface="Courier"/>
              </a:rPr>
              <a:t>text-</a:t>
            </a:r>
            <a:r>
              <a:rPr lang="en-SG" sz="600" dirty="0" err="1">
                <a:solidFill>
                  <a:srgbClr val="007DDA"/>
                </a:solidFill>
                <a:latin typeface="Courier"/>
              </a:rPr>
              <a:t>center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"&gt;</a:t>
            </a:r>
          </a:p>
          <a:p>
            <a:r>
              <a:rPr lang="en-SG" sz="600" dirty="0">
                <a:solidFill>
                  <a:srgbClr val="C00000"/>
                </a:solidFill>
                <a:latin typeface="Courier"/>
              </a:rPr>
              <a:t>                    &lt;div </a:t>
            </a:r>
            <a:r>
              <a:rPr lang="en-SG" sz="600" dirty="0">
                <a:solidFill>
                  <a:srgbClr val="FF0000"/>
                </a:solidFill>
                <a:latin typeface="Courier"/>
              </a:rPr>
              <a:t>class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SG" sz="600" dirty="0">
                <a:solidFill>
                  <a:srgbClr val="007DDA"/>
                </a:solidFill>
                <a:latin typeface="Courier"/>
              </a:rPr>
              <a:t>col-5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"&gt;</a:t>
            </a:r>
          </a:p>
          <a:p>
            <a:r>
              <a:rPr lang="en-SG" sz="600" dirty="0">
                <a:solidFill>
                  <a:srgbClr val="C00000"/>
                </a:solidFill>
                <a:latin typeface="Courier"/>
              </a:rPr>
              <a:t>                        &lt;</a:t>
            </a:r>
            <a:r>
              <a:rPr lang="en-SG" sz="600" dirty="0" err="1">
                <a:solidFill>
                  <a:srgbClr val="C00000"/>
                </a:solidFill>
                <a:latin typeface="Courier"/>
              </a:rPr>
              <a:t>img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 </a:t>
            </a:r>
            <a:r>
              <a:rPr lang="en-SG" sz="600" dirty="0">
                <a:solidFill>
                  <a:srgbClr val="FF0000"/>
                </a:solidFill>
                <a:latin typeface="Courier"/>
              </a:rPr>
              <a:t>class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SG" sz="600" dirty="0" err="1">
                <a:solidFill>
                  <a:srgbClr val="007DDA"/>
                </a:solidFill>
                <a:latin typeface="Courier"/>
              </a:rPr>
              <a:t>img</a:t>
            </a:r>
            <a:r>
              <a:rPr lang="en-SG" sz="600" dirty="0">
                <a:solidFill>
                  <a:srgbClr val="007DDA"/>
                </a:solidFill>
                <a:latin typeface="Courier"/>
              </a:rPr>
              <a:t>-fluid </a:t>
            </a:r>
            <a:r>
              <a:rPr lang="en-SG" sz="600" dirty="0" err="1">
                <a:solidFill>
                  <a:srgbClr val="007DDA"/>
                </a:solidFill>
                <a:latin typeface="Courier"/>
              </a:rPr>
              <a:t>img</a:t>
            </a:r>
            <a:r>
              <a:rPr lang="en-SG" sz="600" dirty="0">
                <a:solidFill>
                  <a:srgbClr val="007DDA"/>
                </a:solidFill>
                <a:latin typeface="Courier"/>
              </a:rPr>
              <a:t>-thumbnail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" id="</a:t>
            </a:r>
            <a:r>
              <a:rPr lang="en-SG" sz="600" dirty="0" err="1">
                <a:solidFill>
                  <a:srgbClr val="007DDA"/>
                </a:solidFill>
                <a:latin typeface="Courier"/>
              </a:rPr>
              <a:t>moviePoster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"&gt;</a:t>
            </a:r>
          </a:p>
          <a:p>
            <a:r>
              <a:rPr lang="en-SG" sz="600" dirty="0">
                <a:solidFill>
                  <a:srgbClr val="C00000"/>
                </a:solidFill>
                <a:latin typeface="Courier"/>
              </a:rPr>
              <a:t>                    &lt;/div&gt;</a:t>
            </a:r>
          </a:p>
          <a:p>
            <a:r>
              <a:rPr lang="en-SG" sz="600" dirty="0">
                <a:solidFill>
                  <a:srgbClr val="C00000"/>
                </a:solidFill>
                <a:latin typeface="Courier"/>
              </a:rPr>
              <a:t>                    &lt;div class="</a:t>
            </a:r>
            <a:r>
              <a:rPr lang="en-SG" sz="600" dirty="0">
                <a:solidFill>
                  <a:srgbClr val="007DDA"/>
                </a:solidFill>
                <a:latin typeface="Courier"/>
              </a:rPr>
              <a:t>col-7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"&gt;</a:t>
            </a:r>
          </a:p>
          <a:p>
            <a:r>
              <a:rPr lang="en-SG" sz="600" dirty="0">
                <a:solidFill>
                  <a:srgbClr val="C00000"/>
                </a:solidFill>
                <a:latin typeface="Courier"/>
              </a:rPr>
              <a:t>                        &lt;table </a:t>
            </a:r>
            <a:r>
              <a:rPr lang="en-SG" sz="600" dirty="0">
                <a:solidFill>
                  <a:srgbClr val="FF0000"/>
                </a:solidFill>
                <a:latin typeface="Courier"/>
              </a:rPr>
              <a:t>class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SG" sz="600" dirty="0">
                <a:solidFill>
                  <a:srgbClr val="007DDA"/>
                </a:solidFill>
                <a:latin typeface="Courier"/>
              </a:rPr>
              <a:t>table table-hover table-responsive table-</a:t>
            </a:r>
            <a:r>
              <a:rPr lang="en-SG" sz="600" dirty="0" err="1">
                <a:solidFill>
                  <a:srgbClr val="007DDA"/>
                </a:solidFill>
                <a:latin typeface="Courier"/>
              </a:rPr>
              <a:t>sm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"&gt;</a:t>
            </a:r>
          </a:p>
          <a:p>
            <a:r>
              <a:rPr lang="en-SG" sz="600" dirty="0">
                <a:solidFill>
                  <a:srgbClr val="C00000"/>
                </a:solidFill>
                <a:latin typeface="Courier"/>
              </a:rPr>
              <a:t>                            &lt;tr&gt;</a:t>
            </a:r>
          </a:p>
          <a:p>
            <a:r>
              <a:rPr lang="en-SG" sz="600" dirty="0">
                <a:solidFill>
                  <a:srgbClr val="C00000"/>
                </a:solidFill>
                <a:latin typeface="Courier"/>
              </a:rPr>
              <a:t>                                &lt;td&gt;&lt;span </a:t>
            </a:r>
            <a:r>
              <a:rPr lang="en-SG" sz="600" dirty="0">
                <a:solidFill>
                  <a:srgbClr val="FF0000"/>
                </a:solidFill>
                <a:latin typeface="Courier"/>
              </a:rPr>
              <a:t>class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SG" sz="600" dirty="0">
                <a:solidFill>
                  <a:srgbClr val="007DDA"/>
                </a:solidFill>
                <a:latin typeface="Courier"/>
              </a:rPr>
              <a:t>badge badge-pill badge-dark font-weight-bold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"&gt;</a:t>
            </a:r>
            <a:r>
              <a:rPr lang="en-SG" sz="600" dirty="0">
                <a:solidFill>
                  <a:schemeClr val="tx1"/>
                </a:solidFill>
                <a:latin typeface="Courier"/>
              </a:rPr>
              <a:t>Genre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&lt;/span&gt;&lt;/td&gt;</a:t>
            </a:r>
          </a:p>
          <a:p>
            <a:r>
              <a:rPr lang="en-SG" sz="600" dirty="0">
                <a:solidFill>
                  <a:srgbClr val="C00000"/>
                </a:solidFill>
                <a:latin typeface="Courier"/>
              </a:rPr>
              <a:t>                                &lt;td id="</a:t>
            </a:r>
            <a:r>
              <a:rPr lang="en-SG" sz="600" dirty="0">
                <a:solidFill>
                  <a:srgbClr val="007DDA"/>
                </a:solidFill>
                <a:latin typeface="Courier"/>
              </a:rPr>
              <a:t>genre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"&gt;&lt;/td&gt;</a:t>
            </a:r>
          </a:p>
          <a:p>
            <a:r>
              <a:rPr lang="en-SG" sz="600" dirty="0">
                <a:solidFill>
                  <a:srgbClr val="C00000"/>
                </a:solidFill>
                <a:latin typeface="Courier"/>
              </a:rPr>
              <a:t>                            &lt;/tr&gt;</a:t>
            </a:r>
          </a:p>
          <a:p>
            <a:r>
              <a:rPr lang="en-SG" sz="600" dirty="0">
                <a:solidFill>
                  <a:srgbClr val="C00000"/>
                </a:solidFill>
                <a:latin typeface="Courier"/>
              </a:rPr>
              <a:t>                            &lt;tr&gt;</a:t>
            </a:r>
          </a:p>
          <a:p>
            <a:r>
              <a:rPr lang="en-SG" sz="600" dirty="0">
                <a:solidFill>
                  <a:srgbClr val="C00000"/>
                </a:solidFill>
                <a:latin typeface="Courier"/>
              </a:rPr>
              <a:t>                                &lt;td&gt;&lt;span </a:t>
            </a:r>
            <a:r>
              <a:rPr lang="en-SG" sz="600" dirty="0">
                <a:solidFill>
                  <a:srgbClr val="FF0000"/>
                </a:solidFill>
                <a:latin typeface="Courier"/>
              </a:rPr>
              <a:t>class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SG" sz="600" dirty="0">
                <a:solidFill>
                  <a:srgbClr val="007DDA"/>
                </a:solidFill>
                <a:latin typeface="Courier"/>
              </a:rPr>
              <a:t>badge badge-pill badge-dark font-weight-bold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"&gt;</a:t>
            </a:r>
            <a:r>
              <a:rPr lang="en-SG" sz="600" dirty="0">
                <a:solidFill>
                  <a:schemeClr val="tx1"/>
                </a:solidFill>
                <a:latin typeface="Courier"/>
              </a:rPr>
              <a:t>Director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&lt;/span&gt;&lt;/td&gt;</a:t>
            </a:r>
          </a:p>
          <a:p>
            <a:r>
              <a:rPr lang="en-SG" sz="600" dirty="0">
                <a:solidFill>
                  <a:srgbClr val="C00000"/>
                </a:solidFill>
                <a:latin typeface="Courier"/>
              </a:rPr>
              <a:t>                                &lt;td id="</a:t>
            </a:r>
            <a:r>
              <a:rPr lang="en-SG" sz="600" dirty="0">
                <a:solidFill>
                  <a:srgbClr val="007DDA"/>
                </a:solidFill>
                <a:latin typeface="Courier"/>
              </a:rPr>
              <a:t>director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" </a:t>
            </a:r>
            <a:r>
              <a:rPr lang="en-SG" sz="600" dirty="0">
                <a:solidFill>
                  <a:srgbClr val="FF0000"/>
                </a:solidFill>
                <a:latin typeface="Courier"/>
              </a:rPr>
              <a:t>style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='</a:t>
            </a:r>
            <a:r>
              <a:rPr lang="en-SG" sz="600" dirty="0">
                <a:solidFill>
                  <a:srgbClr val="007DDA"/>
                </a:solidFill>
                <a:latin typeface="Courier"/>
              </a:rPr>
              <a:t> width: 200px; word-break: break-all; word-wrap: break-word;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'&gt;&lt;/td&gt;</a:t>
            </a:r>
          </a:p>
          <a:p>
            <a:r>
              <a:rPr lang="en-SG" sz="600" dirty="0">
                <a:solidFill>
                  <a:srgbClr val="C00000"/>
                </a:solidFill>
                <a:latin typeface="Courier"/>
              </a:rPr>
              <a:t>                            &lt;/tr&gt;</a:t>
            </a:r>
          </a:p>
          <a:p>
            <a:r>
              <a:rPr lang="en-SG" sz="600" dirty="0">
                <a:solidFill>
                  <a:srgbClr val="C00000"/>
                </a:solidFill>
                <a:latin typeface="Courier"/>
              </a:rPr>
              <a:t>                            &lt;tr&gt;</a:t>
            </a:r>
          </a:p>
          <a:p>
            <a:r>
              <a:rPr lang="en-SG" sz="600" dirty="0">
                <a:solidFill>
                  <a:srgbClr val="C00000"/>
                </a:solidFill>
                <a:latin typeface="Courier"/>
              </a:rPr>
              <a:t>                                &lt;td&gt;&lt;span </a:t>
            </a:r>
            <a:r>
              <a:rPr lang="en-SG" sz="600" dirty="0">
                <a:solidFill>
                  <a:srgbClr val="FF0000"/>
                </a:solidFill>
                <a:latin typeface="Courier"/>
              </a:rPr>
              <a:t>class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SG" sz="600" dirty="0">
                <a:solidFill>
                  <a:srgbClr val="007DDA"/>
                </a:solidFill>
                <a:latin typeface="Courier"/>
              </a:rPr>
              <a:t>badge badge-pill badge-dark font-weight-bold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"&gt;</a:t>
            </a:r>
            <a:r>
              <a:rPr lang="en-SG" sz="600" dirty="0">
                <a:solidFill>
                  <a:schemeClr val="tx1"/>
                </a:solidFill>
                <a:latin typeface="Courier"/>
              </a:rPr>
              <a:t>Release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&lt;/span&gt;&lt;/td&gt;</a:t>
            </a:r>
          </a:p>
          <a:p>
            <a:r>
              <a:rPr lang="en-SG" sz="600" dirty="0">
                <a:solidFill>
                  <a:srgbClr val="C00000"/>
                </a:solidFill>
                <a:latin typeface="Courier"/>
              </a:rPr>
              <a:t>                                &lt;td </a:t>
            </a:r>
            <a:r>
              <a:rPr lang="en-SG" sz="600" dirty="0">
                <a:solidFill>
                  <a:srgbClr val="FF0000"/>
                </a:solidFill>
                <a:latin typeface="Courier"/>
              </a:rPr>
              <a:t>id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="release"&gt;&lt;/td&gt;</a:t>
            </a:r>
          </a:p>
          <a:p>
            <a:r>
              <a:rPr lang="en-SG" sz="600" dirty="0">
                <a:solidFill>
                  <a:srgbClr val="C00000"/>
                </a:solidFill>
                <a:latin typeface="Courier"/>
              </a:rPr>
              <a:t>                            &lt;/tr&gt;</a:t>
            </a:r>
          </a:p>
          <a:p>
            <a:r>
              <a:rPr lang="en-SG" sz="600" dirty="0">
                <a:solidFill>
                  <a:srgbClr val="C00000"/>
                </a:solidFill>
                <a:latin typeface="Courier"/>
              </a:rPr>
              <a:t>                            &lt;tr&gt;</a:t>
            </a:r>
          </a:p>
          <a:p>
            <a:r>
              <a:rPr lang="en-SG" sz="600" dirty="0">
                <a:solidFill>
                  <a:srgbClr val="C00000"/>
                </a:solidFill>
                <a:latin typeface="Courier"/>
              </a:rPr>
              <a:t>                                &lt;td </a:t>
            </a:r>
            <a:r>
              <a:rPr lang="en-SG" sz="600" dirty="0" err="1">
                <a:solidFill>
                  <a:srgbClr val="FF0000"/>
                </a:solidFill>
                <a:latin typeface="Courier"/>
              </a:rPr>
              <a:t>colspan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SG" sz="600" dirty="0">
                <a:solidFill>
                  <a:srgbClr val="007DDA"/>
                </a:solidFill>
                <a:latin typeface="Courier"/>
              </a:rPr>
              <a:t>2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"&gt;&lt;button </a:t>
            </a:r>
            <a:r>
              <a:rPr lang="en-SG" sz="600" dirty="0">
                <a:solidFill>
                  <a:srgbClr val="FF0000"/>
                </a:solidFill>
                <a:latin typeface="Courier"/>
              </a:rPr>
              <a:t>type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SG" sz="600" dirty="0">
                <a:solidFill>
                  <a:srgbClr val="007DDA"/>
                </a:solidFill>
                <a:latin typeface="Courier"/>
              </a:rPr>
              <a:t>button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" </a:t>
            </a:r>
            <a:r>
              <a:rPr lang="en-SG" sz="600" dirty="0">
                <a:solidFill>
                  <a:srgbClr val="FF0000"/>
                </a:solidFill>
                <a:latin typeface="Courier"/>
              </a:rPr>
              <a:t>class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SG" sz="600" dirty="0" err="1">
                <a:solidFill>
                  <a:srgbClr val="007DDA"/>
                </a:solidFill>
                <a:latin typeface="Courier"/>
              </a:rPr>
              <a:t>btn</a:t>
            </a:r>
            <a:r>
              <a:rPr lang="en-SG" sz="600" dirty="0">
                <a:solidFill>
                  <a:srgbClr val="007DDA"/>
                </a:solidFill>
                <a:latin typeface="Courier"/>
              </a:rPr>
              <a:t> </a:t>
            </a:r>
            <a:r>
              <a:rPr lang="en-SG" sz="600" dirty="0" err="1">
                <a:solidFill>
                  <a:srgbClr val="007DDA"/>
                </a:solidFill>
                <a:latin typeface="Courier"/>
              </a:rPr>
              <a:t>btn</a:t>
            </a:r>
            <a:r>
              <a:rPr lang="en-SG" sz="600" dirty="0">
                <a:solidFill>
                  <a:srgbClr val="007DDA"/>
                </a:solidFill>
                <a:latin typeface="Courier"/>
              </a:rPr>
              <a:t>-warning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" </a:t>
            </a:r>
            <a:r>
              <a:rPr lang="en-SG" sz="600" dirty="0">
                <a:solidFill>
                  <a:srgbClr val="FF0000"/>
                </a:solidFill>
                <a:latin typeface="Courier"/>
              </a:rPr>
              <a:t>id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SG" sz="600" dirty="0">
                <a:solidFill>
                  <a:srgbClr val="007DDA"/>
                </a:solidFill>
                <a:latin typeface="Courier"/>
              </a:rPr>
              <a:t>buy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" </a:t>
            </a:r>
            <a:r>
              <a:rPr lang="en-SG" sz="600" dirty="0" err="1">
                <a:solidFill>
                  <a:srgbClr val="FF0000"/>
                </a:solidFill>
                <a:latin typeface="Courier"/>
              </a:rPr>
              <a:t>onClick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SG" sz="600" dirty="0" err="1">
                <a:solidFill>
                  <a:srgbClr val="007DDA"/>
                </a:solidFill>
                <a:latin typeface="Courier"/>
              </a:rPr>
              <a:t>buyTicket</a:t>
            </a:r>
            <a:r>
              <a:rPr lang="en-SG" sz="600" dirty="0">
                <a:solidFill>
                  <a:srgbClr val="007DDA"/>
                </a:solidFill>
                <a:latin typeface="Courier"/>
              </a:rPr>
              <a:t>()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"&gt;</a:t>
            </a:r>
            <a:r>
              <a:rPr lang="en-SG" sz="600" dirty="0">
                <a:solidFill>
                  <a:schemeClr val="tx1"/>
                </a:solidFill>
                <a:latin typeface="Courier"/>
              </a:rPr>
              <a:t>Buy Tickets @ SHAW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&lt;/button&gt;&lt;/td&gt;</a:t>
            </a:r>
          </a:p>
          <a:p>
            <a:r>
              <a:rPr lang="en-SG" sz="600" dirty="0">
                <a:solidFill>
                  <a:srgbClr val="C00000"/>
                </a:solidFill>
                <a:latin typeface="Courier"/>
              </a:rPr>
              <a:t>                            &lt;/tr&gt;</a:t>
            </a:r>
          </a:p>
          <a:p>
            <a:r>
              <a:rPr lang="en-SG" sz="600" dirty="0">
                <a:solidFill>
                  <a:srgbClr val="C00000"/>
                </a:solidFill>
                <a:latin typeface="Courier"/>
              </a:rPr>
              <a:t>                        &lt;/table&gt;</a:t>
            </a:r>
          </a:p>
          <a:p>
            <a:r>
              <a:rPr lang="en-SG" sz="600" dirty="0">
                <a:solidFill>
                  <a:srgbClr val="C00000"/>
                </a:solidFill>
                <a:latin typeface="Courier"/>
              </a:rPr>
              <a:t>                    &lt;/div&gt;</a:t>
            </a:r>
          </a:p>
          <a:p>
            <a:r>
              <a:rPr lang="en-SG" sz="600" dirty="0">
                <a:solidFill>
                  <a:srgbClr val="C00000"/>
                </a:solidFill>
                <a:latin typeface="Courier"/>
              </a:rPr>
              <a:t>                &lt;/div&gt;</a:t>
            </a:r>
          </a:p>
          <a:p>
            <a:r>
              <a:rPr lang="en-SG" sz="600" dirty="0">
                <a:solidFill>
                  <a:srgbClr val="C00000"/>
                </a:solidFill>
                <a:latin typeface="Courier"/>
              </a:rPr>
              <a:t>                &lt;div </a:t>
            </a:r>
            <a:r>
              <a:rPr lang="en-SG" sz="600" dirty="0">
                <a:solidFill>
                  <a:srgbClr val="FF0000"/>
                </a:solidFill>
                <a:latin typeface="Courier"/>
              </a:rPr>
              <a:t>class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SG" sz="600" dirty="0">
                <a:solidFill>
                  <a:srgbClr val="007DDA"/>
                </a:solidFill>
                <a:latin typeface="Courier"/>
              </a:rPr>
              <a:t>col-xs-12 px-3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"&gt;&lt;span </a:t>
            </a:r>
            <a:r>
              <a:rPr lang="en-SG" sz="600" dirty="0">
                <a:solidFill>
                  <a:srgbClr val="FF0000"/>
                </a:solidFill>
                <a:latin typeface="Courier"/>
              </a:rPr>
              <a:t>class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SG" sz="600" dirty="0">
                <a:solidFill>
                  <a:srgbClr val="007DDA"/>
                </a:solidFill>
                <a:latin typeface="Courier"/>
              </a:rPr>
              <a:t>badge badge-pill badge-dark font-weight-bold float-left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"&gt;</a:t>
            </a:r>
            <a:r>
              <a:rPr lang="en-SG" sz="600" dirty="0">
                <a:solidFill>
                  <a:schemeClr val="tx1"/>
                </a:solidFill>
                <a:latin typeface="Courier"/>
              </a:rPr>
              <a:t>Story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 &lt;/span&gt;</a:t>
            </a:r>
          </a:p>
          <a:p>
            <a:r>
              <a:rPr lang="en-SG" sz="600" dirty="0">
                <a:solidFill>
                  <a:srgbClr val="C00000"/>
                </a:solidFill>
                <a:latin typeface="Courier"/>
              </a:rPr>
              <a:t>                    &lt;p </a:t>
            </a:r>
            <a:r>
              <a:rPr lang="en-SG" sz="600" dirty="0">
                <a:solidFill>
                  <a:srgbClr val="FF0000"/>
                </a:solidFill>
                <a:latin typeface="Courier"/>
              </a:rPr>
              <a:t>id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SG" sz="600" dirty="0">
                <a:solidFill>
                  <a:srgbClr val="007DDA"/>
                </a:solidFill>
                <a:latin typeface="Courier"/>
              </a:rPr>
              <a:t>story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"&gt;&lt;/p&gt;</a:t>
            </a:r>
          </a:p>
          <a:p>
            <a:r>
              <a:rPr lang="en-SG" sz="600" dirty="0">
                <a:solidFill>
                  <a:srgbClr val="C00000"/>
                </a:solidFill>
                <a:latin typeface="Courier"/>
              </a:rPr>
              <a:t>                &lt;/div&gt;</a:t>
            </a:r>
          </a:p>
          <a:p>
            <a:r>
              <a:rPr lang="en-SG" sz="600" dirty="0">
                <a:solidFill>
                  <a:srgbClr val="C00000"/>
                </a:solidFill>
                <a:latin typeface="Courier"/>
              </a:rPr>
              <a:t>                &lt;div </a:t>
            </a:r>
            <a:r>
              <a:rPr lang="en-SG" sz="600" dirty="0">
                <a:solidFill>
                  <a:srgbClr val="FF0000"/>
                </a:solidFill>
                <a:latin typeface="Courier"/>
              </a:rPr>
              <a:t>class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SG" sz="600" dirty="0">
                <a:solidFill>
                  <a:srgbClr val="007DDA"/>
                </a:solidFill>
                <a:latin typeface="Courier"/>
              </a:rPr>
              <a:t>col-xs-12 px-3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"&gt;&lt;span </a:t>
            </a:r>
            <a:r>
              <a:rPr lang="en-SG" sz="600" dirty="0">
                <a:solidFill>
                  <a:srgbClr val="FF0000"/>
                </a:solidFill>
                <a:latin typeface="Courier"/>
              </a:rPr>
              <a:t>class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SG" sz="600" dirty="0">
                <a:solidFill>
                  <a:srgbClr val="007DDA"/>
                </a:solidFill>
                <a:latin typeface="Courier"/>
              </a:rPr>
              <a:t>badge badge-pill badge-dark font-weight-bold float-left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"&gt;</a:t>
            </a:r>
            <a:r>
              <a:rPr lang="en-SG" sz="600" dirty="0">
                <a:solidFill>
                  <a:schemeClr val="tx1"/>
                </a:solidFill>
                <a:latin typeface="Courier"/>
              </a:rPr>
              <a:t>Cast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 &lt;/span&gt;</a:t>
            </a:r>
          </a:p>
          <a:p>
            <a:r>
              <a:rPr lang="en-SG" sz="600" dirty="0">
                <a:solidFill>
                  <a:srgbClr val="C00000"/>
                </a:solidFill>
                <a:latin typeface="Courier"/>
              </a:rPr>
              <a:t>                    &lt;p </a:t>
            </a:r>
            <a:r>
              <a:rPr lang="en-SG" sz="600" dirty="0">
                <a:solidFill>
                  <a:srgbClr val="FF0000"/>
                </a:solidFill>
                <a:latin typeface="Courier"/>
              </a:rPr>
              <a:t>id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SG" sz="600" dirty="0">
                <a:solidFill>
                  <a:srgbClr val="007DDA"/>
                </a:solidFill>
                <a:latin typeface="Courier"/>
              </a:rPr>
              <a:t>cast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"&gt;&lt;/p&gt;</a:t>
            </a:r>
          </a:p>
          <a:p>
            <a:r>
              <a:rPr lang="en-SG" sz="600" dirty="0">
                <a:solidFill>
                  <a:srgbClr val="C00000"/>
                </a:solidFill>
                <a:latin typeface="Courier"/>
              </a:rPr>
              <a:t>                &lt;/div&gt;</a:t>
            </a:r>
          </a:p>
          <a:p>
            <a:r>
              <a:rPr lang="en-SG" sz="600" dirty="0">
                <a:solidFill>
                  <a:srgbClr val="C00000"/>
                </a:solidFill>
                <a:latin typeface="Courier"/>
              </a:rPr>
              <a:t>                &lt;div </a:t>
            </a:r>
            <a:r>
              <a:rPr lang="en-SG" sz="600" dirty="0">
                <a:solidFill>
                  <a:srgbClr val="FF0000"/>
                </a:solidFill>
                <a:latin typeface="Courier"/>
              </a:rPr>
              <a:t>class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SG" sz="600" dirty="0">
                <a:solidFill>
                  <a:srgbClr val="007DDA"/>
                </a:solidFill>
                <a:latin typeface="Courier"/>
              </a:rPr>
              <a:t>col-xs-12 px-3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"&gt;&lt;span </a:t>
            </a:r>
            <a:r>
              <a:rPr lang="en-SG" sz="600" dirty="0">
                <a:solidFill>
                  <a:srgbClr val="FF0000"/>
                </a:solidFill>
                <a:latin typeface="Courier"/>
              </a:rPr>
              <a:t>class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SG" sz="600" dirty="0">
                <a:solidFill>
                  <a:srgbClr val="007DDA"/>
                </a:solidFill>
                <a:latin typeface="Courier"/>
              </a:rPr>
              <a:t>badge badge-pill badge-danger font-weight-bold float-left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"&gt;</a:t>
            </a:r>
            <a:r>
              <a:rPr lang="en-SG" sz="600" dirty="0">
                <a:solidFill>
                  <a:schemeClr val="tx1"/>
                </a:solidFill>
                <a:latin typeface="Courier"/>
              </a:rPr>
              <a:t>Advice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 &lt;/span&gt;</a:t>
            </a:r>
          </a:p>
          <a:p>
            <a:r>
              <a:rPr lang="en-SG" sz="600" dirty="0">
                <a:solidFill>
                  <a:srgbClr val="C00000"/>
                </a:solidFill>
                <a:latin typeface="Courier"/>
              </a:rPr>
              <a:t>                    &lt;p </a:t>
            </a:r>
            <a:r>
              <a:rPr lang="en-SG" sz="600" dirty="0">
                <a:solidFill>
                  <a:srgbClr val="FF0000"/>
                </a:solidFill>
                <a:latin typeface="Courier"/>
              </a:rPr>
              <a:t>id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SG" sz="600" dirty="0">
                <a:solidFill>
                  <a:srgbClr val="007DDA"/>
                </a:solidFill>
                <a:latin typeface="Courier"/>
              </a:rPr>
              <a:t>advice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"&gt;&lt;/p&gt;</a:t>
            </a:r>
          </a:p>
          <a:p>
            <a:r>
              <a:rPr lang="en-SG" sz="600" dirty="0">
                <a:solidFill>
                  <a:srgbClr val="C00000"/>
                </a:solidFill>
                <a:latin typeface="Courier"/>
              </a:rPr>
              <a:t>                &lt;/div&gt;</a:t>
            </a:r>
          </a:p>
          <a:p>
            <a:r>
              <a:rPr lang="en-SG" sz="600" dirty="0">
                <a:solidFill>
                  <a:srgbClr val="C00000"/>
                </a:solidFill>
                <a:latin typeface="Courier"/>
              </a:rPr>
              <a:t>                &lt;div </a:t>
            </a:r>
            <a:r>
              <a:rPr lang="en-SG" sz="600" dirty="0">
                <a:solidFill>
                  <a:srgbClr val="FF0000"/>
                </a:solidFill>
                <a:latin typeface="Courier"/>
              </a:rPr>
              <a:t>class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SG" sz="600" dirty="0">
                <a:solidFill>
                  <a:srgbClr val="007DDA"/>
                </a:solidFill>
                <a:latin typeface="Courier"/>
              </a:rPr>
              <a:t>col-xs-12 px-3 text-</a:t>
            </a:r>
            <a:r>
              <a:rPr lang="en-SG" sz="600" dirty="0" err="1">
                <a:solidFill>
                  <a:srgbClr val="007DDA"/>
                </a:solidFill>
                <a:latin typeface="Courier"/>
              </a:rPr>
              <a:t>center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"&gt;</a:t>
            </a:r>
          </a:p>
          <a:p>
            <a:r>
              <a:rPr lang="en-SG" sz="600" dirty="0">
                <a:solidFill>
                  <a:srgbClr val="C00000"/>
                </a:solidFill>
                <a:latin typeface="Courier"/>
              </a:rPr>
              <a:t>                    &lt;iframe </a:t>
            </a:r>
            <a:r>
              <a:rPr lang="en-SG" sz="600" dirty="0" err="1">
                <a:solidFill>
                  <a:srgbClr val="FF0000"/>
                </a:solidFill>
                <a:latin typeface="Courier"/>
              </a:rPr>
              <a:t>src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="" </a:t>
            </a:r>
            <a:r>
              <a:rPr lang="en-SG" sz="600" dirty="0">
                <a:solidFill>
                  <a:srgbClr val="FF0000"/>
                </a:solidFill>
                <a:latin typeface="Courier"/>
              </a:rPr>
              <a:t>frameborder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SG" sz="600" dirty="0">
                <a:solidFill>
                  <a:srgbClr val="007DDA"/>
                </a:solidFill>
                <a:latin typeface="Courier"/>
              </a:rPr>
              <a:t>0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" </a:t>
            </a:r>
            <a:r>
              <a:rPr lang="en-SG" sz="600" dirty="0" err="1">
                <a:solidFill>
                  <a:srgbClr val="C00000"/>
                </a:solidFill>
                <a:latin typeface="Courier"/>
              </a:rPr>
              <a:t>allowfullscreen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 </a:t>
            </a:r>
            <a:r>
              <a:rPr lang="en-SG" sz="600" dirty="0">
                <a:solidFill>
                  <a:srgbClr val="FF0000"/>
                </a:solidFill>
                <a:latin typeface="Courier"/>
              </a:rPr>
              <a:t>id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SG" sz="600" dirty="0">
                <a:solidFill>
                  <a:srgbClr val="007DDA"/>
                </a:solidFill>
                <a:latin typeface="Courier"/>
              </a:rPr>
              <a:t>trailer1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"&gt;&lt;/iframe&gt;</a:t>
            </a:r>
          </a:p>
          <a:p>
            <a:r>
              <a:rPr lang="en-SG" sz="600" dirty="0">
                <a:solidFill>
                  <a:srgbClr val="C00000"/>
                </a:solidFill>
                <a:latin typeface="Courier"/>
              </a:rPr>
              <a:t>                    &lt;iframe </a:t>
            </a:r>
            <a:r>
              <a:rPr lang="en-SG" sz="600" dirty="0" err="1">
                <a:solidFill>
                  <a:srgbClr val="FF0000"/>
                </a:solidFill>
                <a:latin typeface="Courier"/>
              </a:rPr>
              <a:t>src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="" </a:t>
            </a:r>
            <a:r>
              <a:rPr lang="en-SG" sz="600" dirty="0">
                <a:solidFill>
                  <a:srgbClr val="FF0000"/>
                </a:solidFill>
                <a:latin typeface="Courier"/>
              </a:rPr>
              <a:t>frameborder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SG" sz="600" dirty="0">
                <a:solidFill>
                  <a:srgbClr val="007DDA"/>
                </a:solidFill>
                <a:latin typeface="Courier"/>
              </a:rPr>
              <a:t>0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" </a:t>
            </a:r>
            <a:r>
              <a:rPr lang="en-SG" sz="600" dirty="0" err="1">
                <a:solidFill>
                  <a:srgbClr val="C00000"/>
                </a:solidFill>
                <a:latin typeface="Courier"/>
              </a:rPr>
              <a:t>allowfullscreen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 </a:t>
            </a:r>
            <a:r>
              <a:rPr lang="en-SG" sz="600" dirty="0">
                <a:solidFill>
                  <a:srgbClr val="FF0000"/>
                </a:solidFill>
                <a:latin typeface="Courier"/>
              </a:rPr>
              <a:t>id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SG" sz="600" dirty="0">
                <a:solidFill>
                  <a:srgbClr val="007DDA"/>
                </a:solidFill>
                <a:latin typeface="Courier"/>
              </a:rPr>
              <a:t>trailer2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"&gt;&lt;/iframe&gt;</a:t>
            </a:r>
          </a:p>
          <a:p>
            <a:r>
              <a:rPr lang="en-SG" sz="600" dirty="0">
                <a:solidFill>
                  <a:srgbClr val="C00000"/>
                </a:solidFill>
                <a:latin typeface="Courier"/>
              </a:rPr>
              <a:t>                &lt;/div&gt;</a:t>
            </a:r>
          </a:p>
          <a:p>
            <a:r>
              <a:rPr lang="en-SG" sz="600" dirty="0">
                <a:solidFill>
                  <a:srgbClr val="C00000"/>
                </a:solidFill>
                <a:latin typeface="Courier"/>
              </a:rPr>
              <a:t>                &lt;div </a:t>
            </a:r>
            <a:r>
              <a:rPr lang="en-SG" sz="600" dirty="0">
                <a:solidFill>
                  <a:srgbClr val="FF0000"/>
                </a:solidFill>
                <a:latin typeface="Courier"/>
              </a:rPr>
              <a:t>class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SG" sz="600" dirty="0">
                <a:solidFill>
                  <a:srgbClr val="007DDA"/>
                </a:solidFill>
                <a:latin typeface="Courier"/>
              </a:rPr>
              <a:t>modal-footer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"&gt;</a:t>
            </a:r>
          </a:p>
          <a:p>
            <a:r>
              <a:rPr lang="en-SG" sz="600" dirty="0">
                <a:solidFill>
                  <a:srgbClr val="C00000"/>
                </a:solidFill>
                <a:latin typeface="Courier"/>
              </a:rPr>
              <a:t>                    &lt;button </a:t>
            </a:r>
            <a:r>
              <a:rPr lang="en-SG" sz="600" dirty="0">
                <a:solidFill>
                  <a:srgbClr val="FF0000"/>
                </a:solidFill>
                <a:latin typeface="Courier"/>
              </a:rPr>
              <a:t>type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SG" sz="600" dirty="0">
                <a:solidFill>
                  <a:srgbClr val="007DDA"/>
                </a:solidFill>
                <a:latin typeface="Courier"/>
              </a:rPr>
              <a:t>button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" </a:t>
            </a:r>
            <a:r>
              <a:rPr lang="en-SG" sz="600" dirty="0">
                <a:solidFill>
                  <a:srgbClr val="FF0000"/>
                </a:solidFill>
                <a:latin typeface="Courier"/>
              </a:rPr>
              <a:t>class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SG" sz="600" dirty="0" err="1">
                <a:solidFill>
                  <a:srgbClr val="007DDA"/>
                </a:solidFill>
                <a:latin typeface="Courier"/>
              </a:rPr>
              <a:t>btn</a:t>
            </a:r>
            <a:r>
              <a:rPr lang="en-SG" sz="600" dirty="0">
                <a:solidFill>
                  <a:srgbClr val="007DDA"/>
                </a:solidFill>
                <a:latin typeface="Courier"/>
              </a:rPr>
              <a:t> </a:t>
            </a:r>
            <a:r>
              <a:rPr lang="en-SG" sz="600" dirty="0" err="1">
                <a:solidFill>
                  <a:srgbClr val="007DDA"/>
                </a:solidFill>
                <a:latin typeface="Courier"/>
              </a:rPr>
              <a:t>btn</a:t>
            </a:r>
            <a:r>
              <a:rPr lang="en-SG" sz="600" dirty="0">
                <a:solidFill>
                  <a:srgbClr val="007DDA"/>
                </a:solidFill>
                <a:latin typeface="Courier"/>
              </a:rPr>
              <a:t>-secondary </a:t>
            </a:r>
            <a:r>
              <a:rPr lang="en-SG" sz="600" dirty="0" err="1">
                <a:solidFill>
                  <a:srgbClr val="007DDA"/>
                </a:solidFill>
                <a:latin typeface="Courier"/>
              </a:rPr>
              <a:t>bg</a:t>
            </a:r>
            <a:r>
              <a:rPr lang="en-SG" sz="600" dirty="0">
                <a:solidFill>
                  <a:srgbClr val="007DDA"/>
                </a:solidFill>
                <a:latin typeface="Courier"/>
              </a:rPr>
              <a:t>-dark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" </a:t>
            </a:r>
            <a:r>
              <a:rPr lang="en-SG" sz="600" dirty="0">
                <a:solidFill>
                  <a:srgbClr val="FF0000"/>
                </a:solidFill>
                <a:latin typeface="Courier"/>
              </a:rPr>
              <a:t>data-dismiss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SG" sz="600" dirty="0">
                <a:solidFill>
                  <a:srgbClr val="007DDA"/>
                </a:solidFill>
                <a:latin typeface="Courier"/>
              </a:rPr>
              <a:t>modal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"&gt;</a:t>
            </a:r>
            <a:r>
              <a:rPr lang="en-SG" sz="600" dirty="0">
                <a:solidFill>
                  <a:schemeClr val="tx1"/>
                </a:solidFill>
                <a:latin typeface="Courier"/>
              </a:rPr>
              <a:t>Close</a:t>
            </a:r>
            <a:r>
              <a:rPr lang="en-SG" sz="600" dirty="0">
                <a:solidFill>
                  <a:srgbClr val="C00000"/>
                </a:solidFill>
                <a:latin typeface="Courier"/>
              </a:rPr>
              <a:t>&lt;/button&gt;</a:t>
            </a:r>
          </a:p>
          <a:p>
            <a:r>
              <a:rPr lang="en-SG" sz="600" dirty="0">
                <a:solidFill>
                  <a:srgbClr val="C00000"/>
                </a:solidFill>
                <a:latin typeface="Courier"/>
              </a:rPr>
              <a:t>                &lt;/div&gt;</a:t>
            </a:r>
          </a:p>
          <a:p>
            <a:r>
              <a:rPr lang="en-SG" sz="600" dirty="0">
                <a:solidFill>
                  <a:srgbClr val="C00000"/>
                </a:solidFill>
                <a:latin typeface="Courier"/>
              </a:rPr>
              <a:t>            &lt;/div&gt;</a:t>
            </a:r>
          </a:p>
          <a:p>
            <a:r>
              <a:rPr lang="en-SG" sz="600" dirty="0">
                <a:solidFill>
                  <a:srgbClr val="C00000"/>
                </a:solidFill>
                <a:latin typeface="Courier"/>
              </a:rPr>
              <a:t>        &lt;/div&gt;</a:t>
            </a:r>
          </a:p>
          <a:p>
            <a:r>
              <a:rPr lang="en-SG" sz="600" dirty="0">
                <a:solidFill>
                  <a:srgbClr val="C00000"/>
                </a:solidFill>
                <a:latin typeface="Courier"/>
              </a:rPr>
              <a:t>    &lt;/div&gt;</a:t>
            </a:r>
          </a:p>
          <a:p>
            <a:r>
              <a:rPr lang="en-SG" sz="600" dirty="0">
                <a:solidFill>
                  <a:srgbClr val="C00000"/>
                </a:solidFill>
                <a:latin typeface="Courier"/>
              </a:rPr>
              <a:t>&lt;/div&gt;</a:t>
            </a:r>
            <a:endParaRPr lang="en-GB" sz="600" dirty="0">
              <a:solidFill>
                <a:srgbClr val="C00000"/>
              </a:solidFill>
              <a:latin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1846904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7B24C-B16A-48DA-A377-28DDC58C5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Movie Details Modal Window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AD5A8-3FF6-4767-BD35-53F47F705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GB" dirty="0"/>
              <a:t>Add a new variable in the </a:t>
            </a:r>
            <a:r>
              <a:rPr lang="en-GB" b="1" dirty="0">
                <a:solidFill>
                  <a:srgbClr val="FF0000"/>
                </a:solidFill>
                <a:latin typeface="Courier"/>
              </a:rPr>
              <a:t>app.js</a:t>
            </a:r>
            <a:r>
              <a:rPr lang="en-GB" dirty="0"/>
              <a:t> file called </a:t>
            </a:r>
            <a:r>
              <a:rPr lang="en-GB" b="1" dirty="0" err="1">
                <a:solidFill>
                  <a:srgbClr val="FF0000"/>
                </a:solidFill>
                <a:latin typeface="Courier"/>
              </a:rPr>
              <a:t>currentIndex</a:t>
            </a:r>
            <a:r>
              <a:rPr lang="en-GB" dirty="0"/>
              <a:t> and set it to </a:t>
            </a:r>
            <a:r>
              <a:rPr lang="en-GB" b="1" dirty="0">
                <a:solidFill>
                  <a:srgbClr val="FF0000"/>
                </a:solidFill>
                <a:latin typeface="Courier"/>
              </a:rPr>
              <a:t>0</a:t>
            </a:r>
            <a:r>
              <a:rPr lang="en-GB" dirty="0"/>
              <a:t> as shown below.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465DAF-C244-4A24-BB98-A90CD88FB10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7819"/>
          <a:stretch/>
        </p:blipFill>
        <p:spPr>
          <a:xfrm>
            <a:off x="1282045" y="2803147"/>
            <a:ext cx="8534400" cy="1338547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DFF5FF8-A337-489A-A52B-4DCDDDC7B565}"/>
              </a:ext>
            </a:extLst>
          </p:cNvPr>
          <p:cNvSpPr txBox="1"/>
          <p:nvPr/>
        </p:nvSpPr>
        <p:spPr>
          <a:xfrm>
            <a:off x="1106020" y="41416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var </a:t>
            </a:r>
            <a:r>
              <a:rPr lang="en-US" dirty="0" err="1"/>
              <a:t>currentIndex</a:t>
            </a:r>
            <a:r>
              <a:rPr lang="en-US" dirty="0"/>
              <a:t>=0;</a:t>
            </a:r>
          </a:p>
        </p:txBody>
      </p:sp>
    </p:spTree>
    <p:extLst>
      <p:ext uri="{BB962C8B-B14F-4D97-AF65-F5344CB8AC3E}">
        <p14:creationId xmlns:p14="http://schemas.microsoft.com/office/powerpoint/2010/main" val="34441769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D2FD3-25B7-49BE-9F08-0BF354792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Movie Details Modal Window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8A82910-CAEC-4CAD-BDF6-788D27C119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669959" cy="4571999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en-GB" sz="2400" dirty="0"/>
              <a:t>Add the codes on the right into your </a:t>
            </a:r>
            <a:r>
              <a:rPr lang="en-GB" sz="2400" b="1" dirty="0">
                <a:solidFill>
                  <a:srgbClr val="FF0000"/>
                </a:solidFill>
                <a:latin typeface="Courier"/>
              </a:rPr>
              <a:t>movies.js</a:t>
            </a:r>
            <a:r>
              <a:rPr lang="en-GB" sz="2400" dirty="0"/>
              <a:t> file.</a:t>
            </a:r>
          </a:p>
          <a:p>
            <a:pPr>
              <a:lnSpc>
                <a:spcPct val="110000"/>
              </a:lnSpc>
            </a:pPr>
            <a:r>
              <a:rPr lang="en-GB" sz="2400" dirty="0"/>
              <a:t>The </a:t>
            </a:r>
            <a:r>
              <a:rPr lang="en-GB" sz="2400" b="1" dirty="0" err="1">
                <a:solidFill>
                  <a:srgbClr val="FF0000"/>
                </a:solidFill>
                <a:latin typeface="Courier"/>
              </a:rPr>
              <a:t>showMovieDetails</a:t>
            </a:r>
            <a:r>
              <a:rPr lang="en-GB" sz="2400" b="1" dirty="0">
                <a:solidFill>
                  <a:srgbClr val="FF0000"/>
                </a:solidFill>
                <a:latin typeface="Courier"/>
              </a:rPr>
              <a:t>()</a:t>
            </a:r>
            <a:r>
              <a:rPr lang="en-GB" sz="2400" dirty="0"/>
              <a:t> function assigns the relevant movie data to the HTML elements base on their </a:t>
            </a:r>
            <a:r>
              <a:rPr lang="en-GB" sz="2400" b="1" dirty="0">
                <a:solidFill>
                  <a:srgbClr val="FF0000"/>
                </a:solidFill>
                <a:latin typeface="Courier"/>
              </a:rPr>
              <a:t>id</a:t>
            </a:r>
            <a:r>
              <a:rPr lang="en-GB" sz="2400" dirty="0"/>
              <a:t>.</a:t>
            </a:r>
          </a:p>
          <a:p>
            <a:pPr>
              <a:lnSpc>
                <a:spcPct val="110000"/>
              </a:lnSpc>
            </a:pPr>
            <a:r>
              <a:rPr lang="en-GB" sz="2400" dirty="0"/>
              <a:t>The </a:t>
            </a:r>
            <a:r>
              <a:rPr lang="en-GB" sz="2400" b="1" dirty="0" err="1">
                <a:solidFill>
                  <a:srgbClr val="FF0000"/>
                </a:solidFill>
                <a:latin typeface="Courier"/>
              </a:rPr>
              <a:t>buyTicket</a:t>
            </a:r>
            <a:r>
              <a:rPr lang="en-GB" sz="2400" b="1" dirty="0">
                <a:solidFill>
                  <a:srgbClr val="FF0000"/>
                </a:solidFill>
                <a:latin typeface="Courier"/>
              </a:rPr>
              <a:t>()</a:t>
            </a:r>
            <a:r>
              <a:rPr lang="en-GB" sz="2400" dirty="0"/>
              <a:t> function opens up a new window/tab and goes to the URL which is the value of the </a:t>
            </a:r>
            <a:r>
              <a:rPr lang="en-GB" sz="2400" b="1" dirty="0">
                <a:solidFill>
                  <a:srgbClr val="FF0000"/>
                </a:solidFill>
                <a:latin typeface="Courier"/>
              </a:rPr>
              <a:t>buy</a:t>
            </a:r>
            <a:r>
              <a:rPr lang="en-GB" sz="2400" dirty="0"/>
              <a:t> attribute of each movie. (check the movie data in JSON format in the previous PowerPoint)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C43D1-3BBC-47D8-B310-CDAFE79EC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4023-6F3A-457B-B0BB-8C1F114B424F}" type="slidenum">
              <a:rPr lang="en-SG" smtClean="0"/>
              <a:t>9</a:t>
            </a:fld>
            <a:endParaRPr lang="en-SG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23C2FD-9868-4B1B-8ECC-8B7529338538}"/>
              </a:ext>
            </a:extLst>
          </p:cNvPr>
          <p:cNvSpPr txBox="1"/>
          <p:nvPr/>
        </p:nvSpPr>
        <p:spPr>
          <a:xfrm>
            <a:off x="5684363" y="2364031"/>
            <a:ext cx="6419653" cy="347787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SG" sz="1000" dirty="0">
                <a:solidFill>
                  <a:schemeClr val="accent5"/>
                </a:solidFill>
                <a:latin typeface="Courier"/>
              </a:rPr>
              <a:t>//This function is to display the individual movies details</a:t>
            </a:r>
          </a:p>
          <a:p>
            <a:r>
              <a:rPr lang="en-SG" sz="1000" dirty="0">
                <a:solidFill>
                  <a:schemeClr val="accent5"/>
                </a:solidFill>
                <a:latin typeface="Courier"/>
              </a:rPr>
              <a:t>//whenever the user clicks on "See More"</a:t>
            </a:r>
          </a:p>
          <a:p>
            <a:r>
              <a:rPr lang="en-SG" sz="1000" dirty="0">
                <a:solidFill>
                  <a:srgbClr val="007DDA"/>
                </a:solidFill>
                <a:latin typeface="Courier"/>
              </a:rPr>
              <a:t>function</a:t>
            </a:r>
            <a:r>
              <a:rPr lang="en-SG" sz="1000" dirty="0">
                <a:latin typeface="Courier"/>
              </a:rPr>
              <a:t> </a:t>
            </a:r>
            <a:r>
              <a:rPr lang="en-SG" sz="1000" dirty="0" err="1">
                <a:latin typeface="Courier"/>
              </a:rPr>
              <a:t>showMovieDetails</a:t>
            </a:r>
            <a:r>
              <a:rPr lang="en-SG" sz="1000" dirty="0">
                <a:latin typeface="Courier"/>
              </a:rPr>
              <a:t>(element) {</a:t>
            </a:r>
          </a:p>
          <a:p>
            <a:r>
              <a:rPr lang="en-SG" sz="1000" dirty="0">
                <a:latin typeface="Courier"/>
              </a:rPr>
              <a:t>    </a:t>
            </a:r>
            <a:r>
              <a:rPr lang="en-SG" sz="1000" dirty="0">
                <a:solidFill>
                  <a:srgbClr val="007DDA"/>
                </a:solidFill>
                <a:latin typeface="Courier"/>
              </a:rPr>
              <a:t>var</a:t>
            </a:r>
            <a:r>
              <a:rPr lang="en-SG" sz="1000" dirty="0">
                <a:latin typeface="Courier"/>
              </a:rPr>
              <a:t> item = </a:t>
            </a:r>
            <a:r>
              <a:rPr lang="en-SG" sz="1000" dirty="0" err="1">
                <a:latin typeface="Courier"/>
              </a:rPr>
              <a:t>element.getAttribute</a:t>
            </a:r>
            <a:r>
              <a:rPr lang="en-SG" sz="1000" dirty="0">
                <a:latin typeface="Courier"/>
              </a:rPr>
              <a:t>("</a:t>
            </a:r>
            <a:r>
              <a:rPr lang="en-SG" sz="1000" dirty="0">
                <a:solidFill>
                  <a:srgbClr val="C00000"/>
                </a:solidFill>
                <a:latin typeface="Courier"/>
              </a:rPr>
              <a:t>item</a:t>
            </a:r>
            <a:r>
              <a:rPr lang="en-SG" sz="1000" dirty="0">
                <a:latin typeface="Courier"/>
              </a:rPr>
              <a:t>");</a:t>
            </a:r>
          </a:p>
          <a:p>
            <a:r>
              <a:rPr lang="en-SG" sz="1000" dirty="0">
                <a:latin typeface="Courier"/>
              </a:rPr>
              <a:t>    </a:t>
            </a:r>
            <a:r>
              <a:rPr lang="en-SG" sz="1000" dirty="0" err="1">
                <a:latin typeface="Courier"/>
              </a:rPr>
              <a:t>currentIndex</a:t>
            </a:r>
            <a:r>
              <a:rPr lang="en-SG" sz="1000" dirty="0">
                <a:latin typeface="Courier"/>
              </a:rPr>
              <a:t> = item;</a:t>
            </a:r>
          </a:p>
          <a:p>
            <a:r>
              <a:rPr lang="en-SG" sz="1000" dirty="0">
                <a:latin typeface="Courier"/>
              </a:rPr>
              <a:t>    </a:t>
            </a:r>
            <a:r>
              <a:rPr lang="en-SG" sz="1000" dirty="0" err="1">
                <a:latin typeface="Courier"/>
              </a:rPr>
              <a:t>document.getElementById</a:t>
            </a:r>
            <a:r>
              <a:rPr lang="en-SG" sz="1000" dirty="0">
                <a:latin typeface="Courier"/>
              </a:rPr>
              <a:t>("</a:t>
            </a:r>
            <a:r>
              <a:rPr lang="en-SG" sz="1000" dirty="0" err="1">
                <a:solidFill>
                  <a:srgbClr val="C00000"/>
                </a:solidFill>
                <a:latin typeface="Courier"/>
              </a:rPr>
              <a:t>movieTitle</a:t>
            </a:r>
            <a:r>
              <a:rPr lang="en-SG" sz="1000" dirty="0">
                <a:latin typeface="Courier"/>
              </a:rPr>
              <a:t>").</a:t>
            </a:r>
            <a:r>
              <a:rPr lang="en-SG" sz="1000" dirty="0" err="1">
                <a:latin typeface="Courier"/>
              </a:rPr>
              <a:t>textContent</a:t>
            </a:r>
            <a:r>
              <a:rPr lang="en-SG" sz="1000" dirty="0">
                <a:latin typeface="Courier"/>
              </a:rPr>
              <a:t> = </a:t>
            </a:r>
            <a:r>
              <a:rPr lang="en-SG" sz="1000" dirty="0" err="1">
                <a:latin typeface="Courier"/>
              </a:rPr>
              <a:t>movie_array</a:t>
            </a:r>
            <a:r>
              <a:rPr lang="en-SG" sz="1000" dirty="0">
                <a:latin typeface="Courier"/>
              </a:rPr>
              <a:t>[item].title;</a:t>
            </a:r>
          </a:p>
          <a:p>
            <a:r>
              <a:rPr lang="en-SG" sz="1000" dirty="0">
                <a:latin typeface="Courier"/>
              </a:rPr>
              <a:t>    </a:t>
            </a:r>
            <a:r>
              <a:rPr lang="en-SG" sz="1000" dirty="0" err="1">
                <a:latin typeface="Courier"/>
              </a:rPr>
              <a:t>document.getElementById</a:t>
            </a:r>
            <a:r>
              <a:rPr lang="en-SG" sz="1000" dirty="0">
                <a:latin typeface="Courier"/>
              </a:rPr>
              <a:t>("</a:t>
            </a:r>
            <a:r>
              <a:rPr lang="en-SG" sz="1000" dirty="0" err="1">
                <a:solidFill>
                  <a:srgbClr val="C00000"/>
                </a:solidFill>
                <a:latin typeface="Courier"/>
              </a:rPr>
              <a:t>moviePoster</a:t>
            </a:r>
            <a:r>
              <a:rPr lang="en-SG" sz="1000" dirty="0">
                <a:latin typeface="Courier"/>
              </a:rPr>
              <a:t>").</a:t>
            </a:r>
            <a:r>
              <a:rPr lang="en-SG" sz="1000" dirty="0" err="1">
                <a:latin typeface="Courier"/>
              </a:rPr>
              <a:t>src</a:t>
            </a:r>
            <a:r>
              <a:rPr lang="en-SG" sz="1000" dirty="0">
                <a:latin typeface="Courier"/>
              </a:rPr>
              <a:t> = </a:t>
            </a:r>
            <a:r>
              <a:rPr lang="en-SG" sz="1000" dirty="0" err="1">
                <a:latin typeface="Courier"/>
              </a:rPr>
              <a:t>movie_array</a:t>
            </a:r>
            <a:r>
              <a:rPr lang="en-SG" sz="1000" dirty="0">
                <a:latin typeface="Courier"/>
              </a:rPr>
              <a:t>[item].poster;</a:t>
            </a:r>
          </a:p>
          <a:p>
            <a:r>
              <a:rPr lang="en-SG" sz="1000" dirty="0">
                <a:latin typeface="Courier"/>
              </a:rPr>
              <a:t>    </a:t>
            </a:r>
            <a:r>
              <a:rPr lang="en-SG" sz="1000" dirty="0" err="1">
                <a:latin typeface="Courier"/>
              </a:rPr>
              <a:t>document.getElementById</a:t>
            </a:r>
            <a:r>
              <a:rPr lang="en-SG" sz="1000" dirty="0">
                <a:latin typeface="Courier"/>
              </a:rPr>
              <a:t>("</a:t>
            </a:r>
            <a:r>
              <a:rPr lang="en-SG" sz="1000" dirty="0">
                <a:solidFill>
                  <a:srgbClr val="C00000"/>
                </a:solidFill>
                <a:latin typeface="Courier"/>
              </a:rPr>
              <a:t>genre</a:t>
            </a:r>
            <a:r>
              <a:rPr lang="en-SG" sz="1000" dirty="0">
                <a:latin typeface="Courier"/>
              </a:rPr>
              <a:t>").</a:t>
            </a:r>
            <a:r>
              <a:rPr lang="en-SG" sz="1000" dirty="0" err="1">
                <a:latin typeface="Courier"/>
              </a:rPr>
              <a:t>textContent</a:t>
            </a:r>
            <a:r>
              <a:rPr lang="en-SG" sz="1000" dirty="0">
                <a:latin typeface="Courier"/>
              </a:rPr>
              <a:t> = </a:t>
            </a:r>
            <a:r>
              <a:rPr lang="en-SG" sz="1000" dirty="0" err="1">
                <a:latin typeface="Courier"/>
              </a:rPr>
              <a:t>movie_array</a:t>
            </a:r>
            <a:r>
              <a:rPr lang="en-SG" sz="1000" dirty="0">
                <a:latin typeface="Courier"/>
              </a:rPr>
              <a:t>[item].genre;</a:t>
            </a:r>
          </a:p>
          <a:p>
            <a:r>
              <a:rPr lang="en-SG" sz="1000" dirty="0">
                <a:latin typeface="Courier"/>
              </a:rPr>
              <a:t>    </a:t>
            </a:r>
            <a:r>
              <a:rPr lang="en-SG" sz="1000" dirty="0" err="1">
                <a:latin typeface="Courier"/>
              </a:rPr>
              <a:t>document.getElementById</a:t>
            </a:r>
            <a:r>
              <a:rPr lang="en-SG" sz="1000" dirty="0">
                <a:latin typeface="Courier"/>
              </a:rPr>
              <a:t>("</a:t>
            </a:r>
            <a:r>
              <a:rPr lang="en-SG" sz="1000" dirty="0">
                <a:solidFill>
                  <a:srgbClr val="C00000"/>
                </a:solidFill>
                <a:latin typeface="Courier"/>
              </a:rPr>
              <a:t>director</a:t>
            </a:r>
            <a:r>
              <a:rPr lang="en-SG" sz="1000" dirty="0">
                <a:latin typeface="Courier"/>
              </a:rPr>
              <a:t>").</a:t>
            </a:r>
            <a:r>
              <a:rPr lang="en-SG" sz="1000" dirty="0" err="1">
                <a:latin typeface="Courier"/>
              </a:rPr>
              <a:t>textContent</a:t>
            </a:r>
            <a:r>
              <a:rPr lang="en-SG" sz="1000" dirty="0">
                <a:latin typeface="Courier"/>
              </a:rPr>
              <a:t> = </a:t>
            </a:r>
            <a:r>
              <a:rPr lang="en-SG" sz="1000" dirty="0" err="1">
                <a:latin typeface="Courier"/>
              </a:rPr>
              <a:t>movie_array</a:t>
            </a:r>
            <a:r>
              <a:rPr lang="en-SG" sz="1000" dirty="0">
                <a:latin typeface="Courier"/>
              </a:rPr>
              <a:t>[item].director;</a:t>
            </a:r>
          </a:p>
          <a:p>
            <a:r>
              <a:rPr lang="en-SG" sz="1000" dirty="0">
                <a:latin typeface="Courier"/>
              </a:rPr>
              <a:t>    </a:t>
            </a:r>
            <a:r>
              <a:rPr lang="en-SG" sz="1000" dirty="0" err="1">
                <a:latin typeface="Courier"/>
              </a:rPr>
              <a:t>document.getElementById</a:t>
            </a:r>
            <a:r>
              <a:rPr lang="en-SG" sz="1000" dirty="0">
                <a:latin typeface="Courier"/>
              </a:rPr>
              <a:t>("</a:t>
            </a:r>
            <a:r>
              <a:rPr lang="en-SG" sz="1000" dirty="0">
                <a:solidFill>
                  <a:srgbClr val="C00000"/>
                </a:solidFill>
                <a:latin typeface="Courier"/>
              </a:rPr>
              <a:t>cast</a:t>
            </a:r>
            <a:r>
              <a:rPr lang="en-SG" sz="1000" dirty="0">
                <a:latin typeface="Courier"/>
              </a:rPr>
              <a:t>").</a:t>
            </a:r>
            <a:r>
              <a:rPr lang="en-SG" sz="1000" dirty="0" err="1">
                <a:latin typeface="Courier"/>
              </a:rPr>
              <a:t>textContent</a:t>
            </a:r>
            <a:r>
              <a:rPr lang="en-SG" sz="1000" dirty="0">
                <a:latin typeface="Courier"/>
              </a:rPr>
              <a:t> = </a:t>
            </a:r>
            <a:r>
              <a:rPr lang="en-SG" sz="1000" dirty="0" err="1">
                <a:latin typeface="Courier"/>
              </a:rPr>
              <a:t>movie_array</a:t>
            </a:r>
            <a:r>
              <a:rPr lang="en-SG" sz="1000" dirty="0">
                <a:latin typeface="Courier"/>
              </a:rPr>
              <a:t>[item].cast;</a:t>
            </a:r>
          </a:p>
          <a:p>
            <a:r>
              <a:rPr lang="en-SG" sz="1000" dirty="0">
                <a:latin typeface="Courier"/>
              </a:rPr>
              <a:t>    </a:t>
            </a:r>
            <a:r>
              <a:rPr lang="en-SG" sz="1000" dirty="0" err="1">
                <a:latin typeface="Courier"/>
              </a:rPr>
              <a:t>document.getElementById</a:t>
            </a:r>
            <a:r>
              <a:rPr lang="en-SG" sz="1000" dirty="0">
                <a:latin typeface="Courier"/>
              </a:rPr>
              <a:t>("</a:t>
            </a:r>
            <a:r>
              <a:rPr lang="en-SG" sz="1000" dirty="0">
                <a:solidFill>
                  <a:srgbClr val="C00000"/>
                </a:solidFill>
                <a:latin typeface="Courier"/>
              </a:rPr>
              <a:t>release</a:t>
            </a:r>
            <a:r>
              <a:rPr lang="en-SG" sz="1000" dirty="0">
                <a:latin typeface="Courier"/>
              </a:rPr>
              <a:t>").</a:t>
            </a:r>
            <a:r>
              <a:rPr lang="en-SG" sz="1000" dirty="0" err="1">
                <a:latin typeface="Courier"/>
              </a:rPr>
              <a:t>textContent</a:t>
            </a:r>
            <a:r>
              <a:rPr lang="en-SG" sz="1000" dirty="0">
                <a:latin typeface="Courier"/>
              </a:rPr>
              <a:t> = </a:t>
            </a:r>
            <a:r>
              <a:rPr lang="en-SG" sz="1000" dirty="0" err="1">
                <a:latin typeface="Courier"/>
              </a:rPr>
              <a:t>movie_array</a:t>
            </a:r>
            <a:r>
              <a:rPr lang="en-SG" sz="1000" dirty="0">
                <a:latin typeface="Courier"/>
              </a:rPr>
              <a:t>[item].release;</a:t>
            </a:r>
          </a:p>
          <a:p>
            <a:r>
              <a:rPr lang="en-SG" sz="1000" dirty="0">
                <a:latin typeface="Courier"/>
              </a:rPr>
              <a:t>    </a:t>
            </a:r>
            <a:r>
              <a:rPr lang="en-SG" sz="1000" dirty="0" err="1">
                <a:latin typeface="Courier"/>
              </a:rPr>
              <a:t>document.getElementById</a:t>
            </a:r>
            <a:r>
              <a:rPr lang="en-SG" sz="1000" dirty="0">
                <a:latin typeface="Courier"/>
              </a:rPr>
              <a:t>("</a:t>
            </a:r>
            <a:r>
              <a:rPr lang="en-SG" sz="1000" dirty="0">
                <a:solidFill>
                  <a:srgbClr val="C00000"/>
                </a:solidFill>
                <a:latin typeface="Courier"/>
              </a:rPr>
              <a:t>advice</a:t>
            </a:r>
            <a:r>
              <a:rPr lang="en-SG" sz="1000" dirty="0">
                <a:latin typeface="Courier"/>
              </a:rPr>
              <a:t>").</a:t>
            </a:r>
            <a:r>
              <a:rPr lang="en-SG" sz="1000" dirty="0" err="1">
                <a:latin typeface="Courier"/>
              </a:rPr>
              <a:t>textContent</a:t>
            </a:r>
            <a:r>
              <a:rPr lang="en-SG" sz="1000" dirty="0">
                <a:latin typeface="Courier"/>
              </a:rPr>
              <a:t> = </a:t>
            </a:r>
            <a:r>
              <a:rPr lang="en-SG" sz="1000" dirty="0" err="1">
                <a:latin typeface="Courier"/>
              </a:rPr>
              <a:t>movie_array</a:t>
            </a:r>
            <a:r>
              <a:rPr lang="en-SG" sz="1000" dirty="0">
                <a:latin typeface="Courier"/>
              </a:rPr>
              <a:t>[item].advice;</a:t>
            </a:r>
          </a:p>
          <a:p>
            <a:r>
              <a:rPr lang="en-SG" sz="1000" dirty="0">
                <a:latin typeface="Courier"/>
              </a:rPr>
              <a:t>    </a:t>
            </a:r>
            <a:r>
              <a:rPr lang="en-SG" sz="1000" dirty="0" err="1">
                <a:latin typeface="Courier"/>
              </a:rPr>
              <a:t>document.getElementById</a:t>
            </a:r>
            <a:r>
              <a:rPr lang="en-SG" sz="1000" dirty="0">
                <a:latin typeface="Courier"/>
              </a:rPr>
              <a:t>("</a:t>
            </a:r>
            <a:r>
              <a:rPr lang="en-SG" sz="1000" dirty="0">
                <a:solidFill>
                  <a:srgbClr val="C00000"/>
                </a:solidFill>
                <a:latin typeface="Courier"/>
              </a:rPr>
              <a:t>story</a:t>
            </a:r>
            <a:r>
              <a:rPr lang="en-SG" sz="1000" dirty="0">
                <a:latin typeface="Courier"/>
              </a:rPr>
              <a:t>").</a:t>
            </a:r>
            <a:r>
              <a:rPr lang="en-SG" sz="1000" dirty="0" err="1">
                <a:latin typeface="Courier"/>
              </a:rPr>
              <a:t>textContent</a:t>
            </a:r>
            <a:r>
              <a:rPr lang="en-SG" sz="1000" dirty="0">
                <a:latin typeface="Courier"/>
              </a:rPr>
              <a:t> = </a:t>
            </a:r>
            <a:r>
              <a:rPr lang="en-SG" sz="1000" dirty="0" err="1">
                <a:latin typeface="Courier"/>
              </a:rPr>
              <a:t>movie_array</a:t>
            </a:r>
            <a:r>
              <a:rPr lang="en-SG" sz="1000" dirty="0">
                <a:latin typeface="Courier"/>
              </a:rPr>
              <a:t>[item].story;</a:t>
            </a:r>
          </a:p>
          <a:p>
            <a:r>
              <a:rPr lang="en-SG" sz="1000" dirty="0">
                <a:latin typeface="Courier"/>
              </a:rPr>
              <a:t>    </a:t>
            </a:r>
            <a:r>
              <a:rPr lang="en-SG" sz="1000" dirty="0" err="1">
                <a:latin typeface="Courier"/>
              </a:rPr>
              <a:t>document.getElementById</a:t>
            </a:r>
            <a:r>
              <a:rPr lang="en-SG" sz="1000" dirty="0">
                <a:latin typeface="Courier"/>
              </a:rPr>
              <a:t>("</a:t>
            </a:r>
            <a:r>
              <a:rPr lang="en-SG" sz="1000" dirty="0">
                <a:solidFill>
                  <a:srgbClr val="C00000"/>
                </a:solidFill>
                <a:latin typeface="Courier"/>
              </a:rPr>
              <a:t>trailer1</a:t>
            </a:r>
            <a:r>
              <a:rPr lang="en-SG" sz="1000" dirty="0">
                <a:latin typeface="Courier"/>
              </a:rPr>
              <a:t>").</a:t>
            </a:r>
            <a:r>
              <a:rPr lang="en-SG" sz="1000" dirty="0" err="1">
                <a:latin typeface="Courier"/>
              </a:rPr>
              <a:t>src</a:t>
            </a:r>
            <a:r>
              <a:rPr lang="en-SG" sz="1000" dirty="0">
                <a:latin typeface="Courier"/>
              </a:rPr>
              <a:t> = </a:t>
            </a:r>
            <a:r>
              <a:rPr lang="en-SG" sz="1000" dirty="0" err="1">
                <a:latin typeface="Courier"/>
              </a:rPr>
              <a:t>movie_array</a:t>
            </a:r>
            <a:r>
              <a:rPr lang="en-SG" sz="1000" dirty="0">
                <a:latin typeface="Courier"/>
              </a:rPr>
              <a:t>[item].video1;</a:t>
            </a:r>
          </a:p>
          <a:p>
            <a:r>
              <a:rPr lang="en-SG" sz="1000" dirty="0">
                <a:latin typeface="Courier"/>
              </a:rPr>
              <a:t>    </a:t>
            </a:r>
            <a:r>
              <a:rPr lang="en-SG" sz="1000" dirty="0" err="1">
                <a:latin typeface="Courier"/>
              </a:rPr>
              <a:t>document.getElementById</a:t>
            </a:r>
            <a:r>
              <a:rPr lang="en-SG" sz="1000" dirty="0">
                <a:latin typeface="Courier"/>
              </a:rPr>
              <a:t>("</a:t>
            </a:r>
            <a:r>
              <a:rPr lang="en-SG" sz="1000" dirty="0">
                <a:solidFill>
                  <a:srgbClr val="C00000"/>
                </a:solidFill>
                <a:latin typeface="Courier"/>
              </a:rPr>
              <a:t>trailer2</a:t>
            </a:r>
            <a:r>
              <a:rPr lang="en-SG" sz="1000" dirty="0">
                <a:latin typeface="Courier"/>
              </a:rPr>
              <a:t>").</a:t>
            </a:r>
            <a:r>
              <a:rPr lang="en-SG" sz="1000" dirty="0" err="1">
                <a:latin typeface="Courier"/>
              </a:rPr>
              <a:t>src</a:t>
            </a:r>
            <a:r>
              <a:rPr lang="en-SG" sz="1000" dirty="0">
                <a:latin typeface="Courier"/>
              </a:rPr>
              <a:t> = </a:t>
            </a:r>
            <a:r>
              <a:rPr lang="en-SG" sz="1000" dirty="0" err="1">
                <a:latin typeface="Courier"/>
              </a:rPr>
              <a:t>movie_array</a:t>
            </a:r>
            <a:r>
              <a:rPr lang="en-SG" sz="1000" dirty="0">
                <a:latin typeface="Courier"/>
              </a:rPr>
              <a:t>[item].video2;</a:t>
            </a:r>
          </a:p>
          <a:p>
            <a:r>
              <a:rPr lang="en-SG" sz="1000" dirty="0">
                <a:latin typeface="Courier"/>
              </a:rPr>
              <a:t>}</a:t>
            </a:r>
          </a:p>
          <a:p>
            <a:endParaRPr lang="en-SG" sz="1000" dirty="0">
              <a:latin typeface="Courier"/>
            </a:endParaRPr>
          </a:p>
          <a:p>
            <a:r>
              <a:rPr lang="en-US" sz="1000" dirty="0">
                <a:solidFill>
                  <a:schemeClr val="accent5"/>
                </a:solidFill>
                <a:latin typeface="Courier"/>
              </a:rPr>
              <a:t>//This function opens a new window/tab and loads the</a:t>
            </a:r>
          </a:p>
          <a:p>
            <a:r>
              <a:rPr lang="en-US" sz="1000" dirty="0">
                <a:solidFill>
                  <a:schemeClr val="accent5"/>
                </a:solidFill>
                <a:latin typeface="Courier"/>
              </a:rPr>
              <a:t>//particular movie in the cinema website</a:t>
            </a:r>
          </a:p>
          <a:p>
            <a:r>
              <a:rPr lang="en-US" sz="1000" dirty="0">
                <a:solidFill>
                  <a:srgbClr val="007DDA"/>
                </a:solidFill>
                <a:latin typeface="Courier"/>
              </a:rPr>
              <a:t>function</a:t>
            </a:r>
            <a:r>
              <a:rPr lang="en-US" sz="1000" dirty="0">
                <a:latin typeface="Courier"/>
              </a:rPr>
              <a:t> </a:t>
            </a:r>
            <a:r>
              <a:rPr lang="en-US" sz="1000" dirty="0" err="1">
                <a:latin typeface="Courier"/>
              </a:rPr>
              <a:t>buyTicket</a:t>
            </a:r>
            <a:r>
              <a:rPr lang="en-US" sz="1000" dirty="0">
                <a:latin typeface="Courier"/>
              </a:rPr>
              <a:t>() {</a:t>
            </a:r>
          </a:p>
          <a:p>
            <a:r>
              <a:rPr lang="en-US" sz="1000" dirty="0">
                <a:latin typeface="Courier"/>
              </a:rPr>
              <a:t>    </a:t>
            </a:r>
            <a:r>
              <a:rPr lang="en-US" sz="1000" dirty="0" err="1">
                <a:latin typeface="Courier"/>
              </a:rPr>
              <a:t>window.open</a:t>
            </a:r>
            <a:r>
              <a:rPr lang="en-US" sz="1000" dirty="0">
                <a:latin typeface="Courier"/>
              </a:rPr>
              <a:t>(</a:t>
            </a:r>
            <a:r>
              <a:rPr lang="en-US" sz="1000" dirty="0" err="1">
                <a:latin typeface="Courier"/>
              </a:rPr>
              <a:t>movie_array</a:t>
            </a:r>
            <a:r>
              <a:rPr lang="en-US" sz="1000" dirty="0">
                <a:latin typeface="Courier"/>
              </a:rPr>
              <a:t>[</a:t>
            </a:r>
            <a:r>
              <a:rPr lang="en-US" sz="1000" dirty="0" err="1">
                <a:latin typeface="Courier"/>
              </a:rPr>
              <a:t>currentIndex</a:t>
            </a:r>
            <a:r>
              <a:rPr lang="en-US" sz="1000" dirty="0">
                <a:latin typeface="Courier"/>
              </a:rPr>
              <a:t>].buy, "</a:t>
            </a:r>
            <a:r>
              <a:rPr lang="en-US" sz="1000" dirty="0">
                <a:solidFill>
                  <a:srgbClr val="C00000"/>
                </a:solidFill>
                <a:latin typeface="Courier"/>
              </a:rPr>
              <a:t>_blank</a:t>
            </a:r>
            <a:r>
              <a:rPr lang="en-US" sz="1000" dirty="0">
                <a:latin typeface="Courier"/>
              </a:rPr>
              <a:t>");</a:t>
            </a:r>
          </a:p>
          <a:p>
            <a:r>
              <a:rPr lang="en-US" sz="1000" dirty="0">
                <a:latin typeface="Courier"/>
              </a:rPr>
              <a:t>}</a:t>
            </a:r>
            <a:endParaRPr lang="en-SG" sz="1000" dirty="0">
              <a:latin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200359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64EE668-1B58-4384-947D-1B3C5C65A5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698" y="1470583"/>
            <a:ext cx="4942652" cy="4707764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053F9C-DDB0-4098-936A-6595AF715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 the Movie Details Modal Window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EAD1C9-F1F5-40BB-808C-4284638A5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t>10</a:t>
            </a:fld>
            <a:endParaRPr lang="en-US"/>
          </a:p>
        </p:txBody>
      </p:sp>
      <p:sp>
        <p:nvSpPr>
          <p:cNvPr id="9" name="Rectangular Callout 21">
            <a:extLst>
              <a:ext uri="{FF2B5EF4-FFF2-40B4-BE49-F238E27FC236}">
                <a16:creationId xmlns:a16="http://schemas.microsoft.com/office/drawing/2014/main" id="{279C7C75-0EE9-4063-B86B-03515ECE461A}"/>
              </a:ext>
            </a:extLst>
          </p:cNvPr>
          <p:cNvSpPr/>
          <p:nvPr/>
        </p:nvSpPr>
        <p:spPr>
          <a:xfrm>
            <a:off x="7038304" y="1402765"/>
            <a:ext cx="4675031" cy="664295"/>
          </a:xfrm>
          <a:prstGeom prst="wedgeRectCallout">
            <a:avLst>
              <a:gd name="adj1" fmla="val -69625"/>
              <a:gd name="adj2" fmla="val 66104"/>
            </a:avLst>
          </a:prstGeom>
          <a:solidFill>
            <a:schemeClr val="accent5">
              <a:lumMod val="75000"/>
            </a:schemeClr>
          </a:solidFill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Arial Unicode MS" charset="0"/>
                <a:ea typeface="Arial Unicode MS" charset="0"/>
                <a:cs typeface="Arial Unicode MS" charset="0"/>
              </a:rPr>
              <a:t>Reload the </a:t>
            </a:r>
            <a:r>
              <a:rPr lang="en-GB" sz="1400" b="1" dirty="0">
                <a:solidFill>
                  <a:schemeClr val="bg1"/>
                </a:solidFill>
                <a:highlight>
                  <a:srgbClr val="1CADE4"/>
                </a:highlight>
                <a:latin typeface="Courier"/>
                <a:ea typeface="Arial Unicode MS" charset="0"/>
                <a:cs typeface="Arial Unicode MS" charset="0"/>
              </a:rPr>
              <a:t>index.html</a:t>
            </a:r>
            <a:r>
              <a:rPr lang="en-GB" sz="1400" dirty="0">
                <a:latin typeface="Arial Unicode MS" charset="0"/>
                <a:ea typeface="Arial Unicode MS" charset="0"/>
                <a:cs typeface="Arial Unicode MS" charset="0"/>
              </a:rPr>
              <a:t> page and hover on one of the movie icons. Click on the “</a:t>
            </a:r>
            <a:r>
              <a:rPr lang="en-GB" sz="1400" b="1" dirty="0">
                <a:latin typeface="Arial Unicode MS" charset="0"/>
                <a:ea typeface="Arial Unicode MS" charset="0"/>
                <a:cs typeface="Arial Unicode MS" charset="0"/>
              </a:rPr>
              <a:t>See More</a:t>
            </a:r>
            <a:r>
              <a:rPr lang="en-GB" sz="1400" dirty="0">
                <a:latin typeface="Arial Unicode MS" charset="0"/>
                <a:ea typeface="Arial Unicode MS" charset="0"/>
                <a:cs typeface="Arial Unicode MS" charset="0"/>
              </a:rPr>
              <a:t>” button and the modal window should appear as shown.</a:t>
            </a:r>
          </a:p>
        </p:txBody>
      </p:sp>
      <p:sp>
        <p:nvSpPr>
          <p:cNvPr id="10" name="Rectangular Callout 21">
            <a:extLst>
              <a:ext uri="{FF2B5EF4-FFF2-40B4-BE49-F238E27FC236}">
                <a16:creationId xmlns:a16="http://schemas.microsoft.com/office/drawing/2014/main" id="{EBD35AF9-12B4-4605-8B0D-AA2ABD87F898}"/>
              </a:ext>
            </a:extLst>
          </p:cNvPr>
          <p:cNvSpPr/>
          <p:nvPr/>
        </p:nvSpPr>
        <p:spPr>
          <a:xfrm>
            <a:off x="6502835" y="3429000"/>
            <a:ext cx="3683357" cy="972523"/>
          </a:xfrm>
          <a:prstGeom prst="wedgeRectCallout">
            <a:avLst>
              <a:gd name="adj1" fmla="val -62420"/>
              <a:gd name="adj2" fmla="val -89227"/>
            </a:avLst>
          </a:prstGeom>
          <a:solidFill>
            <a:schemeClr val="accent5">
              <a:lumMod val="75000"/>
            </a:schemeClr>
          </a:solidFill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Arial Unicode MS" charset="0"/>
                <a:ea typeface="Arial Unicode MS" charset="0"/>
                <a:cs typeface="Arial Unicode MS" charset="0"/>
              </a:rPr>
              <a:t>When you click on this button, a new window or tab should appear loading the cinema website to purchase ticket as shown on the next slide.</a:t>
            </a:r>
          </a:p>
        </p:txBody>
      </p:sp>
    </p:spTree>
    <p:extLst>
      <p:ext uri="{BB962C8B-B14F-4D97-AF65-F5344CB8AC3E}">
        <p14:creationId xmlns:p14="http://schemas.microsoft.com/office/powerpoint/2010/main" val="7528329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FCD3B-AD98-4AEC-8AED-FF5F23CE4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Adding Comments Modal Window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B78BE-06EC-4F3D-895F-ECB8E722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Comments are also displayed in modal window.</a:t>
            </a:r>
          </a:p>
          <a:p>
            <a:r>
              <a:rPr lang="en-GB" dirty="0"/>
              <a:t>Let’s take a look at the wireframe design that displays Comments on the next slide.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62EF09-7A64-40AD-ABE8-8E903A7CA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4023-6F3A-457B-B0BB-8C1F114B424F}" type="slidenum">
              <a:rPr lang="en-SG" smtClean="0"/>
              <a:t>11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77773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9DF95-D5F3-4E6F-83C2-2F0161B53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Wireframe - Comments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CDE5824-485F-46AF-BF18-0F0EEE7C86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2107" y="2214230"/>
            <a:ext cx="8964769" cy="315784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64E4A9-0238-4AC5-8BD3-D5317D533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4023-6F3A-457B-B0BB-8C1F114B424F}" type="slidenum">
              <a:rPr lang="en-SG" smtClean="0"/>
              <a:t>12</a:t>
            </a:fld>
            <a:endParaRPr lang="en-SG"/>
          </a:p>
        </p:txBody>
      </p:sp>
      <p:sp>
        <p:nvSpPr>
          <p:cNvPr id="5" name="Rectangular Callout 21">
            <a:extLst>
              <a:ext uri="{FF2B5EF4-FFF2-40B4-BE49-F238E27FC236}">
                <a16:creationId xmlns:a16="http://schemas.microsoft.com/office/drawing/2014/main" id="{DB50B180-FC45-4461-B1C7-A7756F8B99B6}"/>
              </a:ext>
            </a:extLst>
          </p:cNvPr>
          <p:cNvSpPr/>
          <p:nvPr/>
        </p:nvSpPr>
        <p:spPr>
          <a:xfrm>
            <a:off x="6845121" y="1435994"/>
            <a:ext cx="2569335" cy="675205"/>
          </a:xfrm>
          <a:prstGeom prst="wedgeRectCallout">
            <a:avLst>
              <a:gd name="adj1" fmla="val 21154"/>
              <a:gd name="adj2" fmla="val 135977"/>
            </a:avLst>
          </a:prstGeom>
          <a:solidFill>
            <a:schemeClr val="accent5">
              <a:lumMod val="75000"/>
            </a:schemeClr>
          </a:solidFill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Arial Unicode MS" charset="0"/>
                <a:ea typeface="Arial Unicode MS" charset="0"/>
                <a:cs typeface="Arial Unicode MS" charset="0"/>
              </a:rPr>
              <a:t>Button that will open a new Comment modal window for editing when clicked.</a:t>
            </a:r>
          </a:p>
        </p:txBody>
      </p:sp>
      <p:sp>
        <p:nvSpPr>
          <p:cNvPr id="7" name="Rectangular Callout 21">
            <a:extLst>
              <a:ext uri="{FF2B5EF4-FFF2-40B4-BE49-F238E27FC236}">
                <a16:creationId xmlns:a16="http://schemas.microsoft.com/office/drawing/2014/main" id="{DD509E98-321E-42C0-B234-C5B9E90AAE01}"/>
              </a:ext>
            </a:extLst>
          </p:cNvPr>
          <p:cNvSpPr/>
          <p:nvPr/>
        </p:nvSpPr>
        <p:spPr>
          <a:xfrm>
            <a:off x="9414456" y="2631583"/>
            <a:ext cx="2444840" cy="613894"/>
          </a:xfrm>
          <a:prstGeom prst="wedgeRectCallout">
            <a:avLst>
              <a:gd name="adj1" fmla="val -57496"/>
              <a:gd name="adj2" fmla="val 70836"/>
            </a:avLst>
          </a:prstGeom>
          <a:solidFill>
            <a:schemeClr val="accent5">
              <a:lumMod val="75000"/>
            </a:schemeClr>
          </a:solidFill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Arial Unicode MS" charset="0"/>
                <a:ea typeface="Arial Unicode MS" charset="0"/>
                <a:cs typeface="Arial Unicode MS" charset="0"/>
              </a:rPr>
              <a:t>Delete icon using </a:t>
            </a:r>
            <a:r>
              <a:rPr lang="en-GB" sz="1400" dirty="0" err="1">
                <a:latin typeface="Arial Unicode MS" charset="0"/>
                <a:ea typeface="Arial Unicode MS" charset="0"/>
                <a:cs typeface="Arial Unicode MS" charset="0"/>
              </a:rPr>
              <a:t>fontawesome</a:t>
            </a:r>
            <a:r>
              <a:rPr lang="en-GB" sz="1400" dirty="0">
                <a:latin typeface="Arial Unicode MS" charset="0"/>
                <a:ea typeface="Arial Unicode MS" charset="0"/>
                <a:cs typeface="Arial Unicode MS" charset="0"/>
              </a:rPr>
              <a:t> that will delete this comment when clicked.</a:t>
            </a:r>
          </a:p>
        </p:txBody>
      </p:sp>
      <p:sp>
        <p:nvSpPr>
          <p:cNvPr id="8" name="Rectangular Callout 21">
            <a:extLst>
              <a:ext uri="{FF2B5EF4-FFF2-40B4-BE49-F238E27FC236}">
                <a16:creationId xmlns:a16="http://schemas.microsoft.com/office/drawing/2014/main" id="{3338431E-073F-42ED-AE38-9B00E9BCF60E}"/>
              </a:ext>
            </a:extLst>
          </p:cNvPr>
          <p:cNvSpPr/>
          <p:nvPr/>
        </p:nvSpPr>
        <p:spPr>
          <a:xfrm>
            <a:off x="9193368" y="3660902"/>
            <a:ext cx="2665927" cy="1162109"/>
          </a:xfrm>
          <a:prstGeom prst="wedgeRectCallout">
            <a:avLst>
              <a:gd name="adj1" fmla="val -66188"/>
              <a:gd name="adj2" fmla="val -65527"/>
            </a:avLst>
          </a:prstGeom>
          <a:solidFill>
            <a:schemeClr val="accent5">
              <a:lumMod val="75000"/>
            </a:schemeClr>
          </a:solidFill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Arial Unicode MS" charset="0"/>
                <a:ea typeface="Arial Unicode MS" charset="0"/>
                <a:cs typeface="Arial Unicode MS" charset="0"/>
              </a:rPr>
              <a:t>Edit icon using </a:t>
            </a:r>
            <a:r>
              <a:rPr lang="en-GB" sz="1400" dirty="0" err="1">
                <a:latin typeface="Arial Unicode MS" charset="0"/>
                <a:ea typeface="Arial Unicode MS" charset="0"/>
                <a:cs typeface="Arial Unicode MS" charset="0"/>
              </a:rPr>
              <a:t>fontawesome</a:t>
            </a:r>
            <a:r>
              <a:rPr lang="en-GB" sz="1400" dirty="0">
                <a:latin typeface="Arial Unicode MS" charset="0"/>
                <a:ea typeface="Arial Unicode MS" charset="0"/>
                <a:cs typeface="Arial Unicode MS" charset="0"/>
              </a:rPr>
              <a:t>  that will open a Comment modal window for editing when clicked.</a:t>
            </a:r>
          </a:p>
        </p:txBody>
      </p:sp>
      <p:sp>
        <p:nvSpPr>
          <p:cNvPr id="9" name="Rectangular Callout 21">
            <a:extLst>
              <a:ext uri="{FF2B5EF4-FFF2-40B4-BE49-F238E27FC236}">
                <a16:creationId xmlns:a16="http://schemas.microsoft.com/office/drawing/2014/main" id="{56D14CBB-C5F7-47B9-B0A6-DAF32CB5B672}"/>
              </a:ext>
            </a:extLst>
          </p:cNvPr>
          <p:cNvSpPr/>
          <p:nvPr/>
        </p:nvSpPr>
        <p:spPr>
          <a:xfrm>
            <a:off x="8908959" y="5372074"/>
            <a:ext cx="2444840" cy="613894"/>
          </a:xfrm>
          <a:prstGeom prst="wedgeRectCallout">
            <a:avLst>
              <a:gd name="adj1" fmla="val -41429"/>
              <a:gd name="adj2" fmla="val -89653"/>
            </a:avLst>
          </a:prstGeom>
          <a:solidFill>
            <a:schemeClr val="accent5">
              <a:lumMod val="75000"/>
            </a:schemeClr>
          </a:solidFill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Arial Unicode MS" charset="0"/>
                <a:ea typeface="Arial Unicode MS" charset="0"/>
                <a:cs typeface="Arial Unicode MS" charset="0"/>
              </a:rPr>
              <a:t>Button that will close the modal window when clicked.</a:t>
            </a:r>
          </a:p>
        </p:txBody>
      </p:sp>
      <p:sp>
        <p:nvSpPr>
          <p:cNvPr id="10" name="Rectangular Callout 21">
            <a:extLst>
              <a:ext uri="{FF2B5EF4-FFF2-40B4-BE49-F238E27FC236}">
                <a16:creationId xmlns:a16="http://schemas.microsoft.com/office/drawing/2014/main" id="{521A91F7-3BA4-43ED-8DCA-81573D0764A0}"/>
              </a:ext>
            </a:extLst>
          </p:cNvPr>
          <p:cNvSpPr/>
          <p:nvPr/>
        </p:nvSpPr>
        <p:spPr>
          <a:xfrm>
            <a:off x="618186" y="3000778"/>
            <a:ext cx="2858036" cy="1236371"/>
          </a:xfrm>
          <a:prstGeom prst="wedgeRectCallout">
            <a:avLst>
              <a:gd name="adj1" fmla="val 98810"/>
              <a:gd name="adj2" fmla="val 6213"/>
            </a:avLst>
          </a:prstGeom>
          <a:solidFill>
            <a:schemeClr val="accent5">
              <a:lumMod val="75000"/>
            </a:schemeClr>
          </a:solidFill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Arial Unicode MS" charset="0"/>
                <a:ea typeface="Arial Unicode MS" charset="0"/>
                <a:cs typeface="Arial Unicode MS" charset="0"/>
              </a:rPr>
              <a:t>Five image icons that indicates the rating. Rating is based on a mixture of coloured and black-and-white images. Images will not be displayed if no rating given.</a:t>
            </a:r>
          </a:p>
        </p:txBody>
      </p:sp>
      <p:sp>
        <p:nvSpPr>
          <p:cNvPr id="11" name="Rectangular Callout 21">
            <a:extLst>
              <a:ext uri="{FF2B5EF4-FFF2-40B4-BE49-F238E27FC236}">
                <a16:creationId xmlns:a16="http://schemas.microsoft.com/office/drawing/2014/main" id="{D81E085D-880A-4D8C-8364-D77F6C42EBB8}"/>
              </a:ext>
            </a:extLst>
          </p:cNvPr>
          <p:cNvSpPr/>
          <p:nvPr/>
        </p:nvSpPr>
        <p:spPr>
          <a:xfrm>
            <a:off x="1442434" y="4370605"/>
            <a:ext cx="2747493" cy="797555"/>
          </a:xfrm>
          <a:prstGeom prst="wedgeRectCallout">
            <a:avLst>
              <a:gd name="adj1" fmla="val 110215"/>
              <a:gd name="adj2" fmla="val -68185"/>
            </a:avLst>
          </a:prstGeom>
          <a:solidFill>
            <a:schemeClr val="accent5">
              <a:lumMod val="75000"/>
            </a:schemeClr>
          </a:solidFill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Arial Unicode MS" charset="0"/>
                <a:ea typeface="Arial Unicode MS" charset="0"/>
                <a:cs typeface="Arial Unicode MS" charset="0"/>
              </a:rPr>
              <a:t>Text to display user comments. If no comment, display “</a:t>
            </a:r>
            <a:r>
              <a:rPr lang="en-GB" sz="1400" dirty="0">
                <a:highlight>
                  <a:srgbClr val="0070C0"/>
                </a:highlight>
                <a:latin typeface="Arial Unicode MS" charset="0"/>
                <a:ea typeface="Arial Unicode MS" charset="0"/>
                <a:cs typeface="Arial Unicode MS" charset="0"/>
              </a:rPr>
              <a:t>No review yet. Create one now</a:t>
            </a:r>
            <a:r>
              <a:rPr lang="en-GB" sz="1400" dirty="0">
                <a:latin typeface="Arial Unicode MS" charset="0"/>
                <a:ea typeface="Arial Unicode MS" charset="0"/>
                <a:cs typeface="Arial Unicode MS" charset="0"/>
              </a:rPr>
              <a:t>.”</a:t>
            </a:r>
          </a:p>
        </p:txBody>
      </p:sp>
      <p:sp>
        <p:nvSpPr>
          <p:cNvPr id="12" name="Rectangular Callout 21">
            <a:extLst>
              <a:ext uri="{FF2B5EF4-FFF2-40B4-BE49-F238E27FC236}">
                <a16:creationId xmlns:a16="http://schemas.microsoft.com/office/drawing/2014/main" id="{1F98D99E-4CF8-4ABE-BF84-02EC13729FEF}"/>
              </a:ext>
            </a:extLst>
          </p:cNvPr>
          <p:cNvSpPr/>
          <p:nvPr/>
        </p:nvSpPr>
        <p:spPr>
          <a:xfrm>
            <a:off x="4140558" y="5372074"/>
            <a:ext cx="3020096" cy="893498"/>
          </a:xfrm>
          <a:prstGeom prst="wedgeRectCallout">
            <a:avLst>
              <a:gd name="adj1" fmla="val 13874"/>
              <a:gd name="adj2" fmla="val -133803"/>
            </a:avLst>
          </a:prstGeom>
          <a:solidFill>
            <a:schemeClr val="accent5">
              <a:lumMod val="75000"/>
            </a:schemeClr>
          </a:solidFill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Arial Unicode MS" charset="0"/>
                <a:ea typeface="Arial Unicode MS" charset="0"/>
                <a:cs typeface="Arial Unicode MS" charset="0"/>
              </a:rPr>
              <a:t>Text to display username/nickname, and date and time the comment is made. If no comment, whole line will not be shown.</a:t>
            </a:r>
          </a:p>
        </p:txBody>
      </p:sp>
      <p:sp>
        <p:nvSpPr>
          <p:cNvPr id="13" name="Rectangular Callout 21">
            <a:extLst>
              <a:ext uri="{FF2B5EF4-FFF2-40B4-BE49-F238E27FC236}">
                <a16:creationId xmlns:a16="http://schemas.microsoft.com/office/drawing/2014/main" id="{13CF50B0-A714-46A9-B93F-5838AB8067FF}"/>
              </a:ext>
            </a:extLst>
          </p:cNvPr>
          <p:cNvSpPr/>
          <p:nvPr/>
        </p:nvSpPr>
        <p:spPr>
          <a:xfrm>
            <a:off x="3908738" y="1396423"/>
            <a:ext cx="1336182" cy="613894"/>
          </a:xfrm>
          <a:prstGeom prst="wedgeRectCallout">
            <a:avLst>
              <a:gd name="adj1" fmla="val 18759"/>
              <a:gd name="adj2" fmla="val 165241"/>
            </a:avLst>
          </a:prstGeom>
          <a:solidFill>
            <a:schemeClr val="accent5">
              <a:lumMod val="75000"/>
            </a:schemeClr>
          </a:solidFill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Arial Unicode MS" charset="0"/>
                <a:ea typeface="Arial Unicode MS" charset="0"/>
                <a:cs typeface="Arial Unicode MS" charset="0"/>
              </a:rPr>
              <a:t>Text to display movie title.</a:t>
            </a:r>
          </a:p>
        </p:txBody>
      </p:sp>
    </p:spTree>
    <p:extLst>
      <p:ext uri="{BB962C8B-B14F-4D97-AF65-F5344CB8AC3E}">
        <p14:creationId xmlns:p14="http://schemas.microsoft.com/office/powerpoint/2010/main" val="2327122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FCD3B-AD98-4AEC-8AED-FF5F23CE4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Adding Comments Modal Window - comments-modal.html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B78BE-06EC-4F3D-895F-ECB8E7227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7638" y="1616466"/>
            <a:ext cx="10336162" cy="100241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dirty="0"/>
              <a:t>We will starting with creating the modal window in HTML.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62EF09-7A64-40AD-ABE8-8E903A7CA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4023-6F3A-457B-B0BB-8C1F114B424F}" type="slidenum">
              <a:rPr lang="en-SG" smtClean="0"/>
              <a:t>13</a:t>
            </a:fld>
            <a:endParaRPr lang="en-SG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1E8603-6D42-4A90-A7EE-F389E0F72585}"/>
              </a:ext>
            </a:extLst>
          </p:cNvPr>
          <p:cNvSpPr txBox="1"/>
          <p:nvPr/>
        </p:nvSpPr>
        <p:spPr>
          <a:xfrm>
            <a:off x="407916" y="2189571"/>
            <a:ext cx="11555604" cy="360098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SG" sz="1200" dirty="0">
                <a:solidFill>
                  <a:schemeClr val="accent5"/>
                </a:solidFill>
                <a:latin typeface="Courier"/>
              </a:rPr>
              <a:t>&lt;!-- this is a structure of Bootstrap Modal --&gt;</a:t>
            </a:r>
          </a:p>
          <a:p>
            <a:r>
              <a:rPr lang="en-SG" sz="1200" dirty="0">
                <a:solidFill>
                  <a:srgbClr val="C00000"/>
                </a:solidFill>
                <a:latin typeface="Courier"/>
              </a:rPr>
              <a:t>&lt;div </a:t>
            </a:r>
            <a:r>
              <a:rPr lang="en-SG" sz="1200" dirty="0">
                <a:solidFill>
                  <a:srgbClr val="FF0000"/>
                </a:solidFill>
                <a:latin typeface="Courier"/>
              </a:rPr>
              <a:t>class</a:t>
            </a:r>
            <a:r>
              <a:rPr lang="en-SG" sz="12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SG" sz="1200" dirty="0">
                <a:solidFill>
                  <a:srgbClr val="007DDA"/>
                </a:solidFill>
                <a:latin typeface="Courier"/>
              </a:rPr>
              <a:t>modal fade</a:t>
            </a:r>
            <a:r>
              <a:rPr lang="en-SG" sz="1200" dirty="0">
                <a:solidFill>
                  <a:srgbClr val="C00000"/>
                </a:solidFill>
                <a:latin typeface="Courier"/>
              </a:rPr>
              <a:t>" </a:t>
            </a:r>
            <a:r>
              <a:rPr lang="en-SG" sz="1200" dirty="0">
                <a:solidFill>
                  <a:srgbClr val="FF0000"/>
                </a:solidFill>
                <a:latin typeface="Courier"/>
              </a:rPr>
              <a:t>id</a:t>
            </a:r>
            <a:r>
              <a:rPr lang="en-SG" sz="12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SG" sz="1200" dirty="0" err="1">
                <a:solidFill>
                  <a:srgbClr val="007DDA"/>
                </a:solidFill>
                <a:latin typeface="Courier"/>
              </a:rPr>
              <a:t>commentModal</a:t>
            </a:r>
            <a:r>
              <a:rPr lang="en-SG" sz="1200" dirty="0">
                <a:solidFill>
                  <a:srgbClr val="C00000"/>
                </a:solidFill>
                <a:latin typeface="Courier"/>
              </a:rPr>
              <a:t>" </a:t>
            </a:r>
            <a:r>
              <a:rPr lang="en-SG" sz="1200" dirty="0" err="1">
                <a:solidFill>
                  <a:srgbClr val="FF0000"/>
                </a:solidFill>
                <a:latin typeface="Courier"/>
              </a:rPr>
              <a:t>tabindex</a:t>
            </a:r>
            <a:r>
              <a:rPr lang="en-SG" sz="12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SG" sz="1200" dirty="0">
                <a:solidFill>
                  <a:srgbClr val="007DDA"/>
                </a:solidFill>
                <a:latin typeface="Courier"/>
              </a:rPr>
              <a:t>-1</a:t>
            </a:r>
            <a:r>
              <a:rPr lang="en-SG" sz="1200" dirty="0">
                <a:solidFill>
                  <a:srgbClr val="C00000"/>
                </a:solidFill>
                <a:latin typeface="Courier"/>
              </a:rPr>
              <a:t>" </a:t>
            </a:r>
            <a:r>
              <a:rPr lang="en-SG" sz="1200" dirty="0">
                <a:solidFill>
                  <a:srgbClr val="FF0000"/>
                </a:solidFill>
                <a:latin typeface="Courier"/>
              </a:rPr>
              <a:t>role</a:t>
            </a:r>
            <a:r>
              <a:rPr lang="en-SG" sz="12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SG" sz="1200" dirty="0">
                <a:solidFill>
                  <a:srgbClr val="007DDA"/>
                </a:solidFill>
                <a:latin typeface="Courier"/>
              </a:rPr>
              <a:t>dialog</a:t>
            </a:r>
            <a:r>
              <a:rPr lang="en-SG" sz="1200" dirty="0">
                <a:solidFill>
                  <a:srgbClr val="C00000"/>
                </a:solidFill>
                <a:latin typeface="Courier"/>
              </a:rPr>
              <a:t>"&gt;</a:t>
            </a:r>
          </a:p>
          <a:p>
            <a:r>
              <a:rPr lang="en-SG" sz="1200" dirty="0">
                <a:solidFill>
                  <a:srgbClr val="C00000"/>
                </a:solidFill>
                <a:latin typeface="Courier"/>
              </a:rPr>
              <a:t>    &lt;div </a:t>
            </a:r>
            <a:r>
              <a:rPr lang="en-SG" sz="1200" dirty="0">
                <a:solidFill>
                  <a:srgbClr val="FF0000"/>
                </a:solidFill>
                <a:latin typeface="Courier"/>
              </a:rPr>
              <a:t>class</a:t>
            </a:r>
            <a:r>
              <a:rPr lang="en-SG" sz="12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SG" sz="1200" dirty="0">
                <a:solidFill>
                  <a:srgbClr val="007DDA"/>
                </a:solidFill>
                <a:latin typeface="Courier"/>
              </a:rPr>
              <a:t>modal-dialog modal-</a:t>
            </a:r>
            <a:r>
              <a:rPr lang="en-SG" sz="1200" dirty="0" err="1">
                <a:solidFill>
                  <a:srgbClr val="007DDA"/>
                </a:solidFill>
                <a:latin typeface="Courier"/>
              </a:rPr>
              <a:t>lg</a:t>
            </a:r>
            <a:r>
              <a:rPr lang="en-SG" sz="1200" dirty="0">
                <a:solidFill>
                  <a:srgbClr val="C00000"/>
                </a:solidFill>
                <a:latin typeface="Courier"/>
              </a:rPr>
              <a:t>" </a:t>
            </a:r>
            <a:r>
              <a:rPr lang="en-SG" sz="1200" dirty="0">
                <a:solidFill>
                  <a:srgbClr val="FF0000"/>
                </a:solidFill>
                <a:latin typeface="Courier"/>
              </a:rPr>
              <a:t>role</a:t>
            </a:r>
            <a:r>
              <a:rPr lang="en-SG" sz="12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SG" sz="1200" dirty="0">
                <a:solidFill>
                  <a:srgbClr val="007DDA"/>
                </a:solidFill>
                <a:latin typeface="Courier"/>
              </a:rPr>
              <a:t>document</a:t>
            </a:r>
            <a:r>
              <a:rPr lang="en-SG" sz="1200" dirty="0">
                <a:solidFill>
                  <a:srgbClr val="C00000"/>
                </a:solidFill>
                <a:latin typeface="Courier"/>
              </a:rPr>
              <a:t>"&gt;</a:t>
            </a:r>
          </a:p>
          <a:p>
            <a:r>
              <a:rPr lang="en-SG" sz="1200" dirty="0">
                <a:solidFill>
                  <a:srgbClr val="C00000"/>
                </a:solidFill>
                <a:latin typeface="Courier"/>
              </a:rPr>
              <a:t>        &lt;div </a:t>
            </a:r>
            <a:r>
              <a:rPr lang="en-SG" sz="1200" dirty="0">
                <a:solidFill>
                  <a:srgbClr val="FF0000"/>
                </a:solidFill>
                <a:latin typeface="Courier"/>
              </a:rPr>
              <a:t>class</a:t>
            </a:r>
            <a:r>
              <a:rPr lang="en-SG" sz="12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SG" sz="1200" dirty="0">
                <a:solidFill>
                  <a:srgbClr val="007DDA"/>
                </a:solidFill>
                <a:latin typeface="Courier"/>
              </a:rPr>
              <a:t>modal-content</a:t>
            </a:r>
            <a:r>
              <a:rPr lang="en-SG" sz="1200" dirty="0">
                <a:solidFill>
                  <a:srgbClr val="C00000"/>
                </a:solidFill>
                <a:latin typeface="Courier"/>
              </a:rPr>
              <a:t>"&gt;</a:t>
            </a:r>
          </a:p>
          <a:p>
            <a:r>
              <a:rPr lang="en-SG" sz="1200" dirty="0">
                <a:solidFill>
                  <a:srgbClr val="C00000"/>
                </a:solidFill>
                <a:latin typeface="Courier"/>
              </a:rPr>
              <a:t>            &lt;div </a:t>
            </a:r>
            <a:r>
              <a:rPr lang="en-SG" sz="1200" dirty="0">
                <a:solidFill>
                  <a:srgbClr val="FF0000"/>
                </a:solidFill>
                <a:latin typeface="Courier"/>
              </a:rPr>
              <a:t>class</a:t>
            </a:r>
            <a:r>
              <a:rPr lang="en-SG" sz="12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SG" sz="1200" dirty="0">
                <a:solidFill>
                  <a:srgbClr val="007DDA"/>
                </a:solidFill>
                <a:latin typeface="Courier"/>
              </a:rPr>
              <a:t>modal-header </a:t>
            </a:r>
            <a:r>
              <a:rPr lang="en-SG" sz="1200" dirty="0" err="1">
                <a:solidFill>
                  <a:srgbClr val="007DDA"/>
                </a:solidFill>
                <a:latin typeface="Courier"/>
              </a:rPr>
              <a:t>bg</a:t>
            </a:r>
            <a:r>
              <a:rPr lang="en-SG" sz="1200" dirty="0">
                <a:solidFill>
                  <a:srgbClr val="007DDA"/>
                </a:solidFill>
                <a:latin typeface="Courier"/>
              </a:rPr>
              <a:t>-dark text-</a:t>
            </a:r>
            <a:r>
              <a:rPr lang="en-SG" sz="1200" dirty="0" err="1">
                <a:solidFill>
                  <a:srgbClr val="007DDA"/>
                </a:solidFill>
                <a:latin typeface="Courier"/>
              </a:rPr>
              <a:t>center</a:t>
            </a:r>
            <a:r>
              <a:rPr lang="en-SG" sz="1200" dirty="0">
                <a:solidFill>
                  <a:srgbClr val="C00000"/>
                </a:solidFill>
                <a:latin typeface="Courier"/>
              </a:rPr>
              <a:t>"&gt;</a:t>
            </a:r>
          </a:p>
          <a:p>
            <a:r>
              <a:rPr lang="en-SG" sz="1200" dirty="0">
                <a:solidFill>
                  <a:srgbClr val="C00000"/>
                </a:solidFill>
                <a:latin typeface="Courier"/>
              </a:rPr>
              <a:t>                &lt;h5 </a:t>
            </a:r>
            <a:r>
              <a:rPr lang="en-SG" sz="1200" dirty="0">
                <a:solidFill>
                  <a:srgbClr val="FF0000"/>
                </a:solidFill>
                <a:latin typeface="Courier"/>
              </a:rPr>
              <a:t>class</a:t>
            </a:r>
            <a:r>
              <a:rPr lang="en-SG" sz="12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SG" sz="1200" dirty="0">
                <a:solidFill>
                  <a:srgbClr val="007DDA"/>
                </a:solidFill>
                <a:latin typeface="Courier"/>
              </a:rPr>
              <a:t>modal-title text-light</a:t>
            </a:r>
            <a:r>
              <a:rPr lang="en-SG" sz="1200" dirty="0">
                <a:solidFill>
                  <a:srgbClr val="C00000"/>
                </a:solidFill>
                <a:latin typeface="Courier"/>
              </a:rPr>
              <a:t>" </a:t>
            </a:r>
            <a:r>
              <a:rPr lang="en-SG" sz="1200" dirty="0">
                <a:solidFill>
                  <a:srgbClr val="FF0000"/>
                </a:solidFill>
                <a:latin typeface="Courier"/>
              </a:rPr>
              <a:t>id</a:t>
            </a:r>
            <a:r>
              <a:rPr lang="en-SG" sz="12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SG" sz="1200" dirty="0">
                <a:solidFill>
                  <a:srgbClr val="007DDA"/>
                </a:solidFill>
                <a:latin typeface="Courier"/>
              </a:rPr>
              <a:t>review</a:t>
            </a:r>
            <a:r>
              <a:rPr lang="en-SG" sz="1200" dirty="0">
                <a:solidFill>
                  <a:srgbClr val="C00000"/>
                </a:solidFill>
                <a:latin typeface="Courier"/>
              </a:rPr>
              <a:t>"&gt;</a:t>
            </a:r>
            <a:r>
              <a:rPr lang="en-SG" sz="1200" dirty="0">
                <a:latin typeface="Courier"/>
              </a:rPr>
              <a:t>Review</a:t>
            </a:r>
            <a:r>
              <a:rPr lang="en-SG" sz="1200" dirty="0">
                <a:solidFill>
                  <a:srgbClr val="C00000"/>
                </a:solidFill>
                <a:latin typeface="Courier"/>
              </a:rPr>
              <a:t>&lt;/h5&gt;</a:t>
            </a:r>
          </a:p>
          <a:p>
            <a:r>
              <a:rPr lang="en-SG" sz="1200" dirty="0">
                <a:solidFill>
                  <a:srgbClr val="C00000"/>
                </a:solidFill>
                <a:latin typeface="Courier"/>
              </a:rPr>
              <a:t>	&lt;button </a:t>
            </a:r>
            <a:r>
              <a:rPr lang="en-SG" sz="1200" dirty="0">
                <a:solidFill>
                  <a:srgbClr val="FF0000"/>
                </a:solidFill>
                <a:latin typeface="Courier"/>
              </a:rPr>
              <a:t>type</a:t>
            </a:r>
            <a:r>
              <a:rPr lang="en-SG" sz="12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SG" sz="1200" dirty="0">
                <a:solidFill>
                  <a:srgbClr val="007DDA"/>
                </a:solidFill>
                <a:latin typeface="Courier"/>
              </a:rPr>
              <a:t>button</a:t>
            </a:r>
            <a:r>
              <a:rPr lang="en-SG" sz="1200" dirty="0">
                <a:solidFill>
                  <a:srgbClr val="C00000"/>
                </a:solidFill>
                <a:latin typeface="Courier"/>
              </a:rPr>
              <a:t>" </a:t>
            </a:r>
            <a:r>
              <a:rPr lang="en-SG" sz="1200" dirty="0">
                <a:solidFill>
                  <a:srgbClr val="FF0000"/>
                </a:solidFill>
                <a:latin typeface="Courier"/>
              </a:rPr>
              <a:t>class</a:t>
            </a:r>
            <a:r>
              <a:rPr lang="en-SG" sz="12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SG" sz="1200" dirty="0" err="1">
                <a:solidFill>
                  <a:srgbClr val="007DDA"/>
                </a:solidFill>
                <a:latin typeface="Courier"/>
              </a:rPr>
              <a:t>btn</a:t>
            </a:r>
            <a:r>
              <a:rPr lang="en-SG" sz="1200" dirty="0">
                <a:solidFill>
                  <a:srgbClr val="007DDA"/>
                </a:solidFill>
                <a:latin typeface="Courier"/>
              </a:rPr>
              <a:t> </a:t>
            </a:r>
            <a:r>
              <a:rPr lang="en-SG" sz="1200" dirty="0" err="1">
                <a:solidFill>
                  <a:srgbClr val="007DDA"/>
                </a:solidFill>
                <a:latin typeface="Courier"/>
              </a:rPr>
              <a:t>btn</a:t>
            </a:r>
            <a:r>
              <a:rPr lang="en-SG" sz="1200" dirty="0">
                <a:solidFill>
                  <a:srgbClr val="007DDA"/>
                </a:solidFill>
                <a:latin typeface="Courier"/>
              </a:rPr>
              <a:t>-primary</a:t>
            </a:r>
            <a:r>
              <a:rPr lang="en-SG" sz="1200" dirty="0">
                <a:solidFill>
                  <a:srgbClr val="C00000"/>
                </a:solidFill>
                <a:latin typeface="Courier"/>
              </a:rPr>
              <a:t>" </a:t>
            </a:r>
            <a:r>
              <a:rPr lang="en-SG" sz="1200" dirty="0">
                <a:solidFill>
                  <a:srgbClr val="FF0000"/>
                </a:solidFill>
                <a:latin typeface="Courier"/>
              </a:rPr>
              <a:t>id</a:t>
            </a:r>
            <a:r>
              <a:rPr lang="en-SG" sz="12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SG" sz="1200" dirty="0" err="1">
                <a:solidFill>
                  <a:srgbClr val="007DDA"/>
                </a:solidFill>
                <a:latin typeface="Courier"/>
              </a:rPr>
              <a:t>newComment</a:t>
            </a:r>
            <a:r>
              <a:rPr lang="en-SG" sz="1200" dirty="0">
                <a:solidFill>
                  <a:srgbClr val="C00000"/>
                </a:solidFill>
                <a:latin typeface="Courier"/>
              </a:rPr>
              <a:t>"</a:t>
            </a:r>
            <a:r>
              <a:rPr lang="it-IT" sz="1200" dirty="0">
                <a:solidFill>
                  <a:srgbClr val="C00000"/>
                </a:solidFill>
                <a:latin typeface="Courier"/>
              </a:rPr>
              <a:t> </a:t>
            </a:r>
            <a:r>
              <a:rPr lang="it-IT" sz="1200" dirty="0">
                <a:solidFill>
                  <a:srgbClr val="FF0000"/>
                </a:solidFill>
                <a:latin typeface="Courier"/>
              </a:rPr>
              <a:t>data-toggle</a:t>
            </a:r>
            <a:r>
              <a:rPr lang="it-IT" sz="12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it-IT" sz="1200" dirty="0">
                <a:solidFill>
                  <a:srgbClr val="007DDA"/>
                </a:solidFill>
                <a:latin typeface="Courier"/>
              </a:rPr>
              <a:t>modal</a:t>
            </a:r>
            <a:r>
              <a:rPr lang="it-IT" sz="1200" dirty="0">
                <a:solidFill>
                  <a:srgbClr val="C00000"/>
                </a:solidFill>
                <a:latin typeface="Courier"/>
              </a:rPr>
              <a:t>" </a:t>
            </a:r>
            <a:r>
              <a:rPr lang="it-IT" sz="1200" dirty="0">
                <a:solidFill>
                  <a:srgbClr val="FF0000"/>
                </a:solidFill>
                <a:latin typeface="Courier"/>
              </a:rPr>
              <a:t>data-target</a:t>
            </a:r>
            <a:r>
              <a:rPr lang="it-IT" sz="12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it-IT" sz="1200" dirty="0">
                <a:solidFill>
                  <a:srgbClr val="007DDA"/>
                </a:solidFill>
                <a:latin typeface="Courier"/>
              </a:rPr>
              <a:t>#newCommentModal</a:t>
            </a:r>
            <a:r>
              <a:rPr lang="it-IT" sz="1200" dirty="0">
                <a:solidFill>
                  <a:srgbClr val="C00000"/>
                </a:solidFill>
                <a:latin typeface="Courier"/>
              </a:rPr>
              <a:t>" 	</a:t>
            </a:r>
            <a:r>
              <a:rPr lang="it-IT" sz="1200" dirty="0">
                <a:solidFill>
                  <a:srgbClr val="FF0000"/>
                </a:solidFill>
                <a:latin typeface="Courier"/>
              </a:rPr>
              <a:t>data-dismiss</a:t>
            </a:r>
            <a:r>
              <a:rPr lang="it-IT" sz="12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it-IT" sz="1200" dirty="0">
                <a:solidFill>
                  <a:srgbClr val="007DDA"/>
                </a:solidFill>
                <a:latin typeface="Courier"/>
              </a:rPr>
              <a:t>modal</a:t>
            </a:r>
            <a:r>
              <a:rPr lang="it-IT" sz="1200" dirty="0">
                <a:solidFill>
                  <a:srgbClr val="C00000"/>
                </a:solidFill>
                <a:latin typeface="Courier"/>
              </a:rPr>
              <a:t>" </a:t>
            </a:r>
            <a:r>
              <a:rPr lang="en-SG" sz="1200" dirty="0" err="1">
                <a:solidFill>
                  <a:srgbClr val="FF0000"/>
                </a:solidFill>
                <a:latin typeface="Courier"/>
              </a:rPr>
              <a:t>onClick</a:t>
            </a:r>
            <a:r>
              <a:rPr lang="en-SG" sz="12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SG" sz="1200" dirty="0" err="1">
                <a:solidFill>
                  <a:srgbClr val="007DDA"/>
                </a:solidFill>
                <a:latin typeface="Courier"/>
              </a:rPr>
              <a:t>newComment</a:t>
            </a:r>
            <a:r>
              <a:rPr lang="en-SG" sz="1200" dirty="0">
                <a:solidFill>
                  <a:srgbClr val="007DDA"/>
                </a:solidFill>
                <a:latin typeface="Courier"/>
              </a:rPr>
              <a:t>()</a:t>
            </a:r>
            <a:r>
              <a:rPr lang="en-SG" sz="1200" dirty="0">
                <a:solidFill>
                  <a:srgbClr val="C00000"/>
                </a:solidFill>
                <a:latin typeface="Courier"/>
              </a:rPr>
              <a:t>"&gt;</a:t>
            </a:r>
            <a:r>
              <a:rPr lang="en-SG" sz="1200" dirty="0">
                <a:latin typeface="Courier"/>
              </a:rPr>
              <a:t>New Comment</a:t>
            </a:r>
            <a:r>
              <a:rPr lang="en-SG" sz="1200" dirty="0">
                <a:solidFill>
                  <a:srgbClr val="C00000"/>
                </a:solidFill>
                <a:latin typeface="Courier"/>
              </a:rPr>
              <a:t>&lt;/button&gt;</a:t>
            </a:r>
          </a:p>
          <a:p>
            <a:r>
              <a:rPr lang="en-SG" sz="1200" dirty="0">
                <a:solidFill>
                  <a:srgbClr val="C00000"/>
                </a:solidFill>
                <a:latin typeface="Courier"/>
              </a:rPr>
              <a:t>            &lt;/div&gt;</a:t>
            </a:r>
          </a:p>
          <a:p>
            <a:r>
              <a:rPr lang="en-SG" sz="1200" dirty="0">
                <a:solidFill>
                  <a:srgbClr val="C00000"/>
                </a:solidFill>
                <a:latin typeface="Courier"/>
              </a:rPr>
              <a:t>            &lt;div </a:t>
            </a:r>
            <a:r>
              <a:rPr lang="en-SG" sz="1200" dirty="0">
                <a:solidFill>
                  <a:srgbClr val="FF0000"/>
                </a:solidFill>
                <a:latin typeface="Courier"/>
              </a:rPr>
              <a:t>class</a:t>
            </a:r>
            <a:r>
              <a:rPr lang="en-SG" sz="12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SG" sz="1200" dirty="0">
                <a:solidFill>
                  <a:srgbClr val="007DDA"/>
                </a:solidFill>
                <a:latin typeface="Courier"/>
              </a:rPr>
              <a:t>modal-body</a:t>
            </a:r>
            <a:r>
              <a:rPr lang="en-SG" sz="1200" dirty="0">
                <a:solidFill>
                  <a:srgbClr val="C00000"/>
                </a:solidFill>
                <a:latin typeface="Courier"/>
              </a:rPr>
              <a:t>"&gt;</a:t>
            </a:r>
          </a:p>
          <a:p>
            <a:r>
              <a:rPr lang="en-SG" sz="1200" dirty="0">
                <a:solidFill>
                  <a:srgbClr val="C00000"/>
                </a:solidFill>
                <a:latin typeface="Courier"/>
              </a:rPr>
              <a:t>                &lt;div </a:t>
            </a:r>
            <a:r>
              <a:rPr lang="en-SG" sz="1200" dirty="0">
                <a:solidFill>
                  <a:srgbClr val="FF0000"/>
                </a:solidFill>
                <a:latin typeface="Courier"/>
              </a:rPr>
              <a:t>id</a:t>
            </a:r>
            <a:r>
              <a:rPr lang="en-SG" sz="12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SG" sz="1200" dirty="0" err="1">
                <a:solidFill>
                  <a:srgbClr val="007DDA"/>
                </a:solidFill>
                <a:latin typeface="Courier"/>
              </a:rPr>
              <a:t>emptyComment</a:t>
            </a:r>
            <a:r>
              <a:rPr lang="en-SG" sz="1200" dirty="0">
                <a:solidFill>
                  <a:srgbClr val="C00000"/>
                </a:solidFill>
                <a:latin typeface="Courier"/>
              </a:rPr>
              <a:t>"&gt;</a:t>
            </a:r>
            <a:r>
              <a:rPr lang="en-SG" sz="1200" dirty="0">
                <a:latin typeface="Courier"/>
              </a:rPr>
              <a:t>No review yet. Create one now</a:t>
            </a:r>
            <a:r>
              <a:rPr lang="en-SG" sz="1200" dirty="0">
                <a:solidFill>
                  <a:srgbClr val="C00000"/>
                </a:solidFill>
                <a:latin typeface="Courier"/>
              </a:rPr>
              <a:t>&lt;/div&gt;</a:t>
            </a:r>
          </a:p>
          <a:p>
            <a:r>
              <a:rPr lang="en-SG" sz="1200" dirty="0">
                <a:solidFill>
                  <a:srgbClr val="C00000"/>
                </a:solidFill>
                <a:latin typeface="Courier"/>
              </a:rPr>
              <a:t>                &lt;div </a:t>
            </a:r>
            <a:r>
              <a:rPr lang="en-SG" sz="1200" dirty="0">
                <a:solidFill>
                  <a:srgbClr val="FF0000"/>
                </a:solidFill>
                <a:latin typeface="Courier"/>
              </a:rPr>
              <a:t>class</a:t>
            </a:r>
            <a:r>
              <a:rPr lang="en-SG" sz="12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SG" sz="1200" dirty="0">
                <a:solidFill>
                  <a:srgbClr val="007DDA"/>
                </a:solidFill>
                <a:latin typeface="Courier"/>
              </a:rPr>
              <a:t>row px-5</a:t>
            </a:r>
            <a:r>
              <a:rPr lang="en-SG" sz="1200" dirty="0">
                <a:solidFill>
                  <a:srgbClr val="C00000"/>
                </a:solidFill>
                <a:latin typeface="Courier"/>
              </a:rPr>
              <a:t>" </a:t>
            </a:r>
            <a:r>
              <a:rPr lang="en-SG" sz="1200" dirty="0">
                <a:solidFill>
                  <a:srgbClr val="FF0000"/>
                </a:solidFill>
                <a:latin typeface="Courier"/>
              </a:rPr>
              <a:t>id</a:t>
            </a:r>
            <a:r>
              <a:rPr lang="en-SG" sz="12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SG" sz="1200" dirty="0" err="1">
                <a:solidFill>
                  <a:srgbClr val="007DDA"/>
                </a:solidFill>
                <a:latin typeface="Courier"/>
              </a:rPr>
              <a:t>commentBody</a:t>
            </a:r>
            <a:r>
              <a:rPr lang="en-SG" sz="1200" dirty="0">
                <a:solidFill>
                  <a:srgbClr val="C00000"/>
                </a:solidFill>
                <a:latin typeface="Courier"/>
              </a:rPr>
              <a:t>"&gt;&lt;/div&gt;</a:t>
            </a:r>
          </a:p>
          <a:p>
            <a:r>
              <a:rPr lang="en-SG" sz="1200" dirty="0">
                <a:solidFill>
                  <a:srgbClr val="C00000"/>
                </a:solidFill>
                <a:latin typeface="Courier"/>
              </a:rPr>
              <a:t>                &lt;div </a:t>
            </a:r>
            <a:r>
              <a:rPr lang="en-SG" sz="1200" dirty="0">
                <a:solidFill>
                  <a:srgbClr val="FF0000"/>
                </a:solidFill>
                <a:latin typeface="Courier"/>
              </a:rPr>
              <a:t>class</a:t>
            </a:r>
            <a:r>
              <a:rPr lang="en-SG" sz="12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SG" sz="1200" dirty="0">
                <a:solidFill>
                  <a:srgbClr val="007DDA"/>
                </a:solidFill>
                <a:latin typeface="Courier"/>
              </a:rPr>
              <a:t>modal-footer</a:t>
            </a:r>
            <a:r>
              <a:rPr lang="en-SG" sz="1200" dirty="0">
                <a:solidFill>
                  <a:srgbClr val="C00000"/>
                </a:solidFill>
                <a:latin typeface="Courier"/>
              </a:rPr>
              <a:t>"&gt;</a:t>
            </a:r>
          </a:p>
          <a:p>
            <a:r>
              <a:rPr lang="en-SG" sz="1200" dirty="0">
                <a:solidFill>
                  <a:srgbClr val="C00000"/>
                </a:solidFill>
                <a:latin typeface="Courier"/>
              </a:rPr>
              <a:t>                    &lt;button </a:t>
            </a:r>
            <a:r>
              <a:rPr lang="en-SG" sz="1200" dirty="0">
                <a:solidFill>
                  <a:srgbClr val="FF0000"/>
                </a:solidFill>
                <a:latin typeface="Courier"/>
              </a:rPr>
              <a:t>type</a:t>
            </a:r>
            <a:r>
              <a:rPr lang="en-SG" sz="12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SG" sz="1200" dirty="0">
                <a:solidFill>
                  <a:srgbClr val="007DDA"/>
                </a:solidFill>
                <a:latin typeface="Courier"/>
              </a:rPr>
              <a:t>button</a:t>
            </a:r>
            <a:r>
              <a:rPr lang="en-SG" sz="1200" dirty="0">
                <a:solidFill>
                  <a:srgbClr val="C00000"/>
                </a:solidFill>
                <a:latin typeface="Courier"/>
              </a:rPr>
              <a:t>" </a:t>
            </a:r>
            <a:r>
              <a:rPr lang="en-SG" sz="1200" dirty="0">
                <a:solidFill>
                  <a:srgbClr val="FF0000"/>
                </a:solidFill>
                <a:latin typeface="Courier"/>
              </a:rPr>
              <a:t>class</a:t>
            </a:r>
            <a:r>
              <a:rPr lang="en-SG" sz="12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SG" sz="1200" dirty="0" err="1">
                <a:solidFill>
                  <a:srgbClr val="007DDA"/>
                </a:solidFill>
                <a:latin typeface="Courier"/>
              </a:rPr>
              <a:t>btn</a:t>
            </a:r>
            <a:r>
              <a:rPr lang="en-SG" sz="1200" dirty="0">
                <a:solidFill>
                  <a:srgbClr val="007DDA"/>
                </a:solidFill>
                <a:latin typeface="Courier"/>
              </a:rPr>
              <a:t> </a:t>
            </a:r>
            <a:r>
              <a:rPr lang="en-SG" sz="1200" dirty="0" err="1">
                <a:solidFill>
                  <a:srgbClr val="007DDA"/>
                </a:solidFill>
                <a:latin typeface="Courier"/>
              </a:rPr>
              <a:t>btn</a:t>
            </a:r>
            <a:r>
              <a:rPr lang="en-SG" sz="1200" dirty="0">
                <a:solidFill>
                  <a:srgbClr val="007DDA"/>
                </a:solidFill>
                <a:latin typeface="Courier"/>
              </a:rPr>
              <a:t>-secondary </a:t>
            </a:r>
            <a:r>
              <a:rPr lang="en-SG" sz="1200" dirty="0" err="1">
                <a:solidFill>
                  <a:srgbClr val="007DDA"/>
                </a:solidFill>
                <a:latin typeface="Courier"/>
              </a:rPr>
              <a:t>bg</a:t>
            </a:r>
            <a:r>
              <a:rPr lang="en-SG" sz="1200" dirty="0">
                <a:solidFill>
                  <a:srgbClr val="007DDA"/>
                </a:solidFill>
                <a:latin typeface="Courier"/>
              </a:rPr>
              <a:t>-dark</a:t>
            </a:r>
            <a:r>
              <a:rPr lang="en-SG" sz="1200" dirty="0">
                <a:solidFill>
                  <a:srgbClr val="C00000"/>
                </a:solidFill>
                <a:latin typeface="Courier"/>
              </a:rPr>
              <a:t>" </a:t>
            </a:r>
            <a:r>
              <a:rPr lang="en-SG" sz="1200" dirty="0">
                <a:solidFill>
                  <a:srgbClr val="FF0000"/>
                </a:solidFill>
                <a:latin typeface="Courier"/>
              </a:rPr>
              <a:t>data-dismiss</a:t>
            </a:r>
            <a:r>
              <a:rPr lang="en-SG" sz="12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SG" sz="1200" dirty="0">
                <a:solidFill>
                  <a:srgbClr val="007DDA"/>
                </a:solidFill>
                <a:latin typeface="Courier"/>
              </a:rPr>
              <a:t>modal</a:t>
            </a:r>
            <a:r>
              <a:rPr lang="en-SG" sz="1200" dirty="0">
                <a:solidFill>
                  <a:srgbClr val="C00000"/>
                </a:solidFill>
                <a:latin typeface="Courier"/>
              </a:rPr>
              <a:t>"&gt;</a:t>
            </a:r>
            <a:r>
              <a:rPr lang="en-SG" sz="1200" dirty="0">
                <a:latin typeface="Courier"/>
              </a:rPr>
              <a:t>Close</a:t>
            </a:r>
            <a:r>
              <a:rPr lang="en-SG" sz="1200" dirty="0">
                <a:solidFill>
                  <a:srgbClr val="C00000"/>
                </a:solidFill>
                <a:latin typeface="Courier"/>
              </a:rPr>
              <a:t>&lt;/button&gt;</a:t>
            </a:r>
          </a:p>
          <a:p>
            <a:r>
              <a:rPr lang="en-SG" sz="1200" dirty="0">
                <a:solidFill>
                  <a:srgbClr val="C00000"/>
                </a:solidFill>
                <a:latin typeface="Courier"/>
              </a:rPr>
              <a:t>                &lt;/div&gt;</a:t>
            </a:r>
          </a:p>
          <a:p>
            <a:r>
              <a:rPr lang="en-SG" sz="1200" dirty="0">
                <a:solidFill>
                  <a:srgbClr val="C00000"/>
                </a:solidFill>
                <a:latin typeface="Courier"/>
              </a:rPr>
              <a:t>            &lt;/div&gt;</a:t>
            </a:r>
          </a:p>
          <a:p>
            <a:r>
              <a:rPr lang="en-SG" sz="1200" dirty="0">
                <a:solidFill>
                  <a:srgbClr val="C00000"/>
                </a:solidFill>
                <a:latin typeface="Courier"/>
              </a:rPr>
              <a:t>        &lt;/div&gt;</a:t>
            </a:r>
          </a:p>
          <a:p>
            <a:r>
              <a:rPr lang="en-SG" sz="1200" dirty="0">
                <a:solidFill>
                  <a:srgbClr val="C00000"/>
                </a:solidFill>
                <a:latin typeface="Courier"/>
              </a:rPr>
              <a:t>    &lt;/div&gt;</a:t>
            </a:r>
          </a:p>
          <a:p>
            <a:r>
              <a:rPr lang="en-SG" sz="1200" dirty="0">
                <a:solidFill>
                  <a:srgbClr val="C00000"/>
                </a:solidFill>
                <a:latin typeface="Courier"/>
              </a:rPr>
              <a:t>&lt;/div&gt;</a:t>
            </a:r>
          </a:p>
        </p:txBody>
      </p:sp>
    </p:spTree>
    <p:extLst>
      <p:ext uri="{BB962C8B-B14F-4D97-AF65-F5344CB8AC3E}">
        <p14:creationId xmlns:p14="http://schemas.microsoft.com/office/powerpoint/2010/main" val="39858436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FCD3B-AD98-4AEC-8AED-FF5F23CE4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Adding Comments Modal Window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B78BE-06EC-4F3D-895F-ECB8E7227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7638" y="1577662"/>
            <a:ext cx="10336162" cy="1513268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10000"/>
              </a:lnSpc>
            </a:pPr>
            <a:r>
              <a:rPr lang="en-GB" dirty="0"/>
              <a:t>To display Comments, we will need to use the web service for retrieving Comments</a:t>
            </a:r>
          </a:p>
          <a:p>
            <a:pPr>
              <a:lnSpc>
                <a:spcPct val="110000"/>
              </a:lnSpc>
            </a:pPr>
            <a:r>
              <a:rPr lang="en-GB" dirty="0"/>
              <a:t>In the </a:t>
            </a:r>
            <a:r>
              <a:rPr lang="en-GB" b="1" dirty="0">
                <a:solidFill>
                  <a:srgbClr val="FF0000"/>
                </a:solidFill>
                <a:latin typeface="Courier"/>
              </a:rPr>
              <a:t>app.js</a:t>
            </a:r>
            <a:r>
              <a:rPr lang="en-GB" dirty="0"/>
              <a:t> file, add new variables as shown in the highlighted codes below.</a:t>
            </a:r>
          </a:p>
          <a:p>
            <a:pPr>
              <a:lnSpc>
                <a:spcPct val="110000"/>
              </a:lnSpc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62EF09-7A64-40AD-ABE8-8E903A7CA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4023-6F3A-457B-B0BB-8C1F114B424F}" type="slidenum">
              <a:rPr lang="en-SG" smtClean="0"/>
              <a:t>14</a:t>
            </a:fld>
            <a:endParaRPr lang="en-SG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C09880-D40D-4BD2-A1D6-3175B7823D9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0916"/>
          <a:stretch/>
        </p:blipFill>
        <p:spPr>
          <a:xfrm>
            <a:off x="1388143" y="3217445"/>
            <a:ext cx="8477250" cy="1605567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AA7B990-F735-4D52-9E04-D153EA89B3EC}"/>
              </a:ext>
            </a:extLst>
          </p:cNvPr>
          <p:cNvSpPr txBox="1"/>
          <p:nvPr/>
        </p:nvSpPr>
        <p:spPr>
          <a:xfrm>
            <a:off x="1425851" y="4867889"/>
            <a:ext cx="97267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var </a:t>
            </a:r>
            <a:r>
              <a:rPr lang="en-US" dirty="0" err="1"/>
              <a:t>comment_url</a:t>
            </a:r>
            <a:r>
              <a:rPr lang="en-US" dirty="0"/>
              <a:t> = "/comments";</a:t>
            </a:r>
          </a:p>
          <a:p>
            <a:r>
              <a:rPr lang="en-US" dirty="0"/>
              <a:t>var </a:t>
            </a:r>
            <a:r>
              <a:rPr lang="en-US" dirty="0" err="1"/>
              <a:t>comment_array</a:t>
            </a:r>
            <a:r>
              <a:rPr lang="en-US" dirty="0"/>
              <a:t> = []; // This creates an empty comment array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DF97AC-2F08-4FBD-B4A9-14FFC25EEFFB}"/>
              </a:ext>
            </a:extLst>
          </p:cNvPr>
          <p:cNvSpPr/>
          <p:nvPr/>
        </p:nvSpPr>
        <p:spPr>
          <a:xfrm>
            <a:off x="1425851" y="4913293"/>
            <a:ext cx="6723067" cy="734089"/>
          </a:xfrm>
          <a:prstGeom prst="rect">
            <a:avLst/>
          </a:prstGeom>
          <a:noFill/>
          <a:ln w="254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25028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FCD3B-AD98-4AEC-8AED-FF5F23CE4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Adding Comments Modal Window - comments.js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62EF09-7A64-40AD-ABE8-8E903A7CA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4023-6F3A-457B-B0BB-8C1F114B424F}" type="slidenum">
              <a:rPr lang="en-SG" smtClean="0"/>
              <a:t>15</a:t>
            </a:fld>
            <a:endParaRPr lang="en-SG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B4B146-4EA2-4F97-9427-080A6098CAD3}"/>
              </a:ext>
            </a:extLst>
          </p:cNvPr>
          <p:cNvSpPr txBox="1"/>
          <p:nvPr/>
        </p:nvSpPr>
        <p:spPr>
          <a:xfrm>
            <a:off x="1189711" y="1895555"/>
            <a:ext cx="7388957" cy="267765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SG" sz="1200" dirty="0">
                <a:solidFill>
                  <a:srgbClr val="007DDA"/>
                </a:solidFill>
                <a:latin typeface="Courier"/>
              </a:rPr>
              <a:t>function</a:t>
            </a:r>
            <a:r>
              <a:rPr lang="en-SG" sz="1200" dirty="0">
                <a:latin typeface="Courier"/>
              </a:rPr>
              <a:t> </a:t>
            </a:r>
            <a:r>
              <a:rPr lang="en-SG" sz="1200" dirty="0" err="1">
                <a:latin typeface="Courier"/>
              </a:rPr>
              <a:t>fetchComments</a:t>
            </a:r>
            <a:r>
              <a:rPr lang="en-SG" sz="1200" dirty="0">
                <a:latin typeface="Courier"/>
              </a:rPr>
              <a:t>() {</a:t>
            </a:r>
          </a:p>
          <a:p>
            <a:r>
              <a:rPr lang="en-SG" sz="1200" dirty="0">
                <a:latin typeface="Courier"/>
              </a:rPr>
              <a:t>    </a:t>
            </a:r>
            <a:r>
              <a:rPr lang="en-SG" sz="1200" dirty="0">
                <a:solidFill>
                  <a:srgbClr val="007DDA"/>
                </a:solidFill>
                <a:latin typeface="Courier"/>
              </a:rPr>
              <a:t>var</a:t>
            </a:r>
            <a:r>
              <a:rPr lang="en-SG" sz="1200" dirty="0">
                <a:latin typeface="Courier"/>
              </a:rPr>
              <a:t> request = </a:t>
            </a:r>
            <a:r>
              <a:rPr lang="en-SG" sz="1200" dirty="0">
                <a:solidFill>
                  <a:srgbClr val="007DDA"/>
                </a:solidFill>
                <a:latin typeface="Courier"/>
              </a:rPr>
              <a:t>new</a:t>
            </a:r>
            <a:r>
              <a:rPr lang="en-SG" sz="1200" dirty="0">
                <a:latin typeface="Courier"/>
              </a:rPr>
              <a:t> </a:t>
            </a:r>
            <a:r>
              <a:rPr lang="en-SG" sz="1200" dirty="0" err="1">
                <a:latin typeface="Courier"/>
              </a:rPr>
              <a:t>XMLHttpRequest</a:t>
            </a:r>
            <a:r>
              <a:rPr lang="en-SG" sz="1200" dirty="0">
                <a:latin typeface="Courier"/>
              </a:rPr>
              <a:t>();</a:t>
            </a:r>
          </a:p>
          <a:p>
            <a:endParaRPr lang="en-SG" sz="1200" dirty="0">
              <a:latin typeface="Courier"/>
            </a:endParaRPr>
          </a:p>
          <a:p>
            <a:r>
              <a:rPr lang="en-SG" sz="1200" dirty="0">
                <a:latin typeface="Courier"/>
              </a:rPr>
              <a:t>    </a:t>
            </a:r>
            <a:r>
              <a:rPr lang="en-SG" sz="1200" dirty="0" err="1">
                <a:latin typeface="Courier"/>
              </a:rPr>
              <a:t>request.open</a:t>
            </a:r>
            <a:r>
              <a:rPr lang="en-SG" sz="1200" dirty="0">
                <a:latin typeface="Courier"/>
              </a:rPr>
              <a:t>(</a:t>
            </a:r>
            <a:r>
              <a:rPr lang="en-SG" sz="1200" dirty="0">
                <a:solidFill>
                  <a:srgbClr val="C00000"/>
                </a:solidFill>
                <a:latin typeface="Courier"/>
              </a:rPr>
              <a:t>'GET</a:t>
            </a:r>
            <a:r>
              <a:rPr lang="en-SG" sz="1200" dirty="0">
                <a:latin typeface="Courier"/>
              </a:rPr>
              <a:t>', </a:t>
            </a:r>
            <a:r>
              <a:rPr lang="en-SG" sz="1200" dirty="0" err="1">
                <a:latin typeface="Courier"/>
              </a:rPr>
              <a:t>comment_url</a:t>
            </a:r>
            <a:r>
              <a:rPr lang="en-SG" sz="1200" dirty="0">
                <a:latin typeface="Courier"/>
              </a:rPr>
              <a:t>, </a:t>
            </a:r>
            <a:r>
              <a:rPr lang="en-SG" sz="1200" dirty="0">
                <a:solidFill>
                  <a:srgbClr val="007DDA"/>
                </a:solidFill>
                <a:latin typeface="Courier"/>
              </a:rPr>
              <a:t>true</a:t>
            </a:r>
            <a:r>
              <a:rPr lang="en-SG" sz="1200" dirty="0">
                <a:latin typeface="Courier"/>
              </a:rPr>
              <a:t>);</a:t>
            </a:r>
          </a:p>
          <a:p>
            <a:endParaRPr lang="en-SG" sz="1200" dirty="0">
              <a:latin typeface="Courier"/>
            </a:endParaRPr>
          </a:p>
          <a:p>
            <a:r>
              <a:rPr lang="en-SG" sz="1200" dirty="0">
                <a:latin typeface="Courier"/>
              </a:rPr>
              <a:t>    </a:t>
            </a:r>
            <a:r>
              <a:rPr lang="en-SG" sz="1200" dirty="0">
                <a:solidFill>
                  <a:schemeClr val="accent5"/>
                </a:solidFill>
                <a:latin typeface="Courier"/>
              </a:rPr>
              <a:t>//This command starts the calling of the comments </a:t>
            </a:r>
            <a:r>
              <a:rPr lang="en-SG" sz="1200" dirty="0" err="1">
                <a:solidFill>
                  <a:schemeClr val="accent5"/>
                </a:solidFill>
                <a:latin typeface="Courier"/>
              </a:rPr>
              <a:t>api</a:t>
            </a:r>
            <a:endParaRPr lang="en-SG" sz="1200" dirty="0">
              <a:solidFill>
                <a:schemeClr val="accent5"/>
              </a:solidFill>
              <a:latin typeface="Courier"/>
            </a:endParaRPr>
          </a:p>
          <a:p>
            <a:r>
              <a:rPr lang="en-SG" sz="1200" dirty="0">
                <a:latin typeface="Courier"/>
              </a:rPr>
              <a:t>    </a:t>
            </a:r>
            <a:r>
              <a:rPr lang="en-SG" sz="1200" dirty="0" err="1">
                <a:latin typeface="Courier"/>
              </a:rPr>
              <a:t>request.onload</a:t>
            </a:r>
            <a:r>
              <a:rPr lang="en-SG" sz="1200" dirty="0">
                <a:latin typeface="Courier"/>
              </a:rPr>
              <a:t> = </a:t>
            </a:r>
            <a:r>
              <a:rPr lang="en-SG" sz="1200" dirty="0">
                <a:solidFill>
                  <a:srgbClr val="007DDA"/>
                </a:solidFill>
                <a:latin typeface="Courier"/>
              </a:rPr>
              <a:t>function</a:t>
            </a:r>
            <a:r>
              <a:rPr lang="en-SG" sz="1200" dirty="0">
                <a:latin typeface="Courier"/>
              </a:rPr>
              <a:t>() {</a:t>
            </a:r>
          </a:p>
          <a:p>
            <a:r>
              <a:rPr lang="en-SG" sz="1200" dirty="0">
                <a:latin typeface="Courier"/>
              </a:rPr>
              <a:t>    </a:t>
            </a:r>
            <a:r>
              <a:rPr lang="en-SG" sz="1200" dirty="0">
                <a:solidFill>
                  <a:schemeClr val="accent5"/>
                </a:solidFill>
                <a:latin typeface="Courier"/>
              </a:rPr>
              <a:t>//get all the comments records into our comments array</a:t>
            </a:r>
          </a:p>
          <a:p>
            <a:r>
              <a:rPr lang="en-SG" sz="1200" dirty="0">
                <a:latin typeface="Courier"/>
              </a:rPr>
              <a:t>    </a:t>
            </a:r>
            <a:r>
              <a:rPr lang="en-SG" sz="1200" dirty="0" err="1">
                <a:latin typeface="Courier"/>
              </a:rPr>
              <a:t>comment_array</a:t>
            </a:r>
            <a:r>
              <a:rPr lang="en-SG" sz="1200" dirty="0">
                <a:latin typeface="Courier"/>
              </a:rPr>
              <a:t> = </a:t>
            </a:r>
            <a:r>
              <a:rPr lang="en-SG" sz="1200" dirty="0" err="1">
                <a:latin typeface="Courier"/>
              </a:rPr>
              <a:t>JSON.parse</a:t>
            </a:r>
            <a:r>
              <a:rPr lang="en-SG" sz="1200" dirty="0">
                <a:latin typeface="Courier"/>
              </a:rPr>
              <a:t>(</a:t>
            </a:r>
            <a:r>
              <a:rPr lang="en-SG" sz="1200" dirty="0" err="1">
                <a:latin typeface="Courier"/>
              </a:rPr>
              <a:t>request.responseText</a:t>
            </a:r>
            <a:r>
              <a:rPr lang="en-SG" sz="1200" dirty="0">
                <a:latin typeface="Courier"/>
              </a:rPr>
              <a:t>);</a:t>
            </a:r>
          </a:p>
          <a:p>
            <a:r>
              <a:rPr lang="en-SG" sz="1200" dirty="0">
                <a:latin typeface="Courier"/>
              </a:rPr>
              <a:t>    console.log(</a:t>
            </a:r>
            <a:r>
              <a:rPr lang="en-SG" sz="1200" dirty="0" err="1">
                <a:latin typeface="Courier"/>
              </a:rPr>
              <a:t>comment_array</a:t>
            </a:r>
            <a:r>
              <a:rPr lang="en-SG" sz="1200" dirty="0">
                <a:latin typeface="Courier"/>
              </a:rPr>
              <a:t>);</a:t>
            </a:r>
          </a:p>
          <a:p>
            <a:r>
              <a:rPr lang="en-SG" sz="1200" dirty="0">
                <a:latin typeface="Courier"/>
              </a:rPr>
              <a:t>    };</a:t>
            </a:r>
          </a:p>
          <a:p>
            <a:endParaRPr lang="en-SG" sz="1200" dirty="0">
              <a:latin typeface="Courier"/>
            </a:endParaRPr>
          </a:p>
          <a:p>
            <a:r>
              <a:rPr lang="en-SG" sz="1200" dirty="0">
                <a:latin typeface="Courier"/>
              </a:rPr>
              <a:t>    </a:t>
            </a:r>
            <a:r>
              <a:rPr lang="en-SG" sz="1200" dirty="0" err="1">
                <a:latin typeface="Courier"/>
              </a:rPr>
              <a:t>request.send</a:t>
            </a:r>
            <a:r>
              <a:rPr lang="en-SG" sz="1200" dirty="0">
                <a:latin typeface="Courier"/>
              </a:rPr>
              <a:t>();</a:t>
            </a:r>
          </a:p>
          <a:p>
            <a:r>
              <a:rPr lang="en-SG" sz="1200" dirty="0">
                <a:latin typeface="Courier"/>
              </a:rPr>
              <a:t>}</a:t>
            </a:r>
          </a:p>
        </p:txBody>
      </p:sp>
      <p:sp>
        <p:nvSpPr>
          <p:cNvPr id="8" name="Rectangular Callout 21">
            <a:extLst>
              <a:ext uri="{FF2B5EF4-FFF2-40B4-BE49-F238E27FC236}">
                <a16:creationId xmlns:a16="http://schemas.microsoft.com/office/drawing/2014/main" id="{FF61C545-56A4-4542-8124-801DAE415E69}"/>
              </a:ext>
            </a:extLst>
          </p:cNvPr>
          <p:cNvSpPr/>
          <p:nvPr/>
        </p:nvSpPr>
        <p:spPr>
          <a:xfrm>
            <a:off x="4397138" y="5210738"/>
            <a:ext cx="7522327" cy="1014622"/>
          </a:xfrm>
          <a:prstGeom prst="wedgeRectCallout">
            <a:avLst>
              <a:gd name="adj1" fmla="val -76268"/>
              <a:gd name="adj2" fmla="val -127823"/>
            </a:avLst>
          </a:prstGeom>
          <a:solidFill>
            <a:schemeClr val="accent5">
              <a:lumMod val="75000"/>
            </a:schemeClr>
          </a:solidFill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Arial Unicode MS" charset="0"/>
                <a:ea typeface="Arial Unicode MS" charset="0"/>
                <a:cs typeface="Arial Unicode MS" charset="0"/>
              </a:rPr>
              <a:t>This function is to consume the web </a:t>
            </a:r>
            <a:r>
              <a:rPr lang="en-GB" sz="1400" dirty="0" err="1">
                <a:latin typeface="Arial Unicode MS" charset="0"/>
                <a:ea typeface="Arial Unicode MS" charset="0"/>
                <a:cs typeface="Arial Unicode MS" charset="0"/>
              </a:rPr>
              <a:t>api</a:t>
            </a:r>
            <a:r>
              <a:rPr lang="en-GB" sz="1400" dirty="0">
                <a:latin typeface="Arial Unicode MS" charset="0"/>
                <a:ea typeface="Arial Unicode MS" charset="0"/>
                <a:cs typeface="Arial Unicode MS" charset="0"/>
              </a:rPr>
              <a:t> endpoint that will return the comments data in json format. Remember to call this function </a:t>
            </a:r>
            <a:r>
              <a:rPr lang="en-GB" sz="1400" dirty="0" err="1">
                <a:latin typeface="Arial Unicode MS" charset="0"/>
                <a:ea typeface="Arial Unicode MS" charset="0"/>
                <a:cs typeface="Arial Unicode MS" charset="0"/>
              </a:rPr>
              <a:t>fetchComments</a:t>
            </a:r>
            <a:r>
              <a:rPr lang="en-GB" sz="1400" dirty="0">
                <a:latin typeface="Arial Unicode MS" charset="0"/>
                <a:ea typeface="Arial Unicode MS" charset="0"/>
                <a:cs typeface="Arial Unicode MS" charset="0"/>
              </a:rPr>
              <a:t>() in the </a:t>
            </a:r>
            <a:r>
              <a:rPr lang="en-US" sz="1400" dirty="0" err="1">
                <a:latin typeface="Courier"/>
              </a:rPr>
              <a:t>getMovieData</a:t>
            </a:r>
            <a:r>
              <a:rPr lang="en-US" sz="1400" dirty="0">
                <a:latin typeface="Courier"/>
              </a:rPr>
              <a:t>()function </a:t>
            </a:r>
            <a:endParaRPr lang="en-GB" sz="1400" dirty="0">
              <a:latin typeface="Arial Unicode MS" charset="0"/>
              <a:ea typeface="Arial Unicode MS" charset="0"/>
              <a:cs typeface="Arial Unicode MS" charset="0"/>
            </a:endParaRPr>
          </a:p>
        </p:txBody>
      </p:sp>
      <p:sp>
        <p:nvSpPr>
          <p:cNvPr id="9" name="Rectangular Callout 21">
            <a:extLst>
              <a:ext uri="{FF2B5EF4-FFF2-40B4-BE49-F238E27FC236}">
                <a16:creationId xmlns:a16="http://schemas.microsoft.com/office/drawing/2014/main" id="{D88306E7-F505-4478-8FA3-0AECC6D5CA09}"/>
              </a:ext>
            </a:extLst>
          </p:cNvPr>
          <p:cNvSpPr/>
          <p:nvPr/>
        </p:nvSpPr>
        <p:spPr>
          <a:xfrm>
            <a:off x="8140466" y="4064020"/>
            <a:ext cx="2978364" cy="1014622"/>
          </a:xfrm>
          <a:prstGeom prst="wedgeRectCallout">
            <a:avLst>
              <a:gd name="adj1" fmla="val -185670"/>
              <a:gd name="adj2" fmla="val -79523"/>
            </a:avLst>
          </a:prstGeom>
          <a:solidFill>
            <a:schemeClr val="accent5">
              <a:lumMod val="75000"/>
            </a:schemeClr>
          </a:solidFill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Arial Unicode MS" charset="0"/>
                <a:ea typeface="Arial Unicode MS" charset="0"/>
                <a:cs typeface="Arial Unicode MS" charset="0"/>
              </a:rPr>
              <a:t>Console.log to see if we are successful in getting back the data</a:t>
            </a:r>
          </a:p>
        </p:txBody>
      </p:sp>
    </p:spTree>
    <p:extLst>
      <p:ext uri="{BB962C8B-B14F-4D97-AF65-F5344CB8AC3E}">
        <p14:creationId xmlns:p14="http://schemas.microsoft.com/office/powerpoint/2010/main" val="8106566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74E3495-DC85-4DC9-92B3-FDFC56C8BB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480" y="1402765"/>
            <a:ext cx="8792661" cy="39752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053F9C-DDB0-4098-936A-6595AF715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 the Movie Details Modal Window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EAD1C9-F1F5-40BB-808C-4284638A5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t>16</a:t>
            </a:fld>
            <a:endParaRPr lang="en-US"/>
          </a:p>
        </p:txBody>
      </p:sp>
      <p:sp>
        <p:nvSpPr>
          <p:cNvPr id="10" name="Rectangular Callout 21">
            <a:extLst>
              <a:ext uri="{FF2B5EF4-FFF2-40B4-BE49-F238E27FC236}">
                <a16:creationId xmlns:a16="http://schemas.microsoft.com/office/drawing/2014/main" id="{EBD35AF9-12B4-4605-8B0D-AA2ABD87F898}"/>
              </a:ext>
            </a:extLst>
          </p:cNvPr>
          <p:cNvSpPr/>
          <p:nvPr/>
        </p:nvSpPr>
        <p:spPr>
          <a:xfrm>
            <a:off x="6282784" y="4444612"/>
            <a:ext cx="3683357" cy="972523"/>
          </a:xfrm>
          <a:prstGeom prst="wedgeRectCallout">
            <a:avLst>
              <a:gd name="adj1" fmla="val -62420"/>
              <a:gd name="adj2" fmla="val -89227"/>
            </a:avLst>
          </a:prstGeom>
          <a:solidFill>
            <a:schemeClr val="accent5">
              <a:lumMod val="75000"/>
            </a:schemeClr>
          </a:solidFill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Arial Unicode MS" charset="0"/>
                <a:ea typeface="Arial Unicode MS" charset="0"/>
                <a:cs typeface="Arial Unicode MS" charset="0"/>
              </a:rPr>
              <a:t>You should see the console.log of the comments Array</a:t>
            </a:r>
          </a:p>
        </p:txBody>
      </p:sp>
    </p:spTree>
    <p:extLst>
      <p:ext uri="{BB962C8B-B14F-4D97-AF65-F5344CB8AC3E}">
        <p14:creationId xmlns:p14="http://schemas.microsoft.com/office/powerpoint/2010/main" val="36502284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339F000-C2D9-4EF0-9247-AB59CD5B042D}"/>
              </a:ext>
            </a:extLst>
          </p:cNvPr>
          <p:cNvSpPr txBox="1"/>
          <p:nvPr/>
        </p:nvSpPr>
        <p:spPr>
          <a:xfrm>
            <a:off x="533400" y="1470732"/>
            <a:ext cx="128524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/>
              <a:t>//This function is to display all the comments of that movie</a:t>
            </a:r>
          </a:p>
          <a:p>
            <a:r>
              <a:rPr lang="en-US" sz="900" dirty="0"/>
              <a:t>//whenever the user click on the "comment" button</a:t>
            </a:r>
          </a:p>
          <a:p>
            <a:r>
              <a:rPr lang="en-US" sz="900" dirty="0"/>
              <a:t>function </a:t>
            </a:r>
            <a:r>
              <a:rPr lang="en-US" sz="900" dirty="0" err="1"/>
              <a:t>showMovieComments</a:t>
            </a:r>
            <a:r>
              <a:rPr lang="en-US" sz="900" dirty="0"/>
              <a:t>(element) {</a:t>
            </a:r>
          </a:p>
          <a:p>
            <a:r>
              <a:rPr lang="en-US" sz="900" dirty="0"/>
              <a:t>    </a:t>
            </a:r>
            <a:r>
              <a:rPr lang="en-US" sz="900" dirty="0" err="1"/>
              <a:t>document.getElementById</a:t>
            </a:r>
            <a:r>
              <a:rPr lang="en-US" sz="900" dirty="0"/>
              <a:t>("</a:t>
            </a:r>
            <a:r>
              <a:rPr lang="en-US" sz="900" dirty="0" err="1"/>
              <a:t>emptyComment</a:t>
            </a:r>
            <a:r>
              <a:rPr lang="en-US" sz="900" dirty="0"/>
              <a:t>").</a:t>
            </a:r>
            <a:r>
              <a:rPr lang="en-US" sz="900" dirty="0" err="1"/>
              <a:t>innerHTML</a:t>
            </a:r>
            <a:r>
              <a:rPr lang="en-US" sz="900" dirty="0"/>
              <a:t> = "No review yet. Create one now";</a:t>
            </a:r>
          </a:p>
          <a:p>
            <a:r>
              <a:rPr lang="en-US" sz="900" dirty="0"/>
              <a:t>    var item = </a:t>
            </a:r>
            <a:r>
              <a:rPr lang="en-US" sz="900" dirty="0" err="1"/>
              <a:t>element.getAttribute</a:t>
            </a:r>
            <a:r>
              <a:rPr lang="en-US" sz="900" dirty="0"/>
              <a:t>("item");</a:t>
            </a:r>
          </a:p>
          <a:p>
            <a:r>
              <a:rPr lang="en-US" sz="900" dirty="0"/>
              <a:t>    </a:t>
            </a:r>
            <a:r>
              <a:rPr lang="en-US" sz="900" dirty="0" err="1"/>
              <a:t>currentIndex</a:t>
            </a:r>
            <a:r>
              <a:rPr lang="en-US" sz="900" dirty="0"/>
              <a:t> = item;</a:t>
            </a:r>
          </a:p>
          <a:p>
            <a:r>
              <a:rPr lang="en-US" sz="900" dirty="0"/>
              <a:t>    </a:t>
            </a:r>
            <a:r>
              <a:rPr lang="en-US" sz="900" dirty="0" err="1"/>
              <a:t>document.getElementById</a:t>
            </a:r>
            <a:r>
              <a:rPr lang="en-US" sz="900" dirty="0"/>
              <a:t>("review").</a:t>
            </a:r>
            <a:r>
              <a:rPr lang="en-US" sz="900" dirty="0" err="1"/>
              <a:t>textContent</a:t>
            </a:r>
            <a:r>
              <a:rPr lang="en-US" sz="900" dirty="0"/>
              <a:t> = "Review for " + </a:t>
            </a:r>
            <a:r>
              <a:rPr lang="en-US" sz="900" dirty="0" err="1"/>
              <a:t>movie_array</a:t>
            </a:r>
            <a:r>
              <a:rPr lang="en-US" sz="900" dirty="0"/>
              <a:t>[item].title;</a:t>
            </a:r>
          </a:p>
          <a:p>
            <a:r>
              <a:rPr lang="en-US" sz="900" dirty="0"/>
              <a:t>    </a:t>
            </a:r>
            <a:r>
              <a:rPr lang="en-US" sz="900" dirty="0" err="1"/>
              <a:t>document.getElementById</a:t>
            </a:r>
            <a:r>
              <a:rPr lang="en-US" sz="900" dirty="0"/>
              <a:t>("</a:t>
            </a:r>
            <a:r>
              <a:rPr lang="en-US" sz="900" dirty="0" err="1"/>
              <a:t>commentBody</a:t>
            </a:r>
            <a:r>
              <a:rPr lang="en-US" sz="900" dirty="0"/>
              <a:t>").</a:t>
            </a:r>
            <a:r>
              <a:rPr lang="en-US" sz="900" dirty="0" err="1"/>
              <a:t>textContent</a:t>
            </a:r>
            <a:r>
              <a:rPr lang="en-US" sz="900" dirty="0"/>
              <a:t> = "";</a:t>
            </a:r>
          </a:p>
          <a:p>
            <a:endParaRPr lang="en-US" sz="900" dirty="0"/>
          </a:p>
          <a:p>
            <a:r>
              <a:rPr lang="en-US" sz="900" dirty="0"/>
              <a:t>    for (var </a:t>
            </a:r>
            <a:r>
              <a:rPr lang="en-US" sz="900" dirty="0" err="1"/>
              <a:t>i</a:t>
            </a:r>
            <a:r>
              <a:rPr lang="en-US" sz="900" dirty="0"/>
              <a:t> = 0; </a:t>
            </a:r>
            <a:r>
              <a:rPr lang="en-US" sz="900" dirty="0" err="1"/>
              <a:t>i</a:t>
            </a:r>
            <a:r>
              <a:rPr lang="en-US" sz="900" dirty="0"/>
              <a:t> &lt; </a:t>
            </a:r>
            <a:r>
              <a:rPr lang="en-US" sz="900" dirty="0" err="1"/>
              <a:t>comment_array.length</a:t>
            </a:r>
            <a:r>
              <a:rPr lang="en-US" sz="900" dirty="0"/>
              <a:t>; </a:t>
            </a:r>
            <a:r>
              <a:rPr lang="en-US" sz="900" dirty="0" err="1"/>
              <a:t>i</a:t>
            </a:r>
            <a:r>
              <a:rPr lang="en-US" sz="900" dirty="0"/>
              <a:t>++) {</a:t>
            </a:r>
          </a:p>
          <a:p>
            <a:r>
              <a:rPr lang="en-US" sz="900" dirty="0"/>
              <a:t>        if (</a:t>
            </a:r>
            <a:r>
              <a:rPr lang="en-US" sz="900" dirty="0" err="1"/>
              <a:t>comment_array</a:t>
            </a:r>
            <a:r>
              <a:rPr lang="en-US" sz="900" dirty="0"/>
              <a:t>[</a:t>
            </a:r>
            <a:r>
              <a:rPr lang="en-US" sz="900" dirty="0" err="1"/>
              <a:t>i</a:t>
            </a:r>
            <a:r>
              <a:rPr lang="en-US" sz="900" dirty="0"/>
              <a:t>].movie=== </a:t>
            </a:r>
            <a:r>
              <a:rPr lang="en-US" sz="900" dirty="0" err="1"/>
              <a:t>movie_array</a:t>
            </a:r>
            <a:r>
              <a:rPr lang="en-US" sz="900" dirty="0"/>
              <a:t>[item].title) {</a:t>
            </a:r>
          </a:p>
          <a:p>
            <a:r>
              <a:rPr lang="en-US" sz="900" dirty="0"/>
              <a:t>            </a:t>
            </a:r>
            <a:r>
              <a:rPr lang="en-US" sz="900" dirty="0" err="1"/>
              <a:t>document.getElementById</a:t>
            </a:r>
            <a:r>
              <a:rPr lang="en-US" sz="900" dirty="0"/>
              <a:t>("</a:t>
            </a:r>
            <a:r>
              <a:rPr lang="en-US" sz="900" dirty="0" err="1"/>
              <a:t>emptyComment</a:t>
            </a:r>
            <a:r>
              <a:rPr lang="en-US" sz="900" dirty="0"/>
              <a:t>").</a:t>
            </a:r>
            <a:r>
              <a:rPr lang="en-US" sz="900" dirty="0" err="1"/>
              <a:t>innerHTML</a:t>
            </a:r>
            <a:r>
              <a:rPr lang="en-US" sz="900" dirty="0"/>
              <a:t> = "";</a:t>
            </a:r>
          </a:p>
          <a:p>
            <a:r>
              <a:rPr lang="en-US" sz="900" dirty="0"/>
              <a:t>            </a:t>
            </a:r>
            <a:r>
              <a:rPr lang="en-US" sz="900" dirty="0" err="1"/>
              <a:t>selectedMovieId</a:t>
            </a:r>
            <a:r>
              <a:rPr lang="en-US" sz="900" dirty="0"/>
              <a:t> = </a:t>
            </a:r>
            <a:r>
              <a:rPr lang="en-US" sz="900" dirty="0" err="1"/>
              <a:t>movie_array</a:t>
            </a:r>
            <a:r>
              <a:rPr lang="en-US" sz="900" dirty="0"/>
              <a:t>[item]._id;</a:t>
            </a:r>
          </a:p>
          <a:p>
            <a:r>
              <a:rPr lang="en-US" sz="900" dirty="0"/>
              <a:t>            star = "";</a:t>
            </a:r>
          </a:p>
          <a:p>
            <a:r>
              <a:rPr lang="en-US" sz="900" dirty="0"/>
              <a:t>            var html = '&lt;div class="text-center" style="width:100%;"&gt;                                                           \</a:t>
            </a:r>
          </a:p>
          <a:p>
            <a:r>
              <a:rPr lang="en-US" sz="900" dirty="0"/>
              <a:t>                            &lt;div class="card"&gt;                                                                                  \</a:t>
            </a:r>
          </a:p>
          <a:p>
            <a:r>
              <a:rPr lang="en-US" sz="900" dirty="0"/>
              <a:t>                                &lt;div class="card-body"&gt;                                                                         \</a:t>
            </a:r>
          </a:p>
          <a:p>
            <a:r>
              <a:rPr lang="en-US" sz="900" dirty="0"/>
              <a:t>                                    &lt;p class="card-text" id="rating' + </a:t>
            </a:r>
            <a:r>
              <a:rPr lang="en-US" sz="900" dirty="0" err="1"/>
              <a:t>i</a:t>
            </a:r>
            <a:r>
              <a:rPr lang="en-US" sz="900" dirty="0"/>
              <a:t> + '"&gt;' + </a:t>
            </a:r>
            <a:r>
              <a:rPr lang="en-US" sz="900" dirty="0" err="1"/>
              <a:t>comment_array</a:t>
            </a:r>
            <a:r>
              <a:rPr lang="en-US" sz="900" dirty="0"/>
              <a:t>[</a:t>
            </a:r>
            <a:r>
              <a:rPr lang="en-US" sz="900" dirty="0" err="1"/>
              <a:t>i</a:t>
            </a:r>
            <a:r>
              <a:rPr lang="en-US" sz="900" dirty="0"/>
              <a:t>].review + "&lt;/p&gt;               \</a:t>
            </a:r>
          </a:p>
          <a:p>
            <a:r>
              <a:rPr lang="en-US" sz="900" dirty="0"/>
              <a:t>                                    &lt;small&gt;by " + </a:t>
            </a:r>
            <a:r>
              <a:rPr lang="en-US" sz="900" dirty="0" err="1"/>
              <a:t>comment_array</a:t>
            </a:r>
            <a:r>
              <a:rPr lang="en-US" sz="900" dirty="0"/>
              <a:t>[</a:t>
            </a:r>
            <a:r>
              <a:rPr lang="en-US" sz="900" dirty="0" err="1"/>
              <a:t>i</a:t>
            </a:r>
            <a:r>
              <a:rPr lang="en-US" sz="900" dirty="0"/>
              <a:t>].username + " @ " + </a:t>
            </a:r>
            <a:r>
              <a:rPr lang="en-US" sz="900" dirty="0" err="1"/>
              <a:t>comment_array</a:t>
            </a:r>
            <a:r>
              <a:rPr lang="en-US" sz="900" dirty="0"/>
              <a:t>[</a:t>
            </a:r>
            <a:r>
              <a:rPr lang="en-US" sz="900" dirty="0" err="1"/>
              <a:t>i</a:t>
            </a:r>
            <a:r>
              <a:rPr lang="en-US" sz="900" dirty="0"/>
              <a:t>].</a:t>
            </a:r>
            <a:r>
              <a:rPr lang="en-US" sz="900" dirty="0" err="1"/>
              <a:t>datePosted</a:t>
            </a:r>
            <a:r>
              <a:rPr lang="en-US" sz="900" dirty="0"/>
              <a:t> + "&lt;/small&gt;   \</a:t>
            </a:r>
          </a:p>
          <a:p>
            <a:r>
              <a:rPr lang="en-US" sz="900" dirty="0"/>
              <a:t>                                &lt;/div&gt;                                                                                          \</a:t>
            </a:r>
          </a:p>
          <a:p>
            <a:r>
              <a:rPr lang="en-US" sz="900" dirty="0"/>
              <a:t>                            &lt;/div&gt;                                                                                              \</a:t>
            </a:r>
          </a:p>
          <a:p>
            <a:r>
              <a:rPr lang="en-US" sz="900" dirty="0"/>
              <a:t>                        &lt;/div&gt;";</a:t>
            </a:r>
          </a:p>
          <a:p>
            <a:r>
              <a:rPr lang="en-US" sz="900" dirty="0"/>
              <a:t>            </a:t>
            </a:r>
            <a:r>
              <a:rPr lang="en-US" sz="900" dirty="0" err="1"/>
              <a:t>document.getElementById</a:t>
            </a:r>
            <a:r>
              <a:rPr lang="en-US" sz="900" dirty="0"/>
              <a:t>("</a:t>
            </a:r>
            <a:r>
              <a:rPr lang="en-US" sz="900" dirty="0" err="1"/>
              <a:t>commentBody</a:t>
            </a:r>
            <a:r>
              <a:rPr lang="en-US" sz="900" dirty="0"/>
              <a:t>").</a:t>
            </a:r>
            <a:r>
              <a:rPr lang="en-US" sz="900" dirty="0" err="1"/>
              <a:t>insertAdjacentHTML</a:t>
            </a:r>
            <a:r>
              <a:rPr lang="en-US" sz="900" dirty="0"/>
              <a:t>('</a:t>
            </a:r>
            <a:r>
              <a:rPr lang="en-US" sz="900" dirty="0" err="1"/>
              <a:t>beforeend</a:t>
            </a:r>
            <a:r>
              <a:rPr lang="en-US" sz="900" dirty="0"/>
              <a:t>', html);</a:t>
            </a:r>
          </a:p>
          <a:p>
            <a:endParaRPr lang="en-US" sz="900" dirty="0"/>
          </a:p>
          <a:p>
            <a:r>
              <a:rPr lang="en-US" sz="900" dirty="0"/>
              <a:t>            var star = "";</a:t>
            </a:r>
          </a:p>
          <a:p>
            <a:r>
              <a:rPr lang="en-US" sz="900" dirty="0"/>
              <a:t>            for (var j = 0; j &lt; </a:t>
            </a:r>
            <a:r>
              <a:rPr lang="en-US" sz="900" dirty="0" err="1"/>
              <a:t>comment_array</a:t>
            </a:r>
            <a:r>
              <a:rPr lang="en-US" sz="900" dirty="0"/>
              <a:t>[</a:t>
            </a:r>
            <a:r>
              <a:rPr lang="en-US" sz="900" dirty="0" err="1"/>
              <a:t>i</a:t>
            </a:r>
            <a:r>
              <a:rPr lang="en-US" sz="900" dirty="0"/>
              <a:t>].rating; </a:t>
            </a:r>
            <a:r>
              <a:rPr lang="en-US" sz="900" dirty="0" err="1"/>
              <a:t>j++</a:t>
            </a:r>
            <a:r>
              <a:rPr lang="en-US" sz="900" dirty="0"/>
              <a:t>) {</a:t>
            </a:r>
          </a:p>
          <a:p>
            <a:r>
              <a:rPr lang="en-US" sz="900" dirty="0"/>
              <a:t>                console.log(</a:t>
            </a:r>
            <a:r>
              <a:rPr lang="en-US" sz="900" dirty="0" err="1"/>
              <a:t>i</a:t>
            </a:r>
            <a:r>
              <a:rPr lang="en-US" sz="900" dirty="0"/>
              <a:t>);</a:t>
            </a:r>
          </a:p>
          <a:p>
            <a:r>
              <a:rPr lang="en-US" sz="900" dirty="0"/>
              <a:t>                star += "&lt;</a:t>
            </a:r>
            <a:r>
              <a:rPr lang="en-US" sz="900" dirty="0" err="1"/>
              <a:t>img</a:t>
            </a:r>
            <a:r>
              <a:rPr lang="en-US" sz="900" dirty="0"/>
              <a:t> </a:t>
            </a:r>
            <a:r>
              <a:rPr lang="en-US" sz="900" dirty="0" err="1"/>
              <a:t>src</a:t>
            </a:r>
            <a:r>
              <a:rPr lang="en-US" sz="900" dirty="0"/>
              <a:t>='images/popcorn.png' style='width:50px' /&gt;";</a:t>
            </a:r>
          </a:p>
          <a:p>
            <a:r>
              <a:rPr lang="en-US" sz="900" dirty="0"/>
              <a:t>            }</a:t>
            </a:r>
          </a:p>
          <a:p>
            <a:r>
              <a:rPr lang="en-US" sz="900" dirty="0"/>
              <a:t>            star += "&lt;</a:t>
            </a:r>
            <a:r>
              <a:rPr lang="en-US" sz="900" dirty="0" err="1"/>
              <a:t>i</a:t>
            </a:r>
            <a:r>
              <a:rPr lang="en-US" sz="900" dirty="0"/>
              <a:t> class='far fa-trash-alt fa-2x edit' data-dismiss='modal' item='" + </a:t>
            </a:r>
            <a:r>
              <a:rPr lang="en-US" sz="900" dirty="0" err="1"/>
              <a:t>i</a:t>
            </a:r>
            <a:r>
              <a:rPr lang="en-US" sz="900" dirty="0"/>
              <a:t> + "' </a:t>
            </a:r>
            <a:r>
              <a:rPr lang="en-US" sz="900" dirty="0" err="1"/>
              <a:t>onClick</a:t>
            </a:r>
            <a:r>
              <a:rPr lang="en-US" sz="900" dirty="0"/>
              <a:t>='</a:t>
            </a:r>
            <a:r>
              <a:rPr lang="en-US" sz="900" dirty="0" err="1"/>
              <a:t>deleteComment</a:t>
            </a:r>
            <a:r>
              <a:rPr lang="en-US" sz="900" dirty="0"/>
              <a:t>(this)' &gt;&lt;/</a:t>
            </a:r>
            <a:r>
              <a:rPr lang="en-US" sz="900" dirty="0" err="1"/>
              <a:t>i</a:t>
            </a:r>
            <a:r>
              <a:rPr lang="en-US" sz="900" dirty="0"/>
              <a:t>&gt;";</a:t>
            </a:r>
          </a:p>
          <a:p>
            <a:r>
              <a:rPr lang="en-US" sz="900" dirty="0"/>
              <a:t>            star += "&lt;</a:t>
            </a:r>
            <a:r>
              <a:rPr lang="en-US" sz="900" dirty="0" err="1"/>
              <a:t>i</a:t>
            </a:r>
            <a:r>
              <a:rPr lang="en-US" sz="900" dirty="0"/>
              <a:t> class='far fa-edit fa-2x edit' data-toggle='modal' data-target='#</a:t>
            </a:r>
            <a:r>
              <a:rPr lang="en-US" sz="900" dirty="0" err="1"/>
              <a:t>editCommentModal</a:t>
            </a:r>
            <a:r>
              <a:rPr lang="en-US" sz="900" dirty="0"/>
              <a:t>' data-dismiss='modal' item='" + </a:t>
            </a:r>
            <a:r>
              <a:rPr lang="en-US" sz="900" dirty="0" err="1"/>
              <a:t>i</a:t>
            </a:r>
            <a:r>
              <a:rPr lang="en-US" sz="900" dirty="0"/>
              <a:t> + "' </a:t>
            </a:r>
            <a:r>
              <a:rPr lang="en-US" sz="900" dirty="0" err="1"/>
              <a:t>onClick</a:t>
            </a:r>
            <a:r>
              <a:rPr lang="en-US" sz="900" dirty="0"/>
              <a:t>='</a:t>
            </a:r>
            <a:r>
              <a:rPr lang="en-US" sz="900" dirty="0" err="1"/>
              <a:t>editComment</a:t>
            </a:r>
            <a:r>
              <a:rPr lang="en-US" sz="900" dirty="0"/>
              <a:t>(this)' &gt;&lt;/</a:t>
            </a:r>
            <a:r>
              <a:rPr lang="en-US" sz="900" dirty="0" err="1"/>
              <a:t>i</a:t>
            </a:r>
            <a:r>
              <a:rPr lang="en-US" sz="900" dirty="0"/>
              <a:t>&gt;";</a:t>
            </a:r>
          </a:p>
          <a:p>
            <a:r>
              <a:rPr lang="en-US" sz="900" dirty="0"/>
              <a:t>            </a:t>
            </a:r>
            <a:r>
              <a:rPr lang="en-US" sz="900" dirty="0" err="1"/>
              <a:t>document.getElementById</a:t>
            </a:r>
            <a:r>
              <a:rPr lang="en-US" sz="900" dirty="0"/>
              <a:t>("rating" + </a:t>
            </a:r>
            <a:r>
              <a:rPr lang="en-US" sz="900" dirty="0" err="1"/>
              <a:t>i</a:t>
            </a:r>
            <a:r>
              <a:rPr lang="en-US" sz="900" dirty="0"/>
              <a:t>).</a:t>
            </a:r>
            <a:r>
              <a:rPr lang="en-US" sz="900" dirty="0" err="1"/>
              <a:t>insertAdjacentHTML</a:t>
            </a:r>
            <a:r>
              <a:rPr lang="en-US" sz="900" dirty="0"/>
              <a:t>('</a:t>
            </a:r>
            <a:r>
              <a:rPr lang="en-US" sz="900" dirty="0" err="1"/>
              <a:t>beforebegin</a:t>
            </a:r>
            <a:r>
              <a:rPr lang="en-US" sz="900" dirty="0"/>
              <a:t>', star + "&lt;</a:t>
            </a:r>
            <a:r>
              <a:rPr lang="en-US" sz="900" dirty="0" err="1"/>
              <a:t>br</a:t>
            </a:r>
            <a:r>
              <a:rPr lang="en-US" sz="900" dirty="0"/>
              <a:t>/&gt;");</a:t>
            </a:r>
          </a:p>
          <a:p>
            <a:r>
              <a:rPr lang="en-US" sz="900" dirty="0"/>
              <a:t>        }</a:t>
            </a:r>
          </a:p>
          <a:p>
            <a:r>
              <a:rPr lang="en-US" sz="900" dirty="0"/>
              <a:t>    }</a:t>
            </a:r>
          </a:p>
          <a:p>
            <a:r>
              <a:rPr lang="en-US" sz="900" dirty="0"/>
              <a:t>}</a:t>
            </a:r>
          </a:p>
          <a:p>
            <a:endParaRPr lang="en-US" sz="9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9FCD3B-AD98-4AEC-8AED-FF5F23CE4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Adding Comments Modal Window - comments.js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62EF09-7A64-40AD-ABE8-8E903A7CA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4023-6F3A-457B-B0BB-8C1F114B424F}" type="slidenum">
              <a:rPr lang="en-SG" smtClean="0"/>
              <a:t>17</a:t>
            </a:fld>
            <a:endParaRPr lang="en-SG"/>
          </a:p>
        </p:txBody>
      </p:sp>
      <p:sp>
        <p:nvSpPr>
          <p:cNvPr id="11" name="Rectangular Callout 21">
            <a:extLst>
              <a:ext uri="{FF2B5EF4-FFF2-40B4-BE49-F238E27FC236}">
                <a16:creationId xmlns:a16="http://schemas.microsoft.com/office/drawing/2014/main" id="{04F0B399-3005-401A-9ADA-33097D7314ED}"/>
              </a:ext>
            </a:extLst>
          </p:cNvPr>
          <p:cNvSpPr/>
          <p:nvPr/>
        </p:nvSpPr>
        <p:spPr>
          <a:xfrm>
            <a:off x="7038304" y="1390918"/>
            <a:ext cx="4675031" cy="959476"/>
          </a:xfrm>
          <a:prstGeom prst="wedgeRectCallout">
            <a:avLst>
              <a:gd name="adj1" fmla="val -134509"/>
              <a:gd name="adj2" fmla="val 101814"/>
            </a:avLst>
          </a:prstGeom>
          <a:solidFill>
            <a:schemeClr val="accent5">
              <a:lumMod val="75000"/>
            </a:schemeClr>
          </a:solidFill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Arial Unicode MS" charset="0"/>
                <a:ea typeface="Arial Unicode MS" charset="0"/>
                <a:cs typeface="Arial Unicode MS" charset="0"/>
              </a:rPr>
              <a:t>Iterating through the Comments Array and only if the movie selected matches the comments Movie, the item will flow through the IF loop</a:t>
            </a:r>
          </a:p>
        </p:txBody>
      </p:sp>
    </p:spTree>
    <p:extLst>
      <p:ext uri="{BB962C8B-B14F-4D97-AF65-F5344CB8AC3E}">
        <p14:creationId xmlns:p14="http://schemas.microsoft.com/office/powerpoint/2010/main" val="39554677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18DEF7B-E7F3-4721-9E04-DAC95E598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475" y="1680466"/>
            <a:ext cx="9518010" cy="34970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053F9C-DDB0-4098-936A-6595AF715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 the Movie Details Modal Window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EAD1C9-F1F5-40BB-808C-4284638A5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t>18</a:t>
            </a:fld>
            <a:endParaRPr lang="en-US"/>
          </a:p>
        </p:txBody>
      </p:sp>
      <p:sp>
        <p:nvSpPr>
          <p:cNvPr id="11" name="Rectangular Callout 21">
            <a:extLst>
              <a:ext uri="{FF2B5EF4-FFF2-40B4-BE49-F238E27FC236}">
                <a16:creationId xmlns:a16="http://schemas.microsoft.com/office/drawing/2014/main" id="{64FA9A92-FD84-4520-9205-6678C1989119}"/>
              </a:ext>
            </a:extLst>
          </p:cNvPr>
          <p:cNvSpPr/>
          <p:nvPr/>
        </p:nvSpPr>
        <p:spPr>
          <a:xfrm>
            <a:off x="7038304" y="1390918"/>
            <a:ext cx="4675031" cy="959476"/>
          </a:xfrm>
          <a:prstGeom prst="wedgeRectCallout">
            <a:avLst>
              <a:gd name="adj1" fmla="val -61366"/>
              <a:gd name="adj2" fmla="val 147480"/>
            </a:avLst>
          </a:prstGeom>
          <a:solidFill>
            <a:schemeClr val="accent5">
              <a:lumMod val="75000"/>
            </a:schemeClr>
          </a:solidFill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Arial Unicode MS" charset="0"/>
                <a:ea typeface="Arial Unicode MS" charset="0"/>
                <a:cs typeface="Arial Unicode MS" charset="0"/>
              </a:rPr>
              <a:t>Reload the </a:t>
            </a:r>
            <a:r>
              <a:rPr lang="en-GB" sz="1400" b="1" dirty="0">
                <a:solidFill>
                  <a:schemeClr val="bg1"/>
                </a:solidFill>
                <a:highlight>
                  <a:srgbClr val="1CADE4"/>
                </a:highlight>
                <a:latin typeface="Courier"/>
                <a:ea typeface="Arial Unicode MS" charset="0"/>
                <a:cs typeface="Arial Unicode MS" charset="0"/>
              </a:rPr>
              <a:t>index.html</a:t>
            </a:r>
            <a:r>
              <a:rPr lang="en-GB" sz="1400" dirty="0">
                <a:latin typeface="Arial Unicode MS" charset="0"/>
                <a:ea typeface="Arial Unicode MS" charset="0"/>
                <a:cs typeface="Arial Unicode MS" charset="0"/>
              </a:rPr>
              <a:t> page and hover on one of the movie icons. Click on the “</a:t>
            </a:r>
            <a:r>
              <a:rPr lang="en-GB" sz="1400" b="1" dirty="0">
                <a:latin typeface="Arial Unicode MS" charset="0"/>
                <a:ea typeface="Arial Unicode MS" charset="0"/>
                <a:cs typeface="Arial Unicode MS" charset="0"/>
              </a:rPr>
              <a:t>Comments</a:t>
            </a:r>
            <a:r>
              <a:rPr lang="en-GB" sz="1400" dirty="0">
                <a:latin typeface="Arial Unicode MS" charset="0"/>
                <a:ea typeface="Arial Unicode MS" charset="0"/>
                <a:cs typeface="Arial Unicode MS" charset="0"/>
              </a:rPr>
              <a:t>” button and the modal window should appear as shown. Note that some movies may not have comments.</a:t>
            </a:r>
          </a:p>
        </p:txBody>
      </p:sp>
    </p:spTree>
    <p:extLst>
      <p:ext uri="{BB962C8B-B14F-4D97-AF65-F5344CB8AC3E}">
        <p14:creationId xmlns:p14="http://schemas.microsoft.com/office/powerpoint/2010/main" val="37376046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75C5A-233F-4C52-8792-BFD597CB8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Next Episode…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CAB83-5345-4851-A34A-8D9FBABB57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GB" dirty="0"/>
              <a:t>In the next episode, we will build the modal windows to create </a:t>
            </a:r>
            <a:r>
              <a:rPr lang="en-GB"/>
              <a:t>and add </a:t>
            </a:r>
            <a:r>
              <a:rPr lang="en-GB" dirty="0"/>
              <a:t>comments.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8ACFA0-CAB0-4572-96C1-F05AC6426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4023-6F3A-457B-B0BB-8C1F114B424F}" type="slidenum">
              <a:rPr lang="en-SG" smtClean="0"/>
              <a:t>19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220161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The End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60D1F0-3F78-4F63-8353-5B213B578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4023-6F3A-457B-B0BB-8C1F114B424F}" type="slidenum">
              <a:rPr lang="en-SG" smtClean="0"/>
              <a:pPr/>
              <a:t>20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7547587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10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HTML Form and Controls II&amp;quot;&quot;/&gt;&lt;property id=&quot;20307&quot; value=&quot;256&quot;/&gt;&lt;/object&gt;&lt;object type=&quot;3&quot; unique_id=&quot;13467&quot;&gt;&lt;property id=&quot;20148&quot; value=&quot;5&quot;/&gt;&lt;property id=&quot;20300&quot; value=&quot;Slide 21 - &amp;quot;The End&amp;quot;&quot;/&gt;&lt;property id=&quot;20307&quot; value=&quot;288&quot;/&gt;&lt;/object&gt;&lt;object type=&quot;3&quot; unique_id=&quot;17361&quot;&gt;&lt;property id=&quot;20148&quot; value=&quot;5&quot;/&gt;&lt;property id=&quot;20300&quot; value=&quot;Slide 2 - &amp;quot;Objectives&amp;quot;&quot;/&gt;&lt;property id=&quot;20307&quot; value=&quot;289&quot;/&gt;&lt;/object&gt;&lt;object type=&quot;3&quot; unique_id=&quot;17362&quot;&gt;&lt;property id=&quot;20148&quot; value=&quot;5&quot;/&gt;&lt;property id=&quot;20300&quot; value=&quot;Slide 3 - &amp;quot;Tools Required&amp;quot;&quot;/&gt;&lt;property id=&quot;20307&quot; value=&quot;308&quot;/&gt;&lt;/object&gt;&lt;object type=&quot;3&quot; unique_id=&quot;17363&quot;&gt;&lt;property id=&quot;20148&quot; value=&quot;5&quot;/&gt;&lt;property id=&quot;20300&quot; value=&quot;Slide 4 - &amp;quot;GET AND POST&amp;quot;&quot;/&gt;&lt;property id=&quot;20307&quot; value=&quot;291&quot;/&gt;&lt;/object&gt;&lt;object type=&quot;3&quot; unique_id=&quot;17364&quot;&gt;&lt;property id=&quot;20148&quot; value=&quot;5&quot;/&gt;&lt;property id=&quot;20300&quot; value=&quot;Slide 5 - &amp;quot;HTTP Request Method: GET&amp;quot;&quot;/&gt;&lt;property id=&quot;20307&quot; value=&quot;292&quot;/&gt;&lt;/object&gt;&lt;object type=&quot;3&quot; unique_id=&quot;17365&quot;&gt;&lt;property id=&quot;20148&quot; value=&quot;5&quot;/&gt;&lt;property id=&quot;20300&quot; value=&quot;Slide 6 - &amp;quot;HTTP Request Method: POST&amp;quot;&quot;/&gt;&lt;property id=&quot;20307&quot; value=&quot;293&quot;/&gt;&lt;/object&gt;&lt;object type=&quot;3&quot; unique_id=&quot;17366&quot;&gt;&lt;property id=&quot;20148&quot; value=&quot;5&quot;/&gt;&lt;property id=&quot;20300&quot; value=&quot;Slide 7 - &amp;quot;GET vs POST&amp;quot;&quot;/&gt;&lt;property id=&quot;20307&quot; value=&quot;294&quot;/&gt;&lt;/object&gt;&lt;object type=&quot;3&quot; unique_id=&quot;17367&quot;&gt;&lt;property id=&quot;20148&quot; value=&quot;5&quot;/&gt;&lt;property id=&quot;20300&quot; value=&quot;Slide 8 - &amp;quot;When To Use?&amp;quot;&quot;/&gt;&lt;property id=&quot;20307&quot; value=&quot;295&quot;/&gt;&lt;/object&gt;&lt;object type=&quot;3&quot; unique_id=&quot;17368&quot;&gt;&lt;property id=&quot;20148&quot; value=&quot;5&quot;/&gt;&lt;property id=&quot;20300&quot; value=&quot;Slide 9 - &amp;quot;FORM ELEMENTS&amp;quot;&quot;/&gt;&lt;property id=&quot;20307&quot; value=&quot;296&quot;/&gt;&lt;/object&gt;&lt;object type=&quot;3&quot; unique_id=&quot;17369&quot;&gt;&lt;property id=&quot;20148&quot; value=&quot;5&quot;/&gt;&lt;property id=&quot;20300&quot; value=&quot;Slide 10 - &amp;quot;Label Element&amp;quot;&quot;/&gt;&lt;property id=&quot;20307&quot; value=&quot;297&quot;/&gt;&lt;/object&gt;&lt;object type=&quot;3&quot; unique_id=&quot;17370&quot;&gt;&lt;property id=&quot;20148&quot; value=&quot;5&quot;/&gt;&lt;property id=&quot;20300&quot; value=&quot;Slide 11 - &amp;quot;Input Element: Textbox&amp;quot;&quot;/&gt;&lt;property id=&quot;20307&quot; value=&quot;298&quot;/&gt;&lt;/object&gt;&lt;object type=&quot;3&quot; unique_id=&quot;17371&quot;&gt;&lt;property id=&quot;20148&quot; value=&quot;5&quot;/&gt;&lt;property id=&quot;20300&quot; value=&quot;Slide 12 - &amp;quot;Input Element: Checkbox&amp;quot;&quot;/&gt;&lt;property id=&quot;20307&quot; value=&quot;299&quot;/&gt;&lt;/object&gt;&lt;object type=&quot;3&quot; unique_id=&quot;17372&quot;&gt;&lt;property id=&quot;20148&quot; value=&quot;5&quot;/&gt;&lt;property id=&quot;20300&quot; value=&quot;Slide 13 - &amp;quot;Input Element: Radio Button&amp;quot;&quot;/&gt;&lt;property id=&quot;20307&quot; value=&quot;300&quot;/&gt;&lt;/object&gt;&lt;object type=&quot;3&quot; unique_id=&quot;17373&quot;&gt;&lt;property id=&quot;20148&quot; value=&quot;5&quot;/&gt;&lt;property id=&quot;20300&quot; value=&quot;Slide 14 - &amp;quot;Button Element&amp;quot;&quot;/&gt;&lt;property id=&quot;20307&quot; value=&quot;301&quot;/&gt;&lt;/object&gt;&lt;object type=&quot;3&quot; unique_id=&quot;17374&quot;&gt;&lt;property id=&quot;20148&quot; value=&quot;5&quot;/&gt;&lt;property id=&quot;20300&quot; value=&quot;Slide 15 - &amp;quot;Select Element&amp;quot;&quot;/&gt;&lt;property id=&quot;20307&quot; value=&quot;302&quot;/&gt;&lt;/object&gt;&lt;object type=&quot;3&quot; unique_id=&quot;17375&quot;&gt;&lt;property id=&quot;20148&quot; value=&quot;5&quot;/&gt;&lt;property id=&quot;20300&quot; value=&quot;Slide 16 - &amp;quot;Textarea Element&amp;quot;&quot;/&gt;&lt;property id=&quot;20307&quot; value=&quot;303&quot;/&gt;&lt;/object&gt;&lt;object type=&quot;3&quot; unique_id=&quot;17376&quot;&gt;&lt;property id=&quot;20148&quot; value=&quot;5&quot;/&gt;&lt;property id=&quot;20300&quot; value=&quot;Slide 17 - &amp;quot;Other Elements in HTML5&amp;quot;&quot;/&gt;&lt;property id=&quot;20307&quot; value=&quot;304&quot;/&gt;&lt;/object&gt;&lt;object type=&quot;3&quot; unique_id=&quot;17377&quot;&gt;&lt;property id=&quot;20148&quot; value=&quot;5&quot;/&gt;&lt;property id=&quot;20300&quot; value=&quot;Slide 18 - &amp;quot;Iframe Element&amp;quot;&quot;/&gt;&lt;property id=&quot;20307&quot; value=&quot;305&quot;/&gt;&lt;/object&gt;&lt;object type=&quot;3&quot; unique_id=&quot;17378&quot;&gt;&lt;property id=&quot;20148&quot; value=&quot;5&quot;/&gt;&lt;property id=&quot;20300&quot; value=&quot;Slide 19 - &amp;quot;Compatibilities and Support&amp;quot;&quot;/&gt;&lt;property id=&quot;20307&quot; value=&quot;306&quot;/&gt;&lt;/object&gt;&lt;object type=&quot;3&quot; unique_id=&quot;17379&quot;&gt;&lt;property id=&quot;20148&quot; value=&quot;5&quot;/&gt;&lt;property id=&quot;20300&quot; value=&quot;Slide 20 - &amp;quot;challenge&amp;quot;&quot;/&gt;&lt;property id=&quot;20307&quot; value=&quot;307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7509</TotalTime>
  <Words>2276</Words>
  <Application>Microsoft Office PowerPoint</Application>
  <PresentationFormat>Widescreen</PresentationFormat>
  <Paragraphs>233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Arial Unicode MS</vt:lpstr>
      <vt:lpstr>Calibri</vt:lpstr>
      <vt:lpstr>Courier</vt:lpstr>
      <vt:lpstr>Roboto</vt:lpstr>
      <vt:lpstr>Roboto light</vt:lpstr>
      <vt:lpstr>Verdana</vt:lpstr>
      <vt:lpstr>Office Theme</vt:lpstr>
      <vt:lpstr>Building Movie Review Website II</vt:lpstr>
      <vt:lpstr>Objectives</vt:lpstr>
      <vt:lpstr>Tools Required</vt:lpstr>
      <vt:lpstr>Creating the View…Continue</vt:lpstr>
      <vt:lpstr>Creating Movie Details Modal Window</vt:lpstr>
      <vt:lpstr>Wireframe – Movie Details</vt:lpstr>
      <vt:lpstr>Creating Movie Details Modal Window - movies-modal.html</vt:lpstr>
      <vt:lpstr>Creating Movie Details Modal Window</vt:lpstr>
      <vt:lpstr>Creating Movie Details Modal Window</vt:lpstr>
      <vt:lpstr>Test the Movie Details Modal Window</vt:lpstr>
      <vt:lpstr>Adding Comments Modal Window</vt:lpstr>
      <vt:lpstr>Wireframe - Comments</vt:lpstr>
      <vt:lpstr>Adding Comments Modal Window - comments-modal.html </vt:lpstr>
      <vt:lpstr>Adding Comments Modal Window</vt:lpstr>
      <vt:lpstr>Adding Comments Modal Window - comments.js </vt:lpstr>
      <vt:lpstr>Test the Movie Details Modal Window</vt:lpstr>
      <vt:lpstr>Adding Comments Modal Window - comments.js </vt:lpstr>
      <vt:lpstr>Test the Movie Details Modal Window</vt:lpstr>
      <vt:lpstr>Next Episode…</vt:lpstr>
      <vt:lpstr>The End</vt:lpstr>
    </vt:vector>
  </TitlesOfParts>
  <Manager/>
  <Company>Temasek Polytechnic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Movie Review Website II</dc:title>
  <dc:subject>Coding and Testing</dc:subject>
  <dc:creator>Tan Sio Poh</dc:creator>
  <cp:keywords>CODT, CIT1C16, ADEV, CIT1C17, Building Movie Review Web Pages</cp:keywords>
  <dc:description/>
  <cp:lastModifiedBy>temasek poly</cp:lastModifiedBy>
  <cp:revision>460</cp:revision>
  <dcterms:created xsi:type="dcterms:W3CDTF">2016-03-04T00:57:19Z</dcterms:created>
  <dcterms:modified xsi:type="dcterms:W3CDTF">2021-09-23T13:41:43Z</dcterms:modified>
  <cp:category>Software Cluster</cp:category>
</cp:coreProperties>
</file>