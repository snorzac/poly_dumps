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288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DC2D1-92C4-4EDC-81F6-661EAF211780}" v="78" dt="2018-09-28T03:50:01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1" autoAdjust="0"/>
    <p:restoredTop sz="93796" autoAdjust="0"/>
  </p:normalViewPr>
  <p:slideViewPr>
    <p:cSldViewPr snapToGrid="0">
      <p:cViewPr varScale="1">
        <p:scale>
          <a:sx n="107" d="100"/>
          <a:sy n="107" d="100"/>
        </p:scale>
        <p:origin x="103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037DC2D1-92C4-4EDC-81F6-661EAF211780}"/>
    <pc:docChg chg="undo modMainMaster">
      <pc:chgData name="Lam Su Yi" userId="43bb02ba-2a64-4c57-886a-7f9577835f3c" providerId="ADAL" clId="{037DC2D1-92C4-4EDC-81F6-661EAF211780}" dt="2018-09-28T03:50:01.095" v="77" actId="20577"/>
      <pc:docMkLst>
        <pc:docMk/>
      </pc:docMkLst>
      <pc:sldMasterChg chg="modSldLayout">
        <pc:chgData name="Lam Su Yi" userId="43bb02ba-2a64-4c57-886a-7f9577835f3c" providerId="ADAL" clId="{037DC2D1-92C4-4EDC-81F6-661EAF211780}" dt="2018-09-28T03:50:01.095" v="77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037DC2D1-92C4-4EDC-81F6-661EAF211780}" dt="2018-09-28T03:50:01.095" v="77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037DC2D1-92C4-4EDC-81F6-661EAF211780}" dt="2018-09-28T03:49:57.528" v="73" actId="1076"/>
            <ac:spMkLst>
              <pc:docMk/>
              <pc:sldMasterMk cId="758345117" sldId="2147483672"/>
              <pc:sldLayoutMk cId="1526603819" sldId="2147483673"/>
              <ac:spMk id="8" creationId="{00000000-0000-0000-0000-000000000000}"/>
            </ac:spMkLst>
          </pc:spChg>
          <pc:spChg chg="mod">
            <ac:chgData name="Lam Su Yi" userId="43bb02ba-2a64-4c57-886a-7f9577835f3c" providerId="ADAL" clId="{037DC2D1-92C4-4EDC-81F6-661EAF211780}" dt="2018-09-27T08:18:59.220" v="71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037DC2D1-92C4-4EDC-81F6-661EAF211780}" dt="2018-09-28T03:50:01.095" v="77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22/9/2021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uxmovement.com/navigation/why-external-links-should-open-in-new-tabs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on the sentence “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  <a:hlinkClick r:id="rId3"/>
              </a:rPr>
              <a:t>Should external links open in new tab?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</a:rPr>
              <a:t>” to open to article.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3513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Copy the</a:t>
            </a:r>
            <a:r>
              <a:rPr lang="en-GB" baseline="0" dirty="0"/>
              <a:t> code on the left and paste into a blank HTML file to test. </a:t>
            </a:r>
          </a:p>
          <a:p>
            <a:r>
              <a:rPr lang="en-GB" baseline="0" dirty="0"/>
              <a:t>Open it in a browser window. </a:t>
            </a:r>
          </a:p>
          <a:p>
            <a:r>
              <a:rPr lang="en-GB" baseline="0" dirty="0"/>
              <a:t>Resize the browser window until only the “Jump to</a:t>
            </a:r>
            <a:r>
              <a:rPr lang="is-IS" baseline="0" dirty="0"/>
              <a:t>….” text is visible.</a:t>
            </a:r>
          </a:p>
          <a:p>
            <a:r>
              <a:rPr lang="is-IS" baseline="0" dirty="0"/>
              <a:t>Click on the ”the first chapter!” link.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2592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561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62F976B9-EA7D-4178-A1C2-C52A639DE10A}" type="datetime1">
              <a:rPr lang="en-US" smtClean="0"/>
              <a:t>9/22/2021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970A17FA-30DB-4EF9-8F32-DA04C5B7B39C}" type="datetime1">
              <a:rPr lang="en-US" smtClean="0"/>
              <a:t>9/22/2021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850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D7655924-73DA-44E6-B1B8-34FC7E7B94AF}" type="datetime1">
              <a:rPr lang="en-US" smtClean="0"/>
              <a:t>9/22/2021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245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uxmovement.com/navigation/why-external-links-should-open-in-new-tabs/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tiff"/><Relationship Id="rId4" Type="http://schemas.openxmlformats.org/officeDocument/2006/relationships/hyperlink" Target="http://www.google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HTML Form and Controls I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01.</a:t>
            </a:r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Describe the structure of a form in a HTML document;</a:t>
            </a:r>
            <a:endParaRPr lang="en-US" sz="1800" dirty="0"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Describe the syntax and characteristics of HTML form elements;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Demonstrate how to create navigation links in a web page;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Demonstrate how to create a simple form in web page.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6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101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</a:t>
            </a:r>
            <a:r>
              <a:rPr lang="en-GB" dirty="0" err="1"/>
              <a:t>lISTS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174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Unordered Lists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265893" y="2770421"/>
            <a:ext cx="2801471" cy="1591235"/>
          </a:xfrm>
        </p:spPr>
        <p:txBody>
          <a:bodyPr/>
          <a:lstStyle/>
          <a:p>
            <a:r>
              <a:rPr lang="en-GB" dirty="0"/>
              <a:t>Item 1</a:t>
            </a:r>
          </a:p>
          <a:p>
            <a:r>
              <a:rPr lang="en-GB" dirty="0"/>
              <a:t>Item 2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38" y="2685280"/>
            <a:ext cx="2628900" cy="13081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Right Arrow 10"/>
          <p:cNvSpPr/>
          <p:nvPr/>
        </p:nvSpPr>
        <p:spPr>
          <a:xfrm>
            <a:off x="5932212" y="3185786"/>
            <a:ext cx="887506" cy="1702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810000" y="3469341"/>
            <a:ext cx="107576" cy="3316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10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Ordered Lists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265893" y="2770421"/>
            <a:ext cx="2801471" cy="159123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Item 1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Item 2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  <p:sp>
        <p:nvSpPr>
          <p:cNvPr id="11" name="Right Arrow 10"/>
          <p:cNvSpPr/>
          <p:nvPr/>
        </p:nvSpPr>
        <p:spPr>
          <a:xfrm>
            <a:off x="5748243" y="3185786"/>
            <a:ext cx="887506" cy="1702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810000" y="3469341"/>
            <a:ext cx="107576" cy="3316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2623227"/>
            <a:ext cx="2616200" cy="1295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147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Links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808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to External  Website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600200"/>
            <a:ext cx="4914900" cy="4674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sp>
        <p:nvSpPr>
          <p:cNvPr id="10" name="TextBox 9"/>
          <p:cNvSpPr txBox="1"/>
          <p:nvPr/>
        </p:nvSpPr>
        <p:spPr>
          <a:xfrm>
            <a:off x="7897906" y="1624189"/>
            <a:ext cx="181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hlinkClick r:id="rId4"/>
              </a:rPr>
              <a:t>Google</a:t>
            </a:r>
            <a:endParaRPr lang="en-GB" dirty="0"/>
          </a:p>
        </p:txBody>
      </p:sp>
      <p:sp>
        <p:nvSpPr>
          <p:cNvPr id="11" name="Right Arrow 10"/>
          <p:cNvSpPr/>
          <p:nvPr/>
        </p:nvSpPr>
        <p:spPr>
          <a:xfrm>
            <a:off x="6508376" y="1712259"/>
            <a:ext cx="717177" cy="1344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5708276" y="1668094"/>
            <a:ext cx="107576" cy="3316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7905" y="2884105"/>
            <a:ext cx="1941980" cy="6708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739098"/>
            <a:ext cx="4914900" cy="9988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Right Arrow 14"/>
          <p:cNvSpPr/>
          <p:nvPr/>
        </p:nvSpPr>
        <p:spPr>
          <a:xfrm>
            <a:off x="6508376" y="3104029"/>
            <a:ext cx="717177" cy="1344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4568915"/>
            <a:ext cx="4914900" cy="3608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Right Arrow 17"/>
          <p:cNvSpPr/>
          <p:nvPr/>
        </p:nvSpPr>
        <p:spPr>
          <a:xfrm>
            <a:off x="6508375" y="4682088"/>
            <a:ext cx="717177" cy="1344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7897905" y="4533669"/>
            <a:ext cx="181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hlinkClick r:id="rId4"/>
              </a:rPr>
              <a:t>Google</a:t>
            </a:r>
            <a:endParaRPr lang="en-GB" dirty="0"/>
          </a:p>
        </p:txBody>
      </p:sp>
      <p:sp>
        <p:nvSpPr>
          <p:cNvPr id="20" name="Rectangular Callout 19"/>
          <p:cNvSpPr/>
          <p:nvPr/>
        </p:nvSpPr>
        <p:spPr>
          <a:xfrm>
            <a:off x="2142563" y="5255633"/>
            <a:ext cx="2142565" cy="657973"/>
          </a:xfrm>
          <a:prstGeom prst="wedgeRectCallout">
            <a:avLst>
              <a:gd name="adj1" fmla="val 44105"/>
              <a:gd name="adj2" fmla="val -1127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Opens Google website in a new browser window / tab</a:t>
            </a:r>
          </a:p>
        </p:txBody>
      </p:sp>
      <p:sp>
        <p:nvSpPr>
          <p:cNvPr id="21" name="Cloud Callout 20"/>
          <p:cNvSpPr/>
          <p:nvPr/>
        </p:nvSpPr>
        <p:spPr>
          <a:xfrm>
            <a:off x="7897905" y="5038159"/>
            <a:ext cx="2277035" cy="1055763"/>
          </a:xfrm>
          <a:prstGeom prst="cloudCallout">
            <a:avLst>
              <a:gd name="adj1" fmla="val -182683"/>
              <a:gd name="adj2" fmla="val -68167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  <a:hlinkClick r:id="rId8"/>
              </a:rPr>
              <a:t>Should external links open in new tab?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64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Values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60609"/>
              </p:ext>
            </p:extLst>
          </p:nvPr>
        </p:nvGraphicFramePr>
        <p:xfrm>
          <a:off x="1194618" y="1997765"/>
          <a:ext cx="99822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5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Target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_blank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Opens the linked document in a new window or tab</a:t>
                      </a:r>
                      <a:endParaRPr lang="en-GB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self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Opens the linked document in the same frame as it was clicked (this is default)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_parent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Opens the linked document in the parent frame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_top</a:t>
                      </a: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Opens the linked document in the full body of the window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i="1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framename</a:t>
                      </a:r>
                      <a:endParaRPr lang="en-US" sz="1600">
                        <a:effectLst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Opens the linked document in a named frame</a:t>
                      </a: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097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Within Page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951" y="1600200"/>
            <a:ext cx="2917011" cy="4572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  <p:sp>
        <p:nvSpPr>
          <p:cNvPr id="7" name="TextBox 6"/>
          <p:cNvSpPr txBox="1"/>
          <p:nvPr/>
        </p:nvSpPr>
        <p:spPr>
          <a:xfrm>
            <a:off x="1104898" y="1600200"/>
            <a:ext cx="5197290" cy="470898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&lt;h1 id="chapter1"&gt;Chapter 1&lt;/h1&gt;</a:t>
            </a:r>
          </a:p>
          <a:p>
            <a:endParaRPr lang="en-US" sz="10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&lt;p&gt;Most exciting story in the world. To be continued...&lt;/p&gt;	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.&lt;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&gt;			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&lt;p&gt;Jump to &lt;a 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="#chapter1"&gt;the first chapter!&lt;/a&gt; &lt;/p&gt;</a:t>
            </a:r>
          </a:p>
          <a:p>
            <a:endParaRPr lang="en-US" sz="10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&lt;p&gt;Read more about Fox's 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behaviour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 on	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&lt;a 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="http://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en.wikipedia.org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/wiki/</a:t>
            </a:r>
            <a:r>
              <a:rPr lang="en-US" sz="1000" dirty="0" err="1">
                <a:latin typeface="Courier" charset="0"/>
                <a:ea typeface="Courier" charset="0"/>
                <a:cs typeface="Courier" charset="0"/>
              </a:rPr>
              <a:t>Fox#Behavior</a:t>
            </a:r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"&gt;Wikipedia&lt;/a&gt;</a:t>
            </a:r>
          </a:p>
          <a:p>
            <a:r>
              <a:rPr lang="en-US" sz="1000" dirty="0">
                <a:latin typeface="Courier" charset="0"/>
                <a:ea typeface="Courier" charset="0"/>
                <a:cs typeface="Courier" charset="0"/>
              </a:rPr>
              <a:t>&lt;/p&gt;</a:t>
            </a:r>
            <a:endParaRPr lang="en-GB" sz="10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614498" y="3684074"/>
            <a:ext cx="726142" cy="806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04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Within Page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643" y="1600200"/>
            <a:ext cx="4111413" cy="457200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533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Within Own Website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41" y="1686859"/>
            <a:ext cx="2832100" cy="17272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sp>
        <p:nvSpPr>
          <p:cNvPr id="8" name="TextBox 7"/>
          <p:cNvSpPr txBox="1"/>
          <p:nvPr/>
        </p:nvSpPr>
        <p:spPr>
          <a:xfrm>
            <a:off x="5549151" y="1967316"/>
            <a:ext cx="4867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&lt;p&gt;Link to &lt;a </a:t>
            </a:r>
            <a:r>
              <a:rPr lang="en-GB" sz="1200" dirty="0" err="1"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=“level2/test2.html”&gt;level 2&lt;/a&gt;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9151" y="1470212"/>
            <a:ext cx="2572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From within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test.html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9151" y="4414339"/>
            <a:ext cx="4867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&lt;p&gt;Link to &lt;a </a:t>
            </a:r>
            <a:r>
              <a:rPr lang="en-GB" sz="1200" dirty="0" err="1"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=“../</a:t>
            </a:r>
            <a:r>
              <a:rPr lang="en-GB" sz="1200" dirty="0" err="1">
                <a:latin typeface="Courier" charset="0"/>
                <a:ea typeface="Courier" charset="0"/>
                <a:cs typeface="Courier" charset="0"/>
              </a:rPr>
              <a:t>test.html</a:t>
            </a:r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”&gt;level 1&lt;/a&gt;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9151" y="3917235"/>
            <a:ext cx="2572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From within test2.html: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9151" y="5576176"/>
            <a:ext cx="4867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&lt;p&gt;Link to &lt;a </a:t>
            </a:r>
            <a:r>
              <a:rPr lang="en-GB" sz="1200" dirty="0" err="1"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=“../../</a:t>
            </a:r>
            <a:r>
              <a:rPr lang="en-GB" sz="1200" dirty="0" err="1">
                <a:latin typeface="Courier" charset="0"/>
                <a:ea typeface="Courier" charset="0"/>
                <a:cs typeface="Courier" charset="0"/>
              </a:rPr>
              <a:t>test.html</a:t>
            </a:r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”&gt;level 1&lt;/a&gt;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9151" y="5079072"/>
            <a:ext cx="2572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From within test3.html: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9151" y="3160206"/>
            <a:ext cx="5468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&lt;p&gt;Link to &lt;a </a:t>
            </a:r>
            <a:r>
              <a:rPr lang="en-GB" sz="1200" dirty="0" err="1"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en-GB" sz="1200" dirty="0">
                <a:latin typeface="Courier" charset="0"/>
                <a:ea typeface="Courier" charset="0"/>
                <a:cs typeface="Courier" charset="0"/>
              </a:rPr>
              <a:t>=“level2/level3/test3.html”&gt;level 3&lt;/a&gt;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9151" y="2663102"/>
            <a:ext cx="2572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From within </a:t>
            </a:r>
            <a:r>
              <a:rPr lang="en-GB" sz="1600" dirty="0" err="1">
                <a:latin typeface="Arial Unicode MS" charset="0"/>
                <a:ea typeface="Arial Unicode MS" charset="0"/>
                <a:cs typeface="Arial Unicode MS" charset="0"/>
              </a:rPr>
              <a:t>test.html</a:t>
            </a:r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: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49151" y="2465294"/>
            <a:ext cx="53788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549151" y="3675530"/>
            <a:ext cx="53788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567079" y="4930588"/>
            <a:ext cx="53788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83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09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50" y="2165350"/>
            <a:ext cx="8089900" cy="34417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 In HTML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  <p:sp>
        <p:nvSpPr>
          <p:cNvPr id="10" name="Rectangular Callout 9"/>
          <p:cNvSpPr/>
          <p:nvPr/>
        </p:nvSpPr>
        <p:spPr>
          <a:xfrm>
            <a:off x="934328" y="1422726"/>
            <a:ext cx="1407459" cy="493059"/>
          </a:xfrm>
          <a:prstGeom prst="wedgeRectCallout">
            <a:avLst>
              <a:gd name="adj1" fmla="val 64518"/>
              <a:gd name="adj2" fmla="val 1079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Start </a:t>
            </a:r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of comment</a:t>
            </a:r>
          </a:p>
        </p:txBody>
      </p:sp>
      <p:sp>
        <p:nvSpPr>
          <p:cNvPr id="17" name="Rectangular Callout 16"/>
          <p:cNvSpPr/>
          <p:nvPr/>
        </p:nvSpPr>
        <p:spPr>
          <a:xfrm>
            <a:off x="401170" y="3150219"/>
            <a:ext cx="1407459" cy="493059"/>
          </a:xfrm>
          <a:prstGeom prst="wedgeRectCallout">
            <a:avLst>
              <a:gd name="adj1" fmla="val 94454"/>
              <a:gd name="adj2" fmla="val -447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End of comment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4541" y="1497106"/>
            <a:ext cx="5898777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Comments will not be shown </a:t>
            </a:r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or rendered in web page.</a:t>
            </a:r>
          </a:p>
        </p:txBody>
      </p:sp>
    </p:spTree>
    <p:extLst>
      <p:ext uri="{BB962C8B-B14F-4D97-AF65-F5344CB8AC3E}">
        <p14:creationId xmlns:p14="http://schemas.microsoft.com/office/powerpoint/2010/main" val="305048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809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Tables in 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  <p:sp>
        <p:nvSpPr>
          <p:cNvPr id="6" name="TextBox 5"/>
          <p:cNvSpPr txBox="1"/>
          <p:nvPr/>
        </p:nvSpPr>
        <p:spPr>
          <a:xfrm>
            <a:off x="1556431" y="1559169"/>
            <a:ext cx="9077620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 Unicode MS" charset="0"/>
                <a:ea typeface="Arial Unicode MS" charset="0"/>
                <a:cs typeface="Arial Unicode MS" charset="0"/>
              </a:rPr>
              <a:t>Tables are useful for displaying tabular data on the web such as research study results.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459" y="2283731"/>
            <a:ext cx="61214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8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Table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0" y="2216150"/>
            <a:ext cx="3898900" cy="33401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3435350"/>
            <a:ext cx="1714500" cy="9017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  <p:sp>
        <p:nvSpPr>
          <p:cNvPr id="7" name="Rectangular Callout 6"/>
          <p:cNvSpPr/>
          <p:nvPr/>
        </p:nvSpPr>
        <p:spPr>
          <a:xfrm>
            <a:off x="286871" y="2216149"/>
            <a:ext cx="1001801" cy="536015"/>
          </a:xfrm>
          <a:prstGeom prst="wedgeRectCallout">
            <a:avLst>
              <a:gd name="adj1" fmla="val 157546"/>
              <a:gd name="adj2" fmla="val 36763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Table header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286871" y="3886199"/>
            <a:ext cx="902655" cy="569259"/>
          </a:xfrm>
          <a:prstGeom prst="wedgeRectCallout">
            <a:avLst>
              <a:gd name="adj1" fmla="val 176239"/>
              <a:gd name="adj2" fmla="val -34718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Table body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4" name="Rectangular Callout 13"/>
          <p:cNvSpPr/>
          <p:nvPr/>
        </p:nvSpPr>
        <p:spPr>
          <a:xfrm>
            <a:off x="4392706" y="1754123"/>
            <a:ext cx="1308847" cy="378324"/>
          </a:xfrm>
          <a:prstGeom prst="wedgeRectCallout">
            <a:avLst>
              <a:gd name="adj1" fmla="val -134544"/>
              <a:gd name="adj2" fmla="val 245284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Table row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5" name="Rectangular Callout 14"/>
          <p:cNvSpPr/>
          <p:nvPr/>
        </p:nvSpPr>
        <p:spPr>
          <a:xfrm>
            <a:off x="5836028" y="1943285"/>
            <a:ext cx="1586748" cy="378324"/>
          </a:xfrm>
          <a:prstGeom prst="wedgeRectCallout">
            <a:avLst>
              <a:gd name="adj1" fmla="val -117595"/>
              <a:gd name="adj2" fmla="val 250023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Header cell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03576" y="3711388"/>
            <a:ext cx="905436" cy="1748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ular Callout 16"/>
          <p:cNvSpPr/>
          <p:nvPr/>
        </p:nvSpPr>
        <p:spPr>
          <a:xfrm>
            <a:off x="6347016" y="4968376"/>
            <a:ext cx="1927407" cy="378324"/>
          </a:xfrm>
          <a:prstGeom prst="wedgeRectCallout">
            <a:avLst>
              <a:gd name="adj1" fmla="val -121550"/>
              <a:gd name="adj2" fmla="val -176503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Table data/column</a:t>
            </a:r>
          </a:p>
        </p:txBody>
      </p:sp>
    </p:spTree>
    <p:extLst>
      <p:ext uri="{BB962C8B-B14F-4D97-AF65-F5344CB8AC3E}">
        <p14:creationId xmlns:p14="http://schemas.microsoft.com/office/powerpoint/2010/main" val="383921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142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19</a:t>
            </a:fld>
            <a:endParaRPr lang="uk-UA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728" y="1600200"/>
            <a:ext cx="7642544" cy="4572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989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Client-to-Server Communication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900" y="1810755"/>
            <a:ext cx="9982200" cy="415088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20</a:t>
            </a:fld>
            <a:endParaRPr lang="uk-UA"/>
          </a:p>
        </p:txBody>
      </p:sp>
      <p:sp>
        <p:nvSpPr>
          <p:cNvPr id="7" name="TextBox 6"/>
          <p:cNvSpPr txBox="1"/>
          <p:nvPr/>
        </p:nvSpPr>
        <p:spPr>
          <a:xfrm>
            <a:off x="2178424" y="1398494"/>
            <a:ext cx="160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Client (Browser)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657" y="1398494"/>
            <a:ext cx="1604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Server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9" name="Rectangular Callout 8"/>
          <p:cNvSpPr/>
          <p:nvPr/>
        </p:nvSpPr>
        <p:spPr>
          <a:xfrm>
            <a:off x="5654487" y="1490210"/>
            <a:ext cx="1407459" cy="493059"/>
          </a:xfrm>
          <a:prstGeom prst="wedgeRectCallout">
            <a:avLst>
              <a:gd name="adj1" fmla="val 2735"/>
              <a:gd name="adj2" fmla="val 115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Query String</a:t>
            </a:r>
          </a:p>
        </p:txBody>
      </p:sp>
      <p:sp>
        <p:nvSpPr>
          <p:cNvPr id="10" name="Oval 9"/>
          <p:cNvSpPr/>
          <p:nvPr/>
        </p:nvSpPr>
        <p:spPr>
          <a:xfrm>
            <a:off x="4975411" y="2336177"/>
            <a:ext cx="2949386" cy="72975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24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 Structure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169" y="2312520"/>
            <a:ext cx="4914900" cy="314736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519" y="3054350"/>
            <a:ext cx="3098800" cy="1663700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21</a:t>
            </a:fld>
            <a:endParaRPr lang="uk-UA"/>
          </a:p>
        </p:txBody>
      </p:sp>
      <p:sp>
        <p:nvSpPr>
          <p:cNvPr id="10" name="Right Arrow 9"/>
          <p:cNvSpPr/>
          <p:nvPr/>
        </p:nvSpPr>
        <p:spPr>
          <a:xfrm>
            <a:off x="6642845" y="3765176"/>
            <a:ext cx="627530" cy="1613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Elbow Connector 11"/>
          <p:cNvCxnSpPr/>
          <p:nvPr/>
        </p:nvCxnSpPr>
        <p:spPr>
          <a:xfrm rot="10800000">
            <a:off x="5764305" y="2922494"/>
            <a:ext cx="3594847" cy="131856"/>
          </a:xfrm>
          <a:prstGeom prst="bentConnector3">
            <a:avLst>
              <a:gd name="adj1" fmla="val 125"/>
            </a:avLst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10800000">
            <a:off x="4007223" y="2662518"/>
            <a:ext cx="3899647" cy="391832"/>
          </a:xfrm>
          <a:prstGeom prst="bentConnector3">
            <a:avLst>
              <a:gd name="adj1" fmla="val -115"/>
            </a:avLst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10800000" flipV="1">
            <a:off x="6293222" y="3890681"/>
            <a:ext cx="2994212" cy="152400"/>
          </a:xfrm>
          <a:prstGeom prst="bentConnector3">
            <a:avLst>
              <a:gd name="adj1" fmla="val 0"/>
            </a:avLst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0800000" flipV="1">
            <a:off x="5638798" y="4383740"/>
            <a:ext cx="2268072" cy="600635"/>
          </a:xfrm>
          <a:prstGeom prst="bentConnector3">
            <a:avLst>
              <a:gd name="adj1" fmla="val -198"/>
            </a:avLst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/>
          <p:nvPr/>
        </p:nvCxnSpPr>
        <p:spPr>
          <a:xfrm rot="10800000" flipV="1">
            <a:off x="3373729" y="3675526"/>
            <a:ext cx="4145793" cy="89649"/>
          </a:xfrm>
          <a:prstGeom prst="bentConnector3">
            <a:avLst>
              <a:gd name="adj1" fmla="val 99951"/>
            </a:avLst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ular Callout 34"/>
          <p:cNvSpPr/>
          <p:nvPr/>
        </p:nvSpPr>
        <p:spPr>
          <a:xfrm>
            <a:off x="2749922" y="1388804"/>
            <a:ext cx="2924737" cy="762235"/>
          </a:xfrm>
          <a:prstGeom prst="wedgeRectCallout">
            <a:avLst>
              <a:gd name="adj1" fmla="val -47840"/>
              <a:gd name="adj2" fmla="val 757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The web page where data in form are sent to for processing when the Login button is pressed.</a:t>
            </a:r>
          </a:p>
        </p:txBody>
      </p:sp>
      <p:sp>
        <p:nvSpPr>
          <p:cNvPr id="36" name="Rectangular Callout 35"/>
          <p:cNvSpPr/>
          <p:nvPr/>
        </p:nvSpPr>
        <p:spPr>
          <a:xfrm>
            <a:off x="6679997" y="1401479"/>
            <a:ext cx="2576785" cy="493059"/>
          </a:xfrm>
          <a:prstGeom prst="wedgeRectCallout">
            <a:avLst>
              <a:gd name="adj1" fmla="val -100668"/>
              <a:gd name="adj2" fmla="val 1424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How data in form are being sent: 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POST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or </a:t>
            </a:r>
            <a:r>
              <a:rPr lang="en-GB" sz="1400" dirty="0">
                <a:latin typeface="Courier" charset="0"/>
                <a:ea typeface="Courier" charset="0"/>
                <a:cs typeface="Courier" charset="0"/>
              </a:rPr>
              <a:t>GET</a:t>
            </a:r>
          </a:p>
        </p:txBody>
      </p:sp>
      <p:sp>
        <p:nvSpPr>
          <p:cNvPr id="37" name="Rectangular Callout 36"/>
          <p:cNvSpPr/>
          <p:nvPr/>
        </p:nvSpPr>
        <p:spPr>
          <a:xfrm>
            <a:off x="466165" y="2766216"/>
            <a:ext cx="1538566" cy="667266"/>
          </a:xfrm>
          <a:prstGeom prst="wedgeRectCallout">
            <a:avLst>
              <a:gd name="adj1" fmla="val 87023"/>
              <a:gd name="adj2" fmla="val -256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Input element </a:t>
            </a:r>
            <a:r>
              <a:rPr lang="en-GB" sz="1400">
                <a:latin typeface="Arial Unicode MS" charset="0"/>
                <a:ea typeface="Arial Unicode MS" charset="0"/>
                <a:cs typeface="Arial Unicode MS" charset="0"/>
              </a:rPr>
              <a:t>to collect data in web page</a:t>
            </a:r>
            <a:endParaRPr lang="en-GB" sz="14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7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W1.5 HTML Form and Controls </a:t>
            </a:r>
            <a:r>
              <a:rPr lang="en-GB" dirty="0" err="1"/>
              <a:t>I.docx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121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&amp;quot;&quot;/&gt;&lt;property id=&quot;20307&quot; value=&quot;256&quot;/&gt;&lt;/object&gt;&lt;object type=&quot;3&quot; unique_id=&quot;13467&quot;&gt;&lt;property id=&quot;20148&quot; value=&quot;5&quot;/&gt;&lt;property id=&quot;20300&quot; value=&quot;Slide 23 - &amp;quot;The End&amp;quot;&quot;/&gt;&lt;property id=&quot;20307&quot; value=&quot;288&quot;/&gt;&lt;/object&gt;&lt;object type=&quot;3&quot; unique_id=&quot;15676&quot;&gt;&lt;property id=&quot;20148&quot; value=&quot;5&quot;/&gt;&lt;property id=&quot;20300&quot; value=&quot;Slide 2 - &amp;quot;Objectives&amp;quot;&quot;/&gt;&lt;property id=&quot;20307&quot; value=&quot;306&quot;/&gt;&lt;/object&gt;&lt;object type=&quot;3&quot; unique_id=&quot;15677&quot;&gt;&lt;property id=&quot;20148&quot; value=&quot;5&quot;/&gt;&lt;property id=&quot;20300&quot; value=&quot;Slide 3 - &amp;quot;Tools Required&amp;quot;&quot;/&gt;&lt;property id=&quot;20307&quot; value=&quot;307&quot;/&gt;&lt;/object&gt;&lt;object type=&quot;3&quot; unique_id=&quot;15678&quot;&gt;&lt;property id=&quot;20148&quot; value=&quot;5&quot;/&gt;&lt;property id=&quot;20300&quot; value=&quot;Slide 4 - &amp;quot;CREATING lISTS&amp;quot;&quot;/&gt;&lt;property id=&quot;20307&quot; value=&quot;308&quot;/&gt;&lt;/object&gt;&lt;object type=&quot;3&quot; unique_id=&quot;15679&quot;&gt;&lt;property id=&quot;20148&quot; value=&quot;5&quot;/&gt;&lt;property id=&quot;20300&quot; value=&quot;Slide 5 - &amp;quot;Unordered Lists&amp;quot;&quot;/&gt;&lt;property id=&quot;20307&quot; value=&quot;309&quot;/&gt;&lt;/object&gt;&lt;object type=&quot;3&quot; unique_id=&quot;15680&quot;&gt;&lt;property id=&quot;20148&quot; value=&quot;5&quot;/&gt;&lt;property id=&quot;20300&quot; value=&quot;Slide 6 - &amp;quot;Ordered Lists&amp;quot;&quot;/&gt;&lt;property id=&quot;20307&quot; value=&quot;310&quot;/&gt;&lt;/object&gt;&lt;object type=&quot;3&quot; unique_id=&quot;15681&quot;&gt;&lt;property id=&quot;20148&quot; value=&quot;5&quot;/&gt;&lt;property id=&quot;20300&quot; value=&quot;Slide 7 - &amp;quot;Creating Links&amp;quot;&quot;/&gt;&lt;property id=&quot;20307&quot; value=&quot;311&quot;/&gt;&lt;/object&gt;&lt;object type=&quot;3&quot; unique_id=&quot;15682&quot;&gt;&lt;property id=&quot;20148&quot; value=&quot;5&quot;/&gt;&lt;property id=&quot;20300&quot; value=&quot;Slide 8 - &amp;quot;Link to External  Website&amp;quot;&quot;/&gt;&lt;property id=&quot;20307&quot; value=&quot;312&quot;/&gt;&lt;/object&gt;&lt;object type=&quot;3&quot; unique_id=&quot;15683&quot;&gt;&lt;property id=&quot;20148&quot; value=&quot;5&quot;/&gt;&lt;property id=&quot;20300&quot; value=&quot;Slide 9 - &amp;quot;Target Values&amp;quot;&quot;/&gt;&lt;property id=&quot;20307&quot; value=&quot;313&quot;/&gt;&lt;/object&gt;&lt;object type=&quot;3&quot; unique_id=&quot;15684&quot;&gt;&lt;property id=&quot;20148&quot; value=&quot;5&quot;/&gt;&lt;property id=&quot;20300&quot; value=&quot;Slide 10 - &amp;quot;Link Within Page&amp;quot;&quot;/&gt;&lt;property id=&quot;20307&quot; value=&quot;314&quot;/&gt;&lt;/object&gt;&lt;object type=&quot;3&quot; unique_id=&quot;15685&quot;&gt;&lt;property id=&quot;20148&quot; value=&quot;5&quot;/&gt;&lt;property id=&quot;20300&quot; value=&quot;Slide 11 - &amp;quot;Link Within Page&amp;quot;&quot;/&gt;&lt;property id=&quot;20307&quot; value=&quot;315&quot;/&gt;&lt;/object&gt;&lt;object type=&quot;3&quot; unique_id=&quot;15686&quot;&gt;&lt;property id=&quot;20148&quot; value=&quot;5&quot;/&gt;&lt;property id=&quot;20300&quot; value=&quot;Slide 12 - &amp;quot;Link Within Own Website&amp;quot;&quot;/&gt;&lt;property id=&quot;20307&quot; value=&quot;316&quot;/&gt;&lt;/object&gt;&lt;object type=&quot;3&quot; unique_id=&quot;15687&quot;&gt;&lt;property id=&quot;20148&quot; value=&quot;5&quot;/&gt;&lt;property id=&quot;20300&quot; value=&quot;Slide 13 - &amp;quot;Comments&amp;quot;&quot;/&gt;&lt;property id=&quot;20307&quot; value=&quot;317&quot;/&gt;&lt;/object&gt;&lt;object type=&quot;3&quot; unique_id=&quot;15688&quot;&gt;&lt;property id=&quot;20148&quot; value=&quot;5&quot;/&gt;&lt;property id=&quot;20300&quot; value=&quot;Slide 14 - &amp;quot;Comments In HTML&amp;quot;&quot;/&gt;&lt;property id=&quot;20307&quot; value=&quot;318&quot;/&gt;&lt;/object&gt;&lt;object type=&quot;3&quot; unique_id=&quot;15689&quot;&gt;&lt;property id=&quot;20148&quot; value=&quot;5&quot;/&gt;&lt;property id=&quot;20300&quot; value=&quot;Slide 15 - &amp;quot;TABLES&amp;quot;&quot;/&gt;&lt;property id=&quot;20307&quot; value=&quot;319&quot;/&gt;&lt;/object&gt;&lt;object type=&quot;3&quot; unique_id=&quot;15690&quot;&gt;&lt;property id=&quot;20148&quot; value=&quot;5&quot;/&gt;&lt;property id=&quot;20300&quot; value=&quot;Slide 16 - &amp;quot;Tables in HTML&amp;quot;&quot;/&gt;&lt;property id=&quot;20307&quot; value=&quot;320&quot;/&gt;&lt;/object&gt;&lt;object type=&quot;3&quot; unique_id=&quot;15691&quot;&gt;&lt;property id=&quot;20148&quot; value=&quot;5&quot;/&gt;&lt;property id=&quot;20300&quot; value=&quot;Slide 17 - &amp;quot;Adding Table&amp;quot;&quot;/&gt;&lt;property id=&quot;20307&quot; value=&quot;321&quot;/&gt;&lt;/object&gt;&lt;object type=&quot;3&quot; unique_id=&quot;15692&quot;&gt;&lt;property id=&quot;20148&quot; value=&quot;5&quot;/&gt;&lt;property id=&quot;20300&quot; value=&quot;Slide 18 - &amp;quot;FORMS&amp;quot;&quot;/&gt;&lt;property id=&quot;20307&quot; value=&quot;322&quot;/&gt;&lt;/object&gt;&lt;object type=&quot;3&quot; unique_id=&quot;15693&quot;&gt;&lt;property id=&quot;20148&quot; value=&quot;5&quot;/&gt;&lt;property id=&quot;20300&quot; value=&quot;Slide 19 - &amp;quot;HTML Form&amp;quot;&quot;/&gt;&lt;property id=&quot;20307&quot; value=&quot;323&quot;/&gt;&lt;/object&gt;&lt;object type=&quot;3&quot; unique_id=&quot;15694&quot;&gt;&lt;property id=&quot;20148&quot; value=&quot;5&quot;/&gt;&lt;property id=&quot;20300&quot; value=&quot;Slide 20 - &amp;quot;Client-to-Server Communication&amp;quot;&quot;/&gt;&lt;property id=&quot;20307&quot; value=&quot;324&quot;/&gt;&lt;/object&gt;&lt;object type=&quot;3&quot; unique_id=&quot;15695&quot;&gt;&lt;property id=&quot;20148&quot; value=&quot;5&quot;/&gt;&lt;property id=&quot;20300&quot; value=&quot;Slide 21 - &amp;quot;Form Structure&amp;quot;&quot;/&gt;&lt;property id=&quot;20307&quot; value=&quot;325&quot;/&gt;&lt;/object&gt;&lt;object type=&quot;3&quot; unique_id=&quot;15696&quot;&gt;&lt;property id=&quot;20148&quot; value=&quot;5&quot;/&gt;&lt;property id=&quot;20300&quot; value=&quot;Slide 22 - &amp;quot;challenge&amp;quot;&quot;/&gt;&lt;property id=&quot;20307&quot; value=&quot;32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6457</TotalTime>
  <Words>740</Words>
  <Application>Microsoft Office PowerPoint</Application>
  <PresentationFormat>Widescreen</PresentationFormat>
  <Paragraphs>132</Paragraphs>
  <Slides>23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Unicode MS</vt:lpstr>
      <vt:lpstr>Calibri</vt:lpstr>
      <vt:lpstr>Courier</vt:lpstr>
      <vt:lpstr>Roboto</vt:lpstr>
      <vt:lpstr>Roboto light</vt:lpstr>
      <vt:lpstr>Verdana</vt:lpstr>
      <vt:lpstr>Office Theme</vt:lpstr>
      <vt:lpstr>HTML Form and Controls I</vt:lpstr>
      <vt:lpstr>Objectives</vt:lpstr>
      <vt:lpstr>Tools Required</vt:lpstr>
      <vt:lpstr>CREATING lISTS</vt:lpstr>
      <vt:lpstr>Unordered Lists</vt:lpstr>
      <vt:lpstr>Ordered Lists</vt:lpstr>
      <vt:lpstr>Creating Links</vt:lpstr>
      <vt:lpstr>Link to External  Website</vt:lpstr>
      <vt:lpstr>Target Values</vt:lpstr>
      <vt:lpstr>Link Within Page</vt:lpstr>
      <vt:lpstr>Link Within Page</vt:lpstr>
      <vt:lpstr>Link Within Own Website</vt:lpstr>
      <vt:lpstr>Comments</vt:lpstr>
      <vt:lpstr>Comments In HTML</vt:lpstr>
      <vt:lpstr>TABLES</vt:lpstr>
      <vt:lpstr>Tables in HTML</vt:lpstr>
      <vt:lpstr>Adding Table</vt:lpstr>
      <vt:lpstr>FORMS</vt:lpstr>
      <vt:lpstr>HTML Form</vt:lpstr>
      <vt:lpstr>Client-to-Server Communication</vt:lpstr>
      <vt:lpstr>Form Structure</vt:lpstr>
      <vt:lpstr>challenge</vt:lpstr>
      <vt:lpstr>The End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Form and Controls I</dc:title>
  <dc:creator>siopoh@TP.EDU.SG</dc:creator>
  <cp:keywords>CODT, CIT1C16, ADEV, CIT1C17, HTML Forms and Controls I</cp:keywords>
  <cp:lastModifiedBy>temasek poly</cp:lastModifiedBy>
  <cp:revision>180</cp:revision>
  <dcterms:created xsi:type="dcterms:W3CDTF">2016-03-04T00:57:19Z</dcterms:created>
  <dcterms:modified xsi:type="dcterms:W3CDTF">2021-09-22T05:04:01Z</dcterms:modified>
  <cp:category>Software Cluster</cp:category>
</cp:coreProperties>
</file>