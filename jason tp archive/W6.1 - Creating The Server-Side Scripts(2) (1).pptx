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89" r:id="rId3"/>
    <p:sldId id="373" r:id="rId4"/>
    <p:sldId id="402" r:id="rId5"/>
    <p:sldId id="484" r:id="rId6"/>
    <p:sldId id="479" r:id="rId7"/>
    <p:sldId id="447" r:id="rId8"/>
    <p:sldId id="482" r:id="rId9"/>
    <p:sldId id="440" r:id="rId10"/>
    <p:sldId id="442" r:id="rId11"/>
    <p:sldId id="446" r:id="rId12"/>
    <p:sldId id="507" r:id="rId13"/>
    <p:sldId id="487" r:id="rId14"/>
    <p:sldId id="488" r:id="rId15"/>
    <p:sldId id="490" r:id="rId16"/>
    <p:sldId id="486" r:id="rId17"/>
    <p:sldId id="423" r:id="rId18"/>
    <p:sldId id="288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1CADE4"/>
    <a:srgbClr val="007DDA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019D3-D644-433F-AA79-5E080B30D11D}" v="10" dt="2018-09-28T07:07:16.9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6" autoAdjust="0"/>
    <p:restoredTop sz="93927" autoAdjust="0"/>
  </p:normalViewPr>
  <p:slideViewPr>
    <p:cSldViewPr snapToGrid="0">
      <p:cViewPr varScale="1">
        <p:scale>
          <a:sx n="120" d="100"/>
          <a:sy n="120" d="100"/>
        </p:scale>
        <p:origin x="42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BF8019D3-D644-433F-AA79-5E080B30D11D}"/>
    <pc:docChg chg="modMainMaster">
      <pc:chgData name="Lam Su Yi" userId="43bb02ba-2a64-4c57-886a-7f9577835f3c" providerId="ADAL" clId="{BF8019D3-D644-433F-AA79-5E080B30D11D}" dt="2018-09-28T07:07:16.994" v="9" actId="20577"/>
      <pc:docMkLst>
        <pc:docMk/>
      </pc:docMkLst>
      <pc:sldMasterChg chg="modSldLayout">
        <pc:chgData name="Lam Su Yi" userId="43bb02ba-2a64-4c57-886a-7f9577835f3c" providerId="ADAL" clId="{BF8019D3-D644-433F-AA79-5E080B30D11D}" dt="2018-09-28T07:07:16.994" v="9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BF8019D3-D644-433F-AA79-5E080B30D11D}" dt="2018-09-28T07:07:16.994" v="9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BF8019D3-D644-433F-AA79-5E080B30D11D}" dt="2018-09-28T01:12:45.250" v="4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BF8019D3-D644-433F-AA79-5E080B30D11D}" dt="2018-09-28T07:07:16.994" v="9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22/11/2021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194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11/22/2021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11/22/2021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ejbkYpACA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127.0.0.1:8080/movies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nodejs/nodejs_mysql_select.asp" TargetMode="External"/><Relationship Id="rId2" Type="http://schemas.openxmlformats.org/officeDocument/2006/relationships/hyperlink" Target="https://www.tutorialspoint.com/mysql/index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Creating the Server-Side Scripts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/>
              <a:t>Week 06.</a:t>
            </a:r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run </a:t>
            </a:r>
            <a:r>
              <a:rPr lang="en-US" dirty="0" err="1">
                <a:ea typeface="ＭＳ Ｐゴシック" charset="0"/>
              </a:rPr>
              <a:t>sql</a:t>
            </a:r>
            <a:r>
              <a:rPr lang="en-US" dirty="0">
                <a:ea typeface="ＭＳ Ｐゴシック" charset="0"/>
              </a:rPr>
              <a:t> script in workbench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connect to database server using Node.js;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execute SQL commands in Node.js;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route HTTP requests in Node.js.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XAMPP – MySQL</a:t>
            </a:r>
          </a:p>
          <a:p>
            <a:pPr>
              <a:lnSpc>
                <a:spcPct val="100000"/>
              </a:lnSpc>
            </a:pPr>
            <a:r>
              <a:rPr lang="en-GB" dirty="0"/>
              <a:t>MySQL Workbench</a:t>
            </a:r>
          </a:p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Chrome Browser</a:t>
            </a:r>
          </a:p>
          <a:p>
            <a:pPr>
              <a:lnSpc>
                <a:spcPct val="100000"/>
              </a:lnSpc>
            </a:pPr>
            <a:r>
              <a:rPr lang="en-GB" dirty="0"/>
              <a:t>Postman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SQL SCRIPT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37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F462DD-7BE4-4EBC-B3CD-FB48CBA6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Inserting The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A749A-C0BB-48EA-96E2-16E93204D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it is time to populate the Movie Review DB.</a:t>
            </a:r>
          </a:p>
          <a:p>
            <a:r>
              <a:rPr lang="en-GB" dirty="0"/>
              <a:t>Drop any existing </a:t>
            </a:r>
            <a:r>
              <a:rPr lang="en-GB" dirty="0" err="1"/>
              <a:t>movie_review</a:t>
            </a:r>
            <a:r>
              <a:rPr lang="en-GB" dirty="0"/>
              <a:t> DB</a:t>
            </a:r>
          </a:p>
          <a:p>
            <a:r>
              <a:rPr lang="en-GB" dirty="0"/>
              <a:t>Download the </a:t>
            </a:r>
            <a:r>
              <a:rPr lang="en-GB" dirty="0" err="1"/>
              <a:t>sql</a:t>
            </a:r>
            <a:r>
              <a:rPr lang="en-GB" dirty="0"/>
              <a:t> file from your LMS Week 6 folder and open them in MySQL Workbench using </a:t>
            </a:r>
            <a:r>
              <a:rPr lang="en-GB" b="1" dirty="0"/>
              <a:t>Open SQL Script…</a:t>
            </a:r>
            <a:r>
              <a:rPr lang="en-GB" dirty="0"/>
              <a:t>.</a:t>
            </a:r>
          </a:p>
          <a:p>
            <a:pPr lvl="1"/>
            <a:r>
              <a:rPr lang="en-GB" dirty="0" err="1"/>
              <a:t>movie_review.sql</a:t>
            </a:r>
            <a:endParaRPr lang="en-GB" dirty="0"/>
          </a:p>
          <a:p>
            <a:r>
              <a:rPr lang="en-GB" smtClean="0"/>
              <a:t>Then </a:t>
            </a:r>
            <a:r>
              <a:rPr lang="en-GB" dirty="0"/>
              <a:t>execute the </a:t>
            </a:r>
            <a:r>
              <a:rPr lang="en-GB" dirty="0">
                <a:solidFill>
                  <a:srgbClr val="FF0000"/>
                </a:solidFill>
              </a:rPr>
              <a:t>lightning icon</a:t>
            </a:r>
            <a:r>
              <a:rPr lang="en-GB" dirty="0"/>
              <a:t>. If successful, check the data in the movies table and comments table</a:t>
            </a:r>
          </a:p>
          <a:p>
            <a:r>
              <a:rPr lang="en-US" sz="2800" dirty="0"/>
              <a:t>Watch the Week 6 demo video </a:t>
            </a:r>
            <a:r>
              <a:rPr lang="en-US" sz="2800" dirty="0">
                <a:hlinkClick r:id="rId2"/>
              </a:rPr>
              <a:t>here</a:t>
            </a:r>
            <a:endParaRPr lang="en-US" sz="28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9975B-400D-44DE-903F-8576BD1C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9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Connecting to Database in Node.js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71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 Settings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Run </a:t>
            </a:r>
            <a:r>
              <a:rPr lang="en-US" sz="2000" dirty="0" err="1"/>
              <a:t>npm</a:t>
            </a:r>
            <a:r>
              <a:rPr lang="en-US" sz="2000" dirty="0"/>
              <a:t> </a:t>
            </a:r>
            <a:r>
              <a:rPr lang="en-US" sz="2000" dirty="0" err="1"/>
              <a:t>init</a:t>
            </a:r>
            <a:r>
              <a:rPr lang="en-US" sz="2000" dirty="0"/>
              <a:t> in the terminal to create a </a:t>
            </a:r>
            <a:r>
              <a:rPr lang="en-US" sz="2000" dirty="0" err="1"/>
              <a:t>js</a:t>
            </a:r>
            <a:r>
              <a:rPr lang="en-US" sz="2000" dirty="0"/>
              <a:t> project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In the root folder of project, create a file called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db-connections.js</a:t>
            </a:r>
            <a:r>
              <a:rPr lang="en-US" sz="20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Check your codes against the codes on the right in </a:t>
            </a:r>
            <a:r>
              <a:rPr lang="en-US" sz="2000" dirty="0">
                <a:solidFill>
                  <a:srgbClr val="FF0000"/>
                </a:solidFill>
              </a:rPr>
              <a:t>db-connections.js</a:t>
            </a:r>
            <a:r>
              <a:rPr lang="en-US" sz="20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If everything is same as the one on the right, proceed to the next slide.</a:t>
            </a:r>
            <a:endParaRPr lang="en-GB" sz="2000" dirty="0"/>
          </a:p>
          <a:p>
            <a:pPr>
              <a:lnSpc>
                <a:spcPct val="110000"/>
              </a:lnSpc>
            </a:pPr>
            <a:endParaRPr lang="en-GB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1B5246-45CC-4A7F-9F28-465F2C811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718" y="1735510"/>
            <a:ext cx="53435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9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MovieDB.js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Create the following folders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You will now learn to write the SQL codes in JavaScript to access the database.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Under the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r>
              <a:rPr lang="en-GB" sz="2400" dirty="0"/>
              <a:t> folder, create a new file called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MoviesDB.js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B22934-636F-40CD-B89F-EC6257170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284" y="1851211"/>
            <a:ext cx="4425669" cy="255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2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A58EDC-6A72-425D-B84F-E0B71E91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85" y="2402633"/>
            <a:ext cx="6439689" cy="32451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MovieDB.js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200" cy="5962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In the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MoviesDB.js</a:t>
            </a:r>
            <a:r>
              <a:rPr lang="en-GB" dirty="0"/>
              <a:t> file, add the codes shown below.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09E0A-B7A9-43C4-900D-C8B8E4783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799" y="2402633"/>
            <a:ext cx="29908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9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movieController.js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ADFA12-9C25-48BF-ADEA-DB932EB8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516" y="1545852"/>
            <a:ext cx="6648450" cy="5200650"/>
          </a:xfrm>
          <a:prstGeom prst="rect">
            <a:avLst/>
          </a:prstGeom>
        </p:spPr>
      </p:pic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F1878537-8C78-4015-A8E4-80F38FC07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3668" y="1609164"/>
            <a:ext cx="4484239" cy="4571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000" dirty="0"/>
              <a:t>Under the </a:t>
            </a:r>
            <a:r>
              <a:rPr lang="en-GB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controllers</a:t>
            </a:r>
            <a:r>
              <a:rPr lang="en-GB" sz="2000" dirty="0"/>
              <a:t> folder, create a new file called </a:t>
            </a:r>
            <a:r>
              <a:rPr lang="en-GB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movieController.js</a:t>
            </a:r>
            <a:r>
              <a:rPr lang="en-GB" sz="2000" dirty="0"/>
              <a:t>.</a:t>
            </a:r>
          </a:p>
          <a:p>
            <a:pPr>
              <a:lnSpc>
                <a:spcPct val="120000"/>
              </a:lnSpc>
            </a:pPr>
            <a:endParaRPr lang="en-GB" sz="2000" dirty="0"/>
          </a:p>
          <a:p>
            <a:pPr>
              <a:lnSpc>
                <a:spcPct val="120000"/>
              </a:lnSpc>
            </a:pPr>
            <a:endParaRPr lang="en-US" sz="2000" dirty="0"/>
          </a:p>
          <a:p>
            <a:pPr>
              <a:lnSpc>
                <a:spcPct val="120000"/>
              </a:lnSpc>
            </a:pPr>
            <a:endParaRPr lang="en-GB" sz="2000" dirty="0"/>
          </a:p>
          <a:p>
            <a:pPr>
              <a:lnSpc>
                <a:spcPct val="120000"/>
              </a:lnSpc>
            </a:pP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373030-D828-465A-9C49-804FEC6D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07" y="3007659"/>
            <a:ext cx="26289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0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main file - server.js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1" y="1600200"/>
            <a:ext cx="4805706" cy="4571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600" dirty="0"/>
              <a:t>Next, open your </a:t>
            </a:r>
            <a:r>
              <a:rPr lang="en-GB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server.js</a:t>
            </a:r>
            <a:r>
              <a:rPr lang="en-GB" sz="1600" dirty="0"/>
              <a:t> file to edit.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Add the highlighted codes as shown here.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4FBABA-C742-4E5E-8828-4F8E6B30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34" y="2463522"/>
            <a:ext cx="10414746" cy="3560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582BFD-F29B-41A0-89C9-7E19FD504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958" y="365126"/>
            <a:ext cx="2057400" cy="1857375"/>
          </a:xfrm>
          <a:prstGeom prst="rect">
            <a:avLst/>
          </a:prstGeom>
        </p:spPr>
      </p:pic>
      <p:sp>
        <p:nvSpPr>
          <p:cNvPr id="14" name="Rectangular Callout 21">
            <a:extLst>
              <a:ext uri="{FF2B5EF4-FFF2-40B4-BE49-F238E27FC236}">
                <a16:creationId xmlns:a16="http://schemas.microsoft.com/office/drawing/2014/main" id="{90C8D5F0-B12A-4A07-9BF5-3C7713B31FCA}"/>
              </a:ext>
            </a:extLst>
          </p:cNvPr>
          <p:cNvSpPr/>
          <p:nvPr/>
        </p:nvSpPr>
        <p:spPr>
          <a:xfrm>
            <a:off x="7636417" y="4748261"/>
            <a:ext cx="1872541" cy="791852"/>
          </a:xfrm>
          <a:prstGeom prst="wedgeRectCallout">
            <a:avLst>
              <a:gd name="adj1" fmla="val -164266"/>
              <a:gd name="adj2" fmla="val -3956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Here, the URL is ‘</a:t>
            </a:r>
            <a:r>
              <a:rPr lang="en-GB" sz="1400" b="1" dirty="0">
                <a:solidFill>
                  <a:srgbClr val="FFFF00"/>
                </a:solidFill>
                <a:latin typeface="Courier New" panose="02070309020205020404" pitchFamily="49" charset="0"/>
                <a:ea typeface="Arial Unicode MS" charset="0"/>
                <a:cs typeface="Courier New" panose="02070309020205020404" pitchFamily="49" charset="0"/>
              </a:rPr>
              <a:t>/movies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’ and the GET method</a:t>
            </a:r>
          </a:p>
        </p:txBody>
      </p:sp>
    </p:spTree>
    <p:extLst>
      <p:ext uri="{BB962C8B-B14F-4D97-AF65-F5344CB8AC3E}">
        <p14:creationId xmlns:p14="http://schemas.microsoft.com/office/powerpoint/2010/main" val="313778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 the main file - server.js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1"/>
            <a:ext cx="7456393" cy="23353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600" dirty="0"/>
              <a:t>Next, open terminal and install </a:t>
            </a:r>
            <a:r>
              <a:rPr lang="en-GB" sz="1600" dirty="0" err="1"/>
              <a:t>mysql</a:t>
            </a:r>
            <a:r>
              <a:rPr lang="en-GB" sz="1600" dirty="0"/>
              <a:t> and express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npm</a:t>
            </a:r>
            <a:r>
              <a:rPr lang="en-US" sz="1600" dirty="0"/>
              <a:t> install </a:t>
            </a:r>
            <a:r>
              <a:rPr lang="en-US" sz="1600" dirty="0" err="1"/>
              <a:t>mysql</a:t>
            </a:r>
            <a:r>
              <a:rPr lang="en-US" sz="1600" dirty="0"/>
              <a:t> (observe the </a:t>
            </a:r>
            <a:r>
              <a:rPr lang="en-US" sz="1600" dirty="0" err="1"/>
              <a:t>package.json</a:t>
            </a:r>
            <a:r>
              <a:rPr lang="en-US" sz="1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npm</a:t>
            </a:r>
            <a:r>
              <a:rPr lang="en-US" sz="1600" dirty="0"/>
              <a:t> install express (observe the </a:t>
            </a:r>
            <a:r>
              <a:rPr lang="en-US" sz="1600" dirty="0" err="1"/>
              <a:t>package.json</a:t>
            </a:r>
            <a:r>
              <a:rPr lang="en-US" sz="1600" dirty="0"/>
              <a:t>)</a:t>
            </a:r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r>
              <a:rPr lang="en-GB" sz="1600" dirty="0"/>
              <a:t>And you are ready to run server.js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node server.js</a:t>
            </a:r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29595-C834-4E34-B351-B07708C2F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614" y="3935507"/>
            <a:ext cx="782955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Download and install the “Postman” app for Google Chrome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GB" sz="1200" dirty="0"/>
          </a:p>
          <a:p>
            <a:pPr lvl="1">
              <a:lnSpc>
                <a:spcPct val="100000"/>
              </a:lnSpc>
            </a:pPr>
            <a:endParaRPr lang="en-GB" sz="12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B6FDA-63E8-4815-AF38-B4BFABFE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071884"/>
            <a:ext cx="6551630" cy="41095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720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898" y="1376082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Launch the Postman app in your browser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Select the “GET” function and paste the URL </a:t>
            </a:r>
            <a:r>
              <a:rPr lang="en-US" sz="1400" dirty="0">
                <a:hlinkClick r:id="rId2"/>
              </a:rPr>
              <a:t>http://127.0.0.1:8080/movies</a:t>
            </a:r>
            <a:r>
              <a:rPr lang="en-US" sz="1400" dirty="0"/>
              <a:t> to test if the API that we have created to retrieve movies is working correctly (remember to start your SQL server in XAMPP)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For GET operation, you can also test with your browser 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Click on the “Send” button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GB" sz="1100" dirty="0"/>
          </a:p>
          <a:p>
            <a:pPr lvl="1">
              <a:lnSpc>
                <a:spcPct val="100000"/>
              </a:lnSpc>
            </a:pPr>
            <a:endParaRPr lang="en-GB" sz="11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GB" sz="1400" dirty="0"/>
          </a:p>
          <a:p>
            <a:pPr>
              <a:lnSpc>
                <a:spcPct val="100000"/>
              </a:lnSpc>
            </a:pPr>
            <a:endParaRPr lang="en-GB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FDEB4-6647-4F3A-8BB3-E43E1BB14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26" y="3038916"/>
            <a:ext cx="9816545" cy="28811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46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You should see the following data in JSON format in the “Body” of the Postman app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When the retrieval of data is successful, you should see a status “200”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GB" sz="1200" dirty="0"/>
          </a:p>
          <a:p>
            <a:pPr lvl="1">
              <a:lnSpc>
                <a:spcPct val="100000"/>
              </a:lnSpc>
            </a:pPr>
            <a:endParaRPr lang="en-GB" sz="12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B3346-F3F9-4B21-80CB-3FD8FE957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38" y="2394259"/>
            <a:ext cx="9486507" cy="39631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70A66D-5E00-4546-B929-22F91F2D8E23}"/>
              </a:ext>
            </a:extLst>
          </p:cNvPr>
          <p:cNvSpPr/>
          <p:nvPr/>
        </p:nvSpPr>
        <p:spPr>
          <a:xfrm>
            <a:off x="9030878" y="2309567"/>
            <a:ext cx="980388" cy="49019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049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1755-F95D-4047-9615-4DDB0738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Episode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97851-851F-428B-B09B-6635D270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next episode, you will learn how to create APIs to view, create, update, and delete comment.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524CC-986C-4DE2-8D01-4FACEF79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79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 err="1"/>
              <a:t>TutorialsPoint</a:t>
            </a:r>
            <a:r>
              <a:rPr lang="en-GB" dirty="0"/>
              <a:t> – Learn MySQL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2"/>
              </a:rPr>
              <a:t>https://www.tutorialspoint.com/mysql/index.htm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W3Schools – Node.js MySQL Select From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3"/>
              </a:rPr>
              <a:t>https://www.w3schools.com/nodejs/nodejs_mysql_select.asp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9587</TotalTime>
  <Words>503</Words>
  <Application>Microsoft Office PowerPoint</Application>
  <PresentationFormat>Widescreen</PresentationFormat>
  <Paragraphs>126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ＭＳ Ｐゴシック</vt:lpstr>
      <vt:lpstr>Arial</vt:lpstr>
      <vt:lpstr>Arial Unicode MS</vt:lpstr>
      <vt:lpstr>Calibri</vt:lpstr>
      <vt:lpstr>Calisto MT</vt:lpstr>
      <vt:lpstr>Courier New</vt:lpstr>
      <vt:lpstr>Roboto</vt:lpstr>
      <vt:lpstr>Roboto light</vt:lpstr>
      <vt:lpstr>Verdana</vt:lpstr>
      <vt:lpstr>Office Theme</vt:lpstr>
      <vt:lpstr>Creating the Server-Side Scripts</vt:lpstr>
      <vt:lpstr>Objectives</vt:lpstr>
      <vt:lpstr>Tools Required</vt:lpstr>
      <vt:lpstr>Running SQL SCRIPT</vt:lpstr>
      <vt:lpstr>Inserting The Data</vt:lpstr>
      <vt:lpstr>Connecting to Database in Node.js</vt:lpstr>
      <vt:lpstr>Connection Settings</vt:lpstr>
      <vt:lpstr>Creating MovieDB.js</vt:lpstr>
      <vt:lpstr>Creating MovieDB.js</vt:lpstr>
      <vt:lpstr>Creating movieController.js</vt:lpstr>
      <vt:lpstr>Creating the main file - server.js</vt:lpstr>
      <vt:lpstr>Run the main file - server.js</vt:lpstr>
      <vt:lpstr>Test it!</vt:lpstr>
      <vt:lpstr>Test it!</vt:lpstr>
      <vt:lpstr>Test it!</vt:lpstr>
      <vt:lpstr>Next Episode</vt:lpstr>
      <vt:lpstr>Reference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the Model and Controller</dc:title>
  <dc:subject>Coding and Testing</dc:subject>
  <dc:creator>Tan Sio Poh</dc:creator>
  <cp:keywords>CODT, CIT1C16, ADEV, CIT1C17, Creating the Model and Controller</cp:keywords>
  <dc:description/>
  <cp:lastModifiedBy>Andrew TAN (TP)</cp:lastModifiedBy>
  <cp:revision>819</cp:revision>
  <dcterms:created xsi:type="dcterms:W3CDTF">2016-03-04T00:57:19Z</dcterms:created>
  <dcterms:modified xsi:type="dcterms:W3CDTF">2021-11-22T05:24:23Z</dcterms:modified>
  <cp:category>Software Cluster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andrewt@TP.EDU.SG</vt:lpwstr>
  </property>
  <property fmtid="{D5CDD505-2E9C-101B-9397-08002B2CF9AE}" pid="5" name="MSIP_Label_4bcb20ed-001a-45f4-b2e7-234c5fc91178_SetDate">
    <vt:lpwstr>2021-11-22T05:24:22.6446199Z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790f03d8-c289-4726-9507-f14dc7292dcc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andrewt@TP.EDU.SG</vt:lpwstr>
  </property>
  <property fmtid="{D5CDD505-2E9C-101B-9397-08002B2CF9AE}" pid="13" name="MSIP_Label_f69d7fc4-da81-42e5-b309-526f71322d86_SetDate">
    <vt:lpwstr>2021-11-22T05:24:22.6446199Z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790f03d8-c289-4726-9507-f14dc7292dcc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