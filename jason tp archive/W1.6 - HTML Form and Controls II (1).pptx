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17"/>
  </p:notesMasterIdLst>
  <p:sldIdLst>
    <p:sldId id="256" r:id="rId2"/>
    <p:sldId id="289" r:id="rId3"/>
    <p:sldId id="296" r:id="rId4"/>
    <p:sldId id="297" r:id="rId5"/>
    <p:sldId id="298" r:id="rId6"/>
    <p:sldId id="299" r:id="rId7"/>
    <p:sldId id="300" r:id="rId8"/>
    <p:sldId id="301" r:id="rId9"/>
    <p:sldId id="302" r:id="rId10"/>
    <p:sldId id="303" r:id="rId11"/>
    <p:sldId id="304" r:id="rId12"/>
    <p:sldId id="305" r:id="rId13"/>
    <p:sldId id="306" r:id="rId14"/>
    <p:sldId id="307" r:id="rId15"/>
    <p:sldId id="288" r:id="rId16"/>
  </p:sldIdLst>
  <p:sldSz cx="12192000" cy="6858000"/>
  <p:notesSz cx="6858000" cy="9144000"/>
  <p:custDataLst>
    <p:tags r:id="rId1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lena Saleh" initials="SS" lastIdx="8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0C0"/>
    <a:srgbClr val="007DDA"/>
    <a:srgbClr val="FAD22C"/>
    <a:srgbClr val="1CADE4"/>
    <a:srgbClr val="61C5FF"/>
    <a:srgbClr val="5B9B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A41809-ED66-4F30-B14B-7196913DEB23}" v="86" dt="2018-09-28T03:50:25.01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961" autoAdjust="0"/>
    <p:restoredTop sz="93817" autoAdjust="0"/>
  </p:normalViewPr>
  <p:slideViewPr>
    <p:cSldViewPr snapToGrid="0">
      <p:cViewPr varScale="1">
        <p:scale>
          <a:sx n="107" d="100"/>
          <a:sy n="107" d="100"/>
        </p:scale>
        <p:origin x="1038" y="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gs" Target="tags/tag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m Su Yi" userId="43bb02ba-2a64-4c57-886a-7f9577835f3c" providerId="ADAL" clId="{1BA41809-ED66-4F30-B14B-7196913DEB23}"/>
    <pc:docChg chg="modMainMaster">
      <pc:chgData name="Lam Su Yi" userId="43bb02ba-2a64-4c57-886a-7f9577835f3c" providerId="ADAL" clId="{1BA41809-ED66-4F30-B14B-7196913DEB23}" dt="2018-09-28T03:50:25.015" v="85" actId="20577"/>
      <pc:docMkLst>
        <pc:docMk/>
      </pc:docMkLst>
      <pc:sldMasterChg chg="modSldLayout">
        <pc:chgData name="Lam Su Yi" userId="43bb02ba-2a64-4c57-886a-7f9577835f3c" providerId="ADAL" clId="{1BA41809-ED66-4F30-B14B-7196913DEB23}" dt="2018-09-28T03:50:25.015" v="85" actId="20577"/>
        <pc:sldMasterMkLst>
          <pc:docMk/>
          <pc:sldMasterMk cId="758345117" sldId="2147483672"/>
        </pc:sldMasterMkLst>
        <pc:sldLayoutChg chg="modSp">
          <pc:chgData name="Lam Su Yi" userId="43bb02ba-2a64-4c57-886a-7f9577835f3c" providerId="ADAL" clId="{1BA41809-ED66-4F30-B14B-7196913DEB23}" dt="2018-09-28T03:50:25.015" v="85" actId="20577"/>
          <pc:sldLayoutMkLst>
            <pc:docMk/>
            <pc:sldMasterMk cId="758345117" sldId="2147483672"/>
            <pc:sldLayoutMk cId="1526603819" sldId="2147483673"/>
          </pc:sldLayoutMkLst>
          <pc:spChg chg="mod">
            <ac:chgData name="Lam Su Yi" userId="43bb02ba-2a64-4c57-886a-7f9577835f3c" providerId="ADAL" clId="{1BA41809-ED66-4F30-B14B-7196913DEB23}" dt="2018-09-27T08:20:16.368" v="77" actId="20577"/>
            <ac:spMkLst>
              <pc:docMk/>
              <pc:sldMasterMk cId="758345117" sldId="2147483672"/>
              <pc:sldLayoutMk cId="1526603819" sldId="2147483673"/>
              <ac:spMk id="12" creationId="{00000000-0000-0000-0000-000000000000}"/>
            </ac:spMkLst>
          </pc:spChg>
          <pc:spChg chg="mod">
            <ac:chgData name="Lam Su Yi" userId="43bb02ba-2a64-4c57-886a-7f9577835f3c" providerId="ADAL" clId="{1BA41809-ED66-4F30-B14B-7196913DEB23}" dt="2018-09-28T03:50:25.015" v="85" actId="20577"/>
            <ac:spMkLst>
              <pc:docMk/>
              <pc:sldMasterMk cId="758345117" sldId="2147483672"/>
              <pc:sldLayoutMk cId="1526603819" sldId="2147483673"/>
              <ac:spMk id="16" creationId="{00000000-0000-0000-0000-000000000000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97268A-7AE4-432A-9318-AFE0CD5AF515}" type="datetimeFigureOut">
              <a:rPr lang="en-SG" smtClean="0"/>
              <a:t>21/9/2021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15443D8-64E2-477C-8585-147863024541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8517629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uxmovement.com/navigation/why-external-links-should-open-in-new-tabs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uxmovement.com/navigation/why-external-links-should-open-in-new-tabs/" TargetMode="External"/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uxmovement.com/navigation/why-external-links-should-open-in-new-tabs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on the sentence “</a:t>
            </a:r>
            <a:r>
              <a:rPr lang="en-GB" sz="1200" dirty="0">
                <a:latin typeface="Arial Unicode MS" charset="0"/>
                <a:ea typeface="Arial Unicode MS" charset="0"/>
                <a:cs typeface="Arial Unicode MS" charset="0"/>
                <a:hlinkClick r:id="rId3"/>
              </a:rPr>
              <a:t>Should external links open in new tab?</a:t>
            </a:r>
            <a:r>
              <a:rPr lang="en-GB" sz="1200" dirty="0">
                <a:latin typeface="Arial Unicode MS" charset="0"/>
                <a:ea typeface="Arial Unicode MS" charset="0"/>
                <a:cs typeface="Arial Unicode MS" charset="0"/>
              </a:rPr>
              <a:t>” to open to article.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uk-UA" smtClean="0"/>
              <a:t>5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9498821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on the sentence “</a:t>
            </a:r>
            <a:r>
              <a:rPr lang="en-GB" sz="1200" dirty="0">
                <a:latin typeface="Arial Unicode MS" charset="0"/>
                <a:ea typeface="Arial Unicode MS" charset="0"/>
                <a:cs typeface="Arial Unicode MS" charset="0"/>
                <a:hlinkClick r:id="rId3"/>
              </a:rPr>
              <a:t>Should external links open in new tab?</a:t>
            </a:r>
            <a:r>
              <a:rPr lang="en-GB" sz="1200" dirty="0">
                <a:latin typeface="Arial Unicode MS" charset="0"/>
                <a:ea typeface="Arial Unicode MS" charset="0"/>
                <a:cs typeface="Arial Unicode MS" charset="0"/>
              </a:rPr>
              <a:t>” to open to article.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uk-UA" smtClean="0"/>
              <a:t>6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1931302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dirty="0"/>
              <a:t>Click on the sentence “</a:t>
            </a:r>
            <a:r>
              <a:rPr lang="en-GB" sz="1200" dirty="0">
                <a:latin typeface="Arial Unicode MS" charset="0"/>
                <a:ea typeface="Arial Unicode MS" charset="0"/>
                <a:cs typeface="Arial Unicode MS" charset="0"/>
                <a:hlinkClick r:id="rId3"/>
              </a:rPr>
              <a:t>Should external links open in new tab?</a:t>
            </a:r>
            <a:r>
              <a:rPr lang="en-GB" sz="1200" dirty="0">
                <a:latin typeface="Arial Unicode MS" charset="0"/>
                <a:ea typeface="Arial Unicode MS" charset="0"/>
                <a:cs typeface="Arial Unicode MS" charset="0"/>
              </a:rPr>
              <a:t>” to open to article.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uk-UA" smtClean="0"/>
              <a:t>7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2810305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A3C37BE-C303-496D-B5CD-85F2937540FC}" type="slidenum">
              <a:rPr lang="uk-UA" smtClean="0"/>
              <a:t>13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8031274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"/>
            <a:ext cx="9269729" cy="609600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 userDrawn="1"/>
        </p:nvSpPr>
        <p:spPr>
          <a:xfrm>
            <a:off x="9349740" y="2"/>
            <a:ext cx="2845841" cy="6096000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79119" y="1445341"/>
            <a:ext cx="6770539" cy="2195327"/>
          </a:xfrm>
        </p:spPr>
        <p:txBody>
          <a:bodyPr anchor="b">
            <a:normAutofit/>
          </a:bodyPr>
          <a:lstStyle>
            <a:lvl1pPr algn="l">
              <a:defRPr sz="40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79119" y="3732744"/>
            <a:ext cx="6735463" cy="1655762"/>
          </a:xfrm>
        </p:spPr>
        <p:txBody>
          <a:bodyPr>
            <a:normAutofit/>
          </a:bodyPr>
          <a:lstStyle>
            <a:lvl1pPr marL="0" indent="0" algn="l">
              <a:buNone/>
              <a:defRPr sz="2200">
                <a:solidFill>
                  <a:schemeClr val="bg1">
                    <a:lumMod val="9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1857" y="6356350"/>
            <a:ext cx="1692869" cy="365125"/>
          </a:xfrm>
        </p:spPr>
        <p:txBody>
          <a:bodyPr/>
          <a:lstStyle>
            <a:lvl1pPr algn="ctr">
              <a:defRPr/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pic>
        <p:nvPicPr>
          <p:cNvPr id="14" name="Picture 1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3912" y="593958"/>
            <a:ext cx="4324551" cy="533504"/>
          </a:xfrm>
          <a:prstGeom prst="rect">
            <a:avLst/>
          </a:prstGeom>
          <a:effectLst>
            <a:outerShdw blurRad="50800" dist="25400" dir="2700000" algn="tl" rotWithShape="0">
              <a:prstClr val="black">
                <a:alpha val="33000"/>
              </a:prstClr>
            </a:outerShdw>
          </a:effectLst>
        </p:spPr>
      </p:pic>
      <p:sp>
        <p:nvSpPr>
          <p:cNvPr id="16" name="Rectangle 15"/>
          <p:cNvSpPr/>
          <p:nvPr userDrawn="1"/>
        </p:nvSpPr>
        <p:spPr>
          <a:xfrm>
            <a:off x="9352667" y="291179"/>
            <a:ext cx="2782059" cy="1569660"/>
          </a:xfrm>
          <a:prstGeom prst="rect">
            <a:avLst/>
          </a:prstGeom>
          <a:effectLst>
            <a:reflection blurRad="6350" stA="50000" endA="300" endPos="55500" dist="50800" dir="5400000" sy="-100000" algn="bl" rotWithShape="0"/>
          </a:effectLst>
        </p:spPr>
        <p:txBody>
          <a:bodyPr wrap="square">
            <a:spAutoFit/>
          </a:bodyPr>
          <a:lstStyle/>
          <a:p>
            <a:pPr algn="ctr"/>
            <a:r>
              <a:rPr lang="en-SG" sz="4800" b="1" spc="80" dirty="0">
                <a:solidFill>
                  <a:schemeClr val="bg1"/>
                </a:solidFill>
                <a:effectLst>
                  <a:reflection blurRad="6350" stA="60000" endA="900" endPos="60000" dist="25400" dir="5400000" sy="-100000" algn="bl" rotWithShape="0"/>
                </a:effectLst>
                <a:latin typeface="Roboto" pitchFamily="2" charset="0"/>
                <a:ea typeface="Roboto" pitchFamily="2" charset="0"/>
                <a:cs typeface="Calibri" panose="020F0502020204030204" pitchFamily="34" charset="0"/>
              </a:rPr>
              <a:t>CDEV</a:t>
            </a:r>
          </a:p>
          <a:p>
            <a:pPr algn="ctr"/>
            <a:r>
              <a:rPr lang="en-SG" sz="4800" b="1" spc="80" dirty="0">
                <a:solidFill>
                  <a:schemeClr val="bg1"/>
                </a:solidFill>
                <a:effectLst>
                  <a:reflection blurRad="6350" stA="60000" endA="900" endPos="60000" dist="25400" dir="5400000" sy="-100000" algn="bl" rotWithShape="0"/>
                </a:effectLst>
                <a:latin typeface="Roboto" pitchFamily="2" charset="0"/>
                <a:ea typeface="Roboto" pitchFamily="2" charset="0"/>
                <a:cs typeface="Calibri" panose="020F0502020204030204" pitchFamily="34" charset="0"/>
              </a:rPr>
              <a:t>DBAV</a:t>
            </a:r>
            <a:endParaRPr lang="en-SG" sz="4800" spc="80" dirty="0">
              <a:solidFill>
                <a:schemeClr val="bg1"/>
              </a:solidFill>
              <a:effectLst>
                <a:reflection blurRad="6350" stA="60000" endA="900" endPos="60000" dist="25400" dir="5400000" sy="-100000" algn="bl" rotWithShape="0"/>
              </a:effectLst>
              <a:latin typeface="Roboto light" pitchFamily="2" charset="0"/>
              <a:ea typeface="Roboto light" pitchFamily="2" charset="0"/>
              <a:cs typeface="Calibri" panose="020F0502020204030204" pitchFamily="34" charset="0"/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483724" y="6166170"/>
            <a:ext cx="8866016" cy="4924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SG" sz="1400" b="1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SOFTWARE</a:t>
            </a:r>
            <a:r>
              <a:rPr lang="en-SG" sz="1400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CLUSTER</a:t>
            </a:r>
            <a: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b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SG" sz="1200" spc="80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[ CDEV • Coding and Development Project ] [ DBAV • Database Application Development ]</a:t>
            </a:r>
            <a:endParaRPr lang="en-US" sz="1200" spc="80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3" name="Group 12"/>
          <p:cNvGrpSpPr/>
          <p:nvPr userDrawn="1"/>
        </p:nvGrpSpPr>
        <p:grpSpPr>
          <a:xfrm>
            <a:off x="7464598" y="2544224"/>
            <a:ext cx="4648963" cy="3765492"/>
            <a:chOff x="7464598" y="2544224"/>
            <a:chExt cx="4648963" cy="3765492"/>
          </a:xfrm>
          <a:effectLst>
            <a:outerShdw blurRad="38100" dist="25400" dir="2700000" algn="tl" rotWithShape="0">
              <a:prstClr val="black">
                <a:alpha val="28000"/>
              </a:prstClr>
            </a:outerShdw>
          </a:effectLst>
        </p:grpSpPr>
        <p:pic>
          <p:nvPicPr>
            <p:cNvPr id="15" name="Picture 14"/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81551" y="4482380"/>
              <a:ext cx="1032010" cy="850475"/>
            </a:xfrm>
            <a:prstGeom prst="rect">
              <a:avLst/>
            </a:prstGeom>
          </p:spPr>
        </p:pic>
        <p:pic>
          <p:nvPicPr>
            <p:cNvPr id="17" name="Picture 16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64598" y="2544224"/>
              <a:ext cx="3896323" cy="37654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5266038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9E4023-6F3A-457B-B0BB-8C1F114B424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854310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nd Content">
    <p:bg>
      <p:bgPr>
        <a:solidFill>
          <a:srgbClr val="0070C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2774" y="3917739"/>
            <a:ext cx="10336161" cy="819784"/>
          </a:xfrm>
        </p:spPr>
        <p:txBody>
          <a:bodyPr>
            <a:normAutofit/>
          </a:bodyPr>
          <a:lstStyle>
            <a:lvl1pPr algn="ctr"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sp>
        <p:nvSpPr>
          <p:cNvPr id="5" name="Rectangle 4"/>
          <p:cNvSpPr/>
          <p:nvPr userDrawn="1"/>
        </p:nvSpPr>
        <p:spPr>
          <a:xfrm>
            <a:off x="0" y="5011843"/>
            <a:ext cx="9141619" cy="1497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734768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12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/>
          <a:lstStyle>
            <a:lvl1pPr>
              <a:defRPr>
                <a:latin typeface="Arial Unicode MS" charset="0"/>
                <a:ea typeface="Arial Unicode MS" charset="0"/>
                <a:cs typeface="Arial Unicode MS" charset="0"/>
              </a:defRPr>
            </a:lvl1pPr>
            <a:lvl2pPr>
              <a:defRPr>
                <a:latin typeface="Arial Unicode MS" charset="0"/>
                <a:ea typeface="Arial Unicode MS" charset="0"/>
                <a:cs typeface="Arial Unicode MS" charset="0"/>
              </a:defRPr>
            </a:lvl2pPr>
            <a:lvl3pPr>
              <a:defRPr>
                <a:latin typeface="Arial Unicode MS" charset="0"/>
                <a:ea typeface="Arial Unicode MS" charset="0"/>
                <a:cs typeface="Arial Unicode MS" charset="0"/>
              </a:defRPr>
            </a:lvl3pPr>
            <a:lvl4pPr>
              <a:defRPr>
                <a:latin typeface="Arial Unicode MS" charset="0"/>
                <a:ea typeface="Arial Unicode MS" charset="0"/>
                <a:cs typeface="Arial Unicode MS" charset="0"/>
              </a:defRPr>
            </a:lvl4pPr>
            <a:lvl5pPr>
              <a:defRPr>
                <a:latin typeface="Arial Unicode MS" charset="0"/>
                <a:ea typeface="Arial Unicode MS" charset="0"/>
                <a:cs typeface="Arial Unicode MS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/>
          <a:lstStyle>
            <a:lvl1pPr>
              <a:defRPr>
                <a:latin typeface="Arial Unicode MS" charset="0"/>
                <a:ea typeface="Arial Unicode MS" charset="0"/>
                <a:cs typeface="Arial Unicode MS" charset="0"/>
              </a:defRPr>
            </a:lvl1pPr>
            <a:lvl2pPr>
              <a:defRPr>
                <a:latin typeface="Arial Unicode MS" charset="0"/>
                <a:ea typeface="Arial Unicode MS" charset="0"/>
                <a:cs typeface="Arial Unicode MS" charset="0"/>
              </a:defRPr>
            </a:lvl2pPr>
            <a:lvl3pPr>
              <a:defRPr>
                <a:latin typeface="Arial Unicode MS" charset="0"/>
                <a:ea typeface="Arial Unicode MS" charset="0"/>
                <a:cs typeface="Arial Unicode MS" charset="0"/>
              </a:defRPr>
            </a:lvl3pPr>
            <a:lvl4pPr>
              <a:defRPr>
                <a:latin typeface="Arial Unicode MS" charset="0"/>
                <a:ea typeface="Arial Unicode MS" charset="0"/>
                <a:cs typeface="Arial Unicode MS" charset="0"/>
              </a:defRPr>
            </a:lvl4pPr>
            <a:lvl5pPr>
              <a:defRPr>
                <a:latin typeface="Arial Unicode MS" charset="0"/>
                <a:ea typeface="Arial Unicode MS" charset="0"/>
                <a:cs typeface="Arial Unicode MS" charset="0"/>
              </a:defRPr>
            </a:lvl5pPr>
            <a:lvl6pPr>
              <a:defRPr/>
            </a:lvl6pPr>
            <a:lvl7pPr>
              <a:defRPr/>
            </a:lvl7pPr>
            <a:lvl8pPr>
              <a:defRPr/>
            </a:lvl8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/>
          <a:lstStyle/>
          <a:p>
            <a:fld id="{970A17FA-30DB-4EF9-8F32-DA04C5B7B39C}" type="datetime1">
              <a:rPr lang="en-US" smtClean="0"/>
              <a:t>9/21/2021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749340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Group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Straight Connector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Rectangle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grpSp>
          <p:nvGrpSpPr>
            <p:cNvPr id="11" name="Group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Straight Connector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anchor="ctr">
            <a:normAutofit/>
          </a:bodyPr>
          <a:lstStyle>
            <a:lvl1pPr>
              <a:defRPr sz="4400" cap="all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Arial Unicode MS" charset="0"/>
                <a:ea typeface="Arial Unicode MS" charset="0"/>
                <a:cs typeface="Arial Unicode MS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/>
          <a:lstStyle/>
          <a:p>
            <a:fld id="{62F976B9-EA7D-4178-A1C2-C52A639DE10A}" type="datetime1">
              <a:rPr lang="en-US" smtClean="0"/>
              <a:t>9/21/2021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/>
          <a:lstStyle>
            <a:lvl1pPr>
              <a:defRPr>
                <a:latin typeface="Verdana" charset="0"/>
                <a:ea typeface="Verdana" charset="0"/>
                <a:cs typeface="Verdana" charset="0"/>
              </a:defRPr>
            </a:lvl1pPr>
          </a:lstStyle>
          <a:p>
            <a:r>
              <a:rPr lang="en-US" dirty="0" err="1"/>
              <a:t>Temasek</a:t>
            </a:r>
            <a:r>
              <a:rPr lang="en-US" dirty="0"/>
              <a:t> Polytechnic  •  School of Informatics &amp; IT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/>
              <a:t>‹#›</a:t>
            </a:fld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1972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1184910"/>
            <a:ext cx="9141619" cy="149738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 userDrawn="1"/>
        </p:nvSpPr>
        <p:spPr>
          <a:xfrm>
            <a:off x="9270263" y="1184910"/>
            <a:ext cx="2921737" cy="13843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SG" b="0" i="0" u="non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7638" y="1631314"/>
            <a:ext cx="10336162" cy="458660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SG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566358" y="6357456"/>
            <a:ext cx="465217" cy="3079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9E4023-6F3A-457B-B0BB-8C1F114B424F}" type="slidenum">
              <a:rPr lang="en-SG" smtClean="0"/>
              <a:pPr/>
              <a:t>‹#›</a:t>
            </a:fld>
            <a:endParaRPr lang="en-SG"/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3581" y="0"/>
            <a:ext cx="1269849" cy="1046478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17638" y="365126"/>
            <a:ext cx="10336161" cy="8197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SG" dirty="0"/>
          </a:p>
        </p:txBody>
      </p:sp>
      <p:sp>
        <p:nvSpPr>
          <p:cNvPr id="12" name="Rectangle 11"/>
          <p:cNvSpPr/>
          <p:nvPr userDrawn="1"/>
        </p:nvSpPr>
        <p:spPr>
          <a:xfrm>
            <a:off x="978524" y="6388432"/>
            <a:ext cx="1058783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TEMASEK POLYTECHNIC I </a:t>
            </a:r>
            <a:r>
              <a:rPr lang="en-US" sz="1200" b="1" spc="80" dirty="0">
                <a:solidFill>
                  <a:schemeClr val="bg2">
                    <a:lumMod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School of Informatics &amp; IT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-3077" y="130629"/>
            <a:ext cx="652384" cy="786947"/>
            <a:chOff x="-3077" y="130629"/>
            <a:chExt cx="652384" cy="786947"/>
          </a:xfrm>
        </p:grpSpPr>
        <p:sp>
          <p:nvSpPr>
            <p:cNvPr id="4" name="Rectangle 3"/>
            <p:cNvSpPr/>
            <p:nvPr userDrawn="1"/>
          </p:nvSpPr>
          <p:spPr>
            <a:xfrm>
              <a:off x="255037" y="130629"/>
              <a:ext cx="130628" cy="130628"/>
            </a:xfrm>
            <a:prstGeom prst="rect">
              <a:avLst/>
            </a:prstGeom>
            <a:solidFill>
              <a:srgbClr val="007DDA">
                <a:alpha val="89804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127551" y="523239"/>
              <a:ext cx="130628" cy="130628"/>
            </a:xfrm>
            <a:prstGeom prst="rect">
              <a:avLst/>
            </a:prstGeom>
            <a:solidFill>
              <a:srgbClr val="007DDA">
                <a:alpha val="81176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" name="Rectangle 12"/>
            <p:cNvSpPr/>
            <p:nvPr userDrawn="1"/>
          </p:nvSpPr>
          <p:spPr>
            <a:xfrm>
              <a:off x="-3077" y="261257"/>
              <a:ext cx="130628" cy="130628"/>
            </a:xfrm>
            <a:prstGeom prst="rect">
              <a:avLst/>
            </a:prstGeom>
            <a:solidFill>
              <a:srgbClr val="007DD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518679" y="261257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" name="Rectangle 14"/>
            <p:cNvSpPr/>
            <p:nvPr userDrawn="1"/>
          </p:nvSpPr>
          <p:spPr>
            <a:xfrm>
              <a:off x="388195" y="393884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Rectangle 15"/>
            <p:cNvSpPr/>
            <p:nvPr userDrawn="1"/>
          </p:nvSpPr>
          <p:spPr>
            <a:xfrm>
              <a:off x="387783" y="786948"/>
              <a:ext cx="130628" cy="130628"/>
            </a:xfrm>
            <a:prstGeom prst="rect">
              <a:avLst/>
            </a:prstGeom>
            <a:solidFill>
              <a:srgbClr val="007DDA">
                <a:alpha val="9098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7583451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84" r:id="rId3"/>
    <p:sldLayoutId id="2147483675" r:id="rId4"/>
    <p:sldLayoutId id="2147483685" r:id="rId5"/>
    <p:sldLayoutId id="214748368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i="0" u="none" kern="1200">
          <a:solidFill>
            <a:srgbClr val="0070C0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>
            <a:off x="863672" y="3954162"/>
            <a:ext cx="6499654" cy="0"/>
          </a:xfrm>
          <a:prstGeom prst="line">
            <a:avLst/>
          </a:prstGeom>
          <a:ln w="31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83462" y="1410689"/>
            <a:ext cx="7928404" cy="2387600"/>
          </a:xfrm>
        </p:spPr>
        <p:txBody>
          <a:bodyPr/>
          <a:lstStyle/>
          <a:p>
            <a:r>
              <a:rPr lang="en-US" dirty="0">
                <a:ea typeface="Calisto MT" charset="0"/>
                <a:cs typeface="Calisto MT" charset="0"/>
              </a:rPr>
              <a:t>HTML Form and Controls II</a:t>
            </a:r>
            <a:endParaRPr lang="en-SG" dirty="0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815546" y="4106778"/>
            <a:ext cx="7928404" cy="1151021"/>
          </a:xfrm>
        </p:spPr>
        <p:txBody>
          <a:bodyPr/>
          <a:lstStyle/>
          <a:p>
            <a:r>
              <a:rPr lang="en-SG" dirty="0"/>
              <a:t>Week 01.</a:t>
            </a:r>
          </a:p>
        </p:txBody>
      </p:sp>
    </p:spTree>
    <p:extLst>
      <p:ext uri="{BB962C8B-B14F-4D97-AF65-F5344CB8AC3E}">
        <p14:creationId xmlns:p14="http://schemas.microsoft.com/office/powerpoint/2010/main" val="520979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>
                <a:ea typeface="ＭＳ Ｐゴシック" charset="0"/>
              </a:rPr>
              <a:t>Describe the syntax and characteristics of more HTML form elements;</a:t>
            </a:r>
          </a:p>
          <a:p>
            <a:pPr>
              <a:defRPr/>
            </a:pPr>
            <a:r>
              <a:rPr lang="en-US" dirty="0">
                <a:ea typeface="ＭＳ Ｐゴシック" charset="0"/>
              </a:rPr>
              <a:t>Demonstrate how to create a form in web page.</a:t>
            </a:r>
          </a:p>
          <a:p>
            <a:endParaRPr 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929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FORM ELEMENTS</a:t>
            </a:r>
            <a:endParaRPr lang="en-GB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3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705292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Label Element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0640" y="2863056"/>
            <a:ext cx="2692400" cy="9017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4</a:t>
            </a:fld>
            <a:endParaRPr lang="uk-UA"/>
          </a:p>
        </p:txBody>
      </p:sp>
      <p:pic>
        <p:nvPicPr>
          <p:cNvPr id="10" name="Content Placeholder 9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2057876"/>
            <a:ext cx="4292600" cy="9017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3917553"/>
            <a:ext cx="5067300" cy="7620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2" name="TextBox 11"/>
          <p:cNvSpPr txBox="1"/>
          <p:nvPr/>
        </p:nvSpPr>
        <p:spPr>
          <a:xfrm>
            <a:off x="1303020" y="3279616"/>
            <a:ext cx="582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>
                <a:latin typeface="Arial Unicode MS" charset="0"/>
                <a:ea typeface="Arial Unicode MS" charset="0"/>
                <a:cs typeface="Arial Unicode MS" charset="0"/>
              </a:rPr>
              <a:t>Or</a:t>
            </a:r>
          </a:p>
        </p:txBody>
      </p:sp>
      <p:sp>
        <p:nvSpPr>
          <p:cNvPr id="13" name="Right Brace 12"/>
          <p:cNvSpPr/>
          <p:nvPr/>
        </p:nvSpPr>
        <p:spPr>
          <a:xfrm>
            <a:off x="6595110" y="1805384"/>
            <a:ext cx="240030" cy="3017044"/>
          </a:xfrm>
          <a:prstGeom prst="rightBrac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5" name="Straight Arrow Connector 14"/>
          <p:cNvCxnSpPr/>
          <p:nvPr/>
        </p:nvCxnSpPr>
        <p:spPr>
          <a:xfrm flipH="1">
            <a:off x="3047048" y="3313906"/>
            <a:ext cx="1913572" cy="649606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978400" y="3312874"/>
            <a:ext cx="448469" cy="904796"/>
          </a:xfrm>
          <a:prstGeom prst="straightConnector1">
            <a:avLst/>
          </a:prstGeom>
          <a:ln>
            <a:solidFill>
              <a:schemeClr val="accent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4158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Input Element: Textbox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310" y="2340610"/>
            <a:ext cx="3949700" cy="5080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7" name="Content Placeholder 16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7182" y="2329180"/>
            <a:ext cx="3708400" cy="9906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5</a:t>
            </a:fld>
            <a:endParaRPr lang="uk-UA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310" y="4179569"/>
            <a:ext cx="5156200" cy="4953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7182" y="3866515"/>
            <a:ext cx="3695700" cy="9525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24" name="Right Arrow 23"/>
          <p:cNvSpPr/>
          <p:nvPr/>
        </p:nvSpPr>
        <p:spPr>
          <a:xfrm>
            <a:off x="6183630" y="2516504"/>
            <a:ext cx="925830" cy="12573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ight Arrow 24"/>
          <p:cNvSpPr/>
          <p:nvPr/>
        </p:nvSpPr>
        <p:spPr>
          <a:xfrm>
            <a:off x="6511801" y="4385626"/>
            <a:ext cx="720090" cy="8318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31752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Input Element: Checkbox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6</a:t>
            </a:fld>
            <a:endParaRPr lang="uk-UA"/>
          </a:p>
        </p:txBody>
      </p:sp>
      <p:sp>
        <p:nvSpPr>
          <p:cNvPr id="24" name="Right Arrow 23"/>
          <p:cNvSpPr/>
          <p:nvPr/>
        </p:nvSpPr>
        <p:spPr>
          <a:xfrm>
            <a:off x="7006590" y="2560319"/>
            <a:ext cx="617220" cy="996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ight Arrow 24"/>
          <p:cNvSpPr/>
          <p:nvPr/>
        </p:nvSpPr>
        <p:spPr>
          <a:xfrm>
            <a:off x="7006590" y="4789170"/>
            <a:ext cx="617220" cy="13716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Content Placeholder 2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2090419"/>
            <a:ext cx="4826000" cy="9779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9" name="Content Placeholder 8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30590" y="2094544"/>
            <a:ext cx="1866900" cy="10033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7175" y="4411980"/>
            <a:ext cx="3860800" cy="10287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4149725"/>
            <a:ext cx="5750394" cy="141605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4" name="Rectangle 13"/>
          <p:cNvSpPr/>
          <p:nvPr/>
        </p:nvSpPr>
        <p:spPr>
          <a:xfrm>
            <a:off x="2274570" y="2610165"/>
            <a:ext cx="91440" cy="35020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/>
          <p:cNvSpPr txBox="1"/>
          <p:nvPr/>
        </p:nvSpPr>
        <p:spPr>
          <a:xfrm>
            <a:off x="1104900" y="1497330"/>
            <a:ext cx="1829559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>
                <a:latin typeface="Arial Unicode MS" charset="0"/>
                <a:ea typeface="Arial Unicode MS" charset="0"/>
                <a:cs typeface="Arial Unicode MS" charset="0"/>
              </a:rPr>
              <a:t>Single Option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4900" y="3623110"/>
            <a:ext cx="2061210" cy="369332"/>
          </a:xfrm>
          <a:prstGeom prst="rect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latin typeface="Arial Unicode MS" charset="0"/>
                <a:ea typeface="Arial Unicode MS" charset="0"/>
                <a:cs typeface="Arial Unicode MS" charset="0"/>
              </a:rPr>
              <a:t>Multiple Options</a:t>
            </a:r>
          </a:p>
        </p:txBody>
      </p:sp>
    </p:spTree>
    <p:extLst>
      <p:ext uri="{BB962C8B-B14F-4D97-AF65-F5344CB8AC3E}">
        <p14:creationId xmlns:p14="http://schemas.microsoft.com/office/powerpoint/2010/main" val="2047211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Input Element: Radio Button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7</a:t>
            </a:fld>
            <a:endParaRPr lang="uk-UA"/>
          </a:p>
        </p:txBody>
      </p:sp>
      <p:sp>
        <p:nvSpPr>
          <p:cNvPr id="24" name="Right Arrow 23"/>
          <p:cNvSpPr/>
          <p:nvPr/>
        </p:nvSpPr>
        <p:spPr>
          <a:xfrm rot="5400000">
            <a:off x="5786629" y="3989875"/>
            <a:ext cx="617220" cy="996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9071" y="1481064"/>
            <a:ext cx="5872339" cy="2043017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" name="Content Placeholder 9"/>
          <p:cNvPicPr>
            <a:picLocks noGrp="1" noChangeAspect="1"/>
          </p:cNvPicPr>
          <p:nvPr>
            <p:ph sz="half" idx="2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7790" y="4578137"/>
            <a:ext cx="4914900" cy="1428893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03080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Button Element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280" y="2368550"/>
            <a:ext cx="4889500" cy="30353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79180" y="2952750"/>
            <a:ext cx="1638300" cy="18669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8</a:t>
            </a:fld>
            <a:endParaRPr lang="uk-UA"/>
          </a:p>
        </p:txBody>
      </p:sp>
      <p:sp>
        <p:nvSpPr>
          <p:cNvPr id="9" name="Right Arrow 8"/>
          <p:cNvSpPr/>
          <p:nvPr/>
        </p:nvSpPr>
        <p:spPr>
          <a:xfrm rot="1694247">
            <a:off x="6777322" y="3060025"/>
            <a:ext cx="1974881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ight Arrow 9"/>
          <p:cNvSpPr/>
          <p:nvPr/>
        </p:nvSpPr>
        <p:spPr>
          <a:xfrm rot="520379">
            <a:off x="6678471" y="3936443"/>
            <a:ext cx="1974881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ight Arrow 10"/>
          <p:cNvSpPr/>
          <p:nvPr/>
        </p:nvSpPr>
        <p:spPr>
          <a:xfrm rot="20884091">
            <a:off x="6550650" y="4839508"/>
            <a:ext cx="2149250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ectangular Callout 11"/>
          <p:cNvSpPr/>
          <p:nvPr/>
        </p:nvSpPr>
        <p:spPr>
          <a:xfrm>
            <a:off x="3554730" y="1501616"/>
            <a:ext cx="1691640" cy="624046"/>
          </a:xfrm>
          <a:prstGeom prst="wedgeRectCallout">
            <a:avLst>
              <a:gd name="adj1" fmla="val -18546"/>
              <a:gd name="adj2" fmla="val 81849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Submit Form data</a:t>
            </a:r>
          </a:p>
        </p:txBody>
      </p:sp>
      <p:sp>
        <p:nvSpPr>
          <p:cNvPr id="13" name="Rectangular Callout 12"/>
          <p:cNvSpPr/>
          <p:nvPr/>
        </p:nvSpPr>
        <p:spPr>
          <a:xfrm>
            <a:off x="3299460" y="2936398"/>
            <a:ext cx="2529840" cy="504032"/>
          </a:xfrm>
          <a:prstGeom prst="wedgeRectCallout">
            <a:avLst>
              <a:gd name="adj1" fmla="val -17418"/>
              <a:gd name="adj2" fmla="val 87350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Clear Form data and set them to </a:t>
            </a:r>
            <a:r>
              <a:rPr lang="en-GB" sz="1600">
                <a:latin typeface="Arial Unicode MS" charset="0"/>
                <a:ea typeface="Arial Unicode MS" charset="0"/>
                <a:cs typeface="Arial Unicode MS" charset="0"/>
              </a:rPr>
              <a:t>default value</a:t>
            </a:r>
            <a:endParaRPr lang="en-GB" sz="1600" dirty="0">
              <a:latin typeface="Arial Unicode MS" charset="0"/>
              <a:ea typeface="Arial Unicode MS" charset="0"/>
              <a:cs typeface="Arial Unicode MS" charset="0"/>
            </a:endParaRPr>
          </a:p>
        </p:txBody>
      </p:sp>
      <p:sp>
        <p:nvSpPr>
          <p:cNvPr id="14" name="Rectangular Callout 13"/>
          <p:cNvSpPr/>
          <p:nvPr/>
        </p:nvSpPr>
        <p:spPr>
          <a:xfrm>
            <a:off x="1716568" y="5593932"/>
            <a:ext cx="5428924" cy="590917"/>
          </a:xfrm>
          <a:prstGeom prst="wedgeRectCallout">
            <a:avLst>
              <a:gd name="adj1" fmla="val -6452"/>
              <a:gd name="adj2" fmla="val -119012"/>
            </a:avLst>
          </a:prstGeom>
          <a:solidFill>
            <a:schemeClr val="accent5">
              <a:lumMod val="75000"/>
            </a:schemeClr>
          </a:solidFill>
          <a:effectLst>
            <a:outerShdw sx="1000" sy="1000" algn="ctr" rotWithShape="0">
              <a:srgbClr val="000000"/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>
                <a:latin typeface="Arial Unicode MS" charset="0"/>
                <a:ea typeface="Arial Unicode MS" charset="0"/>
                <a:cs typeface="Arial Unicode MS" charset="0"/>
              </a:rPr>
              <a:t>Customise a button to perform special function. Usually link with a JavaScript function.</a:t>
            </a:r>
          </a:p>
        </p:txBody>
      </p:sp>
    </p:spTree>
    <p:extLst>
      <p:ext uri="{BB962C8B-B14F-4D97-AF65-F5344CB8AC3E}">
        <p14:creationId xmlns:p14="http://schemas.microsoft.com/office/powerpoint/2010/main" val="3745052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Select Element</a:t>
            </a:r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75782" y="1770062"/>
            <a:ext cx="2209800" cy="10287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9</a:t>
            </a:fld>
            <a:endParaRPr lang="uk-UA"/>
          </a:p>
        </p:txBody>
      </p:sp>
      <p:pic>
        <p:nvPicPr>
          <p:cNvPr id="12" name="Content Placeholder 11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250" y="3041650"/>
            <a:ext cx="4902200" cy="16891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8782" y="3975100"/>
            <a:ext cx="2336800" cy="15875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4" name="Right Arrow 13"/>
          <p:cNvSpPr/>
          <p:nvPr/>
        </p:nvSpPr>
        <p:spPr>
          <a:xfrm>
            <a:off x="6557429" y="3744641"/>
            <a:ext cx="1407886" cy="203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ight Arrow 14"/>
          <p:cNvSpPr/>
          <p:nvPr/>
        </p:nvSpPr>
        <p:spPr>
          <a:xfrm rot="5400000">
            <a:off x="9658418" y="3337085"/>
            <a:ext cx="617220" cy="996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72559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Textarea</a:t>
            </a:r>
            <a:r>
              <a:rPr lang="en-GB" dirty="0"/>
              <a:t> Element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2068512"/>
            <a:ext cx="4673600" cy="9144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9182" y="2068512"/>
            <a:ext cx="2032000" cy="13208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10</a:t>
            </a:fld>
            <a:endParaRPr lang="uk-UA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4375037"/>
            <a:ext cx="5387847" cy="80656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78782" y="4166936"/>
            <a:ext cx="3606800" cy="1485900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13" name="Right Arrow 12"/>
          <p:cNvSpPr/>
          <p:nvPr/>
        </p:nvSpPr>
        <p:spPr>
          <a:xfrm>
            <a:off x="6492747" y="2486170"/>
            <a:ext cx="1103086" cy="15965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ight Arrow 13"/>
          <p:cNvSpPr/>
          <p:nvPr/>
        </p:nvSpPr>
        <p:spPr>
          <a:xfrm>
            <a:off x="6608859" y="4758432"/>
            <a:ext cx="721321" cy="10536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9050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Elements in HTML5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900" y="2142089"/>
            <a:ext cx="5615214" cy="3388284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pic>
        <p:nvPicPr>
          <p:cNvPr id="8" name="Content Placeholder 7"/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66706" y="1864177"/>
            <a:ext cx="2118876" cy="3956051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11</a:t>
            </a:fld>
            <a:endParaRPr lang="uk-UA"/>
          </a:p>
        </p:txBody>
      </p:sp>
      <p:sp>
        <p:nvSpPr>
          <p:cNvPr id="9" name="Right Arrow 8"/>
          <p:cNvSpPr/>
          <p:nvPr/>
        </p:nvSpPr>
        <p:spPr>
          <a:xfrm rot="196818" flipV="1">
            <a:off x="6120375" y="2333996"/>
            <a:ext cx="2639078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ight Arrow 9"/>
          <p:cNvSpPr/>
          <p:nvPr/>
        </p:nvSpPr>
        <p:spPr>
          <a:xfrm rot="155606">
            <a:off x="6191580" y="3304778"/>
            <a:ext cx="2567444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ight Arrow 10"/>
          <p:cNvSpPr/>
          <p:nvPr/>
        </p:nvSpPr>
        <p:spPr>
          <a:xfrm>
            <a:off x="3439887" y="4204368"/>
            <a:ext cx="5391284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Right Arrow 11"/>
          <p:cNvSpPr/>
          <p:nvPr/>
        </p:nvSpPr>
        <p:spPr>
          <a:xfrm rot="175789">
            <a:off x="6641073" y="5242087"/>
            <a:ext cx="2118960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4143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Iframe Element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1101903"/>
          </a:xfrm>
        </p:spPr>
        <p:txBody>
          <a:bodyPr>
            <a:normAutofit/>
          </a:bodyPr>
          <a:lstStyle/>
          <a:p>
            <a:r>
              <a:rPr lang="en-US" sz="1800"/>
              <a:t>You can use HTML to embed other webpages in your own page using an iframe element pointing at a URL.</a:t>
            </a:r>
            <a:endParaRPr lang="en-GB" sz="18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37923" y="1600200"/>
            <a:ext cx="3983453" cy="45720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12</a:t>
            </a:fld>
            <a:endParaRPr lang="uk-UA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1699" y="2824608"/>
            <a:ext cx="4777897" cy="2713163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9" name="Right Arrow 8"/>
          <p:cNvSpPr/>
          <p:nvPr/>
        </p:nvSpPr>
        <p:spPr>
          <a:xfrm>
            <a:off x="6061754" y="4027470"/>
            <a:ext cx="504251" cy="4571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1597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Compatibilities and Support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>
          <a:xfrm>
            <a:off x="1104900" y="1600200"/>
            <a:ext cx="9982200" cy="1492624"/>
          </a:xfrm>
        </p:spPr>
        <p:txBody>
          <a:bodyPr/>
          <a:lstStyle/>
          <a:p>
            <a:r>
              <a:rPr lang="en-GB" dirty="0"/>
              <a:t>Various browsers support different features of HTML/CSS/JS.</a:t>
            </a:r>
          </a:p>
          <a:p>
            <a:r>
              <a:rPr lang="en-GB" dirty="0"/>
              <a:t>The following website is useful to check for the support:</a:t>
            </a:r>
          </a:p>
          <a:p>
            <a:pPr lvl="1"/>
            <a:r>
              <a:rPr lang="en-GB" dirty="0">
                <a:solidFill>
                  <a:srgbClr val="FF0000"/>
                </a:solidFill>
              </a:rPr>
              <a:t>http://</a:t>
            </a:r>
            <a:r>
              <a:rPr lang="en-GB" dirty="0" err="1">
                <a:solidFill>
                  <a:srgbClr val="FF0000"/>
                </a:solidFill>
              </a:rPr>
              <a:t>caniuse.com</a:t>
            </a:r>
            <a:endParaRPr lang="en-GB" dirty="0">
              <a:solidFill>
                <a:srgbClr val="FF0000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13</a:t>
            </a:fld>
            <a:endParaRPr lang="uk-UA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4152" y="2849396"/>
            <a:ext cx="5604177" cy="3439776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867904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challenge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W1.6 HTML Form and Controls </a:t>
            </a:r>
            <a:r>
              <a:rPr lang="en-GB" dirty="0" err="1"/>
              <a:t>II.docx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F54DE5-C571-48E8-A5BC-B369434E2F44}" type="slidenum">
              <a:rPr lang="uk-UA" smtClean="0"/>
              <a:t>14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3543995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/>
              <a:t>The End</a:t>
            </a:r>
          </a:p>
        </p:txBody>
      </p:sp>
    </p:spTree>
    <p:extLst>
      <p:ext uri="{BB962C8B-B14F-4D97-AF65-F5344CB8AC3E}">
        <p14:creationId xmlns:p14="http://schemas.microsoft.com/office/powerpoint/2010/main" val="127547587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10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HTML Form and Controls II&amp;quot;&quot;/&gt;&lt;property id=&quot;20307&quot; value=&quot;256&quot;/&gt;&lt;/object&gt;&lt;object type=&quot;3&quot; unique_id=&quot;13467&quot;&gt;&lt;property id=&quot;20148&quot; value=&quot;5&quot;/&gt;&lt;property id=&quot;20300&quot; value=&quot;Slide 21 - &amp;quot;The End&amp;quot;&quot;/&gt;&lt;property id=&quot;20307&quot; value=&quot;288&quot;/&gt;&lt;/object&gt;&lt;object type=&quot;3&quot; unique_id=&quot;17361&quot;&gt;&lt;property id=&quot;20148&quot; value=&quot;5&quot;/&gt;&lt;property id=&quot;20300&quot; value=&quot;Slide 2 - &amp;quot;Objectives&amp;quot;&quot;/&gt;&lt;property id=&quot;20307&quot; value=&quot;289&quot;/&gt;&lt;/object&gt;&lt;object type=&quot;3&quot; unique_id=&quot;17362&quot;&gt;&lt;property id=&quot;20148&quot; value=&quot;5&quot;/&gt;&lt;property id=&quot;20300&quot; value=&quot;Slide 3 - &amp;quot;Tools Required&amp;quot;&quot;/&gt;&lt;property id=&quot;20307&quot; value=&quot;308&quot;/&gt;&lt;/object&gt;&lt;object type=&quot;3&quot; unique_id=&quot;17363&quot;&gt;&lt;property id=&quot;20148&quot; value=&quot;5&quot;/&gt;&lt;property id=&quot;20300&quot; value=&quot;Slide 4 - &amp;quot;GET AND POST&amp;quot;&quot;/&gt;&lt;property id=&quot;20307&quot; value=&quot;291&quot;/&gt;&lt;/object&gt;&lt;object type=&quot;3&quot; unique_id=&quot;17364&quot;&gt;&lt;property id=&quot;20148&quot; value=&quot;5&quot;/&gt;&lt;property id=&quot;20300&quot; value=&quot;Slide 5 - &amp;quot;HTTP Request Method: GET&amp;quot;&quot;/&gt;&lt;property id=&quot;20307&quot; value=&quot;292&quot;/&gt;&lt;/object&gt;&lt;object type=&quot;3&quot; unique_id=&quot;17365&quot;&gt;&lt;property id=&quot;20148&quot; value=&quot;5&quot;/&gt;&lt;property id=&quot;20300&quot; value=&quot;Slide 6 - &amp;quot;HTTP Request Method: POST&amp;quot;&quot;/&gt;&lt;property id=&quot;20307&quot; value=&quot;293&quot;/&gt;&lt;/object&gt;&lt;object type=&quot;3&quot; unique_id=&quot;17366&quot;&gt;&lt;property id=&quot;20148&quot; value=&quot;5&quot;/&gt;&lt;property id=&quot;20300&quot; value=&quot;Slide 7 - &amp;quot;GET vs POST&amp;quot;&quot;/&gt;&lt;property id=&quot;20307&quot; value=&quot;294&quot;/&gt;&lt;/object&gt;&lt;object type=&quot;3&quot; unique_id=&quot;17367&quot;&gt;&lt;property id=&quot;20148&quot; value=&quot;5&quot;/&gt;&lt;property id=&quot;20300&quot; value=&quot;Slide 8 - &amp;quot;When To Use?&amp;quot;&quot;/&gt;&lt;property id=&quot;20307&quot; value=&quot;295&quot;/&gt;&lt;/object&gt;&lt;object type=&quot;3&quot; unique_id=&quot;17368&quot;&gt;&lt;property id=&quot;20148&quot; value=&quot;5&quot;/&gt;&lt;property id=&quot;20300&quot; value=&quot;Slide 9 - &amp;quot;FORM ELEMENTS&amp;quot;&quot;/&gt;&lt;property id=&quot;20307&quot; value=&quot;296&quot;/&gt;&lt;/object&gt;&lt;object type=&quot;3&quot; unique_id=&quot;17369&quot;&gt;&lt;property id=&quot;20148&quot; value=&quot;5&quot;/&gt;&lt;property id=&quot;20300&quot; value=&quot;Slide 10 - &amp;quot;Label Element&amp;quot;&quot;/&gt;&lt;property id=&quot;20307&quot; value=&quot;297&quot;/&gt;&lt;/object&gt;&lt;object type=&quot;3&quot; unique_id=&quot;17370&quot;&gt;&lt;property id=&quot;20148&quot; value=&quot;5&quot;/&gt;&lt;property id=&quot;20300&quot; value=&quot;Slide 11 - &amp;quot;Input Element: Textbox&amp;quot;&quot;/&gt;&lt;property id=&quot;20307&quot; value=&quot;298&quot;/&gt;&lt;/object&gt;&lt;object type=&quot;3&quot; unique_id=&quot;17371&quot;&gt;&lt;property id=&quot;20148&quot; value=&quot;5&quot;/&gt;&lt;property id=&quot;20300&quot; value=&quot;Slide 12 - &amp;quot;Input Element: Checkbox&amp;quot;&quot;/&gt;&lt;property id=&quot;20307&quot; value=&quot;299&quot;/&gt;&lt;/object&gt;&lt;object type=&quot;3&quot; unique_id=&quot;17372&quot;&gt;&lt;property id=&quot;20148&quot; value=&quot;5&quot;/&gt;&lt;property id=&quot;20300&quot; value=&quot;Slide 13 - &amp;quot;Input Element: Radio Button&amp;quot;&quot;/&gt;&lt;property id=&quot;20307&quot; value=&quot;300&quot;/&gt;&lt;/object&gt;&lt;object type=&quot;3&quot; unique_id=&quot;17373&quot;&gt;&lt;property id=&quot;20148&quot; value=&quot;5&quot;/&gt;&lt;property id=&quot;20300&quot; value=&quot;Slide 14 - &amp;quot;Button Element&amp;quot;&quot;/&gt;&lt;property id=&quot;20307&quot; value=&quot;301&quot;/&gt;&lt;/object&gt;&lt;object type=&quot;3&quot; unique_id=&quot;17374&quot;&gt;&lt;property id=&quot;20148&quot; value=&quot;5&quot;/&gt;&lt;property id=&quot;20300&quot; value=&quot;Slide 15 - &amp;quot;Select Element&amp;quot;&quot;/&gt;&lt;property id=&quot;20307&quot; value=&quot;302&quot;/&gt;&lt;/object&gt;&lt;object type=&quot;3&quot; unique_id=&quot;17375&quot;&gt;&lt;property id=&quot;20148&quot; value=&quot;5&quot;/&gt;&lt;property id=&quot;20300&quot; value=&quot;Slide 16 - &amp;quot;Textarea Element&amp;quot;&quot;/&gt;&lt;property id=&quot;20307&quot; value=&quot;303&quot;/&gt;&lt;/object&gt;&lt;object type=&quot;3&quot; unique_id=&quot;17376&quot;&gt;&lt;property id=&quot;20148&quot; value=&quot;5&quot;/&gt;&lt;property id=&quot;20300&quot; value=&quot;Slide 17 - &amp;quot;Other Elements in HTML5&amp;quot;&quot;/&gt;&lt;property id=&quot;20307&quot; value=&quot;304&quot;/&gt;&lt;/object&gt;&lt;object type=&quot;3&quot; unique_id=&quot;17377&quot;&gt;&lt;property id=&quot;20148&quot; value=&quot;5&quot;/&gt;&lt;property id=&quot;20300&quot; value=&quot;Slide 18 - &amp;quot;Iframe Element&amp;quot;&quot;/&gt;&lt;property id=&quot;20307&quot; value=&quot;305&quot;/&gt;&lt;/object&gt;&lt;object type=&quot;3&quot; unique_id=&quot;17378&quot;&gt;&lt;property id=&quot;20148&quot; value=&quot;5&quot;/&gt;&lt;property id=&quot;20300&quot; value=&quot;Slide 19 - &amp;quot;Compatibilities and Support&amp;quot;&quot;/&gt;&lt;property id=&quot;20307&quot; value=&quot;306&quot;/&gt;&lt;/object&gt;&lt;object type=&quot;3&quot; unique_id=&quot;17379&quot;&gt;&lt;property id=&quot;20148&quot; value=&quot;5&quot;/&gt;&lt;property id=&quot;20300&quot; value=&quot;Slide 20 - &amp;quot;challenge&amp;quot;&quot;/&gt;&lt;property id=&quot;20307&quot; value=&quot;307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6270</TotalTime>
  <Words>225</Words>
  <Application>Microsoft Office PowerPoint</Application>
  <PresentationFormat>Widescreen</PresentationFormat>
  <Paragraphs>49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Arial</vt:lpstr>
      <vt:lpstr>Arial Unicode MS</vt:lpstr>
      <vt:lpstr>Calibri</vt:lpstr>
      <vt:lpstr>Roboto</vt:lpstr>
      <vt:lpstr>Roboto light</vt:lpstr>
      <vt:lpstr>Verdana</vt:lpstr>
      <vt:lpstr>Office Theme</vt:lpstr>
      <vt:lpstr>HTML Form and Controls II</vt:lpstr>
      <vt:lpstr>Objectives</vt:lpstr>
      <vt:lpstr>FORM ELEMENTS</vt:lpstr>
      <vt:lpstr>Label Element</vt:lpstr>
      <vt:lpstr>Input Element: Textbox</vt:lpstr>
      <vt:lpstr>Input Element: Checkbox</vt:lpstr>
      <vt:lpstr>Input Element: Radio Button</vt:lpstr>
      <vt:lpstr>Button Element</vt:lpstr>
      <vt:lpstr>Select Element</vt:lpstr>
      <vt:lpstr>Textarea Element</vt:lpstr>
      <vt:lpstr>Other Elements in HTML5</vt:lpstr>
      <vt:lpstr>Iframe Element</vt:lpstr>
      <vt:lpstr>Compatibilities and Support</vt:lpstr>
      <vt:lpstr>challenge</vt:lpstr>
      <vt:lpstr>The End</vt:lpstr>
    </vt:vector>
  </TitlesOfParts>
  <Company>Temasek Polytechnic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 Form and Controls II</dc:title>
  <dc:creator>siopoh@TP.EDU.SG</dc:creator>
  <cp:keywords>CODT, CIT1C16, ADEV, CIT1C17, HTML Forms and Controls I</cp:keywords>
  <cp:lastModifiedBy>temasek poly</cp:lastModifiedBy>
  <cp:revision>185</cp:revision>
  <dcterms:created xsi:type="dcterms:W3CDTF">2016-03-04T00:57:19Z</dcterms:created>
  <dcterms:modified xsi:type="dcterms:W3CDTF">2021-09-21T08:53:56Z</dcterms:modified>
  <cp:category>Software Cluster</cp:category>
</cp:coreProperties>
</file>