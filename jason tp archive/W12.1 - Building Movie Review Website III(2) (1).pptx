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89" r:id="rId3"/>
    <p:sldId id="373" r:id="rId4"/>
    <p:sldId id="402" r:id="rId5"/>
    <p:sldId id="426" r:id="rId6"/>
    <p:sldId id="425" r:id="rId7"/>
    <p:sldId id="377" r:id="rId8"/>
    <p:sldId id="406" r:id="rId9"/>
    <p:sldId id="447" r:id="rId10"/>
    <p:sldId id="440" r:id="rId11"/>
    <p:sldId id="441" r:id="rId12"/>
    <p:sldId id="450" r:id="rId13"/>
    <p:sldId id="446" r:id="rId14"/>
    <p:sldId id="449" r:id="rId15"/>
    <p:sldId id="423" r:id="rId16"/>
    <p:sldId id="288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0070C0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7110C-5EC4-4F99-A4FF-84DF2D99BACF}" v="13" dt="2018-09-28T07:09:55.5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7" autoAdjust="0"/>
    <p:restoredTop sz="93887" autoAdjust="0"/>
  </p:normalViewPr>
  <p:slideViewPr>
    <p:cSldViewPr snapToGrid="0">
      <p:cViewPr>
        <p:scale>
          <a:sx n="100" d="100"/>
          <a:sy n="100" d="100"/>
        </p:scale>
        <p:origin x="1182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21A7110C-5EC4-4F99-A4FF-84DF2D99BACF}"/>
    <pc:docChg chg="undo modMainMaster">
      <pc:chgData name="Lam Su Yi" userId="43bb02ba-2a64-4c57-886a-7f9577835f3c" providerId="ADAL" clId="{21A7110C-5EC4-4F99-A4FF-84DF2D99BACF}" dt="2018-09-28T07:09:55.555" v="12" actId="20577"/>
      <pc:docMkLst>
        <pc:docMk/>
      </pc:docMkLst>
      <pc:sldMasterChg chg="modSldLayout">
        <pc:chgData name="Lam Su Yi" userId="43bb02ba-2a64-4c57-886a-7f9577835f3c" providerId="ADAL" clId="{21A7110C-5EC4-4F99-A4FF-84DF2D99BACF}" dt="2018-09-28T07:09:55.555" v="12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21A7110C-5EC4-4F99-A4FF-84DF2D99BACF}" dt="2018-09-28T07:09:55.555" v="12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21A7110C-5EC4-4F99-A4FF-84DF2D99BACF}" dt="2018-09-28T01:22:51.247" v="7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21A7110C-5EC4-4F99-A4FF-84DF2D99BACF}" dt="2018-09-28T07:09:55.555" v="12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24/9/2021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https://wireframe.cc/mF3Mql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443D8-64E2-477C-8585-147863024541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194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9/24/2021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9/24/2021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aPq-nrvwp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Building Movie Review Website III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12.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basic architecture of a web application based on a Movie Review website;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build the web pages of a Movie Review website.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Node.js</a:t>
            </a:r>
          </a:p>
          <a:p>
            <a:pPr>
              <a:lnSpc>
                <a:spcPct val="100000"/>
              </a:lnSpc>
            </a:pPr>
            <a:r>
              <a:rPr lang="en-GB" dirty="0"/>
              <a:t>Browser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Google Chrome (recommended)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Mozilla Firefox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View…Continue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B587-5537-4A24-9A2F-86E2E5E6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New Comment Modal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6B33-CCED-427A-9E46-ACF8C78BE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Watch the demo </a:t>
            </a:r>
            <a:r>
              <a:rPr lang="en-GB" dirty="0">
                <a:hlinkClick r:id="rId2"/>
              </a:rPr>
              <a:t>here</a:t>
            </a:r>
            <a:endParaRPr lang="en-GB" dirty="0"/>
          </a:p>
          <a:p>
            <a:r>
              <a:rPr lang="en-GB" dirty="0"/>
              <a:t>We will now create the New Comment Modal Window.</a:t>
            </a:r>
          </a:p>
          <a:p>
            <a:r>
              <a:rPr lang="en-GB" dirty="0"/>
              <a:t>Let’s look at the wireframe for this in the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314B9-4530-4237-976C-22BFDB17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90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25DB-6F3E-4828-B4BA-CA9DFEA3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Wireframe – Add/Update Comment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36FFBE-D5B5-4007-8116-7081AC73F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88" y="1641630"/>
            <a:ext cx="10336212" cy="456692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4FB19-EA8D-4579-A716-AAF54498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6</a:t>
            </a:fld>
            <a:endParaRPr lang="en-SG"/>
          </a:p>
        </p:txBody>
      </p:sp>
      <p:sp>
        <p:nvSpPr>
          <p:cNvPr id="7" name="Rectangular Callout 21">
            <a:extLst>
              <a:ext uri="{FF2B5EF4-FFF2-40B4-BE49-F238E27FC236}">
                <a16:creationId xmlns:a16="http://schemas.microsoft.com/office/drawing/2014/main" id="{6BA7B179-029C-431B-AEB6-E614CE45016E}"/>
              </a:ext>
            </a:extLst>
          </p:cNvPr>
          <p:cNvSpPr/>
          <p:nvPr/>
        </p:nvSpPr>
        <p:spPr>
          <a:xfrm>
            <a:off x="9723515" y="2722804"/>
            <a:ext cx="1788452" cy="654008"/>
          </a:xfrm>
          <a:prstGeom prst="wedgeRectCallout">
            <a:avLst>
              <a:gd name="adj1" fmla="val -56490"/>
              <a:gd name="adj2" fmla="val -101398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Image icon to close modal window when clicked. </a:t>
            </a:r>
          </a:p>
        </p:txBody>
      </p:sp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D6D8FE02-1C62-48C2-94BB-4D79F4D52EFB}"/>
              </a:ext>
            </a:extLst>
          </p:cNvPr>
          <p:cNvSpPr/>
          <p:nvPr/>
        </p:nvSpPr>
        <p:spPr>
          <a:xfrm>
            <a:off x="9565347" y="5554550"/>
            <a:ext cx="1788452" cy="654008"/>
          </a:xfrm>
          <a:prstGeom prst="wedgeRectCallout">
            <a:avLst>
              <a:gd name="adj1" fmla="val -73388"/>
              <a:gd name="adj2" fmla="val -17873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to close modal window when clicked. </a:t>
            </a:r>
          </a:p>
        </p:txBody>
      </p:sp>
      <p:sp>
        <p:nvSpPr>
          <p:cNvPr id="9" name="Rectangular Callout 21">
            <a:extLst>
              <a:ext uri="{FF2B5EF4-FFF2-40B4-BE49-F238E27FC236}">
                <a16:creationId xmlns:a16="http://schemas.microsoft.com/office/drawing/2014/main" id="{44C28A5E-B20C-4284-85B6-D6A83A8FF506}"/>
              </a:ext>
            </a:extLst>
          </p:cNvPr>
          <p:cNvSpPr/>
          <p:nvPr/>
        </p:nvSpPr>
        <p:spPr>
          <a:xfrm>
            <a:off x="402956" y="1759058"/>
            <a:ext cx="1952518" cy="1852047"/>
          </a:xfrm>
          <a:prstGeom prst="wedgeRectCallout">
            <a:avLst>
              <a:gd name="adj1" fmla="val 73031"/>
              <a:gd name="adj2" fmla="val 14725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Text input for username or nickname of user giving the comments. If editing an existing comment, this will show the original nickname.</a:t>
            </a:r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B8D85A16-3CE9-46DB-82A7-2D153F38BB1E}"/>
              </a:ext>
            </a:extLst>
          </p:cNvPr>
          <p:cNvSpPr/>
          <p:nvPr/>
        </p:nvSpPr>
        <p:spPr>
          <a:xfrm>
            <a:off x="402956" y="3759779"/>
            <a:ext cx="1952518" cy="1176431"/>
          </a:xfrm>
          <a:prstGeom prst="wedgeRectCallout">
            <a:avLst>
              <a:gd name="adj1" fmla="val 73825"/>
              <a:gd name="adj2" fmla="val -3498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Text input of comments. If editing an existing comment, this will show the original comment.</a:t>
            </a:r>
          </a:p>
        </p:txBody>
      </p:sp>
      <p:sp>
        <p:nvSpPr>
          <p:cNvPr id="11" name="Rectangular Callout 21">
            <a:extLst>
              <a:ext uri="{FF2B5EF4-FFF2-40B4-BE49-F238E27FC236}">
                <a16:creationId xmlns:a16="http://schemas.microsoft.com/office/drawing/2014/main" id="{979CE93E-AF18-42BC-8E12-6916325D3765}"/>
              </a:ext>
            </a:extLst>
          </p:cNvPr>
          <p:cNvSpPr/>
          <p:nvPr/>
        </p:nvSpPr>
        <p:spPr>
          <a:xfrm>
            <a:off x="508861" y="5032127"/>
            <a:ext cx="1952518" cy="1325105"/>
          </a:xfrm>
          <a:prstGeom prst="wedgeRectCallout">
            <a:avLst>
              <a:gd name="adj1" fmla="val 92875"/>
              <a:gd name="adj2" fmla="val -26421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Five image icons of popcorns. Default colour is black-and-white. When mouse hover each of them, it will turn to colour.</a:t>
            </a:r>
          </a:p>
        </p:txBody>
      </p:sp>
      <p:sp>
        <p:nvSpPr>
          <p:cNvPr id="12" name="Rectangular Callout 21">
            <a:extLst>
              <a:ext uri="{FF2B5EF4-FFF2-40B4-BE49-F238E27FC236}">
                <a16:creationId xmlns:a16="http://schemas.microsoft.com/office/drawing/2014/main" id="{3F6A7B2F-D069-45AC-B055-F06FE128823B}"/>
              </a:ext>
            </a:extLst>
          </p:cNvPr>
          <p:cNvSpPr/>
          <p:nvPr/>
        </p:nvSpPr>
        <p:spPr>
          <a:xfrm>
            <a:off x="5225416" y="5784442"/>
            <a:ext cx="1788452" cy="654008"/>
          </a:xfrm>
          <a:prstGeom prst="wedgeRectCallout">
            <a:avLst>
              <a:gd name="adj1" fmla="val 72197"/>
              <a:gd name="adj2" fmla="val -4157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Button to submit all inputs to server when clicked. </a:t>
            </a:r>
          </a:p>
        </p:txBody>
      </p:sp>
    </p:spTree>
    <p:extLst>
      <p:ext uri="{BB962C8B-B14F-4D97-AF65-F5344CB8AC3E}">
        <p14:creationId xmlns:p14="http://schemas.microsoft.com/office/powerpoint/2010/main" val="4118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Creating Add New Comment Modal Window - new-comments-modal.html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6328AF-6807-4013-BBA7-E67A89AFCF9D}"/>
              </a:ext>
            </a:extLst>
          </p:cNvPr>
          <p:cNvSpPr/>
          <p:nvPr/>
        </p:nvSpPr>
        <p:spPr>
          <a:xfrm>
            <a:off x="1129553" y="2064309"/>
            <a:ext cx="9412941" cy="4087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modal fade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0C0"/>
                </a:solidFill>
                <a:latin typeface="Courier"/>
              </a:rPr>
              <a:t>newCommentModal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tabindex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-1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dialog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modal-dialog modal-</a:t>
            </a:r>
            <a:r>
              <a:rPr lang="en-GB" sz="900" dirty="0" err="1">
                <a:solidFill>
                  <a:srgbClr val="0070C0"/>
                </a:solidFill>
                <a:latin typeface="Courier"/>
              </a:rPr>
              <a:t>lg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role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document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modal-content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modal-header 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-dark text-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center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&lt;h3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modal-title text-light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Contribute a Review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&lt;/h3&gt;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&lt;button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close 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-light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&lt;span&gt;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&amp;times;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&lt;/span&gt;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&lt;/button&gt;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modal-body px-5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</a:t>
            </a:r>
            <a:r>
              <a:rPr lang="en-GB" sz="900" dirty="0">
                <a:solidFill>
                  <a:schemeClr val="accent5"/>
                </a:solidFill>
                <a:latin typeface="Courier"/>
              </a:rPr>
              <a:t>&lt;!-- All input to be sent to server, and buttons must be within the 'form' tag --&gt;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&lt;form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commentForm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row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text-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center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commentBody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&lt;label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nickname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Nickname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&lt;/label&gt;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&lt;input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text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nickname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form-control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required&gt;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&lt;label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userComments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Review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&lt;/label&gt;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textarea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userComments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required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form-control form-rounded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rows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3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cols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100%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"&gt;&lt;/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textarea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&lt;label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for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popcorn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"&gt;Rating&lt;/label&gt;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images/popcorn_bw.png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1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rateIt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(this)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/&gt;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images/popcorn_bw.png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2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rateIt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(this)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/&gt;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images/popcorn_bw.png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3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rateIt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(this)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/&gt;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images/popcorn_bw.png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4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rateIt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(this)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/&gt;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</a:t>
            </a:r>
            <a:r>
              <a:rPr lang="en-GB" sz="900" dirty="0" err="1">
                <a:solidFill>
                  <a:srgbClr val="C00000"/>
                </a:solidFill>
                <a:latin typeface="Courier"/>
              </a:rPr>
              <a:t>img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src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images/popcorn_bw.png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pop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value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5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onmouseover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rateIt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(this)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/&gt;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&lt;/div&gt;</a:t>
            </a:r>
          </a:p>
          <a:p>
            <a:endParaRPr lang="en-GB" sz="900" dirty="0">
              <a:solidFill>
                <a:srgbClr val="C00000"/>
              </a:solidFill>
              <a:latin typeface="Courier"/>
            </a:endParaRP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&lt;div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modal-footer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&lt;button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-primary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0C0"/>
                </a:solidFill>
                <a:latin typeface="Courier"/>
              </a:rPr>
              <a:t>modal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submitComment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 err="1">
                <a:solidFill>
                  <a:srgbClr val="FF0000"/>
                </a:solidFill>
                <a:latin typeface="Courier"/>
              </a:rPr>
              <a:t>onClick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addComment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()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Submit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&lt;/button&gt;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    &lt;button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type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button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class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btn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-secondary </a:t>
            </a:r>
            <a:r>
              <a:rPr lang="en-GB" sz="900" dirty="0" err="1">
                <a:solidFill>
                  <a:srgbClr val="007DDA"/>
                </a:solidFill>
                <a:latin typeface="Courier"/>
              </a:rPr>
              <a:t>bg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-dark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 </a:t>
            </a:r>
            <a:r>
              <a:rPr lang="en-GB" sz="900" dirty="0">
                <a:solidFill>
                  <a:srgbClr val="FF0000"/>
                </a:solidFill>
                <a:latin typeface="Courier"/>
              </a:rPr>
              <a:t>data-dismiss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="</a:t>
            </a:r>
            <a:r>
              <a:rPr lang="en-GB" sz="900" dirty="0">
                <a:solidFill>
                  <a:srgbClr val="007DDA"/>
                </a:solidFill>
                <a:latin typeface="Courier"/>
              </a:rPr>
              <a:t>modal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"&gt;</a:t>
            </a:r>
            <a:r>
              <a:rPr lang="en-GB" sz="900" dirty="0">
                <a:solidFill>
                  <a:schemeClr val="tx1"/>
                </a:solidFill>
                <a:latin typeface="Courier"/>
              </a:rPr>
              <a:t>Close</a:t>
            </a:r>
            <a:r>
              <a:rPr lang="en-GB" sz="900" dirty="0">
                <a:solidFill>
                  <a:srgbClr val="C00000"/>
                </a:solidFill>
                <a:latin typeface="Courier"/>
              </a:rPr>
              <a:t>&lt;/button&gt;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    &lt;/div&gt;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    &lt;/form&gt;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    &lt;/div&gt;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    &lt;/div&gt;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    &lt;/div&gt;</a:t>
            </a:r>
          </a:p>
          <a:p>
            <a:r>
              <a:rPr lang="en-GB" sz="900" dirty="0">
                <a:solidFill>
                  <a:srgbClr val="C00000"/>
                </a:solidFill>
                <a:latin typeface="Courier"/>
              </a:rPr>
              <a:t>&lt;/div&gt;</a:t>
            </a:r>
          </a:p>
          <a:p>
            <a:endParaRPr lang="en-GB" sz="900" dirty="0">
              <a:solidFill>
                <a:srgbClr val="C00000"/>
              </a:solidFill>
              <a:latin typeface="Courier"/>
            </a:endParaRPr>
          </a:p>
          <a:p>
            <a:endParaRPr lang="en-GB" sz="900" dirty="0">
              <a:solidFill>
                <a:srgbClr val="C00000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4690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Add New Comments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19210-5318-473F-A1B3-D0D443280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1450784"/>
            <a:ext cx="4940273" cy="4519711"/>
          </a:xfrm>
          <a:prstGeom prst="rect">
            <a:avLst/>
          </a:prstGeom>
        </p:spPr>
      </p:pic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D5AEF5DE-BD90-4E32-9F90-4A6B9280918A}"/>
              </a:ext>
            </a:extLst>
          </p:cNvPr>
          <p:cNvSpPr/>
          <p:nvPr/>
        </p:nvSpPr>
        <p:spPr>
          <a:xfrm>
            <a:off x="4830708" y="2401966"/>
            <a:ext cx="6735650" cy="724745"/>
          </a:xfrm>
          <a:prstGeom prst="wedgeRectCallout">
            <a:avLst>
              <a:gd name="adj1" fmla="val -58320"/>
              <a:gd name="adj2" fmla="val -134557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Test the new Comment Modal and it should pop up but with some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javascript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errors as the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js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engine was not able to find those functions</a:t>
            </a:r>
          </a:p>
        </p:txBody>
      </p:sp>
    </p:spTree>
    <p:extLst>
      <p:ext uri="{BB962C8B-B14F-4D97-AF65-F5344CB8AC3E}">
        <p14:creationId xmlns:p14="http://schemas.microsoft.com/office/powerpoint/2010/main" val="752832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408727-E8B5-4C1E-A4AA-9CEDA6F25955}"/>
              </a:ext>
            </a:extLst>
          </p:cNvPr>
          <p:cNvSpPr txBox="1"/>
          <p:nvPr/>
        </p:nvSpPr>
        <p:spPr>
          <a:xfrm>
            <a:off x="1957759" y="43033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popcornBWImage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'images/popcorn_bw.png'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popcornImage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'images/popcorn.png'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rating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17638" y="1631314"/>
            <a:ext cx="10336162" cy="11908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Under your </a:t>
            </a:r>
            <a:r>
              <a:rPr lang="en-GB" b="1" dirty="0" err="1">
                <a:solidFill>
                  <a:srgbClr val="FF0000"/>
                </a:solidFill>
                <a:latin typeface="Courier"/>
              </a:rPr>
              <a:t>js</a:t>
            </a:r>
            <a:r>
              <a:rPr lang="en-GB" dirty="0"/>
              <a:t> folder, open the </a:t>
            </a:r>
            <a:r>
              <a:rPr lang="en-GB" b="1" dirty="0">
                <a:solidFill>
                  <a:srgbClr val="FF0000"/>
                </a:solidFill>
                <a:latin typeface="Courier"/>
              </a:rPr>
              <a:t>app.js</a:t>
            </a:r>
            <a:r>
              <a:rPr lang="en-GB" dirty="0"/>
              <a:t> file and create two new variables for the popcorn images, and another for rating as highlighted below.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E37158-58E9-487B-B6D3-55B8E42D9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692"/>
          <a:stretch/>
        </p:blipFill>
        <p:spPr>
          <a:xfrm>
            <a:off x="1888503" y="3359232"/>
            <a:ext cx="6096000" cy="7466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Add New Comment Modal Window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2503A-F415-4F66-B799-D843C95747D8}"/>
              </a:ext>
            </a:extLst>
          </p:cNvPr>
          <p:cNvSpPr/>
          <p:nvPr/>
        </p:nvSpPr>
        <p:spPr>
          <a:xfrm>
            <a:off x="1888502" y="4218106"/>
            <a:ext cx="5937685" cy="119081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696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Creating Add New Comment Modal Window - comments.js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FBE6D-0961-4D45-A780-67EAD74D90FE}"/>
              </a:ext>
            </a:extLst>
          </p:cNvPr>
          <p:cNvSpPr txBox="1"/>
          <p:nvPr/>
        </p:nvSpPr>
        <p:spPr>
          <a:xfrm>
            <a:off x="1529823" y="2098019"/>
            <a:ext cx="7343677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1200" dirty="0">
                <a:latin typeface="Courier"/>
              </a:rPr>
              <a:t> </a:t>
            </a:r>
            <a:r>
              <a:rPr lang="en-SG" sz="1200" dirty="0" err="1">
                <a:latin typeface="Courier"/>
              </a:rPr>
              <a:t>newComment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solidFill>
                  <a:schemeClr val="accent5"/>
                </a:solidFill>
                <a:latin typeface="Courier"/>
              </a:rPr>
              <a:t>//Initialise each HTML input elements in the modal window with default value.</a:t>
            </a:r>
          </a:p>
          <a:p>
            <a:r>
              <a:rPr lang="en-SG" sz="1200" dirty="0">
                <a:latin typeface="Courier"/>
              </a:rPr>
              <a:t>    rating = </a:t>
            </a:r>
            <a:r>
              <a:rPr lang="en-SG" sz="1200" dirty="0">
                <a:solidFill>
                  <a:schemeClr val="accent5"/>
                </a:solidFill>
                <a:latin typeface="Courier"/>
              </a:rPr>
              <a:t>0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 err="1">
                <a:solidFill>
                  <a:srgbClr val="C00000"/>
                </a:solidFill>
                <a:latin typeface="Courier"/>
              </a:rPr>
              <a:t>userComments</a:t>
            </a:r>
            <a:r>
              <a:rPr lang="en-SG" sz="1200" dirty="0">
                <a:latin typeface="Courier"/>
              </a:rPr>
              <a:t>").value = "";</a:t>
            </a:r>
          </a:p>
          <a:p>
            <a:r>
              <a:rPr lang="en-SG" sz="1200" dirty="0">
                <a:latin typeface="Courier"/>
              </a:rPr>
              <a:t>    </a:t>
            </a:r>
            <a:r>
              <a:rPr lang="en-SG" sz="1200" dirty="0" err="1">
                <a:latin typeface="Courier"/>
              </a:rPr>
              <a:t>document.getElementById</a:t>
            </a:r>
            <a:r>
              <a:rPr lang="en-SG" sz="1200" dirty="0">
                <a:latin typeface="Courier"/>
              </a:rPr>
              <a:t>("</a:t>
            </a:r>
            <a:r>
              <a:rPr lang="en-SG" sz="1200" dirty="0">
                <a:solidFill>
                  <a:srgbClr val="C00000"/>
                </a:solidFill>
                <a:latin typeface="Courier"/>
              </a:rPr>
              <a:t>nickname</a:t>
            </a:r>
            <a:r>
              <a:rPr lang="en-SG" sz="1200" dirty="0">
                <a:latin typeface="Courier"/>
              </a:rPr>
              <a:t>").value = "";</a:t>
            </a:r>
          </a:p>
          <a:p>
            <a:r>
              <a:rPr lang="en-SG" sz="1200" dirty="0">
                <a:latin typeface="Courier"/>
              </a:rPr>
              <a:t>}</a:t>
            </a:r>
          </a:p>
        </p:txBody>
      </p:sp>
      <p:sp>
        <p:nvSpPr>
          <p:cNvPr id="8" name="Rectangular Callout 21">
            <a:extLst>
              <a:ext uri="{FF2B5EF4-FFF2-40B4-BE49-F238E27FC236}">
                <a16:creationId xmlns:a16="http://schemas.microsoft.com/office/drawing/2014/main" id="{C117371C-80EC-4475-9846-0E8C6EB7C65C}"/>
              </a:ext>
            </a:extLst>
          </p:cNvPr>
          <p:cNvSpPr/>
          <p:nvPr/>
        </p:nvSpPr>
        <p:spPr>
          <a:xfrm>
            <a:off x="3557720" y="4589354"/>
            <a:ext cx="6735650" cy="724745"/>
          </a:xfrm>
          <a:prstGeom prst="wedgeRectCallout">
            <a:avLst>
              <a:gd name="adj1" fmla="val -45543"/>
              <a:gd name="adj2" fmla="val -240934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The purpose of this function is to clear out any (old) existing comments that had been written by the user. </a:t>
            </a:r>
          </a:p>
        </p:txBody>
      </p:sp>
    </p:spTree>
    <p:extLst>
      <p:ext uri="{BB962C8B-B14F-4D97-AF65-F5344CB8AC3E}">
        <p14:creationId xmlns:p14="http://schemas.microsoft.com/office/powerpoint/2010/main" val="55759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Creating Add New Comment Modal Window - comments.js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A6548-63B0-41D1-A8ED-F2A1381385C7}"/>
              </a:ext>
            </a:extLst>
          </p:cNvPr>
          <p:cNvSpPr txBox="1"/>
          <p:nvPr/>
        </p:nvSpPr>
        <p:spPr>
          <a:xfrm>
            <a:off x="1017638" y="1689712"/>
            <a:ext cx="9954969" cy="38164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100" dirty="0">
                <a:solidFill>
                  <a:schemeClr val="accent5"/>
                </a:solidFill>
                <a:latin typeface="Courier"/>
              </a:rPr>
              <a:t>// Submit or send the new comment to the server to be added.</a:t>
            </a:r>
          </a:p>
          <a:p>
            <a:r>
              <a:rPr lang="en-SG" sz="11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100" dirty="0">
                <a:latin typeface="Courier"/>
              </a:rPr>
              <a:t> </a:t>
            </a:r>
            <a:r>
              <a:rPr lang="en-SG" sz="1100" dirty="0" err="1">
                <a:latin typeface="Courier"/>
              </a:rPr>
              <a:t>addComment</a:t>
            </a:r>
            <a:r>
              <a:rPr lang="en-SG" sz="1100" dirty="0">
                <a:latin typeface="Courier"/>
              </a:rPr>
              <a:t>() {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100" dirty="0">
                <a:latin typeface="Courier"/>
              </a:rPr>
              <a:t> comment =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new</a:t>
            </a:r>
            <a:r>
              <a:rPr lang="en-SG" sz="1100" dirty="0">
                <a:latin typeface="Courier"/>
              </a:rPr>
              <a:t> Object();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comment.movieId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 err="1">
                <a:latin typeface="Courier"/>
              </a:rPr>
              <a:t>movie_array</a:t>
            </a:r>
            <a:r>
              <a:rPr lang="en-SG" sz="1100" dirty="0">
                <a:latin typeface="Courier"/>
              </a:rPr>
              <a:t>[</a:t>
            </a:r>
            <a:r>
              <a:rPr lang="en-SG" sz="1100" dirty="0" err="1">
                <a:latin typeface="Courier"/>
              </a:rPr>
              <a:t>currentIndex</a:t>
            </a:r>
            <a:r>
              <a:rPr lang="en-SG" sz="1100" dirty="0">
                <a:latin typeface="Courier"/>
              </a:rPr>
              <a:t>]._id;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Movie ID is required by server to create new comment 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comment.movie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 err="1">
                <a:latin typeface="Courier"/>
              </a:rPr>
              <a:t>movie_array</a:t>
            </a:r>
            <a:r>
              <a:rPr lang="en-SG" sz="1100" dirty="0">
                <a:latin typeface="Courier"/>
              </a:rPr>
              <a:t>[</a:t>
            </a:r>
            <a:r>
              <a:rPr lang="en-SG" sz="1100" dirty="0" err="1">
                <a:latin typeface="Courier"/>
              </a:rPr>
              <a:t>currentIndex</a:t>
            </a:r>
            <a:r>
              <a:rPr lang="en-SG" sz="1100" dirty="0">
                <a:latin typeface="Courier"/>
              </a:rPr>
              <a:t>].title;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Movie title is required by server to create new comment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comment.username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 err="1">
                <a:latin typeface="Courier"/>
              </a:rPr>
              <a:t>document.getElementById</a:t>
            </a:r>
            <a:r>
              <a:rPr lang="en-SG" sz="1100" dirty="0">
                <a:latin typeface="Courier"/>
              </a:rPr>
              <a:t>("</a:t>
            </a:r>
            <a:r>
              <a:rPr lang="en-SG" sz="1100" dirty="0">
                <a:solidFill>
                  <a:srgbClr val="C00000"/>
                </a:solidFill>
                <a:latin typeface="Courier"/>
              </a:rPr>
              <a:t>nickname</a:t>
            </a:r>
            <a:r>
              <a:rPr lang="en-SG" sz="1100" dirty="0">
                <a:latin typeface="Courier"/>
              </a:rPr>
              <a:t>").value;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Value from HTML input text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comment.review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 err="1">
                <a:latin typeface="Courier"/>
              </a:rPr>
              <a:t>document.getElementById</a:t>
            </a:r>
            <a:r>
              <a:rPr lang="en-SG" sz="1100" dirty="0">
                <a:latin typeface="Courier"/>
              </a:rPr>
              <a:t>("</a:t>
            </a:r>
            <a:r>
              <a:rPr lang="en-SG" sz="1100" dirty="0" err="1">
                <a:solidFill>
                  <a:srgbClr val="C00000"/>
                </a:solidFill>
                <a:latin typeface="Courier"/>
              </a:rPr>
              <a:t>userComments</a:t>
            </a:r>
            <a:r>
              <a:rPr lang="en-SG" sz="1100" dirty="0">
                <a:latin typeface="Courier"/>
              </a:rPr>
              <a:t>").value;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Value from HTML input text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comment.datePosted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null</a:t>
            </a:r>
            <a:r>
              <a:rPr lang="en-SG" sz="1100" dirty="0">
                <a:latin typeface="Courier"/>
              </a:rPr>
              <a:t>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Change the </a:t>
            </a:r>
            <a:r>
              <a:rPr lang="en-SG" sz="1100" dirty="0" err="1">
                <a:solidFill>
                  <a:schemeClr val="accent5"/>
                </a:solidFill>
                <a:latin typeface="Courier"/>
              </a:rPr>
              <a:t>datePosted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 to null instead of taking the timestamp on the client side;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comment.rating</a:t>
            </a:r>
            <a:r>
              <a:rPr lang="en-SG" sz="1100" dirty="0">
                <a:latin typeface="Courier"/>
              </a:rPr>
              <a:t> = rating;</a:t>
            </a:r>
          </a:p>
          <a:p>
            <a:endParaRPr lang="en-SG" sz="1100" dirty="0">
              <a:latin typeface="Courier"/>
            </a:endParaRP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var</a:t>
            </a:r>
            <a:r>
              <a:rPr lang="en-SG" sz="1100" dirty="0">
                <a:latin typeface="Courier"/>
              </a:rPr>
              <a:t> </a:t>
            </a:r>
            <a:r>
              <a:rPr lang="en-SG" sz="1100" dirty="0" err="1">
                <a:latin typeface="Courier"/>
              </a:rPr>
              <a:t>postComment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new</a:t>
            </a:r>
            <a:r>
              <a:rPr lang="en-SG" sz="1100" dirty="0">
                <a:latin typeface="Courier"/>
              </a:rPr>
              <a:t> </a:t>
            </a:r>
            <a:r>
              <a:rPr lang="en-SG" sz="1100" dirty="0" err="1">
                <a:latin typeface="Courier"/>
              </a:rPr>
              <a:t>XMLHttpRequest</a:t>
            </a:r>
            <a:r>
              <a:rPr lang="en-SG" sz="1100" dirty="0">
                <a:latin typeface="Courier"/>
              </a:rPr>
              <a:t>();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new </a:t>
            </a:r>
            <a:r>
              <a:rPr lang="en-SG" sz="1100" dirty="0" err="1">
                <a:solidFill>
                  <a:schemeClr val="accent5"/>
                </a:solidFill>
                <a:latin typeface="Courier"/>
              </a:rPr>
              <a:t>HttpRequest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 instance to send comment</a:t>
            </a:r>
          </a:p>
          <a:p>
            <a:endParaRPr lang="en-SG" sz="1100" dirty="0">
              <a:latin typeface="Courier"/>
            </a:endParaRP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postComment.open</a:t>
            </a:r>
            <a:r>
              <a:rPr lang="en-SG" sz="1100" dirty="0">
                <a:latin typeface="Courier"/>
              </a:rPr>
              <a:t>("POST", </a:t>
            </a:r>
            <a:r>
              <a:rPr lang="en-SG" sz="1100" dirty="0" err="1">
                <a:latin typeface="Courier"/>
              </a:rPr>
              <a:t>comment_url</a:t>
            </a:r>
            <a:r>
              <a:rPr lang="en-SG" sz="1100" dirty="0">
                <a:latin typeface="Courier"/>
              </a:rPr>
              <a:t>, true);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//Use the HTTP POST method to send data to server</a:t>
            </a:r>
          </a:p>
          <a:p>
            <a:endParaRPr lang="en-SG" sz="1100" dirty="0">
              <a:latin typeface="Courier"/>
            </a:endParaRP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postComment.setRequestHeader</a:t>
            </a:r>
            <a:r>
              <a:rPr lang="en-SG" sz="1100" dirty="0">
                <a:latin typeface="Courier"/>
              </a:rPr>
              <a:t>("</a:t>
            </a:r>
            <a:r>
              <a:rPr lang="en-SG" sz="1100" dirty="0">
                <a:solidFill>
                  <a:srgbClr val="C00000"/>
                </a:solidFill>
                <a:latin typeface="Courier"/>
              </a:rPr>
              <a:t>Content-Type</a:t>
            </a:r>
            <a:r>
              <a:rPr lang="en-SG" sz="1100" dirty="0">
                <a:latin typeface="Courier"/>
              </a:rPr>
              <a:t>", "</a:t>
            </a:r>
            <a:r>
              <a:rPr lang="en-SG" sz="1100" dirty="0">
                <a:solidFill>
                  <a:srgbClr val="C00000"/>
                </a:solidFill>
                <a:latin typeface="Courier"/>
              </a:rPr>
              <a:t>application/json</a:t>
            </a:r>
            <a:r>
              <a:rPr lang="en-SG" sz="1100" dirty="0">
                <a:latin typeface="Courier"/>
              </a:rPr>
              <a:t>");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postComment.onload</a:t>
            </a:r>
            <a:r>
              <a:rPr lang="en-SG" sz="1100" dirty="0">
                <a:latin typeface="Courier"/>
              </a:rPr>
              <a:t> = </a:t>
            </a:r>
            <a:r>
              <a:rPr lang="en-SG" sz="1100" dirty="0">
                <a:solidFill>
                  <a:srgbClr val="0070C0"/>
                </a:solidFill>
                <a:latin typeface="Courier"/>
              </a:rPr>
              <a:t>function</a:t>
            </a:r>
            <a:r>
              <a:rPr lang="en-SG" sz="1100" dirty="0">
                <a:latin typeface="Courier"/>
              </a:rPr>
              <a:t>() {</a:t>
            </a:r>
          </a:p>
          <a:p>
            <a:r>
              <a:rPr lang="en-SG" sz="1100" dirty="0">
                <a:latin typeface="Courier"/>
              </a:rPr>
              <a:t>        	console.log("</a:t>
            </a:r>
            <a:r>
              <a:rPr lang="en-SG" sz="1100" dirty="0">
                <a:solidFill>
                  <a:srgbClr val="C00000"/>
                </a:solidFill>
                <a:latin typeface="Courier"/>
              </a:rPr>
              <a:t>new comment sent</a:t>
            </a:r>
            <a:r>
              <a:rPr lang="en-SG" sz="1100" dirty="0">
                <a:latin typeface="Courier"/>
              </a:rPr>
              <a:t>");</a:t>
            </a:r>
          </a:p>
          <a:p>
            <a:r>
              <a:rPr lang="en-SG" sz="1100" dirty="0">
                <a:latin typeface="Courier"/>
              </a:rPr>
              <a:t>	</a:t>
            </a:r>
            <a:r>
              <a:rPr lang="en-SG" sz="1100" dirty="0" err="1">
                <a:latin typeface="Courier"/>
              </a:rPr>
              <a:t>fetchComments</a:t>
            </a:r>
            <a:r>
              <a:rPr lang="en-SG" sz="1100" dirty="0">
                <a:latin typeface="Courier"/>
              </a:rPr>
              <a:t>(); </a:t>
            </a:r>
            <a:r>
              <a:rPr lang="en-SG" sz="1100" dirty="0">
                <a:solidFill>
                  <a:schemeClr val="accent5"/>
                </a:solidFill>
                <a:latin typeface="Courier"/>
              </a:rPr>
              <a:t>// fetch all comments again so that the web page can have updated comments.     </a:t>
            </a:r>
          </a:p>
          <a:p>
            <a:r>
              <a:rPr lang="en-SG" sz="1100" dirty="0">
                <a:latin typeface="Courier"/>
              </a:rPr>
              <a:t>    };</a:t>
            </a:r>
          </a:p>
          <a:p>
            <a:r>
              <a:rPr lang="en-SG" sz="1100" dirty="0">
                <a:solidFill>
                  <a:schemeClr val="accent5"/>
                </a:solidFill>
                <a:latin typeface="Courier"/>
              </a:rPr>
              <a:t>// Convert the data in Comment object to JSON format before sending to the server.</a:t>
            </a:r>
          </a:p>
          <a:p>
            <a:r>
              <a:rPr lang="en-SG" sz="1100" dirty="0">
                <a:latin typeface="Courier"/>
              </a:rPr>
              <a:t>    </a:t>
            </a:r>
            <a:r>
              <a:rPr lang="en-SG" sz="1100" dirty="0" err="1">
                <a:latin typeface="Courier"/>
              </a:rPr>
              <a:t>postComment.send</a:t>
            </a:r>
            <a:r>
              <a:rPr lang="en-SG" sz="1100" dirty="0">
                <a:latin typeface="Courier"/>
              </a:rPr>
              <a:t>(</a:t>
            </a:r>
            <a:r>
              <a:rPr lang="en-SG" sz="1100" dirty="0" err="1">
                <a:latin typeface="Courier"/>
              </a:rPr>
              <a:t>JSON.stringify</a:t>
            </a:r>
            <a:r>
              <a:rPr lang="en-SG" sz="1100" dirty="0">
                <a:latin typeface="Courier"/>
              </a:rPr>
              <a:t>(comment)); </a:t>
            </a:r>
            <a:endParaRPr lang="en-SG" sz="1100" dirty="0">
              <a:solidFill>
                <a:schemeClr val="accent5"/>
              </a:solidFill>
              <a:latin typeface="Courier"/>
            </a:endParaRPr>
          </a:p>
          <a:p>
            <a:r>
              <a:rPr lang="en-SG" sz="1100" dirty="0"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897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ADA0C5-0AFD-4FCF-B2B2-8704A44A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88141"/>
            <a:ext cx="8469469" cy="4654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Add New Comments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12</a:t>
            </a:fld>
            <a:endParaRPr lang="en-US"/>
          </a:p>
        </p:txBody>
      </p:sp>
      <p:sp>
        <p:nvSpPr>
          <p:cNvPr id="10" name="Rectangular Callout 21">
            <a:extLst>
              <a:ext uri="{FF2B5EF4-FFF2-40B4-BE49-F238E27FC236}">
                <a16:creationId xmlns:a16="http://schemas.microsoft.com/office/drawing/2014/main" id="{D5AEF5DE-BD90-4E32-9F90-4A6B9280918A}"/>
              </a:ext>
            </a:extLst>
          </p:cNvPr>
          <p:cNvSpPr/>
          <p:nvPr/>
        </p:nvSpPr>
        <p:spPr>
          <a:xfrm>
            <a:off x="4185250" y="3733801"/>
            <a:ext cx="6735650" cy="1356182"/>
          </a:xfrm>
          <a:prstGeom prst="wedgeRectCallout">
            <a:avLst>
              <a:gd name="adj1" fmla="val -94188"/>
              <a:gd name="adj2" fmla="val 8982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Test the codes that were added and you should see the console message. Check </a:t>
            </a:r>
            <a:r>
              <a:rPr lang="en-GB" sz="1400" dirty="0" err="1">
                <a:latin typeface="Arial Unicode MS" charset="0"/>
                <a:ea typeface="Arial Unicode MS" charset="0"/>
                <a:cs typeface="Arial Unicode MS" charset="0"/>
              </a:rPr>
              <a:t>mysql</a:t>
            </a:r>
            <a:r>
              <a:rPr lang="en-GB" sz="1400" dirty="0">
                <a:latin typeface="Arial Unicode MS" charset="0"/>
                <a:ea typeface="Arial Unicode MS" charset="0"/>
                <a:cs typeface="Arial Unicode MS" charset="0"/>
              </a:rPr>
              <a:t> workbench or postman to verify that one new comment had indeed been inserted. However the rating value is always zero. We will work on this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067924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Creating Add New Comment Modal Window - comments.js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5C65A-AC44-4BEA-B218-B49E6AC5CBFE}"/>
              </a:ext>
            </a:extLst>
          </p:cNvPr>
          <p:cNvSpPr txBox="1"/>
          <p:nvPr/>
        </p:nvSpPr>
        <p:spPr>
          <a:xfrm>
            <a:off x="238628" y="1437777"/>
            <a:ext cx="5285421" cy="21698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900" dirty="0">
                <a:solidFill>
                  <a:schemeClr val="accent5"/>
                </a:solidFill>
                <a:latin typeface="Courier"/>
              </a:rPr>
              <a:t>//This function allows the user to mouse hover the black and white popcorn</a:t>
            </a:r>
          </a:p>
          <a:p>
            <a:r>
              <a:rPr lang="en-SG" sz="900" dirty="0">
                <a:solidFill>
                  <a:schemeClr val="accent5"/>
                </a:solidFill>
                <a:latin typeface="Courier"/>
              </a:rPr>
              <a:t>//so that it will turn to a </a:t>
            </a:r>
            <a:r>
              <a:rPr lang="en-SG" sz="900" dirty="0" err="1">
                <a:solidFill>
                  <a:schemeClr val="accent5"/>
                </a:solidFill>
                <a:latin typeface="Courier"/>
              </a:rPr>
              <a:t>colored</a:t>
            </a:r>
            <a:r>
              <a:rPr lang="en-SG" sz="900" dirty="0">
                <a:solidFill>
                  <a:schemeClr val="accent5"/>
                </a:solidFill>
                <a:latin typeface="Courier"/>
              </a:rPr>
              <a:t> version when hovered</a:t>
            </a:r>
          </a:p>
          <a:p>
            <a:r>
              <a:rPr lang="en-SG" sz="900" dirty="0">
                <a:solidFill>
                  <a:schemeClr val="accent2"/>
                </a:solidFill>
                <a:latin typeface="Courier"/>
              </a:rPr>
              <a:t>function</a:t>
            </a:r>
            <a:r>
              <a:rPr lang="en-SG" sz="900" dirty="0">
                <a:latin typeface="Courier"/>
              </a:rPr>
              <a:t> </a:t>
            </a:r>
            <a:r>
              <a:rPr lang="en-SG" sz="900" dirty="0" err="1">
                <a:latin typeface="Courier"/>
              </a:rPr>
              <a:t>rateIt</a:t>
            </a:r>
            <a:r>
              <a:rPr lang="en-SG" sz="900" dirty="0">
                <a:latin typeface="Courier"/>
              </a:rPr>
              <a:t>(element) {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var</a:t>
            </a:r>
            <a:r>
              <a:rPr lang="en-SG" sz="900" dirty="0">
                <a:latin typeface="Courier"/>
              </a:rPr>
              <a:t> </a:t>
            </a:r>
            <a:r>
              <a:rPr lang="en-SG" sz="900" dirty="0" err="1">
                <a:latin typeface="Courier"/>
              </a:rPr>
              <a:t>num</a:t>
            </a:r>
            <a:r>
              <a:rPr lang="en-SG" sz="900" dirty="0">
                <a:latin typeface="Courier"/>
              </a:rPr>
              <a:t> = </a:t>
            </a:r>
            <a:r>
              <a:rPr lang="en-SG" sz="900" dirty="0" err="1">
                <a:latin typeface="Courier"/>
              </a:rPr>
              <a:t>element.getAttribute</a:t>
            </a:r>
            <a:r>
              <a:rPr lang="en-SG" sz="900" dirty="0">
                <a:latin typeface="Courier"/>
              </a:rPr>
              <a:t>("</a:t>
            </a:r>
            <a:r>
              <a:rPr lang="en-SG" sz="900" dirty="0">
                <a:solidFill>
                  <a:srgbClr val="C00000"/>
                </a:solidFill>
                <a:latin typeface="Courier"/>
              </a:rPr>
              <a:t>value</a:t>
            </a:r>
            <a:r>
              <a:rPr lang="en-SG" sz="900" dirty="0">
                <a:latin typeface="Courier"/>
              </a:rPr>
              <a:t>");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var</a:t>
            </a:r>
            <a:r>
              <a:rPr lang="en-SG" sz="900" dirty="0">
                <a:latin typeface="Courier"/>
              </a:rPr>
              <a:t> </a:t>
            </a:r>
            <a:r>
              <a:rPr lang="en-SG" sz="900" dirty="0" err="1">
                <a:latin typeface="Courier"/>
              </a:rPr>
              <a:t>classname</a:t>
            </a:r>
            <a:r>
              <a:rPr lang="en-SG" sz="900" dirty="0">
                <a:latin typeface="Courier"/>
              </a:rPr>
              <a:t> = </a:t>
            </a:r>
            <a:r>
              <a:rPr lang="en-SG" sz="900" dirty="0" err="1">
                <a:latin typeface="Courier"/>
              </a:rPr>
              <a:t>element.getAttribute</a:t>
            </a:r>
            <a:r>
              <a:rPr lang="en-SG" sz="900" dirty="0">
                <a:latin typeface="Courier"/>
              </a:rPr>
              <a:t>("</a:t>
            </a:r>
            <a:r>
              <a:rPr lang="en-SG" sz="900" dirty="0">
                <a:solidFill>
                  <a:srgbClr val="C00000"/>
                </a:solidFill>
                <a:latin typeface="Courier"/>
              </a:rPr>
              <a:t>class</a:t>
            </a:r>
            <a:r>
              <a:rPr lang="en-SG" sz="900" dirty="0">
                <a:latin typeface="Courier"/>
              </a:rPr>
              <a:t>");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var</a:t>
            </a:r>
            <a:r>
              <a:rPr lang="en-SG" sz="900" dirty="0">
                <a:latin typeface="Courier"/>
              </a:rPr>
              <a:t> popcorns = </a:t>
            </a:r>
            <a:r>
              <a:rPr lang="en-SG" sz="900" dirty="0" err="1">
                <a:latin typeface="Courier"/>
              </a:rPr>
              <a:t>document.getElementsByClassName</a:t>
            </a:r>
            <a:r>
              <a:rPr lang="en-SG" sz="900" dirty="0">
                <a:latin typeface="Courier"/>
              </a:rPr>
              <a:t>(</a:t>
            </a:r>
            <a:r>
              <a:rPr lang="en-SG" sz="900" dirty="0" err="1">
                <a:latin typeface="Courier"/>
              </a:rPr>
              <a:t>classname</a:t>
            </a:r>
            <a:r>
              <a:rPr lang="en-SG" sz="900" dirty="0">
                <a:latin typeface="Courier"/>
              </a:rPr>
              <a:t>);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var</a:t>
            </a:r>
            <a:r>
              <a:rPr lang="en-SG" sz="900" dirty="0">
                <a:latin typeface="Courier"/>
              </a:rPr>
              <a:t> </a:t>
            </a:r>
            <a:r>
              <a:rPr lang="en-SG" sz="900" dirty="0" err="1">
                <a:latin typeface="Courier"/>
              </a:rPr>
              <a:t>classTarget</a:t>
            </a:r>
            <a:r>
              <a:rPr lang="en-SG" sz="900" dirty="0">
                <a:latin typeface="Courier"/>
              </a:rPr>
              <a:t> = </a:t>
            </a:r>
            <a:r>
              <a:rPr lang="en-SG" sz="900" dirty="0">
                <a:solidFill>
                  <a:srgbClr val="C00000"/>
                </a:solidFill>
                <a:latin typeface="Courier"/>
              </a:rPr>
              <a:t>"."</a:t>
            </a:r>
            <a:r>
              <a:rPr lang="en-SG" sz="900" dirty="0">
                <a:latin typeface="Courier"/>
              </a:rPr>
              <a:t> + </a:t>
            </a:r>
            <a:r>
              <a:rPr lang="en-SG" sz="900" dirty="0" err="1">
                <a:latin typeface="Courier"/>
              </a:rPr>
              <a:t>classname</a:t>
            </a:r>
            <a:r>
              <a:rPr lang="en-SG" sz="900" dirty="0">
                <a:latin typeface="Courier"/>
              </a:rPr>
              <a:t>;</a:t>
            </a:r>
          </a:p>
          <a:p>
            <a:endParaRPr lang="en-SG" sz="900" dirty="0">
              <a:solidFill>
                <a:schemeClr val="accent5"/>
              </a:solidFill>
              <a:latin typeface="Courier"/>
            </a:endParaRPr>
          </a:p>
          <a:p>
            <a:r>
              <a:rPr lang="en-SG" sz="900" dirty="0">
                <a:solidFill>
                  <a:schemeClr val="accent5"/>
                </a:solidFill>
                <a:latin typeface="Courier"/>
              </a:rPr>
              <a:t>    // This is another way of writing 'for' loop, which initialises the </a:t>
            </a:r>
          </a:p>
          <a:p>
            <a:r>
              <a:rPr lang="en-SG" sz="900" dirty="0">
                <a:solidFill>
                  <a:schemeClr val="accent5"/>
                </a:solidFill>
                <a:latin typeface="Courier"/>
              </a:rPr>
              <a:t>    // popcorn images to use black and white.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for</a:t>
            </a:r>
            <a:r>
              <a:rPr lang="en-SG" sz="900" dirty="0">
                <a:latin typeface="Courier"/>
              </a:rPr>
              <a:t> (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let</a:t>
            </a:r>
            <a:r>
              <a:rPr lang="en-SG" sz="900" dirty="0">
                <a:latin typeface="Courier"/>
              </a:rPr>
              <a:t> popcorn </a:t>
            </a:r>
            <a:r>
              <a:rPr lang="en-SG" sz="900" dirty="0">
                <a:solidFill>
                  <a:schemeClr val="accent2"/>
                </a:solidFill>
                <a:latin typeface="Courier"/>
              </a:rPr>
              <a:t>of</a:t>
            </a:r>
            <a:r>
              <a:rPr lang="en-SG" sz="900" dirty="0">
                <a:latin typeface="Courier"/>
              </a:rPr>
              <a:t> popcorns){</a:t>
            </a:r>
          </a:p>
          <a:p>
            <a:r>
              <a:rPr lang="en-SG" sz="900" dirty="0">
                <a:latin typeface="Courier"/>
              </a:rPr>
              <a:t>        </a:t>
            </a:r>
            <a:r>
              <a:rPr lang="en-SG" sz="900" dirty="0" err="1">
                <a:latin typeface="Courier"/>
              </a:rPr>
              <a:t>popcorn.setAttribute</a:t>
            </a:r>
            <a:r>
              <a:rPr lang="en-SG" sz="900" dirty="0">
                <a:latin typeface="Courier"/>
              </a:rPr>
              <a:t>("</a:t>
            </a:r>
            <a:r>
              <a:rPr lang="en-SG" sz="9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900" dirty="0">
                <a:latin typeface="Courier"/>
              </a:rPr>
              <a:t>", </a:t>
            </a:r>
            <a:r>
              <a:rPr lang="en-SG" sz="900" dirty="0" err="1">
                <a:latin typeface="Courier"/>
              </a:rPr>
              <a:t>popcornBWImage</a:t>
            </a:r>
            <a:r>
              <a:rPr lang="en-SG" sz="900" dirty="0">
                <a:latin typeface="Courier"/>
              </a:rPr>
              <a:t>);</a:t>
            </a:r>
          </a:p>
          <a:p>
            <a:r>
              <a:rPr lang="en-SG" sz="900" dirty="0">
                <a:latin typeface="Courier"/>
              </a:rPr>
              <a:t>    }</a:t>
            </a:r>
          </a:p>
          <a:p>
            <a:r>
              <a:rPr lang="en-SG" sz="900" dirty="0">
                <a:latin typeface="Courier"/>
              </a:rPr>
              <a:t>    </a:t>
            </a:r>
            <a:r>
              <a:rPr lang="en-SG" sz="900" dirty="0" err="1">
                <a:latin typeface="Courier"/>
              </a:rPr>
              <a:t>changePopcornImage</a:t>
            </a:r>
            <a:r>
              <a:rPr lang="en-SG" sz="900" dirty="0">
                <a:latin typeface="Courier"/>
              </a:rPr>
              <a:t>(</a:t>
            </a:r>
            <a:r>
              <a:rPr lang="en-SG" sz="900" dirty="0" err="1">
                <a:latin typeface="Courier"/>
              </a:rPr>
              <a:t>num</a:t>
            </a:r>
            <a:r>
              <a:rPr lang="en-SG" sz="900" dirty="0">
                <a:latin typeface="Courier"/>
              </a:rPr>
              <a:t>, </a:t>
            </a:r>
            <a:r>
              <a:rPr lang="en-SG" sz="900" dirty="0" err="1">
                <a:latin typeface="Courier"/>
              </a:rPr>
              <a:t>classTarget</a:t>
            </a:r>
            <a:r>
              <a:rPr lang="en-SG" sz="900" dirty="0">
                <a:latin typeface="Courier"/>
              </a:rPr>
              <a:t>);</a:t>
            </a:r>
          </a:p>
          <a:p>
            <a:r>
              <a:rPr lang="en-SG" sz="900" dirty="0">
                <a:latin typeface="Courier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0B8FE-68D2-40A4-8047-BA9C0825056F}"/>
              </a:ext>
            </a:extLst>
          </p:cNvPr>
          <p:cNvSpPr txBox="1"/>
          <p:nvPr/>
        </p:nvSpPr>
        <p:spPr>
          <a:xfrm>
            <a:off x="5647765" y="1423272"/>
            <a:ext cx="6305607" cy="45243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800" dirty="0">
                <a:solidFill>
                  <a:schemeClr val="accent5"/>
                </a:solidFill>
                <a:latin typeface="Courier"/>
              </a:rPr>
              <a:t>// This function sets the rating and coloured images based on the value of the image tag when  </a:t>
            </a:r>
          </a:p>
          <a:p>
            <a:r>
              <a:rPr lang="en-SG" sz="800" dirty="0">
                <a:solidFill>
                  <a:schemeClr val="accent5"/>
                </a:solidFill>
                <a:latin typeface="Courier"/>
              </a:rPr>
              <a:t>// the mouse cursor hovers over the popcorn image.</a:t>
            </a:r>
          </a:p>
          <a:p>
            <a:r>
              <a:rPr lang="en-SG" sz="800" dirty="0">
                <a:solidFill>
                  <a:srgbClr val="007DDA"/>
                </a:solidFill>
                <a:latin typeface="Courier"/>
              </a:rPr>
              <a:t>function</a:t>
            </a:r>
            <a:r>
              <a:rPr lang="en-SG" sz="800" dirty="0">
                <a:latin typeface="Courier"/>
              </a:rPr>
              <a:t> </a:t>
            </a:r>
            <a:r>
              <a:rPr lang="en-SG" sz="800" dirty="0" err="1">
                <a:latin typeface="Courier"/>
              </a:rPr>
              <a:t>changePopcornImage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num</a:t>
            </a:r>
            <a:r>
              <a:rPr lang="en-SG" sz="800" dirty="0">
                <a:latin typeface="Courier"/>
              </a:rPr>
              <a:t>, 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) {</a:t>
            </a:r>
          </a:p>
          <a:p>
            <a:r>
              <a:rPr lang="en-SG" sz="800" dirty="0">
                <a:latin typeface="Courier"/>
              </a:rPr>
              <a:t>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switch</a:t>
            </a:r>
            <a:r>
              <a:rPr lang="en-SG" sz="800" dirty="0">
                <a:latin typeface="Courier"/>
              </a:rPr>
              <a:t> (eval(</a:t>
            </a:r>
            <a:r>
              <a:rPr lang="en-SG" sz="800" dirty="0" err="1">
                <a:latin typeface="Courier"/>
              </a:rPr>
              <a:t>num</a:t>
            </a:r>
            <a:r>
              <a:rPr lang="en-SG" sz="800" dirty="0">
                <a:latin typeface="Courier"/>
              </a:rPr>
              <a:t>)) {</a:t>
            </a:r>
          </a:p>
          <a:p>
            <a:r>
              <a:rPr lang="en-SG" sz="800" dirty="0">
                <a:latin typeface="Courier"/>
              </a:rPr>
              <a:t>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case</a:t>
            </a:r>
            <a:r>
              <a:rPr lang="en-SG" sz="800" dirty="0">
                <a:latin typeface="Courier"/>
              </a:rPr>
              <a:t> 1: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"[value='1']"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rating = 1;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break</a:t>
            </a:r>
            <a:r>
              <a:rPr lang="en-SG" sz="800" dirty="0">
                <a:latin typeface="Courier"/>
              </a:rPr>
              <a:t>;</a:t>
            </a:r>
          </a:p>
          <a:p>
            <a:r>
              <a:rPr lang="en-SG" sz="800" dirty="0">
                <a:latin typeface="Courier"/>
              </a:rPr>
              <a:t>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case</a:t>
            </a:r>
            <a:r>
              <a:rPr lang="en-SG" sz="800" dirty="0">
                <a:latin typeface="Courier"/>
              </a:rPr>
              <a:t> 2: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"[value='1']"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"[value='2']"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rating = 2;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break</a:t>
            </a:r>
            <a:r>
              <a:rPr lang="en-SG" sz="800" dirty="0">
                <a:latin typeface="Courier"/>
              </a:rPr>
              <a:t>;</a:t>
            </a:r>
          </a:p>
          <a:p>
            <a:r>
              <a:rPr lang="en-SG" sz="800" dirty="0">
                <a:latin typeface="Courier"/>
              </a:rPr>
              <a:t>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case</a:t>
            </a:r>
            <a:r>
              <a:rPr lang="en-SG" sz="800" dirty="0">
                <a:latin typeface="Courier"/>
              </a:rPr>
              <a:t> 3: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"[value='1']"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"[value='2']"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"[value='3']"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rating = 3;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break</a:t>
            </a:r>
            <a:r>
              <a:rPr lang="en-SG" sz="800" dirty="0">
                <a:latin typeface="Courier"/>
              </a:rPr>
              <a:t>;</a:t>
            </a:r>
          </a:p>
          <a:p>
            <a:r>
              <a:rPr lang="en-SG" sz="800" dirty="0">
                <a:latin typeface="Courier"/>
              </a:rPr>
              <a:t>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case</a:t>
            </a:r>
            <a:r>
              <a:rPr lang="en-SG" sz="800" dirty="0">
                <a:latin typeface="Courier"/>
              </a:rPr>
              <a:t> 4: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"[value='1']"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"[value='2']"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"[value='3']"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"[value='4']"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rating = 4;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break</a:t>
            </a:r>
            <a:r>
              <a:rPr lang="en-SG" sz="800" dirty="0">
                <a:latin typeface="Courier"/>
              </a:rPr>
              <a:t>;</a:t>
            </a:r>
          </a:p>
          <a:p>
            <a:r>
              <a:rPr lang="en-SG" sz="800" dirty="0">
                <a:latin typeface="Courier"/>
              </a:rPr>
              <a:t>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case</a:t>
            </a:r>
            <a:r>
              <a:rPr lang="en-SG" sz="800" dirty="0">
                <a:latin typeface="Courier"/>
              </a:rPr>
              <a:t> 5: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"[value='1']"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"[value='2']"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"[value='3']"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"[value='4']"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 err="1">
                <a:latin typeface="Courier"/>
              </a:rPr>
              <a:t>document.querySelector</a:t>
            </a:r>
            <a:r>
              <a:rPr lang="en-SG" sz="800" dirty="0">
                <a:latin typeface="Courier"/>
              </a:rPr>
              <a:t>(</a:t>
            </a:r>
            <a:r>
              <a:rPr lang="en-SG" sz="800" dirty="0" err="1">
                <a:latin typeface="Courier"/>
              </a:rPr>
              <a:t>classTarget</a:t>
            </a:r>
            <a:r>
              <a:rPr lang="en-SG" sz="800" dirty="0">
                <a:latin typeface="Courier"/>
              </a:rPr>
              <a:t> + </a:t>
            </a:r>
            <a:r>
              <a:rPr lang="en-SG" sz="800" dirty="0">
                <a:solidFill>
                  <a:srgbClr val="C00000"/>
                </a:solidFill>
                <a:latin typeface="Courier"/>
              </a:rPr>
              <a:t>"[value='5']"</a:t>
            </a:r>
            <a:r>
              <a:rPr lang="en-SG" sz="800" dirty="0">
                <a:latin typeface="Courier"/>
              </a:rPr>
              <a:t>).</a:t>
            </a:r>
            <a:r>
              <a:rPr lang="en-SG" sz="800" dirty="0" err="1">
                <a:latin typeface="Courier"/>
              </a:rPr>
              <a:t>setAttribute</a:t>
            </a:r>
            <a:r>
              <a:rPr lang="en-SG" sz="800" dirty="0">
                <a:latin typeface="Courier"/>
              </a:rPr>
              <a:t>("</a:t>
            </a:r>
            <a:r>
              <a:rPr lang="en-SG" sz="800" dirty="0" err="1">
                <a:solidFill>
                  <a:srgbClr val="C00000"/>
                </a:solidFill>
                <a:latin typeface="Courier"/>
              </a:rPr>
              <a:t>src</a:t>
            </a:r>
            <a:r>
              <a:rPr lang="en-SG" sz="800" dirty="0">
                <a:latin typeface="Courier"/>
              </a:rPr>
              <a:t>", </a:t>
            </a:r>
            <a:r>
              <a:rPr lang="en-SG" sz="800" dirty="0" err="1">
                <a:latin typeface="Courier"/>
              </a:rPr>
              <a:t>popcornImage</a:t>
            </a:r>
            <a:r>
              <a:rPr lang="en-SG" sz="800" dirty="0">
                <a:latin typeface="Courier"/>
              </a:rPr>
              <a:t>);</a:t>
            </a:r>
          </a:p>
          <a:p>
            <a:r>
              <a:rPr lang="en-SG" sz="800" dirty="0">
                <a:latin typeface="Courier"/>
              </a:rPr>
              <a:t>            rating = 5;</a:t>
            </a:r>
          </a:p>
          <a:p>
            <a:r>
              <a:rPr lang="en-SG" sz="800" dirty="0">
                <a:latin typeface="Courier"/>
              </a:rPr>
              <a:t>            </a:t>
            </a:r>
            <a:r>
              <a:rPr lang="en-SG" sz="800" dirty="0">
                <a:solidFill>
                  <a:srgbClr val="007DDA"/>
                </a:solidFill>
                <a:latin typeface="Courier"/>
              </a:rPr>
              <a:t>break</a:t>
            </a:r>
            <a:r>
              <a:rPr lang="en-SG" sz="800" dirty="0">
                <a:latin typeface="Courier"/>
              </a:rPr>
              <a:t>;</a:t>
            </a:r>
          </a:p>
          <a:p>
            <a:r>
              <a:rPr lang="en-SG" sz="800" dirty="0">
                <a:latin typeface="Courier"/>
              </a:rPr>
              <a:t>    }</a:t>
            </a:r>
          </a:p>
          <a:p>
            <a:r>
              <a:rPr lang="en-SG" sz="800" dirty="0"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778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3F9C-DDB0-4098-936A-6595AF71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the Add New Comments Modal Window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AD1C9-F1F5-40BB-808C-4284638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14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91E7C91-E0E0-4192-85E2-AAB5A7B25232}"/>
              </a:ext>
            </a:extLst>
          </p:cNvPr>
          <p:cNvSpPr txBox="1">
            <a:spLocks/>
          </p:cNvSpPr>
          <p:nvPr/>
        </p:nvSpPr>
        <p:spPr>
          <a:xfrm>
            <a:off x="1104900" y="1600201"/>
            <a:ext cx="10248899" cy="68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600" dirty="0"/>
              <a:t>Reload the </a:t>
            </a:r>
            <a:r>
              <a:rPr lang="en-GB" sz="1600" b="1" dirty="0">
                <a:solidFill>
                  <a:srgbClr val="FF0000"/>
                </a:solidFill>
                <a:latin typeface="Courier"/>
              </a:rPr>
              <a:t>index.html</a:t>
            </a:r>
            <a:r>
              <a:rPr lang="en-GB" sz="1600" dirty="0"/>
              <a:t> page and select a movie to create a new comment. After submitting the comment, wait a while and then click on the movie comments again to see if your submitted comment appears.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BB992-0E98-4564-903E-1435BD2E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3" y="2719264"/>
            <a:ext cx="5249847" cy="2357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B5A7A8-504D-4E50-AE86-552121AB3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302" y="2696674"/>
            <a:ext cx="5291330" cy="235743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AA5C931-95C4-4CE3-9A3B-715F87DFEFEB}"/>
              </a:ext>
            </a:extLst>
          </p:cNvPr>
          <p:cNvSpPr/>
          <p:nvPr/>
        </p:nvSpPr>
        <p:spPr>
          <a:xfrm>
            <a:off x="4109202" y="4265334"/>
            <a:ext cx="4196597" cy="106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6795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Episode…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In the next episode, we will build the modal windows to edit and delete comments.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7842</TotalTime>
  <Words>1732</Words>
  <Application>Microsoft Office PowerPoint</Application>
  <PresentationFormat>Widescreen</PresentationFormat>
  <Paragraphs>175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Unicode MS</vt:lpstr>
      <vt:lpstr>Calibri</vt:lpstr>
      <vt:lpstr>Consolas</vt:lpstr>
      <vt:lpstr>Courier</vt:lpstr>
      <vt:lpstr>Roboto</vt:lpstr>
      <vt:lpstr>Roboto light</vt:lpstr>
      <vt:lpstr>Verdana</vt:lpstr>
      <vt:lpstr>Office Theme</vt:lpstr>
      <vt:lpstr>Building Movie Review Website III</vt:lpstr>
      <vt:lpstr>Objectives</vt:lpstr>
      <vt:lpstr>Tools Required</vt:lpstr>
      <vt:lpstr>Creating the View…Continue</vt:lpstr>
      <vt:lpstr>Creating Add New Comment Modal Window</vt:lpstr>
      <vt:lpstr>Wireframe – Add/Update Comment</vt:lpstr>
      <vt:lpstr>Creating Add New Comment Modal Window - new-comments-modal.html</vt:lpstr>
      <vt:lpstr>Test the Add New Comments Modal Window</vt:lpstr>
      <vt:lpstr>Creating Add New Comment Modal Window</vt:lpstr>
      <vt:lpstr>Creating Add New Comment Modal Window - comments.js</vt:lpstr>
      <vt:lpstr>Creating Add New Comment Modal Window - comments.js</vt:lpstr>
      <vt:lpstr>Test the Add New Comments Modal Window</vt:lpstr>
      <vt:lpstr>Creating Add New Comment Modal Window - comments.js</vt:lpstr>
      <vt:lpstr>Test the Add New Comments Modal Window</vt:lpstr>
      <vt:lpstr>Next Episode…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Movie Review Website III</dc:title>
  <dc:subject>Coding and Testing</dc:subject>
  <dc:creator>Tan Sio Poh</dc:creator>
  <cp:keywords>CODT, CIT1C16, ADEV, CIT1C17, Building Movie Review Web Pages</cp:keywords>
  <dc:description/>
  <cp:lastModifiedBy>temasek poly</cp:lastModifiedBy>
  <cp:revision>499</cp:revision>
  <dcterms:created xsi:type="dcterms:W3CDTF">2016-03-04T00:57:19Z</dcterms:created>
  <dcterms:modified xsi:type="dcterms:W3CDTF">2021-09-24T06:23:19Z</dcterms:modified>
  <cp:category>Software Cluster</cp:category>
</cp:coreProperties>
</file>