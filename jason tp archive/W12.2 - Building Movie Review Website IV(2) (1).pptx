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89" r:id="rId3"/>
    <p:sldId id="373" r:id="rId4"/>
    <p:sldId id="402" r:id="rId5"/>
    <p:sldId id="431" r:id="rId6"/>
    <p:sldId id="458" r:id="rId7"/>
    <p:sldId id="449" r:id="rId8"/>
    <p:sldId id="433" r:id="rId9"/>
    <p:sldId id="434" r:id="rId10"/>
    <p:sldId id="451" r:id="rId11"/>
    <p:sldId id="457" r:id="rId12"/>
    <p:sldId id="436" r:id="rId13"/>
    <p:sldId id="439" r:id="rId14"/>
    <p:sldId id="438" r:id="rId15"/>
    <p:sldId id="423" r:id="rId16"/>
    <p:sldId id="288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0070C0"/>
    <a:srgbClr val="007DDA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039AC-1B0C-4A35-A421-602A4E2DD886}" v="12" dt="2018-09-28T07:10:16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7" autoAdjust="0"/>
    <p:restoredTop sz="93887" autoAdjust="0"/>
  </p:normalViewPr>
  <p:slideViewPr>
    <p:cSldViewPr snapToGrid="0">
      <p:cViewPr varScale="1">
        <p:scale>
          <a:sx n="107" d="100"/>
          <a:sy n="107" d="100"/>
        </p:scale>
        <p:origin x="94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F7A039AC-1B0C-4A35-A421-602A4E2DD886}"/>
    <pc:docChg chg="modMainMaster">
      <pc:chgData name="Lam Su Yi" userId="43bb02ba-2a64-4c57-886a-7f9577835f3c" providerId="ADAL" clId="{F7A039AC-1B0C-4A35-A421-602A4E2DD886}" dt="2018-09-28T07:10:16.812" v="11" actId="20577"/>
      <pc:docMkLst>
        <pc:docMk/>
      </pc:docMkLst>
      <pc:sldMasterChg chg="modSldLayout">
        <pc:chgData name="Lam Su Yi" userId="43bb02ba-2a64-4c57-886a-7f9577835f3c" providerId="ADAL" clId="{F7A039AC-1B0C-4A35-A421-602A4E2DD886}" dt="2018-09-28T07:10:16.812" v="11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F7A039AC-1B0C-4A35-A421-602A4E2DD886}" dt="2018-09-28T07:10:16.812" v="11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F7A039AC-1B0C-4A35-A421-602A4E2DD886}" dt="2018-09-28T01:23:22.752" v="6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F7A039AC-1B0C-4A35-A421-602A4E2DD886}" dt="2018-09-28T07:10:16.812" v="11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24/9/2021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9/24/2021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9/24/2021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bcZRYyQAQ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Building Movie Review Website IV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12.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basic architecture of a web application based on a Movie Review website;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web pages of a Movie Review website.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Node.js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View…Continue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Adding Edit Comment Modal Window - edit-comments-modal.html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31315"/>
            <a:ext cx="10336162" cy="179768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Watch the demo </a:t>
            </a:r>
            <a:r>
              <a:rPr lang="en-GB" dirty="0">
                <a:hlinkClick r:id="rId2"/>
              </a:rPr>
              <a:t>here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The Edit Comment design is rather similar to the Add New Comment modal window. The only difference is that the comment data that the user wants to edit are displayed.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77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6</a:t>
            </a:fld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AE59D-6E38-4584-869F-7A1EA1DC83DC}"/>
              </a:ext>
            </a:extLst>
          </p:cNvPr>
          <p:cNvSpPr/>
          <p:nvPr/>
        </p:nvSpPr>
        <p:spPr>
          <a:xfrm>
            <a:off x="419100" y="2545977"/>
            <a:ext cx="11353799" cy="3101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 fade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editCommentModal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tabindex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-1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dialog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modal-dialog modal-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lg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document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modal-content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modal-header 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bg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-dark text-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center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&lt;h3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modal-title text-light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Edit a Review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&lt;/h3&gt;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&lt;button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button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close 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bg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-light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&lt;span&gt;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&amp;times;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&lt;/span&gt;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&lt;/button&gt;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&lt;/div&gt;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modal-body px-5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&lt;form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commentForm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row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text-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center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 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editcommentBody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&lt;label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nickname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Nickname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&lt;/label&gt;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&lt;input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text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editnickname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form-control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required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&lt;label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userComments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Review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&lt;/label&gt;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textarea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edituserComments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required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form-control form-rounded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rows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3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cols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100%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"&gt;&lt;/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textarea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&lt;label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popcorn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Review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&lt;/label&gt;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img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images/popcorn_bw.png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editpop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1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rateIt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(this)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/&gt;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img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images/popcorn_bw.png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editpop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2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rateIt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(this)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/&gt;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img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images/popcorn_bw.png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editpop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3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rateIt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(this)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/&gt;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img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images/popcorn_bw.png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editpop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4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rateIt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(this)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/&gt;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</a:t>
            </a:r>
            <a:r>
              <a:rPr lang="en-GB" sz="1000" dirty="0" err="1">
                <a:solidFill>
                  <a:srgbClr val="993300"/>
                </a:solidFill>
                <a:latin typeface="Courier"/>
              </a:rPr>
              <a:t>img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images/popcorn_bw.png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editpop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5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rateIt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(this)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/&gt;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&lt;/div&gt;</a:t>
            </a:r>
          </a:p>
          <a:p>
            <a:endParaRPr lang="en-GB" sz="1000" dirty="0">
              <a:solidFill>
                <a:srgbClr val="993300"/>
              </a:solidFill>
              <a:latin typeface="Courier"/>
            </a:endParaRP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&lt;div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modal-footer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&lt;button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button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btn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btn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-primary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submitComment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 err="1">
                <a:solidFill>
                  <a:srgbClr val="FF0000"/>
                </a:solidFill>
                <a:latin typeface="Courier"/>
              </a:rPr>
              <a:t>onClick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updateComment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()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Submit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&lt;/button&gt;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    &lt;button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button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btn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 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btn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-secondary </a:t>
            </a:r>
            <a:r>
              <a:rPr lang="en-GB" sz="1000" dirty="0" err="1">
                <a:solidFill>
                  <a:srgbClr val="0070C0"/>
                </a:solidFill>
                <a:latin typeface="Courier"/>
              </a:rPr>
              <a:t>bg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-dark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 </a:t>
            </a:r>
            <a:r>
              <a:rPr lang="en-GB" sz="10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="</a:t>
            </a:r>
            <a:r>
              <a:rPr lang="en-GB" sz="1000" dirty="0">
                <a:solidFill>
                  <a:srgbClr val="0070C0"/>
                </a:solidFill>
                <a:latin typeface="Courier"/>
              </a:rPr>
              <a:t>modal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"&gt;</a:t>
            </a:r>
            <a:r>
              <a:rPr lang="en-GB" sz="1000" dirty="0">
                <a:solidFill>
                  <a:schemeClr val="tx1"/>
                </a:solidFill>
                <a:latin typeface="Courier"/>
              </a:rPr>
              <a:t>Close</a:t>
            </a:r>
            <a:r>
              <a:rPr lang="en-GB" sz="1000" dirty="0">
                <a:solidFill>
                  <a:srgbClr val="993300"/>
                </a:solidFill>
                <a:latin typeface="Courier"/>
              </a:rPr>
              <a:t>&lt;/button&gt;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    &lt;/div&gt;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    &lt;/form&gt;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    &lt;/div&gt;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    &lt;/div&gt;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    &lt;/div&gt;</a:t>
            </a:r>
          </a:p>
          <a:p>
            <a:r>
              <a:rPr lang="en-GB" sz="1000" dirty="0">
                <a:solidFill>
                  <a:srgbClr val="993300"/>
                </a:solidFill>
                <a:latin typeface="Courier"/>
              </a:rPr>
              <a:t>&lt;/div&gt;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139EA5-889E-46C1-8EA7-74D0B757D8D7}"/>
              </a:ext>
            </a:extLst>
          </p:cNvPr>
          <p:cNvSpPr txBox="1">
            <a:spLocks/>
          </p:cNvSpPr>
          <p:nvPr/>
        </p:nvSpPr>
        <p:spPr>
          <a:xfrm>
            <a:off x="1230197" y="390451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u="none" kern="1200">
                <a:solidFill>
                  <a:srgbClr val="0070C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dirty="0"/>
              <a:t>Adding Edit Comment Modal Window - edit-comments-modal.html</a:t>
            </a:r>
          </a:p>
        </p:txBody>
      </p:sp>
    </p:spTree>
    <p:extLst>
      <p:ext uri="{BB962C8B-B14F-4D97-AF65-F5344CB8AC3E}">
        <p14:creationId xmlns:p14="http://schemas.microsoft.com/office/powerpoint/2010/main" val="45300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Edit Comment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To create the Edit Comment feature, we also need to create three JavaScript functions: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One to open the edit comment modal window with the comment data to be edited;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One to display the number of coloured popcorn images based on the rating given by the comment;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One to submit the updated comment to the server.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00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Edit Comment Modal Window - comments.js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8</a:t>
            </a:fld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F3DA7-D486-43B9-9D0E-B89FD76A298C}"/>
              </a:ext>
            </a:extLst>
          </p:cNvPr>
          <p:cNvSpPr txBox="1"/>
          <p:nvPr/>
        </p:nvSpPr>
        <p:spPr>
          <a:xfrm>
            <a:off x="1182972" y="2131706"/>
            <a:ext cx="8552341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//This function will hide the existing modal and present a modal with the selected comment</a:t>
            </a:r>
          </a:p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//so that the user can attempt to change the username, rating or movie review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editComment</a:t>
            </a:r>
            <a:r>
              <a:rPr lang="en-SG" sz="1200" dirty="0">
                <a:latin typeface="Courier"/>
              </a:rPr>
              <a:t>(element) {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item = </a:t>
            </a:r>
            <a:r>
              <a:rPr lang="en-SG" sz="1200" dirty="0" err="1">
                <a:latin typeface="Courier"/>
              </a:rPr>
              <a:t>element.getAttribute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item</a:t>
            </a:r>
            <a:r>
              <a:rPr lang="en-SG" sz="1200" dirty="0">
                <a:latin typeface="Courier"/>
              </a:rPr>
              <a:t>");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 = item;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editnickname</a:t>
            </a:r>
            <a:r>
              <a:rPr lang="en-SG" sz="1200" dirty="0">
                <a:latin typeface="Courier"/>
              </a:rPr>
              <a:t>").value =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[item].username;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edituserComments</a:t>
            </a:r>
            <a:r>
              <a:rPr lang="en-SG" sz="1200" dirty="0">
                <a:latin typeface="Courier"/>
              </a:rPr>
              <a:t>").value =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[item].review;</a:t>
            </a:r>
          </a:p>
          <a:p>
            <a:r>
              <a:rPr lang="en-SG" sz="1200" dirty="0">
                <a:latin typeface="Courier"/>
              </a:rPr>
              <a:t>    console.log(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[item].rating);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displayColorPopcorn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'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editpop</a:t>
            </a:r>
            <a:r>
              <a:rPr lang="en-SG" sz="1200" dirty="0">
                <a:latin typeface="Courier"/>
              </a:rPr>
              <a:t>',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[item].rating);</a:t>
            </a:r>
          </a:p>
          <a:p>
            <a:r>
              <a:rPr lang="en-SG" sz="1200" dirty="0"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022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577662"/>
            <a:ext cx="10336162" cy="73196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Next, also in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comments.js</a:t>
            </a:r>
            <a:r>
              <a:rPr lang="en-GB" dirty="0"/>
              <a:t> file, add the following function to display coloured popcorn image for the rating.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9</a:t>
            </a:fld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2CD1E-FE8E-4CEC-A53B-2EB6588D8DD1}"/>
              </a:ext>
            </a:extLst>
          </p:cNvPr>
          <p:cNvSpPr txBox="1"/>
          <p:nvPr/>
        </p:nvSpPr>
        <p:spPr>
          <a:xfrm>
            <a:off x="2384981" y="2733773"/>
            <a:ext cx="5949064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//This function </a:t>
            </a:r>
            <a:r>
              <a:rPr lang="en-SG" sz="1200" dirty="0" err="1">
                <a:solidFill>
                  <a:schemeClr val="accent5"/>
                </a:solidFill>
                <a:latin typeface="Courier"/>
              </a:rPr>
              <a:t>displayS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 the correct number of </a:t>
            </a:r>
            <a:r>
              <a:rPr lang="en-SG" sz="1200" dirty="0" err="1">
                <a:solidFill>
                  <a:schemeClr val="accent5"/>
                </a:solidFill>
                <a:latin typeface="Courier"/>
              </a:rPr>
              <a:t>colored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 popcorn</a:t>
            </a:r>
          </a:p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//based on the movie rating that is given in the user comment</a:t>
            </a:r>
          </a:p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displayColorPopcorn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classname</a:t>
            </a:r>
            <a:r>
              <a:rPr lang="en-SG" sz="1200" dirty="0">
                <a:latin typeface="Courier"/>
              </a:rPr>
              <a:t>, </a:t>
            </a:r>
            <a:r>
              <a:rPr lang="en-SG" sz="1200" dirty="0" err="1">
                <a:latin typeface="Courier"/>
              </a:rPr>
              <a:t>num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pop = </a:t>
            </a:r>
            <a:r>
              <a:rPr lang="en-SG" sz="1200" dirty="0" err="1">
                <a:latin typeface="Courier"/>
              </a:rPr>
              <a:t>document.getElementsByClassName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classname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classTarget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"."</a:t>
            </a:r>
            <a:r>
              <a:rPr lang="en-SG" sz="1200" dirty="0">
                <a:latin typeface="Courier"/>
              </a:rPr>
              <a:t> + </a:t>
            </a:r>
            <a:r>
              <a:rPr lang="en-SG" sz="1200" dirty="0" err="1">
                <a:latin typeface="Courier"/>
              </a:rPr>
              <a:t>classname</a:t>
            </a:r>
            <a:r>
              <a:rPr lang="en-SG" sz="1200" dirty="0">
                <a:latin typeface="Courier"/>
              </a:rPr>
              <a:t>;</a:t>
            </a:r>
          </a:p>
          <a:p>
            <a:br>
              <a:rPr lang="en-SG" sz="1200" dirty="0">
                <a:latin typeface="Courier"/>
              </a:rPr>
            </a:br>
            <a:r>
              <a:rPr lang="en-SG" sz="1200" dirty="0">
                <a:solidFill>
                  <a:srgbClr val="007DDA"/>
                </a:solidFill>
                <a:latin typeface="Courier"/>
              </a:rPr>
              <a:t>for</a:t>
            </a:r>
            <a:r>
              <a:rPr lang="en-SG" sz="1200" dirty="0">
                <a:latin typeface="Courier"/>
              </a:rPr>
              <a:t> (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let</a:t>
            </a:r>
            <a:r>
              <a:rPr lang="en-SG" sz="1200" dirty="0">
                <a:latin typeface="Courier"/>
              </a:rPr>
              <a:t> p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of</a:t>
            </a:r>
            <a:r>
              <a:rPr lang="en-SG" sz="1200" dirty="0">
                <a:latin typeface="Courier"/>
              </a:rPr>
              <a:t> pop) {</a:t>
            </a:r>
          </a:p>
          <a:p>
            <a:r>
              <a:rPr lang="en-SG" sz="1200" dirty="0" err="1">
                <a:latin typeface="Courier"/>
              </a:rPr>
              <a:t>p.setAttribute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src</a:t>
            </a:r>
            <a:r>
              <a:rPr lang="en-SG" sz="1200" dirty="0">
                <a:latin typeface="Courier"/>
              </a:rPr>
              <a:t>", </a:t>
            </a:r>
            <a:r>
              <a:rPr lang="en-SG" sz="1200" dirty="0" err="1">
                <a:latin typeface="Courier"/>
              </a:rPr>
              <a:t>popcornBWImage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latin typeface="Courier"/>
              </a:rPr>
              <a:t>}</a:t>
            </a:r>
          </a:p>
          <a:p>
            <a:r>
              <a:rPr lang="en-SG" sz="1200" dirty="0" err="1">
                <a:latin typeface="Courier"/>
              </a:rPr>
              <a:t>changePopcornImage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num</a:t>
            </a:r>
            <a:r>
              <a:rPr lang="en-SG" sz="1200" dirty="0">
                <a:latin typeface="Courier"/>
              </a:rPr>
              <a:t>, </a:t>
            </a:r>
            <a:r>
              <a:rPr lang="en-SG" sz="1200" dirty="0" err="1">
                <a:latin typeface="Courier"/>
              </a:rPr>
              <a:t>classTarget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latin typeface="Courier"/>
              </a:rPr>
              <a:t>}</a:t>
            </a:r>
          </a:p>
          <a:p>
            <a:endParaRPr lang="en-SG" sz="1200" dirty="0">
              <a:latin typeface="Courier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49B996-837A-405D-8FC2-C9DF1BFA4CDF}"/>
              </a:ext>
            </a:extLst>
          </p:cNvPr>
          <p:cNvSpPr txBox="1">
            <a:spLocks/>
          </p:cNvSpPr>
          <p:nvPr/>
        </p:nvSpPr>
        <p:spPr>
          <a:xfrm>
            <a:off x="1161073" y="333732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u="none" kern="1200">
                <a:solidFill>
                  <a:srgbClr val="0070C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Adding Edit Comment Modal Window - comments.js </a:t>
            </a:r>
          </a:p>
        </p:txBody>
      </p:sp>
    </p:spTree>
    <p:extLst>
      <p:ext uri="{BB962C8B-B14F-4D97-AF65-F5344CB8AC3E}">
        <p14:creationId xmlns:p14="http://schemas.microsoft.com/office/powerpoint/2010/main" val="95976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577663"/>
            <a:ext cx="10336162" cy="57311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Lastly, also in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comments.js</a:t>
            </a:r>
            <a:r>
              <a:rPr lang="en-GB" dirty="0"/>
              <a:t> file, add the following function to submit the comment data to the server.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10</a:t>
            </a:fld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81E42-3830-480A-9953-CD6EDC4CA1FD}"/>
              </a:ext>
            </a:extLst>
          </p:cNvPr>
          <p:cNvSpPr txBox="1"/>
          <p:nvPr/>
        </p:nvSpPr>
        <p:spPr>
          <a:xfrm>
            <a:off x="643348" y="2017806"/>
            <a:ext cx="1115561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//This function sends the Comment data to the server for updating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updateComment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response = confirm("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Are you sure you want to update this comment?</a:t>
            </a:r>
            <a:r>
              <a:rPr lang="en-SG" sz="1200" dirty="0">
                <a:latin typeface="Courier"/>
              </a:rPr>
              <a:t>");</a:t>
            </a:r>
          </a:p>
          <a:p>
            <a:br>
              <a:rPr lang="en-SG" sz="1200" dirty="0">
                <a:latin typeface="Courier"/>
              </a:rPr>
            </a:br>
            <a:r>
              <a:rPr lang="en-SG" sz="1200" dirty="0">
                <a:solidFill>
                  <a:srgbClr val="0070C0"/>
                </a:solidFill>
                <a:latin typeface="Courier"/>
              </a:rPr>
              <a:t>if</a:t>
            </a:r>
            <a:r>
              <a:rPr lang="en-SG" sz="1200" dirty="0">
                <a:latin typeface="Courier"/>
              </a:rPr>
              <a:t> (response ==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true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edit_comment_url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comment_url</a:t>
            </a:r>
            <a:r>
              <a:rPr lang="en-SG" sz="1200" dirty="0">
                <a:latin typeface="Courier"/>
              </a:rPr>
              <a:t> + 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"/"</a:t>
            </a:r>
            <a:r>
              <a:rPr lang="en-SG" sz="1200" dirty="0">
                <a:latin typeface="Courier"/>
              </a:rPr>
              <a:t> +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]._id;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updateComment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new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XMLHttpRequest</a:t>
            </a:r>
            <a:r>
              <a:rPr lang="en-SG" sz="1200" dirty="0">
                <a:latin typeface="Courier"/>
              </a:rPr>
              <a:t>();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// new </a:t>
            </a:r>
            <a:r>
              <a:rPr lang="en-SG" sz="1200" dirty="0" err="1">
                <a:solidFill>
                  <a:schemeClr val="accent5"/>
                </a:solidFill>
                <a:latin typeface="Courier"/>
              </a:rPr>
              <a:t>HttpRequest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 instance to send request to server</a:t>
            </a:r>
          </a:p>
          <a:p>
            <a:br>
              <a:rPr lang="en-SG" sz="1200" dirty="0">
                <a:latin typeface="Courier"/>
              </a:rPr>
            </a:br>
            <a:r>
              <a:rPr lang="en-SG" sz="1200" dirty="0" err="1">
                <a:latin typeface="Courier"/>
              </a:rPr>
              <a:t>updateComment.open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PUT</a:t>
            </a:r>
            <a:r>
              <a:rPr lang="en-SG" sz="1200" dirty="0">
                <a:latin typeface="Courier"/>
              </a:rPr>
              <a:t>", </a:t>
            </a:r>
            <a:r>
              <a:rPr lang="en-SG" sz="1200" dirty="0" err="1">
                <a:latin typeface="Courier"/>
              </a:rPr>
              <a:t>edit_comment_url</a:t>
            </a:r>
            <a:r>
              <a:rPr lang="en-SG" sz="1200" dirty="0">
                <a:latin typeface="Courier"/>
              </a:rPr>
              <a:t>, true);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//The HTTP method called 'PUT' is used here as we are updating data</a:t>
            </a:r>
          </a:p>
          <a:p>
            <a:r>
              <a:rPr lang="en-SG" sz="1200" dirty="0" err="1">
                <a:latin typeface="Courier"/>
              </a:rPr>
              <a:t>updateComment.setRequestHeader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Content-Type</a:t>
            </a:r>
            <a:r>
              <a:rPr lang="en-SG" sz="1200" dirty="0">
                <a:latin typeface="Courier"/>
              </a:rPr>
              <a:t>", 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application/json</a:t>
            </a:r>
            <a:r>
              <a:rPr lang="en-SG" sz="1200" dirty="0">
                <a:latin typeface="Courier"/>
              </a:rPr>
              <a:t>");</a:t>
            </a:r>
          </a:p>
          <a:p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].username =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editnickname</a:t>
            </a:r>
            <a:r>
              <a:rPr lang="en-SG" sz="1200" dirty="0">
                <a:latin typeface="Courier"/>
              </a:rPr>
              <a:t>").value;</a:t>
            </a:r>
          </a:p>
          <a:p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].review =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993300"/>
                </a:solidFill>
                <a:latin typeface="Courier"/>
              </a:rPr>
              <a:t>edituserComments</a:t>
            </a:r>
            <a:r>
              <a:rPr lang="en-SG" sz="1200" dirty="0">
                <a:latin typeface="Courier"/>
              </a:rPr>
              <a:t>").value;</a:t>
            </a:r>
          </a:p>
          <a:p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].rating = rating;</a:t>
            </a:r>
          </a:p>
          <a:p>
            <a:r>
              <a:rPr lang="en-SG" sz="1200" dirty="0" err="1">
                <a:latin typeface="Courier"/>
              </a:rPr>
              <a:t>updateComment.onload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 err="1">
                <a:latin typeface="Courier"/>
              </a:rPr>
              <a:t>fetchComments</a:t>
            </a:r>
            <a:r>
              <a:rPr lang="en-SG" sz="1200" dirty="0">
                <a:latin typeface="Courier"/>
              </a:rPr>
              <a:t>();</a:t>
            </a:r>
          </a:p>
          <a:p>
            <a:r>
              <a:rPr lang="en-SG" sz="1200" dirty="0">
                <a:latin typeface="Courier"/>
              </a:rPr>
              <a:t>};</a:t>
            </a:r>
          </a:p>
          <a:p>
            <a:br>
              <a:rPr lang="en-SG" sz="1200" dirty="0">
                <a:latin typeface="Courier"/>
              </a:rPr>
            </a:br>
            <a:r>
              <a:rPr lang="en-SG" sz="1200" dirty="0" err="1">
                <a:latin typeface="Courier"/>
              </a:rPr>
              <a:t>updateComment.send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JSON.stringify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</a:t>
            </a:r>
            <a:r>
              <a:rPr lang="en-SG" sz="1200" dirty="0" err="1">
                <a:latin typeface="Courier"/>
              </a:rPr>
              <a:t>currentIndex</a:t>
            </a:r>
            <a:r>
              <a:rPr lang="en-SG" sz="1200" dirty="0">
                <a:latin typeface="Courier"/>
              </a:rPr>
              <a:t>]));</a:t>
            </a:r>
          </a:p>
          <a:p>
            <a:r>
              <a:rPr lang="en-SG" sz="1200" dirty="0">
                <a:latin typeface="Courier"/>
              </a:rPr>
              <a:t>}</a:t>
            </a:r>
          </a:p>
          <a:p>
            <a:r>
              <a:rPr lang="en-SG" sz="1200" dirty="0">
                <a:latin typeface="Courier"/>
              </a:rPr>
              <a:t>}</a:t>
            </a:r>
          </a:p>
          <a:p>
            <a:endParaRPr lang="en-SG" sz="1200" dirty="0">
              <a:latin typeface="Courier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17ADF3-90C0-48DD-8167-3CF6CE588364}"/>
              </a:ext>
            </a:extLst>
          </p:cNvPr>
          <p:cNvSpPr txBox="1">
            <a:spLocks/>
          </p:cNvSpPr>
          <p:nvPr/>
        </p:nvSpPr>
        <p:spPr>
          <a:xfrm>
            <a:off x="1161073" y="333732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u="none" kern="1200">
                <a:solidFill>
                  <a:srgbClr val="0070C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Adding Edit Comment Modal Window - comments.js </a:t>
            </a:r>
          </a:p>
        </p:txBody>
      </p:sp>
    </p:spTree>
    <p:extLst>
      <p:ext uri="{BB962C8B-B14F-4D97-AF65-F5344CB8AC3E}">
        <p14:creationId xmlns:p14="http://schemas.microsoft.com/office/powerpoint/2010/main" val="19401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E7C4F4-CA75-49F9-ABEA-5E4A61CAA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97" y="2955900"/>
            <a:ext cx="5069904" cy="2434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DE12A-5FB3-4B80-856F-6385BF8C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Edit Comment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488C-8798-4C6A-B742-FE6554FA3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31315"/>
            <a:ext cx="10336162" cy="118173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Test the Edit Comment feature by choosing a movie and click on the Edit icon to update one of its comment.</a:t>
            </a:r>
          </a:p>
          <a:p>
            <a:r>
              <a:rPr lang="en-GB" dirty="0"/>
              <a:t>Select the movie comment again to check if your comment is updated.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20960-9F59-4881-AE35-7C5AC738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11</a:t>
            </a:fld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B335C1-3A4F-4654-B2FA-31E0EF4C51D4}"/>
              </a:ext>
            </a:extLst>
          </p:cNvPr>
          <p:cNvSpPr/>
          <p:nvPr/>
        </p:nvSpPr>
        <p:spPr>
          <a:xfrm>
            <a:off x="3926043" y="3682120"/>
            <a:ext cx="395926" cy="44044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6D769-A992-4CE1-9328-8F746D445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65" y="2781187"/>
            <a:ext cx="6133096" cy="2814681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7E0AC9-DEF7-4C7A-90CC-34F9DB6A3C89}"/>
              </a:ext>
            </a:extLst>
          </p:cNvPr>
          <p:cNvSpPr/>
          <p:nvPr/>
        </p:nvSpPr>
        <p:spPr>
          <a:xfrm>
            <a:off x="4782533" y="4103687"/>
            <a:ext cx="1102936" cy="84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215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Delete Comment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200" cy="9176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600" dirty="0"/>
              <a:t>We are now left with the last feature for comments – Delete.</a:t>
            </a:r>
          </a:p>
          <a:p>
            <a:pPr>
              <a:lnSpc>
                <a:spcPct val="120000"/>
              </a:lnSpc>
            </a:pPr>
            <a:r>
              <a:rPr lang="en-GB" sz="1600" dirty="0"/>
              <a:t>The Delete function is activated by clicking on the Delete icon in the Comments modal window. </a:t>
            </a:r>
          </a:p>
          <a:p>
            <a:pPr>
              <a:lnSpc>
                <a:spcPct val="120000"/>
              </a:lnSpc>
            </a:pPr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12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F4E5E-CD83-43C3-915C-C4B88E79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97" y="2803500"/>
            <a:ext cx="6701480" cy="32183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74ECB48-F663-459B-9916-824FBBC32D71}"/>
              </a:ext>
            </a:extLst>
          </p:cNvPr>
          <p:cNvSpPr/>
          <p:nvPr/>
        </p:nvSpPr>
        <p:spPr>
          <a:xfrm>
            <a:off x="7458136" y="3691085"/>
            <a:ext cx="523341" cy="57452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473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CD3B-AD98-4AEC-8AED-FF5F23C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Comments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B78BE-06EC-4F3D-895F-ECB8E7227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200" cy="9176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600" dirty="0"/>
              <a:t>In </a:t>
            </a:r>
            <a:r>
              <a:rPr lang="en-GB" sz="1600" b="1" dirty="0">
                <a:solidFill>
                  <a:srgbClr val="FF0000"/>
                </a:solidFill>
                <a:latin typeface="Courier"/>
              </a:rPr>
              <a:t>comments.js</a:t>
            </a:r>
            <a:r>
              <a:rPr lang="en-GB" sz="1600" dirty="0"/>
              <a:t>, add the following </a:t>
            </a:r>
            <a:r>
              <a:rPr lang="en-GB" sz="1600" b="1" dirty="0" err="1">
                <a:solidFill>
                  <a:srgbClr val="FF0000"/>
                </a:solidFill>
                <a:latin typeface="Courier"/>
              </a:rPr>
              <a:t>deleteComment</a:t>
            </a:r>
            <a:r>
              <a:rPr lang="en-GB" sz="16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600" dirty="0"/>
              <a:t> function.</a:t>
            </a:r>
          </a:p>
          <a:p>
            <a:pPr>
              <a:lnSpc>
                <a:spcPct val="120000"/>
              </a:lnSpc>
            </a:pPr>
            <a:endParaRPr lang="en-GB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EF09-7A64-40AD-ABE8-8E903A7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13</a:t>
            </a:fld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F7AEE-1E02-4396-8656-7C498B7E779A}"/>
              </a:ext>
            </a:extLst>
          </p:cNvPr>
          <p:cNvSpPr txBox="1"/>
          <p:nvPr/>
        </p:nvSpPr>
        <p:spPr>
          <a:xfrm>
            <a:off x="1258728" y="2168165"/>
            <a:ext cx="7343677" cy="286232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//This function deletes the selected comment in a specific movie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deleteComment</a:t>
            </a:r>
            <a:r>
              <a:rPr lang="en-SG" sz="1200" dirty="0">
                <a:latin typeface="Courier"/>
              </a:rPr>
              <a:t>(element) {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response = confirm("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Are you sure you want to delete this comment?</a:t>
            </a:r>
            <a:r>
              <a:rPr lang="en-SG" sz="1200" dirty="0">
                <a:latin typeface="Courier"/>
              </a:rPr>
              <a:t>");</a:t>
            </a:r>
          </a:p>
          <a:p>
            <a:endParaRPr lang="en-SG" sz="1200" dirty="0">
              <a:latin typeface="Courier"/>
            </a:endParaRP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if</a:t>
            </a:r>
            <a:r>
              <a:rPr lang="en-SG" sz="1200" dirty="0">
                <a:latin typeface="Courier"/>
              </a:rPr>
              <a:t> (response ==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true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solidFill>
                  <a:srgbClr val="0070C0"/>
                </a:solidFill>
                <a:latin typeface="Courier"/>
              </a:rPr>
              <a:t>        var</a:t>
            </a:r>
            <a:r>
              <a:rPr lang="en-SG" sz="1200" dirty="0">
                <a:latin typeface="Courier"/>
              </a:rPr>
              <a:t> item = </a:t>
            </a:r>
            <a:r>
              <a:rPr lang="en-SG" sz="1200" dirty="0" err="1">
                <a:latin typeface="Courier"/>
              </a:rPr>
              <a:t>element.getAttribute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item</a:t>
            </a:r>
            <a:r>
              <a:rPr lang="en-SG" sz="1200" dirty="0">
                <a:latin typeface="Courier"/>
              </a:rPr>
              <a:t>");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//get the current item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delete_comment_url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comment_url</a:t>
            </a:r>
            <a:r>
              <a:rPr lang="en-SG" sz="1200" dirty="0">
                <a:latin typeface="Courier"/>
              </a:rPr>
              <a:t> + 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"/"</a:t>
            </a:r>
            <a:r>
              <a:rPr lang="en-SG" sz="1200" dirty="0">
                <a:latin typeface="Courier"/>
              </a:rPr>
              <a:t> + </a:t>
            </a:r>
            <a:r>
              <a:rPr lang="en-SG" sz="1200" dirty="0" err="1">
                <a:latin typeface="Courier"/>
              </a:rPr>
              <a:t>comment_array</a:t>
            </a:r>
            <a:r>
              <a:rPr lang="en-SG" sz="1200" dirty="0">
                <a:latin typeface="Courier"/>
              </a:rPr>
              <a:t>[item]._id;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eraseComment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new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XMLHttpRequest</a:t>
            </a:r>
            <a:r>
              <a:rPr lang="en-SG" sz="1200" dirty="0">
                <a:latin typeface="Courier"/>
              </a:rPr>
              <a:t>();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latin typeface="Courier"/>
              </a:rPr>
              <a:t>eraseComment.open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993300"/>
                </a:solidFill>
                <a:latin typeface="Courier"/>
              </a:rPr>
              <a:t>DELETE</a:t>
            </a:r>
            <a:r>
              <a:rPr lang="en-SG" sz="1200" dirty="0">
                <a:latin typeface="Courier"/>
              </a:rPr>
              <a:t>", </a:t>
            </a:r>
            <a:r>
              <a:rPr lang="en-SG" sz="1200" dirty="0" err="1">
                <a:latin typeface="Courier"/>
              </a:rPr>
              <a:t>delete_comment_url</a:t>
            </a:r>
            <a:r>
              <a:rPr lang="en-SG" sz="1200" dirty="0">
                <a:latin typeface="Courier"/>
              </a:rPr>
              <a:t>,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true</a:t>
            </a:r>
            <a:r>
              <a:rPr lang="en-SG" sz="1200" dirty="0">
                <a:latin typeface="Courier"/>
              </a:rPr>
              <a:t>);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latin typeface="Courier"/>
              </a:rPr>
              <a:t>eraseComment.onload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    </a:t>
            </a:r>
            <a:r>
              <a:rPr lang="en-SG" sz="1200" dirty="0" err="1">
                <a:latin typeface="Courier"/>
              </a:rPr>
              <a:t>fetchComments</a:t>
            </a:r>
            <a:r>
              <a:rPr lang="en-SG" sz="1200" dirty="0">
                <a:latin typeface="Courier"/>
              </a:rPr>
              <a:t>();</a:t>
            </a:r>
          </a:p>
          <a:p>
            <a:r>
              <a:rPr lang="en-SG" sz="1200" dirty="0">
                <a:latin typeface="Courier"/>
              </a:rPr>
              <a:t>        };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latin typeface="Courier"/>
              </a:rPr>
              <a:t>eraseComment.send</a:t>
            </a:r>
            <a:r>
              <a:rPr lang="en-SG" sz="1200" dirty="0">
                <a:latin typeface="Courier"/>
              </a:rPr>
              <a:t>();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899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A06E22-A320-4896-9073-2399DA7BA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81" y="1800490"/>
            <a:ext cx="8756277" cy="4239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D4499F-6B85-407E-A431-BAB97A53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Comments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1A287-C67F-4E67-B2E5-EBC9B63B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14</a:t>
            </a:fld>
            <a:endParaRPr lang="en-US"/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62148A19-B5A2-4AE6-9F5C-40F103AA2946}"/>
              </a:ext>
            </a:extLst>
          </p:cNvPr>
          <p:cNvSpPr/>
          <p:nvPr/>
        </p:nvSpPr>
        <p:spPr>
          <a:xfrm>
            <a:off x="7038304" y="1390918"/>
            <a:ext cx="4675031" cy="1191348"/>
          </a:xfrm>
          <a:prstGeom prst="wedgeRectCallout">
            <a:avLst>
              <a:gd name="adj1" fmla="val -64273"/>
              <a:gd name="adj2" fmla="val 6771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Reload the </a:t>
            </a:r>
            <a:r>
              <a:rPr lang="en-GB" sz="1400" b="1" dirty="0">
                <a:solidFill>
                  <a:schemeClr val="bg1"/>
                </a:solidFill>
                <a:highlight>
                  <a:srgbClr val="1CADE4"/>
                </a:highlight>
                <a:latin typeface="Courier"/>
                <a:ea typeface="Arial Unicode MS" charset="0"/>
                <a:cs typeface="Arial Unicode MS" charset="0"/>
              </a:rPr>
              <a:t>index.html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page and select a movie comment to view. In the Comments modal window, click on the Delete icon and then confirm to delete.</a:t>
            </a:r>
          </a:p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Select the movie comment again to check if the comment has been deleted. </a:t>
            </a:r>
          </a:p>
        </p:txBody>
      </p:sp>
    </p:spTree>
    <p:extLst>
      <p:ext uri="{BB962C8B-B14F-4D97-AF65-F5344CB8AC3E}">
        <p14:creationId xmlns:p14="http://schemas.microsoft.com/office/powerpoint/2010/main" val="3638921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Congratulations!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Congratulations! You have now successfully created a Pure Movie Review web client that interacts with a Server-side Web API.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8057</TotalTime>
  <Words>1338</Words>
  <Application>Microsoft Office PowerPoint</Application>
  <PresentationFormat>Widescreen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Unicode MS</vt:lpstr>
      <vt:lpstr>Calibri</vt:lpstr>
      <vt:lpstr>Courier</vt:lpstr>
      <vt:lpstr>Roboto</vt:lpstr>
      <vt:lpstr>Roboto light</vt:lpstr>
      <vt:lpstr>Verdana</vt:lpstr>
      <vt:lpstr>Office Theme</vt:lpstr>
      <vt:lpstr>Building Movie Review Website IV</vt:lpstr>
      <vt:lpstr>Objectives</vt:lpstr>
      <vt:lpstr>Tools Required</vt:lpstr>
      <vt:lpstr>Creating the View…Continue</vt:lpstr>
      <vt:lpstr>Adding Edit Comment Modal Window - edit-comments-modal.html</vt:lpstr>
      <vt:lpstr>PowerPoint Presentation</vt:lpstr>
      <vt:lpstr>Adding Edit Comment Modal Window</vt:lpstr>
      <vt:lpstr>Adding Edit Comment Modal Window - comments.js </vt:lpstr>
      <vt:lpstr>PowerPoint Presentation</vt:lpstr>
      <vt:lpstr>PowerPoint Presentation</vt:lpstr>
      <vt:lpstr>Test the Edit Comment Feature</vt:lpstr>
      <vt:lpstr>Adding Delete Comment Feature</vt:lpstr>
      <vt:lpstr>Adding Comments Modal Window</vt:lpstr>
      <vt:lpstr>Test the Comments</vt:lpstr>
      <vt:lpstr>Congratulations!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Movie Review Website III</dc:title>
  <dc:subject>Coding and Testing</dc:subject>
  <dc:creator>Tan Sio Poh</dc:creator>
  <cp:keywords>CODT, CIT1C16, ADEV, CIT1C17, Building Movie Review Web Pages</cp:keywords>
  <dc:description/>
  <cp:lastModifiedBy>temasek poly</cp:lastModifiedBy>
  <cp:revision>523</cp:revision>
  <dcterms:created xsi:type="dcterms:W3CDTF">2016-03-04T00:57:19Z</dcterms:created>
  <dcterms:modified xsi:type="dcterms:W3CDTF">2021-09-24T07:18:05Z</dcterms:modified>
  <cp:category>Software Cluster</cp:category>
</cp:coreProperties>
</file>