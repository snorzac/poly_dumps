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2" autoAdjust="0"/>
    <p:restoredTop sz="94660"/>
  </p:normalViewPr>
  <p:slideViewPr>
    <p:cSldViewPr snapToGrid="0">
      <p:cViewPr>
        <p:scale>
          <a:sx n="125" d="100"/>
          <a:sy n="125" d="100"/>
        </p:scale>
        <p:origin x="-368"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11" name="Group 10"/>
          <p:cNvGrpSpPr/>
          <p:nvPr userDrawn="1"/>
        </p:nvGrpSpPr>
        <p:grpSpPr>
          <a:xfrm>
            <a:off x="0" y="0"/>
            <a:ext cx="12192000" cy="6858000"/>
            <a:chOff x="0" y="0"/>
            <a:chExt cx="12192000" cy="6858000"/>
          </a:xfrm>
        </p:grpSpPr>
        <p:sp>
          <p:nvSpPr>
            <p:cNvPr id="8" name="Rectangle 7"/>
            <p:cNvSpPr/>
            <p:nvPr userDrawn="1"/>
          </p:nvSpPr>
          <p:spPr>
            <a:xfrm>
              <a:off x="0" y="0"/>
              <a:ext cx="12192000" cy="7079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8"/>
            <p:cNvSpPr/>
            <p:nvPr userDrawn="1"/>
          </p:nvSpPr>
          <p:spPr>
            <a:xfrm>
              <a:off x="0" y="0"/>
              <a:ext cx="12192000" cy="685800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bg1"/>
                </a:solidFill>
              </a:endParaRPr>
            </a:p>
          </p:txBody>
        </p:sp>
      </p:grpSp>
      <p:sp>
        <p:nvSpPr>
          <p:cNvPr id="7" name="Picture Placeholder 6"/>
          <p:cNvSpPr>
            <a:spLocks noGrp="1"/>
          </p:cNvSpPr>
          <p:nvPr userDrawn="1">
            <p:ph type="pic" sz="quarter" idx="13" hasCustomPrompt="1"/>
          </p:nvPr>
        </p:nvSpPr>
        <p:spPr>
          <a:xfrm>
            <a:off x="380998" y="859809"/>
            <a:ext cx="2022990" cy="2344991"/>
          </a:xfrm>
          <a:ln w="3175">
            <a:solidFill>
              <a:schemeClr val="accent1">
                <a:lumMod val="60000"/>
                <a:lumOff val="40000"/>
              </a:schemeClr>
            </a:solidFill>
          </a:ln>
        </p:spPr>
        <p:txBody>
          <a:bodyPr>
            <a:normAutofit/>
          </a:bodyPr>
          <a:lstStyle>
            <a:lvl1pPr>
              <a:defRPr sz="1600" b="1" baseline="0">
                <a:solidFill>
                  <a:schemeClr val="bg2">
                    <a:lumMod val="50000"/>
                  </a:schemeClr>
                </a:solidFill>
              </a:defRPr>
            </a:lvl1pPr>
          </a:lstStyle>
          <a:p>
            <a:r>
              <a:rPr lang="en-US" dirty="0"/>
              <a:t>Insert Photo</a:t>
            </a:r>
            <a:endParaRPr lang="en-SG" dirty="0"/>
          </a:p>
        </p:txBody>
      </p:sp>
      <p:sp>
        <p:nvSpPr>
          <p:cNvPr id="2" name="Title 1"/>
          <p:cNvSpPr>
            <a:spLocks noGrp="1"/>
          </p:cNvSpPr>
          <p:nvPr userDrawn="1">
            <p:ph type="title" hasCustomPrompt="1"/>
          </p:nvPr>
        </p:nvSpPr>
        <p:spPr>
          <a:xfrm>
            <a:off x="380997" y="250724"/>
            <a:ext cx="11424316" cy="412955"/>
          </a:xfrm>
        </p:spPr>
        <p:txBody>
          <a:bodyPr>
            <a:normAutofit/>
          </a:bodyPr>
          <a:lstStyle>
            <a:lvl1pPr>
              <a:defRPr sz="3200" b="1" cap="all" baseline="0">
                <a:solidFill>
                  <a:schemeClr val="bg1"/>
                </a:solidFill>
                <a:latin typeface="+mn-lt"/>
              </a:defRPr>
            </a:lvl1pPr>
          </a:lstStyle>
          <a:p>
            <a:r>
              <a:rPr lang="en-US" dirty="0"/>
              <a:t>Click to edit Name</a:t>
            </a:r>
            <a:endParaRPr lang="en-SG" dirty="0"/>
          </a:p>
        </p:txBody>
      </p:sp>
      <p:grpSp>
        <p:nvGrpSpPr>
          <p:cNvPr id="69" name="Group 68"/>
          <p:cNvGrpSpPr/>
          <p:nvPr userDrawn="1"/>
        </p:nvGrpSpPr>
        <p:grpSpPr>
          <a:xfrm>
            <a:off x="2536725" y="859809"/>
            <a:ext cx="4406280" cy="2363330"/>
            <a:chOff x="2536725" y="859809"/>
            <a:chExt cx="4406280" cy="2363330"/>
          </a:xfrm>
        </p:grpSpPr>
        <p:sp>
          <p:nvSpPr>
            <p:cNvPr id="15" name="Rectangle 14"/>
            <p:cNvSpPr/>
            <p:nvPr userDrawn="1"/>
          </p:nvSpPr>
          <p:spPr>
            <a:xfrm>
              <a:off x="2536725" y="859809"/>
              <a:ext cx="4406280" cy="236333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TextBox 15"/>
            <p:cNvSpPr txBox="1"/>
            <p:nvPr userDrawn="1"/>
          </p:nvSpPr>
          <p:spPr>
            <a:xfrm>
              <a:off x="2645797" y="859809"/>
              <a:ext cx="1123000" cy="369332"/>
            </a:xfrm>
            <a:prstGeom prst="rect">
              <a:avLst/>
            </a:prstGeom>
            <a:noFill/>
          </p:spPr>
          <p:txBody>
            <a:bodyPr wrap="none" rtlCol="0">
              <a:spAutoFit/>
            </a:bodyPr>
            <a:lstStyle/>
            <a:p>
              <a:r>
                <a:rPr lang="en-US" b="1" dirty="0">
                  <a:solidFill>
                    <a:schemeClr val="tx2">
                      <a:lumMod val="75000"/>
                    </a:schemeClr>
                  </a:solidFill>
                </a:rPr>
                <a:t>Bio</a:t>
              </a:r>
              <a:r>
                <a:rPr lang="en-US" dirty="0">
                  <a:solidFill>
                    <a:schemeClr val="tx2">
                      <a:lumMod val="75000"/>
                    </a:schemeClr>
                  </a:solidFill>
                </a:rPr>
                <a:t>graphy</a:t>
              </a:r>
              <a:endParaRPr lang="en-SG" dirty="0">
                <a:solidFill>
                  <a:schemeClr val="tx2">
                    <a:lumMod val="75000"/>
                  </a:schemeClr>
                </a:solidFill>
              </a:endParaRPr>
            </a:p>
          </p:txBody>
        </p:sp>
      </p:grpSp>
      <p:sp>
        <p:nvSpPr>
          <p:cNvPr id="18" name="Text Placeholder 17"/>
          <p:cNvSpPr>
            <a:spLocks noGrp="1"/>
          </p:cNvSpPr>
          <p:nvPr>
            <p:ph type="body" sz="quarter" idx="14" hasCustomPrompt="1"/>
          </p:nvPr>
        </p:nvSpPr>
        <p:spPr>
          <a:xfrm>
            <a:off x="2645798" y="1229696"/>
            <a:ext cx="4178084" cy="1881638"/>
          </a:xfrm>
        </p:spPr>
        <p:txBody>
          <a:bodyPr>
            <a:normAutofit/>
          </a:bodyPr>
          <a:lstStyle>
            <a:lvl1pPr marL="0" indent="0" algn="just">
              <a:buNone/>
              <a:defRPr sz="1050"/>
            </a:lvl1pPr>
          </a:lstStyle>
          <a:p>
            <a:pPr lvl="0"/>
            <a:r>
              <a:rPr lang="en-US" dirty="0"/>
              <a:t>Click to insert text</a:t>
            </a:r>
            <a:endParaRPr lang="en-SG" dirty="0"/>
          </a:p>
          <a:p>
            <a:pPr lvl="0"/>
            <a:endParaRPr lang="en-SG" dirty="0"/>
          </a:p>
        </p:txBody>
      </p:sp>
      <p:sp>
        <p:nvSpPr>
          <p:cNvPr id="21" name="TextBox 20"/>
          <p:cNvSpPr txBox="1"/>
          <p:nvPr userDrawn="1"/>
        </p:nvSpPr>
        <p:spPr>
          <a:xfrm>
            <a:off x="7109625" y="875651"/>
            <a:ext cx="716863" cy="369332"/>
          </a:xfrm>
          <a:prstGeom prst="rect">
            <a:avLst/>
          </a:prstGeom>
          <a:noFill/>
        </p:spPr>
        <p:txBody>
          <a:bodyPr wrap="none" rtlCol="0">
            <a:spAutoFit/>
          </a:bodyPr>
          <a:lstStyle/>
          <a:p>
            <a:r>
              <a:rPr lang="en-US" b="1" dirty="0">
                <a:solidFill>
                  <a:schemeClr val="tx2">
                    <a:lumMod val="75000"/>
                  </a:schemeClr>
                </a:solidFill>
              </a:rPr>
              <a:t>Goals</a:t>
            </a:r>
            <a:endParaRPr lang="en-SG" dirty="0">
              <a:solidFill>
                <a:schemeClr val="tx2">
                  <a:lumMod val="75000"/>
                </a:schemeClr>
              </a:solidFill>
            </a:endParaRPr>
          </a:p>
        </p:txBody>
      </p:sp>
      <p:sp>
        <p:nvSpPr>
          <p:cNvPr id="23" name="TextBox 22"/>
          <p:cNvSpPr txBox="1"/>
          <p:nvPr userDrawn="1"/>
        </p:nvSpPr>
        <p:spPr>
          <a:xfrm>
            <a:off x="7097587" y="2647027"/>
            <a:ext cx="1327479" cy="369332"/>
          </a:xfrm>
          <a:prstGeom prst="rect">
            <a:avLst/>
          </a:prstGeom>
          <a:noFill/>
        </p:spPr>
        <p:txBody>
          <a:bodyPr wrap="none" rtlCol="0">
            <a:spAutoFit/>
          </a:bodyPr>
          <a:lstStyle/>
          <a:p>
            <a:r>
              <a:rPr lang="en-US" b="1" dirty="0">
                <a:solidFill>
                  <a:schemeClr val="tx2">
                    <a:lumMod val="75000"/>
                  </a:schemeClr>
                </a:solidFill>
              </a:rPr>
              <a:t>Frustrations</a:t>
            </a:r>
            <a:endParaRPr lang="en-SG" dirty="0">
              <a:solidFill>
                <a:schemeClr val="tx2">
                  <a:lumMod val="75000"/>
                </a:schemeClr>
              </a:solidFill>
            </a:endParaRPr>
          </a:p>
        </p:txBody>
      </p:sp>
      <p:sp>
        <p:nvSpPr>
          <p:cNvPr id="26" name="Rectangle 25"/>
          <p:cNvSpPr/>
          <p:nvPr userDrawn="1"/>
        </p:nvSpPr>
        <p:spPr>
          <a:xfrm>
            <a:off x="380997" y="3309142"/>
            <a:ext cx="2022991" cy="234499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SG" dirty="0"/>
          </a:p>
        </p:txBody>
      </p:sp>
      <p:sp>
        <p:nvSpPr>
          <p:cNvPr id="30" name="Content Placeholder 29"/>
          <p:cNvSpPr>
            <a:spLocks noGrp="1"/>
          </p:cNvSpPr>
          <p:nvPr>
            <p:ph sz="quarter" idx="18" hasCustomPrompt="1"/>
          </p:nvPr>
        </p:nvSpPr>
        <p:spPr>
          <a:xfrm>
            <a:off x="7114611" y="1236889"/>
            <a:ext cx="4690702" cy="1381941"/>
          </a:xfrm>
        </p:spPr>
        <p:txBody>
          <a:bodyPr>
            <a:normAutofit/>
          </a:bodyPr>
          <a:lstStyle>
            <a:lvl1pPr>
              <a:buFont typeface="+mj-lt"/>
              <a:buAutoNum type="arabicParenR"/>
              <a:defRPr sz="1050"/>
            </a:lvl1pPr>
          </a:lstStyle>
          <a:p>
            <a:pPr lvl="0"/>
            <a:r>
              <a:rPr lang="en-US" dirty="0"/>
              <a:t>Click to insert text</a:t>
            </a:r>
            <a:endParaRPr lang="en-SG" dirty="0"/>
          </a:p>
          <a:p>
            <a:pPr lvl="0"/>
            <a:endParaRPr lang="en-SG" dirty="0"/>
          </a:p>
        </p:txBody>
      </p:sp>
      <p:sp>
        <p:nvSpPr>
          <p:cNvPr id="31" name="Content Placeholder 29"/>
          <p:cNvSpPr>
            <a:spLocks noGrp="1"/>
          </p:cNvSpPr>
          <p:nvPr>
            <p:ph sz="quarter" idx="19" hasCustomPrompt="1"/>
          </p:nvPr>
        </p:nvSpPr>
        <p:spPr>
          <a:xfrm>
            <a:off x="7114610" y="3016360"/>
            <a:ext cx="4690703" cy="1694746"/>
          </a:xfrm>
        </p:spPr>
        <p:txBody>
          <a:bodyPr>
            <a:normAutofit/>
          </a:bodyPr>
          <a:lstStyle>
            <a:lvl1pPr marL="171450" indent="-171450">
              <a:buFont typeface="Wingdings" panose="05000000000000000000" pitchFamily="2" charset="2"/>
              <a:buChar char="v"/>
              <a:defRPr sz="1050"/>
            </a:lvl1pPr>
          </a:lstStyle>
          <a:p>
            <a:pPr lvl="0"/>
            <a:r>
              <a:rPr lang="en-US" dirty="0"/>
              <a:t>Click to insert text</a:t>
            </a:r>
            <a:endParaRPr lang="en-SG" dirty="0"/>
          </a:p>
        </p:txBody>
      </p:sp>
      <p:sp>
        <p:nvSpPr>
          <p:cNvPr id="33" name="Text Placeholder 32"/>
          <p:cNvSpPr>
            <a:spLocks noGrp="1"/>
          </p:cNvSpPr>
          <p:nvPr>
            <p:ph type="body" sz="quarter" idx="20" hasCustomPrompt="1"/>
          </p:nvPr>
        </p:nvSpPr>
        <p:spPr>
          <a:xfrm>
            <a:off x="478942" y="3434501"/>
            <a:ext cx="1812946" cy="2094271"/>
          </a:xfrm>
        </p:spPr>
        <p:txBody>
          <a:bodyPr>
            <a:normAutofit/>
          </a:bodyPr>
          <a:lstStyle>
            <a:lvl1pPr marL="0" indent="0" algn="ctr">
              <a:buNone/>
              <a:defRPr sz="1400" b="0" i="1" u="none" baseline="0">
                <a:solidFill>
                  <a:schemeClr val="tx2">
                    <a:lumMod val="75000"/>
                  </a:schemeClr>
                </a:solidFill>
              </a:defRPr>
            </a:lvl1pPr>
          </a:lstStyle>
          <a:p>
            <a:pPr lvl="0"/>
            <a:r>
              <a:rPr lang="en-US" dirty="0"/>
              <a:t>Insert Personal Quotation </a:t>
            </a:r>
            <a:br>
              <a:rPr lang="en-US" dirty="0"/>
            </a:br>
            <a:br>
              <a:rPr lang="en-US" dirty="0"/>
            </a:br>
            <a:r>
              <a:rPr lang="en-US" dirty="0"/>
              <a:t>&gt; Click to edit text</a:t>
            </a:r>
          </a:p>
        </p:txBody>
      </p:sp>
      <p:sp>
        <p:nvSpPr>
          <p:cNvPr id="34" name="TextBox 33"/>
          <p:cNvSpPr txBox="1"/>
          <p:nvPr userDrawn="1"/>
        </p:nvSpPr>
        <p:spPr>
          <a:xfrm>
            <a:off x="295937" y="5745371"/>
            <a:ext cx="1456424" cy="1015663"/>
          </a:xfrm>
          <a:prstGeom prst="rect">
            <a:avLst/>
          </a:prstGeom>
          <a:noFill/>
        </p:spPr>
        <p:txBody>
          <a:bodyPr wrap="none" rtlCol="0">
            <a:spAutoFit/>
          </a:bodyPr>
          <a:lstStyle/>
          <a:p>
            <a:pPr algn="r">
              <a:lnSpc>
                <a:spcPct val="100000"/>
              </a:lnSpc>
            </a:pPr>
            <a:r>
              <a:rPr lang="en-US" sz="1200" b="1" spc="300" dirty="0">
                <a:solidFill>
                  <a:srgbClr val="0070C0"/>
                </a:solidFill>
              </a:rPr>
              <a:t>AGE :</a:t>
            </a:r>
          </a:p>
          <a:p>
            <a:pPr algn="r">
              <a:lnSpc>
                <a:spcPct val="100000"/>
              </a:lnSpc>
            </a:pPr>
            <a:r>
              <a:rPr lang="en-US" sz="1200" b="1" spc="300" dirty="0">
                <a:solidFill>
                  <a:srgbClr val="0070C0"/>
                </a:solidFill>
              </a:rPr>
              <a:t>WORK :</a:t>
            </a:r>
          </a:p>
          <a:p>
            <a:pPr algn="r">
              <a:lnSpc>
                <a:spcPct val="100000"/>
              </a:lnSpc>
            </a:pPr>
            <a:r>
              <a:rPr lang="en-US" sz="1200" b="1" spc="300" dirty="0">
                <a:solidFill>
                  <a:srgbClr val="0070C0"/>
                </a:solidFill>
              </a:rPr>
              <a:t>FAMILY :</a:t>
            </a:r>
          </a:p>
          <a:p>
            <a:pPr algn="r">
              <a:lnSpc>
                <a:spcPct val="100000"/>
              </a:lnSpc>
            </a:pPr>
            <a:r>
              <a:rPr lang="en-US" sz="1200" b="1" spc="300" dirty="0">
                <a:solidFill>
                  <a:srgbClr val="0070C0"/>
                </a:solidFill>
              </a:rPr>
              <a:t>LOCATION :</a:t>
            </a:r>
          </a:p>
          <a:p>
            <a:pPr algn="r">
              <a:lnSpc>
                <a:spcPct val="100000"/>
              </a:lnSpc>
            </a:pPr>
            <a:r>
              <a:rPr lang="en-US" sz="1200" b="1" spc="300" dirty="0">
                <a:solidFill>
                  <a:srgbClr val="0070C0"/>
                </a:solidFill>
              </a:rPr>
              <a:t>CHARACTER :</a:t>
            </a:r>
            <a:endParaRPr lang="en-SG" sz="1200" b="1" spc="300" dirty="0">
              <a:solidFill>
                <a:srgbClr val="0070C0"/>
              </a:solidFill>
            </a:endParaRPr>
          </a:p>
        </p:txBody>
      </p:sp>
      <p:sp>
        <p:nvSpPr>
          <p:cNvPr id="36" name="Text Placeholder 17"/>
          <p:cNvSpPr>
            <a:spLocks noGrp="1"/>
          </p:cNvSpPr>
          <p:nvPr>
            <p:ph type="body" sz="quarter" idx="22" hasCustomPrompt="1"/>
          </p:nvPr>
        </p:nvSpPr>
        <p:spPr>
          <a:xfrm>
            <a:off x="1606265" y="5778968"/>
            <a:ext cx="1141525" cy="185300"/>
          </a:xfrm>
        </p:spPr>
        <p:txBody>
          <a:bodyPr>
            <a:noAutofit/>
          </a:bodyPr>
          <a:lstStyle>
            <a:lvl1pPr marL="0" indent="0">
              <a:buNone/>
              <a:defRPr sz="1000" b="1">
                <a:solidFill>
                  <a:schemeClr val="tx2">
                    <a:lumMod val="75000"/>
                  </a:schemeClr>
                </a:solidFill>
              </a:defRPr>
            </a:lvl1pPr>
          </a:lstStyle>
          <a:p>
            <a:pPr lvl="0"/>
            <a:r>
              <a:rPr lang="en-US" dirty="0"/>
              <a:t>Click to insert text</a:t>
            </a:r>
            <a:endParaRPr lang="en-SG" dirty="0"/>
          </a:p>
          <a:p>
            <a:pPr lvl="0"/>
            <a:endParaRPr lang="en-SG" dirty="0"/>
          </a:p>
        </p:txBody>
      </p:sp>
      <p:sp>
        <p:nvSpPr>
          <p:cNvPr id="40" name="Text Placeholder 17"/>
          <p:cNvSpPr>
            <a:spLocks noGrp="1"/>
          </p:cNvSpPr>
          <p:nvPr>
            <p:ph type="body" sz="quarter" idx="23" hasCustomPrompt="1"/>
          </p:nvPr>
        </p:nvSpPr>
        <p:spPr>
          <a:xfrm>
            <a:off x="1606264" y="5964268"/>
            <a:ext cx="1456423" cy="185300"/>
          </a:xfrm>
        </p:spPr>
        <p:txBody>
          <a:bodyPr>
            <a:noAutofit/>
          </a:bodyPr>
          <a:lstStyle>
            <a:lvl1pPr marL="0" indent="0">
              <a:buNone/>
              <a:defRPr sz="1000" b="1">
                <a:solidFill>
                  <a:schemeClr val="tx2">
                    <a:lumMod val="75000"/>
                  </a:schemeClr>
                </a:solidFill>
              </a:defRPr>
            </a:lvl1pPr>
          </a:lstStyle>
          <a:p>
            <a:pPr lvl="0"/>
            <a:r>
              <a:rPr lang="en-US" dirty="0"/>
              <a:t>Click to insert text</a:t>
            </a:r>
            <a:endParaRPr lang="en-SG" dirty="0"/>
          </a:p>
          <a:p>
            <a:pPr lvl="0"/>
            <a:endParaRPr lang="en-SG" dirty="0"/>
          </a:p>
        </p:txBody>
      </p:sp>
      <p:sp>
        <p:nvSpPr>
          <p:cNvPr id="41" name="Text Placeholder 17"/>
          <p:cNvSpPr>
            <a:spLocks noGrp="1"/>
          </p:cNvSpPr>
          <p:nvPr>
            <p:ph type="body" sz="quarter" idx="24" hasCustomPrompt="1"/>
          </p:nvPr>
        </p:nvSpPr>
        <p:spPr>
          <a:xfrm>
            <a:off x="1606264" y="6152010"/>
            <a:ext cx="1456424" cy="185300"/>
          </a:xfrm>
        </p:spPr>
        <p:txBody>
          <a:bodyPr>
            <a:noAutofit/>
          </a:bodyPr>
          <a:lstStyle>
            <a:lvl1pPr marL="0" indent="0">
              <a:buNone/>
              <a:defRPr sz="1000" b="1">
                <a:solidFill>
                  <a:schemeClr val="tx2">
                    <a:lumMod val="75000"/>
                  </a:schemeClr>
                </a:solidFill>
              </a:defRPr>
            </a:lvl1pPr>
          </a:lstStyle>
          <a:p>
            <a:pPr lvl="0"/>
            <a:r>
              <a:rPr lang="en-US" dirty="0"/>
              <a:t>Click to insert text</a:t>
            </a:r>
            <a:endParaRPr lang="en-SG" dirty="0"/>
          </a:p>
          <a:p>
            <a:pPr lvl="0"/>
            <a:endParaRPr lang="en-SG" dirty="0"/>
          </a:p>
        </p:txBody>
      </p:sp>
      <p:sp>
        <p:nvSpPr>
          <p:cNvPr id="42" name="Text Placeholder 17"/>
          <p:cNvSpPr>
            <a:spLocks noGrp="1"/>
          </p:cNvSpPr>
          <p:nvPr>
            <p:ph type="body" sz="quarter" idx="25" hasCustomPrompt="1"/>
          </p:nvPr>
        </p:nvSpPr>
        <p:spPr>
          <a:xfrm>
            <a:off x="1606263" y="6339752"/>
            <a:ext cx="1456424" cy="185300"/>
          </a:xfrm>
        </p:spPr>
        <p:txBody>
          <a:bodyPr>
            <a:noAutofit/>
          </a:bodyPr>
          <a:lstStyle>
            <a:lvl1pPr marL="0" indent="0">
              <a:buNone/>
              <a:defRPr sz="1000" b="1">
                <a:solidFill>
                  <a:schemeClr val="tx2">
                    <a:lumMod val="75000"/>
                  </a:schemeClr>
                </a:solidFill>
              </a:defRPr>
            </a:lvl1pPr>
          </a:lstStyle>
          <a:p>
            <a:pPr lvl="0"/>
            <a:r>
              <a:rPr lang="en-US" dirty="0"/>
              <a:t>Click to insert text</a:t>
            </a:r>
            <a:endParaRPr lang="en-SG" dirty="0"/>
          </a:p>
          <a:p>
            <a:pPr lvl="0"/>
            <a:endParaRPr lang="en-SG" dirty="0"/>
          </a:p>
        </p:txBody>
      </p:sp>
      <p:sp>
        <p:nvSpPr>
          <p:cNvPr id="43" name="Text Placeholder 17"/>
          <p:cNvSpPr>
            <a:spLocks noGrp="1"/>
          </p:cNvSpPr>
          <p:nvPr>
            <p:ph type="body" sz="quarter" idx="26" hasCustomPrompt="1"/>
          </p:nvPr>
        </p:nvSpPr>
        <p:spPr>
          <a:xfrm>
            <a:off x="1606262" y="6531430"/>
            <a:ext cx="1456426" cy="165227"/>
          </a:xfrm>
        </p:spPr>
        <p:txBody>
          <a:bodyPr>
            <a:noAutofit/>
          </a:bodyPr>
          <a:lstStyle>
            <a:lvl1pPr marL="0" indent="0">
              <a:buNone/>
              <a:defRPr sz="1000" b="1">
                <a:solidFill>
                  <a:schemeClr val="tx2">
                    <a:lumMod val="75000"/>
                  </a:schemeClr>
                </a:solidFill>
              </a:defRPr>
            </a:lvl1pPr>
          </a:lstStyle>
          <a:p>
            <a:pPr lvl="0"/>
            <a:r>
              <a:rPr lang="en-US" dirty="0"/>
              <a:t>Click to insert text</a:t>
            </a:r>
            <a:endParaRPr lang="en-SG" dirty="0"/>
          </a:p>
          <a:p>
            <a:pPr lvl="0"/>
            <a:endParaRPr lang="en-SG" dirty="0"/>
          </a:p>
        </p:txBody>
      </p:sp>
      <p:sp>
        <p:nvSpPr>
          <p:cNvPr id="51" name="Rectangle 50"/>
          <p:cNvSpPr/>
          <p:nvPr userDrawn="1"/>
        </p:nvSpPr>
        <p:spPr>
          <a:xfrm>
            <a:off x="2536725" y="3331456"/>
            <a:ext cx="1669963" cy="5470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SG" dirty="0"/>
          </a:p>
        </p:txBody>
      </p:sp>
      <p:sp>
        <p:nvSpPr>
          <p:cNvPr id="52" name="Text Placeholder 32"/>
          <p:cNvSpPr>
            <a:spLocks noGrp="1"/>
          </p:cNvSpPr>
          <p:nvPr>
            <p:ph type="body" sz="quarter" idx="27" hasCustomPrompt="1"/>
          </p:nvPr>
        </p:nvSpPr>
        <p:spPr>
          <a:xfrm>
            <a:off x="2539379" y="3487113"/>
            <a:ext cx="1667309" cy="275445"/>
          </a:xfrm>
        </p:spPr>
        <p:txBody>
          <a:bodyPr>
            <a:normAutofit/>
          </a:bodyPr>
          <a:lstStyle>
            <a:lvl1pPr marL="0" indent="0" algn="ctr">
              <a:buNone/>
              <a:defRPr sz="1200" b="1" i="0" u="none" baseline="0">
                <a:solidFill>
                  <a:srgbClr val="FFFF00"/>
                </a:solidFill>
              </a:defRPr>
            </a:lvl1pPr>
          </a:lstStyle>
          <a:p>
            <a:pPr lvl="0"/>
            <a:r>
              <a:rPr lang="en-US" dirty="0"/>
              <a:t>Click to insert Trait</a:t>
            </a:r>
          </a:p>
        </p:txBody>
      </p:sp>
      <p:sp>
        <p:nvSpPr>
          <p:cNvPr id="53" name="Rectangle 52"/>
          <p:cNvSpPr/>
          <p:nvPr userDrawn="1"/>
        </p:nvSpPr>
        <p:spPr>
          <a:xfrm>
            <a:off x="2536725" y="4006031"/>
            <a:ext cx="1669963" cy="5470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SG" dirty="0"/>
          </a:p>
        </p:txBody>
      </p:sp>
      <p:sp>
        <p:nvSpPr>
          <p:cNvPr id="54" name="Text Placeholder 32"/>
          <p:cNvSpPr>
            <a:spLocks noGrp="1"/>
          </p:cNvSpPr>
          <p:nvPr>
            <p:ph type="body" sz="quarter" idx="28" hasCustomPrompt="1"/>
          </p:nvPr>
        </p:nvSpPr>
        <p:spPr>
          <a:xfrm>
            <a:off x="2539379" y="4161688"/>
            <a:ext cx="1667309" cy="275445"/>
          </a:xfrm>
        </p:spPr>
        <p:txBody>
          <a:bodyPr>
            <a:normAutofit/>
          </a:bodyPr>
          <a:lstStyle>
            <a:lvl1pPr marL="0" indent="0" algn="ctr">
              <a:buNone/>
              <a:defRPr sz="1200" b="1" i="0" u="none" baseline="0">
                <a:solidFill>
                  <a:srgbClr val="FFFF00"/>
                </a:solidFill>
              </a:defRPr>
            </a:lvl1pPr>
          </a:lstStyle>
          <a:p>
            <a:pPr lvl="0"/>
            <a:r>
              <a:rPr lang="en-US" dirty="0"/>
              <a:t>Click to insert Trait</a:t>
            </a:r>
          </a:p>
        </p:txBody>
      </p:sp>
      <p:sp>
        <p:nvSpPr>
          <p:cNvPr id="55" name="Rectangle 54"/>
          <p:cNvSpPr/>
          <p:nvPr userDrawn="1"/>
        </p:nvSpPr>
        <p:spPr>
          <a:xfrm>
            <a:off x="2546569" y="4680606"/>
            <a:ext cx="1669963" cy="5470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SG" dirty="0"/>
          </a:p>
        </p:txBody>
      </p:sp>
      <p:sp>
        <p:nvSpPr>
          <p:cNvPr id="56" name="Text Placeholder 32"/>
          <p:cNvSpPr>
            <a:spLocks noGrp="1"/>
          </p:cNvSpPr>
          <p:nvPr>
            <p:ph type="body" sz="quarter" idx="29" hasCustomPrompt="1"/>
          </p:nvPr>
        </p:nvSpPr>
        <p:spPr>
          <a:xfrm>
            <a:off x="2549223" y="4836263"/>
            <a:ext cx="1667309" cy="275445"/>
          </a:xfrm>
        </p:spPr>
        <p:txBody>
          <a:bodyPr>
            <a:normAutofit/>
          </a:bodyPr>
          <a:lstStyle>
            <a:lvl1pPr marL="0" indent="0" algn="ctr">
              <a:buNone/>
              <a:defRPr sz="1200" b="1" i="0" u="none" baseline="0">
                <a:solidFill>
                  <a:srgbClr val="FFFF00"/>
                </a:solidFill>
              </a:defRPr>
            </a:lvl1pPr>
          </a:lstStyle>
          <a:p>
            <a:pPr lvl="0"/>
            <a:r>
              <a:rPr lang="en-US" dirty="0"/>
              <a:t>Click to insert Trait</a:t>
            </a:r>
          </a:p>
        </p:txBody>
      </p:sp>
      <p:sp>
        <p:nvSpPr>
          <p:cNvPr id="59" name="TextBox 58"/>
          <p:cNvSpPr txBox="1"/>
          <p:nvPr userDrawn="1"/>
        </p:nvSpPr>
        <p:spPr>
          <a:xfrm>
            <a:off x="10158884" y="4790890"/>
            <a:ext cx="1646429" cy="369332"/>
          </a:xfrm>
          <a:prstGeom prst="rect">
            <a:avLst/>
          </a:prstGeom>
          <a:noFill/>
        </p:spPr>
        <p:txBody>
          <a:bodyPr wrap="square" rtlCol="0">
            <a:spAutoFit/>
          </a:bodyPr>
          <a:lstStyle/>
          <a:p>
            <a:r>
              <a:rPr lang="en-US" b="1" dirty="0">
                <a:solidFill>
                  <a:schemeClr val="tx2">
                    <a:lumMod val="75000"/>
                  </a:schemeClr>
                </a:solidFill>
              </a:rPr>
              <a:t>Brands</a:t>
            </a:r>
            <a:endParaRPr lang="en-SG" dirty="0">
              <a:solidFill>
                <a:schemeClr val="tx2">
                  <a:lumMod val="75000"/>
                </a:schemeClr>
              </a:solidFill>
            </a:endParaRPr>
          </a:p>
        </p:txBody>
      </p:sp>
      <p:sp>
        <p:nvSpPr>
          <p:cNvPr id="60" name="Content Placeholder 29"/>
          <p:cNvSpPr>
            <a:spLocks noGrp="1"/>
          </p:cNvSpPr>
          <p:nvPr>
            <p:ph sz="quarter" idx="31" hasCustomPrompt="1"/>
          </p:nvPr>
        </p:nvSpPr>
        <p:spPr>
          <a:xfrm>
            <a:off x="10199076" y="5194790"/>
            <a:ext cx="1606237" cy="1566244"/>
          </a:xfrm>
        </p:spPr>
        <p:txBody>
          <a:bodyPr>
            <a:normAutofit/>
          </a:bodyPr>
          <a:lstStyle>
            <a:lvl1pPr marL="171450" indent="-171450">
              <a:buFont typeface="Wingdings" panose="05000000000000000000" pitchFamily="2" charset="2"/>
              <a:buChar char="ü"/>
              <a:defRPr sz="1050"/>
            </a:lvl1pPr>
          </a:lstStyle>
          <a:p>
            <a:pPr lvl="0"/>
            <a:r>
              <a:rPr lang="en-US" dirty="0"/>
              <a:t>Click to insert text</a:t>
            </a:r>
            <a:endParaRPr lang="en-SG" dirty="0"/>
          </a:p>
          <a:p>
            <a:pPr lvl="0"/>
            <a:endParaRPr lang="en-SG" dirty="0"/>
          </a:p>
        </p:txBody>
      </p:sp>
      <p:grpSp>
        <p:nvGrpSpPr>
          <p:cNvPr id="70" name="Group 69"/>
          <p:cNvGrpSpPr/>
          <p:nvPr userDrawn="1"/>
        </p:nvGrpSpPr>
        <p:grpSpPr>
          <a:xfrm>
            <a:off x="3207297" y="5329454"/>
            <a:ext cx="3115184" cy="1446305"/>
            <a:chOff x="7076801" y="4945342"/>
            <a:chExt cx="3115184" cy="1446305"/>
          </a:xfrm>
        </p:grpSpPr>
        <p:sp>
          <p:nvSpPr>
            <p:cNvPr id="61" name="TextBox 60"/>
            <p:cNvSpPr txBox="1"/>
            <p:nvPr userDrawn="1"/>
          </p:nvSpPr>
          <p:spPr>
            <a:xfrm>
              <a:off x="8143399" y="4945342"/>
              <a:ext cx="2048586" cy="369332"/>
            </a:xfrm>
            <a:prstGeom prst="rect">
              <a:avLst/>
            </a:prstGeom>
            <a:noFill/>
          </p:spPr>
          <p:txBody>
            <a:bodyPr wrap="square" rtlCol="0">
              <a:spAutoFit/>
            </a:bodyPr>
            <a:lstStyle/>
            <a:p>
              <a:r>
                <a:rPr lang="en-US" b="1" dirty="0">
                  <a:solidFill>
                    <a:srgbClr val="0070C0"/>
                  </a:solidFill>
                </a:rPr>
                <a:t>Preferred Channels</a:t>
              </a:r>
              <a:endParaRPr lang="en-SG" dirty="0">
                <a:solidFill>
                  <a:srgbClr val="0070C0"/>
                </a:solidFill>
              </a:endParaRPr>
            </a:p>
          </p:txBody>
        </p:sp>
        <p:sp>
          <p:nvSpPr>
            <p:cNvPr id="62" name="TextBox 61"/>
            <p:cNvSpPr txBox="1"/>
            <p:nvPr userDrawn="1"/>
          </p:nvSpPr>
          <p:spPr>
            <a:xfrm>
              <a:off x="7076801" y="5191318"/>
              <a:ext cx="1223631" cy="1200329"/>
            </a:xfrm>
            <a:prstGeom prst="rect">
              <a:avLst/>
            </a:prstGeom>
            <a:noFill/>
          </p:spPr>
          <p:txBody>
            <a:bodyPr wrap="square" rtlCol="0">
              <a:spAutoFit/>
            </a:bodyPr>
            <a:lstStyle/>
            <a:p>
              <a:pPr algn="r">
                <a:lnSpc>
                  <a:spcPct val="150000"/>
                </a:lnSpc>
              </a:pPr>
              <a:r>
                <a:rPr lang="en-US" sz="1200" b="1" dirty="0">
                  <a:solidFill>
                    <a:schemeClr val="tx2">
                      <a:lumMod val="75000"/>
                    </a:schemeClr>
                  </a:solidFill>
                </a:rPr>
                <a:t>Social Media</a:t>
              </a:r>
            </a:p>
            <a:p>
              <a:pPr algn="r">
                <a:lnSpc>
                  <a:spcPct val="150000"/>
                </a:lnSpc>
              </a:pPr>
              <a:r>
                <a:rPr lang="en-US" sz="1200" b="1" dirty="0">
                  <a:solidFill>
                    <a:schemeClr val="tx2">
                      <a:lumMod val="75000"/>
                    </a:schemeClr>
                  </a:solidFill>
                </a:rPr>
                <a:t>Mobile</a:t>
              </a:r>
            </a:p>
            <a:p>
              <a:pPr algn="r">
                <a:lnSpc>
                  <a:spcPct val="150000"/>
                </a:lnSpc>
              </a:pPr>
              <a:r>
                <a:rPr lang="en-US" sz="1200" b="1" dirty="0">
                  <a:solidFill>
                    <a:schemeClr val="tx2">
                      <a:lumMod val="75000"/>
                    </a:schemeClr>
                  </a:solidFill>
                </a:rPr>
                <a:t>Email</a:t>
              </a:r>
            </a:p>
            <a:p>
              <a:pPr algn="r">
                <a:lnSpc>
                  <a:spcPct val="150000"/>
                </a:lnSpc>
              </a:pPr>
              <a:r>
                <a:rPr lang="en-US" sz="1200" b="1" dirty="0">
                  <a:solidFill>
                    <a:schemeClr val="tx2">
                      <a:lumMod val="75000"/>
                    </a:schemeClr>
                  </a:solidFill>
                </a:rPr>
                <a:t>Traditional</a:t>
              </a:r>
              <a:r>
                <a:rPr lang="en-US" sz="1200" b="1" baseline="0" dirty="0">
                  <a:solidFill>
                    <a:schemeClr val="tx2">
                      <a:lumMod val="75000"/>
                    </a:schemeClr>
                  </a:solidFill>
                </a:rPr>
                <a:t> Ads</a:t>
              </a:r>
              <a:endParaRPr lang="en-SG" sz="1200" b="1" dirty="0">
                <a:solidFill>
                  <a:schemeClr val="tx2">
                    <a:lumMod val="75000"/>
                  </a:schemeClr>
                </a:solidFill>
              </a:endParaRPr>
            </a:p>
          </p:txBody>
        </p:sp>
      </p:grpSp>
      <p:grpSp>
        <p:nvGrpSpPr>
          <p:cNvPr id="68" name="Group 67"/>
          <p:cNvGrpSpPr/>
          <p:nvPr userDrawn="1"/>
        </p:nvGrpSpPr>
        <p:grpSpPr>
          <a:xfrm>
            <a:off x="4262973" y="3223139"/>
            <a:ext cx="2732726" cy="1980043"/>
            <a:chOff x="2536724" y="3305454"/>
            <a:chExt cx="2732726" cy="1980043"/>
          </a:xfrm>
        </p:grpSpPr>
        <p:sp>
          <p:nvSpPr>
            <p:cNvPr id="44" name="TextBox 43"/>
            <p:cNvSpPr txBox="1"/>
            <p:nvPr userDrawn="1"/>
          </p:nvSpPr>
          <p:spPr>
            <a:xfrm>
              <a:off x="2536724" y="3305454"/>
              <a:ext cx="1252138" cy="369332"/>
            </a:xfrm>
            <a:prstGeom prst="rect">
              <a:avLst/>
            </a:prstGeom>
            <a:noFill/>
          </p:spPr>
          <p:txBody>
            <a:bodyPr wrap="none" rtlCol="0">
              <a:spAutoFit/>
            </a:bodyPr>
            <a:lstStyle/>
            <a:p>
              <a:r>
                <a:rPr lang="en-US" b="1" dirty="0">
                  <a:solidFill>
                    <a:schemeClr val="tx2">
                      <a:lumMod val="75000"/>
                    </a:schemeClr>
                  </a:solidFill>
                </a:rPr>
                <a:t>Personality</a:t>
              </a:r>
              <a:endParaRPr lang="en-SG" dirty="0">
                <a:solidFill>
                  <a:schemeClr val="tx2">
                    <a:lumMod val="75000"/>
                  </a:schemeClr>
                </a:solidFill>
              </a:endParaRPr>
            </a:p>
          </p:txBody>
        </p:sp>
        <p:grpSp>
          <p:nvGrpSpPr>
            <p:cNvPr id="67" name="Group 66"/>
            <p:cNvGrpSpPr/>
            <p:nvPr userDrawn="1"/>
          </p:nvGrpSpPr>
          <p:grpSpPr>
            <a:xfrm>
              <a:off x="2547646" y="3618643"/>
              <a:ext cx="2721804" cy="1666854"/>
              <a:chOff x="2547646" y="3618643"/>
              <a:chExt cx="2721804" cy="1666854"/>
            </a:xfrm>
          </p:grpSpPr>
          <p:sp>
            <p:nvSpPr>
              <p:cNvPr id="46" name="TextBox 45"/>
              <p:cNvSpPr txBox="1"/>
              <p:nvPr userDrawn="1"/>
            </p:nvSpPr>
            <p:spPr>
              <a:xfrm>
                <a:off x="2547646" y="3618643"/>
                <a:ext cx="2721804" cy="1600438"/>
              </a:xfrm>
              <a:prstGeom prst="rect">
                <a:avLst/>
              </a:prstGeom>
              <a:noFill/>
            </p:spPr>
            <p:txBody>
              <a:bodyPr wrap="square" rtlCol="0">
                <a:spAutoFit/>
              </a:bodyPr>
              <a:lstStyle/>
              <a:p>
                <a:r>
                  <a:rPr lang="en-US" sz="1400" b="0" dirty="0">
                    <a:solidFill>
                      <a:schemeClr val="tx2">
                        <a:lumMod val="75000"/>
                      </a:schemeClr>
                    </a:solidFill>
                  </a:rPr>
                  <a:t>Introvert		 Extrovert</a:t>
                </a:r>
              </a:p>
              <a:p>
                <a:endParaRPr lang="en-US" sz="1400" b="0" dirty="0">
                  <a:solidFill>
                    <a:schemeClr val="tx2">
                      <a:lumMod val="75000"/>
                    </a:schemeClr>
                  </a:solidFill>
                </a:endParaRPr>
              </a:p>
              <a:p>
                <a:r>
                  <a:rPr lang="en-US" sz="1400" b="0" dirty="0">
                    <a:solidFill>
                      <a:schemeClr val="tx2">
                        <a:lumMod val="75000"/>
                      </a:schemeClr>
                    </a:solidFill>
                  </a:rPr>
                  <a:t>Analytical		  Creative</a:t>
                </a:r>
              </a:p>
              <a:p>
                <a:endParaRPr lang="en-US" sz="1400" b="0" dirty="0">
                  <a:solidFill>
                    <a:schemeClr val="tx2">
                      <a:lumMod val="75000"/>
                    </a:schemeClr>
                  </a:solidFill>
                </a:endParaRPr>
              </a:p>
              <a:p>
                <a:r>
                  <a:rPr lang="en-US" sz="1400" b="0" dirty="0">
                    <a:solidFill>
                      <a:schemeClr val="tx2">
                        <a:lumMod val="75000"/>
                      </a:schemeClr>
                    </a:solidFill>
                  </a:rPr>
                  <a:t>Loyal		       Fickle</a:t>
                </a:r>
              </a:p>
              <a:p>
                <a:r>
                  <a:rPr lang="en-US" sz="1400" b="0" dirty="0">
                    <a:solidFill>
                      <a:schemeClr val="tx2">
                        <a:lumMod val="75000"/>
                      </a:schemeClr>
                    </a:solidFill>
                  </a:rPr>
                  <a:t>	</a:t>
                </a:r>
              </a:p>
              <a:p>
                <a:r>
                  <a:rPr lang="en-US" sz="1400" b="0" dirty="0">
                    <a:solidFill>
                      <a:schemeClr val="tx2">
                        <a:lumMod val="75000"/>
                      </a:schemeClr>
                    </a:solidFill>
                  </a:rPr>
                  <a:t>Passive		      Active</a:t>
                </a:r>
                <a:endParaRPr lang="en-SG" sz="1400" b="0" dirty="0">
                  <a:solidFill>
                    <a:schemeClr val="tx2">
                      <a:lumMod val="75000"/>
                    </a:schemeClr>
                  </a:solidFill>
                </a:endParaRPr>
              </a:p>
            </p:txBody>
          </p:sp>
          <p:sp>
            <p:nvSpPr>
              <p:cNvPr id="47" name="Rectangle 46"/>
              <p:cNvSpPr/>
              <p:nvPr userDrawn="1"/>
            </p:nvSpPr>
            <p:spPr>
              <a:xfrm>
                <a:off x="2645798" y="3864971"/>
                <a:ext cx="2526704"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4" name="Rectangle 63"/>
              <p:cNvSpPr/>
              <p:nvPr userDrawn="1"/>
            </p:nvSpPr>
            <p:spPr>
              <a:xfrm>
                <a:off x="2645196" y="4291639"/>
                <a:ext cx="2526704"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5" name="Rectangle 64"/>
              <p:cNvSpPr/>
              <p:nvPr userDrawn="1"/>
            </p:nvSpPr>
            <p:spPr>
              <a:xfrm>
                <a:off x="2645196" y="4728093"/>
                <a:ext cx="2526704"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6" name="Rectangle 65"/>
              <p:cNvSpPr/>
              <p:nvPr userDrawn="1"/>
            </p:nvSpPr>
            <p:spPr>
              <a:xfrm>
                <a:off x="2645196" y="5141270"/>
                <a:ext cx="2526704"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grpSp>
        <p:nvGrpSpPr>
          <p:cNvPr id="86" name="Group 85"/>
          <p:cNvGrpSpPr/>
          <p:nvPr userDrawn="1"/>
        </p:nvGrpSpPr>
        <p:grpSpPr>
          <a:xfrm>
            <a:off x="7069851" y="4787432"/>
            <a:ext cx="2877140" cy="2070564"/>
            <a:chOff x="7164260" y="4787432"/>
            <a:chExt cx="2877140" cy="2070564"/>
          </a:xfrm>
        </p:grpSpPr>
        <p:grpSp>
          <p:nvGrpSpPr>
            <p:cNvPr id="72" name="Group 71"/>
            <p:cNvGrpSpPr/>
            <p:nvPr userDrawn="1"/>
          </p:nvGrpSpPr>
          <p:grpSpPr>
            <a:xfrm>
              <a:off x="7164260" y="4787432"/>
              <a:ext cx="2263617" cy="2070564"/>
              <a:chOff x="2728104" y="3343034"/>
              <a:chExt cx="2263617" cy="2306934"/>
            </a:xfrm>
          </p:grpSpPr>
          <p:sp>
            <p:nvSpPr>
              <p:cNvPr id="73" name="TextBox 72"/>
              <p:cNvSpPr txBox="1"/>
              <p:nvPr userDrawn="1"/>
            </p:nvSpPr>
            <p:spPr>
              <a:xfrm>
                <a:off x="3653598" y="3343034"/>
                <a:ext cx="1338123" cy="369332"/>
              </a:xfrm>
              <a:prstGeom prst="rect">
                <a:avLst/>
              </a:prstGeom>
              <a:noFill/>
            </p:spPr>
            <p:txBody>
              <a:bodyPr wrap="none" rtlCol="0">
                <a:spAutoFit/>
              </a:bodyPr>
              <a:lstStyle/>
              <a:p>
                <a:r>
                  <a:rPr lang="en-US" b="1" dirty="0">
                    <a:solidFill>
                      <a:srgbClr val="0070C0"/>
                    </a:solidFill>
                  </a:rPr>
                  <a:t>Motivations</a:t>
                </a:r>
                <a:endParaRPr lang="en-SG" dirty="0">
                  <a:solidFill>
                    <a:srgbClr val="0070C0"/>
                  </a:solidFill>
                </a:endParaRPr>
              </a:p>
            </p:txBody>
          </p:sp>
          <p:sp>
            <p:nvSpPr>
              <p:cNvPr id="75" name="TextBox 74"/>
              <p:cNvSpPr txBox="1"/>
              <p:nvPr userDrawn="1"/>
            </p:nvSpPr>
            <p:spPr>
              <a:xfrm>
                <a:off x="2728104" y="3618643"/>
                <a:ext cx="1072297" cy="2031325"/>
              </a:xfrm>
              <a:prstGeom prst="rect">
                <a:avLst/>
              </a:prstGeom>
              <a:noFill/>
            </p:spPr>
            <p:txBody>
              <a:bodyPr wrap="square" rtlCol="0">
                <a:spAutoFit/>
              </a:bodyPr>
              <a:lstStyle/>
              <a:p>
                <a:pPr algn="r">
                  <a:lnSpc>
                    <a:spcPct val="150000"/>
                  </a:lnSpc>
                </a:pPr>
                <a:r>
                  <a:rPr lang="en-US" sz="1200" b="1" dirty="0">
                    <a:solidFill>
                      <a:schemeClr val="tx2">
                        <a:lumMod val="75000"/>
                      </a:schemeClr>
                    </a:solidFill>
                  </a:rPr>
                  <a:t>Price</a:t>
                </a:r>
              </a:p>
              <a:p>
                <a:pPr algn="r">
                  <a:lnSpc>
                    <a:spcPct val="150000"/>
                  </a:lnSpc>
                </a:pPr>
                <a:r>
                  <a:rPr lang="en-US" sz="1200" b="1" dirty="0">
                    <a:solidFill>
                      <a:schemeClr val="tx2">
                        <a:lumMod val="75000"/>
                      </a:schemeClr>
                    </a:solidFill>
                  </a:rPr>
                  <a:t>Comfort</a:t>
                </a:r>
              </a:p>
              <a:p>
                <a:pPr algn="r">
                  <a:lnSpc>
                    <a:spcPct val="150000"/>
                  </a:lnSpc>
                </a:pPr>
                <a:r>
                  <a:rPr lang="en-US" sz="1200" b="1" dirty="0">
                    <a:solidFill>
                      <a:schemeClr val="tx2">
                        <a:lumMod val="75000"/>
                      </a:schemeClr>
                    </a:solidFill>
                  </a:rPr>
                  <a:t>Convenience</a:t>
                </a:r>
              </a:p>
              <a:p>
                <a:pPr algn="r">
                  <a:lnSpc>
                    <a:spcPct val="150000"/>
                  </a:lnSpc>
                </a:pPr>
                <a:r>
                  <a:rPr lang="en-US" sz="1200" b="1" dirty="0">
                    <a:solidFill>
                      <a:schemeClr val="tx2">
                        <a:lumMod val="75000"/>
                      </a:schemeClr>
                    </a:solidFill>
                  </a:rPr>
                  <a:t>Speed</a:t>
                </a:r>
              </a:p>
              <a:p>
                <a:pPr algn="r">
                  <a:lnSpc>
                    <a:spcPct val="150000"/>
                  </a:lnSpc>
                </a:pPr>
                <a:r>
                  <a:rPr lang="en-US" sz="1200" b="1" dirty="0">
                    <a:solidFill>
                      <a:schemeClr val="tx2">
                        <a:lumMod val="75000"/>
                      </a:schemeClr>
                    </a:solidFill>
                  </a:rPr>
                  <a:t>Loyalty/Miles</a:t>
                </a:r>
              </a:p>
              <a:p>
                <a:pPr algn="r">
                  <a:lnSpc>
                    <a:spcPct val="150000"/>
                  </a:lnSpc>
                </a:pPr>
                <a:r>
                  <a:rPr lang="en-US" sz="1200" b="1" dirty="0">
                    <a:solidFill>
                      <a:schemeClr val="tx2">
                        <a:lumMod val="75000"/>
                      </a:schemeClr>
                    </a:solidFill>
                  </a:rPr>
                  <a:t>Social</a:t>
                </a:r>
              </a:p>
              <a:p>
                <a:pPr algn="r">
                  <a:lnSpc>
                    <a:spcPct val="150000"/>
                  </a:lnSpc>
                </a:pPr>
                <a:endParaRPr lang="en-SG" sz="1200" b="1" dirty="0">
                  <a:solidFill>
                    <a:schemeClr val="tx2">
                      <a:lumMod val="75000"/>
                    </a:schemeClr>
                  </a:solidFill>
                </a:endParaRPr>
              </a:p>
            </p:txBody>
          </p:sp>
        </p:grpSp>
        <p:sp>
          <p:nvSpPr>
            <p:cNvPr id="80" name="Rectangle 79"/>
            <p:cNvSpPr/>
            <p:nvPr userDrawn="1"/>
          </p:nvSpPr>
          <p:spPr>
            <a:xfrm>
              <a:off x="8196606" y="5203040"/>
              <a:ext cx="1844794"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1" name="Rectangle 80"/>
            <p:cNvSpPr/>
            <p:nvPr userDrawn="1"/>
          </p:nvSpPr>
          <p:spPr>
            <a:xfrm>
              <a:off x="8196605" y="5469432"/>
              <a:ext cx="1844795"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2" name="Rectangle 81"/>
            <p:cNvSpPr/>
            <p:nvPr userDrawn="1"/>
          </p:nvSpPr>
          <p:spPr>
            <a:xfrm>
              <a:off x="8196605" y="5741456"/>
              <a:ext cx="1844795"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3" name="Rectangle 82"/>
            <p:cNvSpPr/>
            <p:nvPr userDrawn="1"/>
          </p:nvSpPr>
          <p:spPr>
            <a:xfrm>
              <a:off x="8196605" y="6024264"/>
              <a:ext cx="1844795"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4" name="Rectangle 83"/>
            <p:cNvSpPr/>
            <p:nvPr userDrawn="1"/>
          </p:nvSpPr>
          <p:spPr>
            <a:xfrm>
              <a:off x="8196608" y="6289970"/>
              <a:ext cx="1844792"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5" name="Rectangle 84"/>
            <p:cNvSpPr/>
            <p:nvPr userDrawn="1"/>
          </p:nvSpPr>
          <p:spPr>
            <a:xfrm>
              <a:off x="8196604" y="6572778"/>
              <a:ext cx="1844796"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Tree>
    <p:extLst>
      <p:ext uri="{BB962C8B-B14F-4D97-AF65-F5344CB8AC3E}">
        <p14:creationId xmlns:p14="http://schemas.microsoft.com/office/powerpoint/2010/main" val="172625599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BC86A9-D0F7-4691-8439-80FE4663593A}" type="datetimeFigureOut">
              <a:rPr lang="en-SG" smtClean="0"/>
              <a:t>4/6/2021</a:t>
            </a:fld>
            <a:endParaRPr lang="en-S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D6A2D3-E894-47BC-84F1-C33D0C47EEF5}" type="slidenum">
              <a:rPr lang="en-SG" smtClean="0"/>
              <a:t>‹#›</a:t>
            </a:fld>
            <a:endParaRPr lang="en-SG"/>
          </a:p>
        </p:txBody>
      </p:sp>
    </p:spTree>
    <p:extLst>
      <p:ext uri="{BB962C8B-B14F-4D97-AF65-F5344CB8AC3E}">
        <p14:creationId xmlns:p14="http://schemas.microsoft.com/office/powerpoint/2010/main" val="1504125979"/>
      </p:ext>
    </p:extLst>
  </p:cSld>
  <p:clrMap bg1="lt1" tx1="dk1" bg2="lt2" tx2="dk2" accent1="accent1" accent2="accent2" accent3="accent3" accent4="accent4" accent5="accent5" accent6="accent6" hlink="hlink" folHlink="folHlink"/>
  <p:sldLayoutIdLst>
    <p:sldLayoutId id="21474836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Placeholder 42"/>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4142" b="4142"/>
          <a:stretch>
            <a:fillRect/>
          </a:stretch>
        </p:blipFill>
        <p:spPr/>
      </p:pic>
      <p:sp>
        <p:nvSpPr>
          <p:cNvPr id="3" name="Title 2"/>
          <p:cNvSpPr>
            <a:spLocks noGrp="1"/>
          </p:cNvSpPr>
          <p:nvPr>
            <p:ph type="title"/>
          </p:nvPr>
        </p:nvSpPr>
        <p:spPr/>
        <p:txBody>
          <a:bodyPr>
            <a:normAutofit fontScale="90000"/>
          </a:bodyPr>
          <a:lstStyle/>
          <a:p>
            <a:r>
              <a:rPr lang="en-US" dirty="0" err="1"/>
              <a:t>robert</a:t>
            </a:r>
            <a:r>
              <a:rPr lang="en-US" dirty="0"/>
              <a:t> smith							</a:t>
            </a:r>
            <a:r>
              <a:rPr lang="en-US" sz="2700" dirty="0">
                <a:solidFill>
                  <a:srgbClr val="FF0000"/>
                </a:solidFill>
              </a:rPr>
              <a:t>FOR REFERENCE ONLY</a:t>
            </a:r>
            <a:endParaRPr lang="en-SG" sz="2700" dirty="0">
              <a:solidFill>
                <a:srgbClr val="FF0000"/>
              </a:solidFill>
            </a:endParaRPr>
          </a:p>
        </p:txBody>
      </p:sp>
      <p:sp>
        <p:nvSpPr>
          <p:cNvPr id="4" name="Text Placeholder 3"/>
          <p:cNvSpPr>
            <a:spLocks noGrp="1"/>
          </p:cNvSpPr>
          <p:nvPr>
            <p:ph type="body" sz="quarter" idx="14"/>
          </p:nvPr>
        </p:nvSpPr>
        <p:spPr/>
        <p:txBody>
          <a:bodyPr>
            <a:normAutofit/>
          </a:bodyPr>
          <a:lstStyle/>
          <a:p>
            <a:pPr algn="just">
              <a:lnSpc>
                <a:spcPct val="150000"/>
              </a:lnSpc>
            </a:pPr>
            <a:r>
              <a:rPr lang="en-SG" sz="1100" dirty="0"/>
              <a:t>Robert is a Regional Sales Director who travels 4  - 8 times each month for work. He has a specific region in which he travels, and he often visits the same cities and stays at the same hotel with specific requirements. He is frustrated by the fact that no matter how frequently he takes similar trips, he spends hours of his day booking travel. He expects her travel solutions to be as organized as he is.</a:t>
            </a:r>
          </a:p>
        </p:txBody>
      </p:sp>
      <p:sp>
        <p:nvSpPr>
          <p:cNvPr id="5" name="Content Placeholder 4"/>
          <p:cNvSpPr>
            <a:spLocks noGrp="1"/>
          </p:cNvSpPr>
          <p:nvPr>
            <p:ph sz="quarter" idx="18"/>
          </p:nvPr>
        </p:nvSpPr>
        <p:spPr/>
        <p:txBody>
          <a:bodyPr/>
          <a:lstStyle/>
          <a:p>
            <a:r>
              <a:rPr lang="en-US" sz="1400" dirty="0"/>
              <a:t>To spend less time booking air tickets</a:t>
            </a:r>
          </a:p>
          <a:p>
            <a:r>
              <a:rPr lang="en-US" sz="1400" dirty="0"/>
              <a:t>To spend less time booking accommodations with same requirements</a:t>
            </a:r>
          </a:p>
          <a:p>
            <a:r>
              <a:rPr lang="en-US" sz="1400" dirty="0"/>
              <a:t>To narrow options quickly</a:t>
            </a:r>
          </a:p>
          <a:p>
            <a:endParaRPr lang="en-SG" dirty="0"/>
          </a:p>
        </p:txBody>
      </p:sp>
      <p:sp>
        <p:nvSpPr>
          <p:cNvPr id="6" name="Content Placeholder 5"/>
          <p:cNvSpPr>
            <a:spLocks noGrp="1"/>
          </p:cNvSpPr>
          <p:nvPr>
            <p:ph sz="quarter" idx="19"/>
          </p:nvPr>
        </p:nvSpPr>
        <p:spPr/>
        <p:txBody>
          <a:bodyPr>
            <a:normAutofit/>
          </a:bodyPr>
          <a:lstStyle/>
          <a:p>
            <a:pPr>
              <a:lnSpc>
                <a:spcPct val="150000"/>
              </a:lnSpc>
            </a:pPr>
            <a:r>
              <a:rPr lang="en-US" sz="1400" dirty="0"/>
              <a:t>Spent too much time searching the web for options</a:t>
            </a:r>
          </a:p>
          <a:p>
            <a:pPr>
              <a:lnSpc>
                <a:spcPct val="150000"/>
              </a:lnSpc>
            </a:pPr>
            <a:r>
              <a:rPr lang="en-US" sz="1400" dirty="0"/>
              <a:t>Time taken to do the necessary bookings -  too long</a:t>
            </a:r>
          </a:p>
          <a:p>
            <a:pPr>
              <a:lnSpc>
                <a:spcPct val="150000"/>
              </a:lnSpc>
            </a:pPr>
            <a:r>
              <a:rPr lang="en-US" sz="1400" dirty="0"/>
              <a:t>Does not like repetitive tasks</a:t>
            </a:r>
            <a:endParaRPr lang="en-SG" sz="1400" dirty="0"/>
          </a:p>
        </p:txBody>
      </p:sp>
      <p:sp>
        <p:nvSpPr>
          <p:cNvPr id="7" name="Text Placeholder 6"/>
          <p:cNvSpPr>
            <a:spLocks noGrp="1"/>
          </p:cNvSpPr>
          <p:nvPr>
            <p:ph type="body" sz="quarter" idx="20"/>
          </p:nvPr>
        </p:nvSpPr>
        <p:spPr/>
        <p:txBody>
          <a:bodyPr>
            <a:normAutofit/>
          </a:bodyPr>
          <a:lstStyle/>
          <a:p>
            <a:r>
              <a:rPr lang="en-US" sz="2000" dirty="0"/>
              <a:t>“ Looking for an app that will simplify and speed	 up the planning of my numerous business trips.”</a:t>
            </a:r>
            <a:endParaRPr lang="en-SG" sz="2000" dirty="0"/>
          </a:p>
        </p:txBody>
      </p:sp>
      <p:sp>
        <p:nvSpPr>
          <p:cNvPr id="8" name="Text Placeholder 7"/>
          <p:cNvSpPr>
            <a:spLocks noGrp="1"/>
          </p:cNvSpPr>
          <p:nvPr>
            <p:ph type="body" sz="quarter" idx="22"/>
          </p:nvPr>
        </p:nvSpPr>
        <p:spPr/>
        <p:txBody>
          <a:bodyPr/>
          <a:lstStyle/>
          <a:p>
            <a:r>
              <a:rPr lang="en-US" dirty="0"/>
              <a:t>38</a:t>
            </a:r>
            <a:endParaRPr lang="en-SG" dirty="0"/>
          </a:p>
        </p:txBody>
      </p:sp>
      <p:sp>
        <p:nvSpPr>
          <p:cNvPr id="9" name="Text Placeholder 8"/>
          <p:cNvSpPr>
            <a:spLocks noGrp="1"/>
          </p:cNvSpPr>
          <p:nvPr>
            <p:ph type="body" sz="quarter" idx="23"/>
          </p:nvPr>
        </p:nvSpPr>
        <p:spPr/>
        <p:txBody>
          <a:bodyPr/>
          <a:lstStyle/>
          <a:p>
            <a:r>
              <a:rPr lang="en-US" dirty="0"/>
              <a:t>Regional Sales Director</a:t>
            </a:r>
            <a:endParaRPr lang="en-SG" dirty="0"/>
          </a:p>
        </p:txBody>
      </p:sp>
      <p:sp>
        <p:nvSpPr>
          <p:cNvPr id="10" name="Text Placeholder 9"/>
          <p:cNvSpPr>
            <a:spLocks noGrp="1"/>
          </p:cNvSpPr>
          <p:nvPr>
            <p:ph type="body" sz="quarter" idx="24"/>
          </p:nvPr>
        </p:nvSpPr>
        <p:spPr/>
        <p:txBody>
          <a:bodyPr/>
          <a:lstStyle/>
          <a:p>
            <a:r>
              <a:rPr lang="en-US" dirty="0"/>
              <a:t>Single</a:t>
            </a:r>
            <a:endParaRPr lang="en-SG" dirty="0"/>
          </a:p>
        </p:txBody>
      </p:sp>
      <p:sp>
        <p:nvSpPr>
          <p:cNvPr id="11" name="Text Placeholder 10"/>
          <p:cNvSpPr>
            <a:spLocks noGrp="1"/>
          </p:cNvSpPr>
          <p:nvPr>
            <p:ph type="body" sz="quarter" idx="25"/>
          </p:nvPr>
        </p:nvSpPr>
        <p:spPr/>
        <p:txBody>
          <a:bodyPr/>
          <a:lstStyle/>
          <a:p>
            <a:r>
              <a:rPr lang="en-US" dirty="0"/>
              <a:t>Singapore</a:t>
            </a:r>
            <a:endParaRPr lang="en-SG" dirty="0"/>
          </a:p>
        </p:txBody>
      </p:sp>
      <p:sp>
        <p:nvSpPr>
          <p:cNvPr id="12" name="Text Placeholder 11"/>
          <p:cNvSpPr>
            <a:spLocks noGrp="1"/>
          </p:cNvSpPr>
          <p:nvPr>
            <p:ph type="body" sz="quarter" idx="26"/>
          </p:nvPr>
        </p:nvSpPr>
        <p:spPr/>
        <p:txBody>
          <a:bodyPr/>
          <a:lstStyle/>
          <a:p>
            <a:r>
              <a:rPr lang="en-US" dirty="0"/>
              <a:t>Frequent Flyer</a:t>
            </a:r>
            <a:endParaRPr lang="en-SG" dirty="0"/>
          </a:p>
        </p:txBody>
      </p:sp>
      <p:sp>
        <p:nvSpPr>
          <p:cNvPr id="13" name="Text Placeholder 12"/>
          <p:cNvSpPr>
            <a:spLocks noGrp="1"/>
          </p:cNvSpPr>
          <p:nvPr>
            <p:ph type="body" sz="quarter" idx="27"/>
          </p:nvPr>
        </p:nvSpPr>
        <p:spPr/>
        <p:txBody>
          <a:bodyPr/>
          <a:lstStyle/>
          <a:p>
            <a:r>
              <a:rPr lang="en-US" dirty="0"/>
              <a:t>Organized</a:t>
            </a:r>
            <a:endParaRPr lang="en-SG" dirty="0"/>
          </a:p>
        </p:txBody>
      </p:sp>
      <p:sp>
        <p:nvSpPr>
          <p:cNvPr id="14" name="Text Placeholder 13"/>
          <p:cNvSpPr>
            <a:spLocks noGrp="1"/>
          </p:cNvSpPr>
          <p:nvPr>
            <p:ph type="body" sz="quarter" idx="28"/>
          </p:nvPr>
        </p:nvSpPr>
        <p:spPr/>
        <p:txBody>
          <a:bodyPr/>
          <a:lstStyle/>
          <a:p>
            <a:r>
              <a:rPr lang="en-US" dirty="0"/>
              <a:t>Practical</a:t>
            </a:r>
            <a:endParaRPr lang="en-SG" dirty="0"/>
          </a:p>
        </p:txBody>
      </p:sp>
      <p:sp>
        <p:nvSpPr>
          <p:cNvPr id="15" name="Text Placeholder 14"/>
          <p:cNvSpPr>
            <a:spLocks noGrp="1"/>
          </p:cNvSpPr>
          <p:nvPr>
            <p:ph type="body" sz="quarter" idx="29"/>
          </p:nvPr>
        </p:nvSpPr>
        <p:spPr/>
        <p:txBody>
          <a:bodyPr/>
          <a:lstStyle/>
          <a:p>
            <a:r>
              <a:rPr lang="en-US" dirty="0"/>
              <a:t>Sociable</a:t>
            </a:r>
            <a:endParaRPr lang="en-SG" dirty="0"/>
          </a:p>
        </p:txBody>
      </p:sp>
      <p:sp>
        <p:nvSpPr>
          <p:cNvPr id="16" name="Content Placeholder 15"/>
          <p:cNvSpPr>
            <a:spLocks noGrp="1"/>
          </p:cNvSpPr>
          <p:nvPr>
            <p:ph sz="quarter" idx="31"/>
          </p:nvPr>
        </p:nvSpPr>
        <p:spPr/>
        <p:txBody>
          <a:bodyPr>
            <a:normAutofit/>
          </a:bodyPr>
          <a:lstStyle/>
          <a:p>
            <a:r>
              <a:rPr lang="en-US" sz="1600" dirty="0"/>
              <a:t>Expedia</a:t>
            </a:r>
          </a:p>
          <a:p>
            <a:r>
              <a:rPr lang="en-US" sz="1600" dirty="0" err="1"/>
              <a:t>Trivago</a:t>
            </a:r>
            <a:endParaRPr lang="en-US" sz="1600" dirty="0"/>
          </a:p>
          <a:p>
            <a:r>
              <a:rPr lang="en-US" sz="1600" dirty="0" err="1"/>
              <a:t>Agoda</a:t>
            </a:r>
            <a:endParaRPr lang="en-SG" sz="1600" dirty="0"/>
          </a:p>
        </p:txBody>
      </p:sp>
      <p:grpSp>
        <p:nvGrpSpPr>
          <p:cNvPr id="23" name="Group 22"/>
          <p:cNvGrpSpPr/>
          <p:nvPr/>
        </p:nvGrpSpPr>
        <p:grpSpPr>
          <a:xfrm>
            <a:off x="4462124" y="5960671"/>
            <a:ext cx="1679561" cy="188897"/>
            <a:chOff x="4462124" y="5683919"/>
            <a:chExt cx="1679561" cy="188897"/>
          </a:xfrm>
        </p:grpSpPr>
        <p:sp>
          <p:nvSpPr>
            <p:cNvPr id="24" name="5-Point Star 23"/>
            <p:cNvSpPr/>
            <p:nvPr/>
          </p:nvSpPr>
          <p:spPr>
            <a:xfrm>
              <a:off x="4462124" y="56851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 name="5-Point Star 24"/>
            <p:cNvSpPr/>
            <p:nvPr/>
          </p:nvSpPr>
          <p:spPr>
            <a:xfrm>
              <a:off x="4835090" y="56851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5-Point Star 25"/>
            <p:cNvSpPr/>
            <p:nvPr/>
          </p:nvSpPr>
          <p:spPr>
            <a:xfrm>
              <a:off x="5208056" y="5683921"/>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5-Point Star 26"/>
            <p:cNvSpPr/>
            <p:nvPr/>
          </p:nvSpPr>
          <p:spPr>
            <a:xfrm>
              <a:off x="5581022" y="5683920"/>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5-Point Star 27"/>
            <p:cNvSpPr/>
            <p:nvPr/>
          </p:nvSpPr>
          <p:spPr>
            <a:xfrm>
              <a:off x="5953988" y="56839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29" name="Group 28"/>
          <p:cNvGrpSpPr/>
          <p:nvPr/>
        </p:nvGrpSpPr>
        <p:grpSpPr>
          <a:xfrm>
            <a:off x="4462124" y="6244662"/>
            <a:ext cx="933629" cy="188895"/>
            <a:chOff x="4462124" y="5683921"/>
            <a:chExt cx="933629" cy="188895"/>
          </a:xfrm>
        </p:grpSpPr>
        <p:sp>
          <p:nvSpPr>
            <p:cNvPr id="30" name="5-Point Star 29"/>
            <p:cNvSpPr/>
            <p:nvPr/>
          </p:nvSpPr>
          <p:spPr>
            <a:xfrm>
              <a:off x="4462124" y="56851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1" name="5-Point Star 30"/>
            <p:cNvSpPr/>
            <p:nvPr/>
          </p:nvSpPr>
          <p:spPr>
            <a:xfrm>
              <a:off x="4835090" y="56851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2" name="5-Point Star 31"/>
            <p:cNvSpPr/>
            <p:nvPr/>
          </p:nvSpPr>
          <p:spPr>
            <a:xfrm>
              <a:off x="5208056" y="5683921"/>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36" name="5-Point Star 35"/>
          <p:cNvSpPr/>
          <p:nvPr/>
        </p:nvSpPr>
        <p:spPr>
          <a:xfrm>
            <a:off x="4462124" y="6508960"/>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4" name="Rectangle 43"/>
          <p:cNvSpPr/>
          <p:nvPr/>
        </p:nvSpPr>
        <p:spPr>
          <a:xfrm>
            <a:off x="6047836" y="3787140"/>
            <a:ext cx="185269" cy="14097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5" name="Rectangle 44"/>
          <p:cNvSpPr/>
          <p:nvPr/>
        </p:nvSpPr>
        <p:spPr>
          <a:xfrm>
            <a:off x="4580257" y="4206943"/>
            <a:ext cx="185269" cy="14097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6" name="Rectangle 45"/>
          <p:cNvSpPr/>
          <p:nvPr/>
        </p:nvSpPr>
        <p:spPr>
          <a:xfrm>
            <a:off x="4376936" y="4643303"/>
            <a:ext cx="185269" cy="14097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7" name="Rectangle 46"/>
          <p:cNvSpPr/>
          <p:nvPr/>
        </p:nvSpPr>
        <p:spPr>
          <a:xfrm>
            <a:off x="6347700" y="5053820"/>
            <a:ext cx="185269" cy="14097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48" name="Group 47"/>
          <p:cNvGrpSpPr/>
          <p:nvPr/>
        </p:nvGrpSpPr>
        <p:grpSpPr>
          <a:xfrm>
            <a:off x="4460909" y="5671347"/>
            <a:ext cx="1306595" cy="188896"/>
            <a:chOff x="4462124" y="5683920"/>
            <a:chExt cx="1306595" cy="188896"/>
          </a:xfrm>
        </p:grpSpPr>
        <p:sp>
          <p:nvSpPr>
            <p:cNvPr id="49" name="5-Point Star 48"/>
            <p:cNvSpPr/>
            <p:nvPr/>
          </p:nvSpPr>
          <p:spPr>
            <a:xfrm>
              <a:off x="4462124" y="56851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0" name="5-Point Star 49"/>
            <p:cNvSpPr/>
            <p:nvPr/>
          </p:nvSpPr>
          <p:spPr>
            <a:xfrm>
              <a:off x="4835090" y="56851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1" name="5-Point Star 50"/>
            <p:cNvSpPr/>
            <p:nvPr/>
          </p:nvSpPr>
          <p:spPr>
            <a:xfrm>
              <a:off x="5208056" y="5683921"/>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2" name="5-Point Star 51"/>
            <p:cNvSpPr/>
            <p:nvPr/>
          </p:nvSpPr>
          <p:spPr>
            <a:xfrm>
              <a:off x="5581022" y="5683920"/>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55" name="Rectangle 54"/>
          <p:cNvSpPr/>
          <p:nvPr/>
        </p:nvSpPr>
        <p:spPr>
          <a:xfrm>
            <a:off x="8102362" y="5740924"/>
            <a:ext cx="1719391" cy="1414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6" name="Rectangle 55"/>
          <p:cNvSpPr/>
          <p:nvPr/>
        </p:nvSpPr>
        <p:spPr>
          <a:xfrm>
            <a:off x="8102362" y="5469219"/>
            <a:ext cx="1428137" cy="1414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7" name="Rectangle 56"/>
          <p:cNvSpPr/>
          <p:nvPr/>
        </p:nvSpPr>
        <p:spPr>
          <a:xfrm>
            <a:off x="8102362" y="5204216"/>
            <a:ext cx="1176756" cy="1414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8" name="Rectangle 57"/>
          <p:cNvSpPr/>
          <p:nvPr/>
        </p:nvSpPr>
        <p:spPr>
          <a:xfrm>
            <a:off x="8100515" y="6026746"/>
            <a:ext cx="1721237" cy="1414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9" name="Rectangle 58"/>
          <p:cNvSpPr/>
          <p:nvPr/>
        </p:nvSpPr>
        <p:spPr>
          <a:xfrm>
            <a:off x="8100516" y="6291749"/>
            <a:ext cx="1178602" cy="13933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0" name="Rectangle 59"/>
          <p:cNvSpPr/>
          <p:nvPr/>
        </p:nvSpPr>
        <p:spPr>
          <a:xfrm>
            <a:off x="8100516" y="6570774"/>
            <a:ext cx="1043484" cy="13933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775185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err="1"/>
              <a:t>Ferturb</a:t>
            </a:r>
            <a:r>
              <a:rPr lang="en-US" dirty="0"/>
              <a:t> </a:t>
            </a:r>
            <a:r>
              <a:rPr lang="en-US" dirty="0" err="1"/>
              <a:t>bom</a:t>
            </a:r>
            <a:endParaRPr lang="en-SG" dirty="0"/>
          </a:p>
        </p:txBody>
      </p:sp>
      <p:sp>
        <p:nvSpPr>
          <p:cNvPr id="4" name="Text Placeholder 3"/>
          <p:cNvSpPr>
            <a:spLocks noGrp="1"/>
          </p:cNvSpPr>
          <p:nvPr>
            <p:ph type="body" sz="quarter" idx="14"/>
          </p:nvPr>
        </p:nvSpPr>
        <p:spPr/>
        <p:txBody>
          <a:bodyPr>
            <a:normAutofit fontScale="92500"/>
          </a:bodyPr>
          <a:lstStyle/>
          <a:p>
            <a:r>
              <a:rPr lang="en-US" sz="1100" dirty="0" err="1"/>
              <a:t>Ferturb</a:t>
            </a:r>
            <a:r>
              <a:rPr lang="en-US" sz="1100" dirty="0"/>
              <a:t> is a marine biologist who studies the evolution and characteristics of penguins and works part time at the Singapore zoo taking care of penguins. Every day after work, it has become a habit for him to whip out his phone and listen to music for </a:t>
            </a:r>
            <a:r>
              <a:rPr lang="en-US" sz="1100"/>
              <a:t>his 30-minute </a:t>
            </a:r>
            <a:r>
              <a:rPr lang="en-US" sz="1100" dirty="0"/>
              <a:t>bus ride home the moment he steps out of his workplace building. Despite already cultivated this habit, he still faces frustrations as he cannot pin his frequently-listened playlist on the home page where he can directly be redirected to the specific playlist. Instead, 6 playlists are always grouped together on the main page and are not always fixed in their places but are always mixed up. Hence, natural human error occurs, and he will always press the playlist at that location where he thinks is his </a:t>
            </a:r>
            <a:r>
              <a:rPr lang="en-US" sz="1100" dirty="0" err="1"/>
              <a:t>favourite</a:t>
            </a:r>
            <a:r>
              <a:rPr lang="en-US" sz="1100" dirty="0"/>
              <a:t> playlist until he gets used to the random shuffling positions of playlists and accepts that the they are not always fixed in the same locations.</a:t>
            </a:r>
            <a:endParaRPr lang="en-SG" sz="1100" dirty="0"/>
          </a:p>
        </p:txBody>
      </p:sp>
      <p:sp>
        <p:nvSpPr>
          <p:cNvPr id="5" name="Content Placeholder 4"/>
          <p:cNvSpPr>
            <a:spLocks noGrp="1"/>
          </p:cNvSpPr>
          <p:nvPr>
            <p:ph sz="quarter" idx="18"/>
          </p:nvPr>
        </p:nvSpPr>
        <p:spPr/>
        <p:txBody>
          <a:bodyPr/>
          <a:lstStyle/>
          <a:p>
            <a:pPr>
              <a:buFont typeface="+mj-lt"/>
              <a:buAutoNum type="arabicPeriod"/>
            </a:pPr>
            <a:r>
              <a:rPr lang="en-US" dirty="0"/>
              <a:t>To be able to start playing his </a:t>
            </a:r>
            <a:r>
              <a:rPr lang="en-US" dirty="0" err="1"/>
              <a:t>favourite</a:t>
            </a:r>
            <a:r>
              <a:rPr lang="en-US" dirty="0"/>
              <a:t> playlist of songs within 2-3 clicks of buttons</a:t>
            </a:r>
          </a:p>
          <a:p>
            <a:pPr>
              <a:buFont typeface="+mj-lt"/>
              <a:buAutoNum type="arabicPeriod"/>
            </a:pPr>
            <a:endParaRPr lang="en-US" dirty="0"/>
          </a:p>
        </p:txBody>
      </p:sp>
      <p:sp>
        <p:nvSpPr>
          <p:cNvPr id="6" name="Content Placeholder 5"/>
          <p:cNvSpPr>
            <a:spLocks noGrp="1"/>
          </p:cNvSpPr>
          <p:nvPr>
            <p:ph sz="quarter" idx="19"/>
          </p:nvPr>
        </p:nvSpPr>
        <p:spPr/>
        <p:txBody>
          <a:bodyPr/>
          <a:lstStyle/>
          <a:p>
            <a:r>
              <a:rPr lang="en-US" dirty="0"/>
              <a:t>Cannot pin his </a:t>
            </a:r>
            <a:r>
              <a:rPr lang="en-US" dirty="0" err="1"/>
              <a:t>favourite</a:t>
            </a:r>
            <a:r>
              <a:rPr lang="en-US" dirty="0"/>
              <a:t> playlists on the home page and has to manually go to his library of playlist and select that playlist</a:t>
            </a:r>
          </a:p>
          <a:p>
            <a:r>
              <a:rPr lang="en-US" dirty="0"/>
              <a:t>Number of playlists on main page are too many and quite small, and are not always fixed in their locations, always mixed up around the few playlist displayed on the top section of the home page.</a:t>
            </a:r>
          </a:p>
          <a:p>
            <a:r>
              <a:rPr lang="en-US" dirty="0"/>
              <a:t>These errors causes </a:t>
            </a:r>
            <a:r>
              <a:rPr lang="en-US" dirty="0" err="1"/>
              <a:t>Ferturb</a:t>
            </a:r>
            <a:r>
              <a:rPr lang="en-US" dirty="0"/>
              <a:t> to spend more time looking at his phone trying to get to the playlist and play the song – accidents may occur such as car accidents or bicycle accidents or bump into people as not paying attention on the road.</a:t>
            </a:r>
          </a:p>
        </p:txBody>
      </p:sp>
      <p:sp>
        <p:nvSpPr>
          <p:cNvPr id="7" name="Text Placeholder 6"/>
          <p:cNvSpPr>
            <a:spLocks noGrp="1"/>
          </p:cNvSpPr>
          <p:nvPr>
            <p:ph type="body" sz="quarter" idx="20"/>
          </p:nvPr>
        </p:nvSpPr>
        <p:spPr/>
        <p:txBody>
          <a:bodyPr/>
          <a:lstStyle/>
          <a:p>
            <a:r>
              <a:rPr lang="en-US" dirty="0"/>
              <a:t>“I want to use this music app where it is important for me to be able to pin playlists on the home page where I can easily access them even with my eyes closed.”</a:t>
            </a:r>
            <a:endParaRPr lang="en-SG" dirty="0"/>
          </a:p>
        </p:txBody>
      </p:sp>
      <p:sp>
        <p:nvSpPr>
          <p:cNvPr id="8" name="Text Placeholder 7"/>
          <p:cNvSpPr>
            <a:spLocks noGrp="1"/>
          </p:cNvSpPr>
          <p:nvPr>
            <p:ph type="body" sz="quarter" idx="22"/>
          </p:nvPr>
        </p:nvSpPr>
        <p:spPr/>
        <p:txBody>
          <a:bodyPr/>
          <a:lstStyle/>
          <a:p>
            <a:r>
              <a:rPr lang="en-US" dirty="0"/>
              <a:t>17</a:t>
            </a:r>
            <a:endParaRPr lang="en-SG" dirty="0"/>
          </a:p>
        </p:txBody>
      </p:sp>
      <p:sp>
        <p:nvSpPr>
          <p:cNvPr id="9" name="Text Placeholder 8"/>
          <p:cNvSpPr>
            <a:spLocks noGrp="1"/>
          </p:cNvSpPr>
          <p:nvPr>
            <p:ph type="body" sz="quarter" idx="23"/>
          </p:nvPr>
        </p:nvSpPr>
        <p:spPr/>
        <p:txBody>
          <a:bodyPr/>
          <a:lstStyle/>
          <a:p>
            <a:r>
              <a:rPr lang="en-US" dirty="0"/>
              <a:t>Marine Biologist</a:t>
            </a:r>
            <a:endParaRPr lang="en-SG" dirty="0"/>
          </a:p>
        </p:txBody>
      </p:sp>
      <p:sp>
        <p:nvSpPr>
          <p:cNvPr id="10" name="Text Placeholder 9"/>
          <p:cNvSpPr>
            <a:spLocks noGrp="1"/>
          </p:cNvSpPr>
          <p:nvPr>
            <p:ph type="body" sz="quarter" idx="24"/>
          </p:nvPr>
        </p:nvSpPr>
        <p:spPr/>
        <p:txBody>
          <a:bodyPr/>
          <a:lstStyle/>
          <a:p>
            <a:r>
              <a:rPr lang="en-US" dirty="0"/>
              <a:t>Single</a:t>
            </a:r>
            <a:endParaRPr lang="en-SG" dirty="0"/>
          </a:p>
        </p:txBody>
      </p:sp>
      <p:sp>
        <p:nvSpPr>
          <p:cNvPr id="11" name="Text Placeholder 10"/>
          <p:cNvSpPr>
            <a:spLocks noGrp="1"/>
          </p:cNvSpPr>
          <p:nvPr>
            <p:ph type="body" sz="quarter" idx="25"/>
          </p:nvPr>
        </p:nvSpPr>
        <p:spPr/>
        <p:txBody>
          <a:bodyPr/>
          <a:lstStyle/>
          <a:p>
            <a:r>
              <a:rPr lang="en-US" dirty="0"/>
              <a:t>Singapore</a:t>
            </a:r>
            <a:endParaRPr lang="en-SG" dirty="0"/>
          </a:p>
        </p:txBody>
      </p:sp>
      <p:sp>
        <p:nvSpPr>
          <p:cNvPr id="12" name="Text Placeholder 11"/>
          <p:cNvSpPr>
            <a:spLocks noGrp="1"/>
          </p:cNvSpPr>
          <p:nvPr>
            <p:ph type="body" sz="quarter" idx="26"/>
          </p:nvPr>
        </p:nvSpPr>
        <p:spPr/>
        <p:txBody>
          <a:bodyPr/>
          <a:lstStyle/>
          <a:p>
            <a:r>
              <a:rPr lang="en-US" dirty="0"/>
              <a:t>Passionate about music</a:t>
            </a:r>
            <a:endParaRPr lang="en-SG" dirty="0"/>
          </a:p>
        </p:txBody>
      </p:sp>
      <p:sp>
        <p:nvSpPr>
          <p:cNvPr id="13" name="Text Placeholder 12"/>
          <p:cNvSpPr>
            <a:spLocks noGrp="1"/>
          </p:cNvSpPr>
          <p:nvPr>
            <p:ph type="body" sz="quarter" idx="27"/>
          </p:nvPr>
        </p:nvSpPr>
        <p:spPr/>
        <p:txBody>
          <a:bodyPr/>
          <a:lstStyle/>
          <a:p>
            <a:r>
              <a:rPr lang="en-US" dirty="0"/>
              <a:t>Outgoing</a:t>
            </a:r>
            <a:endParaRPr lang="en-SG" dirty="0"/>
          </a:p>
        </p:txBody>
      </p:sp>
      <p:sp>
        <p:nvSpPr>
          <p:cNvPr id="14" name="Text Placeholder 13"/>
          <p:cNvSpPr>
            <a:spLocks noGrp="1"/>
          </p:cNvSpPr>
          <p:nvPr>
            <p:ph type="body" sz="quarter" idx="28"/>
          </p:nvPr>
        </p:nvSpPr>
        <p:spPr/>
        <p:txBody>
          <a:bodyPr/>
          <a:lstStyle/>
          <a:p>
            <a:r>
              <a:rPr lang="en-US" dirty="0"/>
              <a:t>Sociable</a:t>
            </a:r>
            <a:endParaRPr lang="en-SG" dirty="0"/>
          </a:p>
        </p:txBody>
      </p:sp>
      <p:sp>
        <p:nvSpPr>
          <p:cNvPr id="15" name="Text Placeholder 14"/>
          <p:cNvSpPr>
            <a:spLocks noGrp="1"/>
          </p:cNvSpPr>
          <p:nvPr>
            <p:ph type="body" sz="quarter" idx="29"/>
          </p:nvPr>
        </p:nvSpPr>
        <p:spPr/>
        <p:txBody>
          <a:bodyPr/>
          <a:lstStyle/>
          <a:p>
            <a:r>
              <a:rPr lang="en-US" dirty="0"/>
              <a:t>Persevering</a:t>
            </a:r>
            <a:endParaRPr lang="en-SG" dirty="0"/>
          </a:p>
        </p:txBody>
      </p:sp>
      <p:sp>
        <p:nvSpPr>
          <p:cNvPr id="16" name="Content Placeholder 15"/>
          <p:cNvSpPr>
            <a:spLocks noGrp="1"/>
          </p:cNvSpPr>
          <p:nvPr>
            <p:ph sz="quarter" idx="31"/>
          </p:nvPr>
        </p:nvSpPr>
        <p:spPr/>
        <p:txBody>
          <a:bodyPr/>
          <a:lstStyle/>
          <a:p>
            <a:r>
              <a:rPr lang="en-US" dirty="0"/>
              <a:t>VIU</a:t>
            </a:r>
          </a:p>
          <a:p>
            <a:r>
              <a:rPr lang="en-US" dirty="0" err="1"/>
              <a:t>VLive</a:t>
            </a:r>
            <a:endParaRPr lang="en-US" dirty="0"/>
          </a:p>
          <a:p>
            <a:endParaRPr lang="en-SG" dirty="0"/>
          </a:p>
        </p:txBody>
      </p:sp>
      <p:grpSp>
        <p:nvGrpSpPr>
          <p:cNvPr id="22" name="Group 21"/>
          <p:cNvGrpSpPr/>
          <p:nvPr/>
        </p:nvGrpSpPr>
        <p:grpSpPr>
          <a:xfrm>
            <a:off x="4462124" y="5683919"/>
            <a:ext cx="1679561" cy="188897"/>
            <a:chOff x="4462124" y="5683919"/>
            <a:chExt cx="1679561" cy="188897"/>
          </a:xfrm>
        </p:grpSpPr>
        <p:sp>
          <p:nvSpPr>
            <p:cNvPr id="17" name="5-Point Star 16"/>
            <p:cNvSpPr/>
            <p:nvPr/>
          </p:nvSpPr>
          <p:spPr>
            <a:xfrm>
              <a:off x="4462124" y="56851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5-Point Star 17"/>
            <p:cNvSpPr/>
            <p:nvPr/>
          </p:nvSpPr>
          <p:spPr>
            <a:xfrm>
              <a:off x="4835090" y="56851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5-Point Star 18"/>
            <p:cNvSpPr/>
            <p:nvPr/>
          </p:nvSpPr>
          <p:spPr>
            <a:xfrm>
              <a:off x="5208056" y="5683921"/>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5-Point Star 19"/>
            <p:cNvSpPr/>
            <p:nvPr/>
          </p:nvSpPr>
          <p:spPr>
            <a:xfrm>
              <a:off x="5581022" y="5683920"/>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5-Point Star 20"/>
            <p:cNvSpPr/>
            <p:nvPr/>
          </p:nvSpPr>
          <p:spPr>
            <a:xfrm>
              <a:off x="5953988" y="56839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23" name="Group 22"/>
          <p:cNvGrpSpPr/>
          <p:nvPr/>
        </p:nvGrpSpPr>
        <p:grpSpPr>
          <a:xfrm>
            <a:off x="4462124" y="5960671"/>
            <a:ext cx="1679561" cy="188897"/>
            <a:chOff x="4462124" y="5683919"/>
            <a:chExt cx="1679561" cy="188897"/>
          </a:xfrm>
        </p:grpSpPr>
        <p:sp>
          <p:nvSpPr>
            <p:cNvPr id="24" name="5-Point Star 23"/>
            <p:cNvSpPr/>
            <p:nvPr/>
          </p:nvSpPr>
          <p:spPr>
            <a:xfrm>
              <a:off x="4462124" y="56851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 name="5-Point Star 24"/>
            <p:cNvSpPr/>
            <p:nvPr/>
          </p:nvSpPr>
          <p:spPr>
            <a:xfrm>
              <a:off x="4835090" y="56851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5-Point Star 25"/>
            <p:cNvSpPr/>
            <p:nvPr/>
          </p:nvSpPr>
          <p:spPr>
            <a:xfrm>
              <a:off x="5208056" y="5683921"/>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5-Point Star 26"/>
            <p:cNvSpPr/>
            <p:nvPr/>
          </p:nvSpPr>
          <p:spPr>
            <a:xfrm>
              <a:off x="5581022" y="5683920"/>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5-Point Star 27"/>
            <p:cNvSpPr/>
            <p:nvPr/>
          </p:nvSpPr>
          <p:spPr>
            <a:xfrm>
              <a:off x="5953988" y="56839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29" name="Group 28"/>
          <p:cNvGrpSpPr/>
          <p:nvPr/>
        </p:nvGrpSpPr>
        <p:grpSpPr>
          <a:xfrm>
            <a:off x="4462124" y="6244662"/>
            <a:ext cx="933629" cy="188895"/>
            <a:chOff x="4462124" y="5683921"/>
            <a:chExt cx="933629" cy="188895"/>
          </a:xfrm>
        </p:grpSpPr>
        <p:sp>
          <p:nvSpPr>
            <p:cNvPr id="30" name="5-Point Star 29"/>
            <p:cNvSpPr/>
            <p:nvPr/>
          </p:nvSpPr>
          <p:spPr>
            <a:xfrm>
              <a:off x="4462124" y="56851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1" name="5-Point Star 30"/>
            <p:cNvSpPr/>
            <p:nvPr/>
          </p:nvSpPr>
          <p:spPr>
            <a:xfrm>
              <a:off x="4835090" y="56851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2" name="5-Point Star 31"/>
            <p:cNvSpPr/>
            <p:nvPr/>
          </p:nvSpPr>
          <p:spPr>
            <a:xfrm>
              <a:off x="5208056" y="5683921"/>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36" name="5-Point Star 35"/>
          <p:cNvSpPr/>
          <p:nvPr/>
        </p:nvSpPr>
        <p:spPr>
          <a:xfrm>
            <a:off x="4462124" y="6508960"/>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1" name="Rectangle 40"/>
          <p:cNvSpPr/>
          <p:nvPr/>
        </p:nvSpPr>
        <p:spPr>
          <a:xfrm>
            <a:off x="5301268" y="3780316"/>
            <a:ext cx="185269" cy="14097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2" name="Rectangle 41"/>
          <p:cNvSpPr/>
          <p:nvPr/>
        </p:nvSpPr>
        <p:spPr>
          <a:xfrm>
            <a:off x="4676695" y="4209347"/>
            <a:ext cx="185269" cy="14097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3" name="Rectangle 42"/>
          <p:cNvSpPr/>
          <p:nvPr/>
        </p:nvSpPr>
        <p:spPr>
          <a:xfrm>
            <a:off x="4843500" y="4640621"/>
            <a:ext cx="185269" cy="14097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4" name="Rectangle 43"/>
          <p:cNvSpPr/>
          <p:nvPr/>
        </p:nvSpPr>
        <p:spPr>
          <a:xfrm>
            <a:off x="5582235" y="5053681"/>
            <a:ext cx="185269" cy="14097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5" name="Rectangle 44"/>
          <p:cNvSpPr/>
          <p:nvPr/>
        </p:nvSpPr>
        <p:spPr>
          <a:xfrm>
            <a:off x="8102361" y="5204216"/>
            <a:ext cx="1349555" cy="13820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6" name="Rectangle 45"/>
          <p:cNvSpPr/>
          <p:nvPr/>
        </p:nvSpPr>
        <p:spPr>
          <a:xfrm>
            <a:off x="8102362" y="5469907"/>
            <a:ext cx="1723748" cy="1414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7" name="Rectangle 46"/>
          <p:cNvSpPr/>
          <p:nvPr/>
        </p:nvSpPr>
        <p:spPr>
          <a:xfrm>
            <a:off x="8102362" y="5740766"/>
            <a:ext cx="1723748" cy="14070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8" name="Rectangle 47"/>
          <p:cNvSpPr/>
          <p:nvPr/>
        </p:nvSpPr>
        <p:spPr>
          <a:xfrm>
            <a:off x="8099896" y="6023462"/>
            <a:ext cx="1029418" cy="14070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9" name="Rectangle 48"/>
          <p:cNvSpPr/>
          <p:nvPr/>
        </p:nvSpPr>
        <p:spPr>
          <a:xfrm>
            <a:off x="8103588" y="6291654"/>
            <a:ext cx="1349556" cy="14070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0" name="Rectangle 49"/>
          <p:cNvSpPr/>
          <p:nvPr/>
        </p:nvSpPr>
        <p:spPr>
          <a:xfrm>
            <a:off x="8099896" y="6574350"/>
            <a:ext cx="512048" cy="1414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37" name="Picture Placeholder 36">
            <a:extLst>
              <a:ext uri="{FF2B5EF4-FFF2-40B4-BE49-F238E27FC236}">
                <a16:creationId xmlns:a16="http://schemas.microsoft.com/office/drawing/2014/main" id="{8453B2A9-A78E-48BB-B79A-17CDAB4ECED4}"/>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17654" r="17654"/>
          <a:stretch>
            <a:fillRect/>
          </a:stretch>
        </p:blipFill>
        <p:spPr/>
      </p:pic>
    </p:spTree>
    <p:extLst>
      <p:ext uri="{BB962C8B-B14F-4D97-AF65-F5344CB8AC3E}">
        <p14:creationId xmlns:p14="http://schemas.microsoft.com/office/powerpoint/2010/main" val="31364528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TotalTime>
  <Words>517</Words>
  <Application>Microsoft Office PowerPoint</Application>
  <PresentationFormat>Widescreen</PresentationFormat>
  <Paragraphs>37</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Wingdings</vt:lpstr>
      <vt:lpstr>Office Theme</vt:lpstr>
      <vt:lpstr>robert smith       FOR REFERENCE ONLY</vt:lpstr>
      <vt:lpstr>Ferturb bom</vt:lpstr>
    </vt:vector>
  </TitlesOfParts>
  <Company>Temasek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Eber-Tan Yu Lin, Josephine</dc:creator>
  <cp:lastModifiedBy>ISAAC TAN (CHEN EN)</cp:lastModifiedBy>
  <cp:revision>57</cp:revision>
  <cp:lastPrinted>2017-04-20T09:46:18Z</cp:lastPrinted>
  <dcterms:created xsi:type="dcterms:W3CDTF">2017-04-20T07:55:23Z</dcterms:created>
  <dcterms:modified xsi:type="dcterms:W3CDTF">2021-06-04T14:40:25Z</dcterms:modified>
</cp:coreProperties>
</file>