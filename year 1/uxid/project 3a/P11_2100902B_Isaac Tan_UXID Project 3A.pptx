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7" r:id="rId3"/>
    <p:sldId id="260" r:id="rId4"/>
    <p:sldId id="275" r:id="rId5"/>
    <p:sldId id="274" r:id="rId6"/>
    <p:sldId id="276" r:id="rId7"/>
    <p:sldId id="280" r:id="rId8"/>
    <p:sldId id="264" r:id="rId9"/>
    <p:sldId id="269" r:id="rId10"/>
    <p:sldId id="278" r:id="rId11"/>
    <p:sldId id="279" r:id="rId12"/>
    <p:sldId id="271" r:id="rId13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85803" autoAdjust="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Score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Lucas Tang</c:v>
                </c:pt>
                <c:pt idx="1">
                  <c:v>Nathaniel Low</c:v>
                </c:pt>
                <c:pt idx="2">
                  <c:v>Calista Yong</c:v>
                </c:pt>
                <c:pt idx="3">
                  <c:v>Chan Karyan</c:v>
                </c:pt>
                <c:pt idx="4">
                  <c:v>Jarell Raaj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33</c:v>
                </c:pt>
                <c:pt idx="2">
                  <c:v>28</c:v>
                </c:pt>
                <c:pt idx="3">
                  <c:v>29</c:v>
                </c:pt>
                <c:pt idx="4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B3-46F6-845F-7B556B18F5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SUS Score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Lucas Tang</c:v>
                </c:pt>
                <c:pt idx="1">
                  <c:v>Nathaniel Low</c:v>
                </c:pt>
                <c:pt idx="2">
                  <c:v>Calista Yong</c:v>
                </c:pt>
                <c:pt idx="3">
                  <c:v>Chan Karyan</c:v>
                </c:pt>
                <c:pt idx="4">
                  <c:v>Jarell Raaj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</c:v>
                </c:pt>
                <c:pt idx="1">
                  <c:v>82.5</c:v>
                </c:pt>
                <c:pt idx="2">
                  <c:v>70</c:v>
                </c:pt>
                <c:pt idx="3">
                  <c:v>72.5</c:v>
                </c:pt>
                <c:pt idx="4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B3-46F6-845F-7B556B18F5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37188464"/>
        <c:axId val="1537186800"/>
      </c:barChart>
      <c:catAx>
        <c:axId val="1537188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186800"/>
        <c:crosses val="autoZero"/>
        <c:auto val="1"/>
        <c:lblAlgn val="ctr"/>
        <c:lblOffset val="100"/>
        <c:noMultiLvlLbl val="0"/>
      </c:catAx>
      <c:valAx>
        <c:axId val="1537186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188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B86E19-8499-4B6D-9E67-141C3F39F75D}" type="datetimeFigureOut">
              <a:rPr lang="en-SG" smtClean="0"/>
              <a:t>18/7/2021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7A26D-5981-4C14-9846-F9B681FD742C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0551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uxpajournal.org/sus-a-retrospective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700" dirty="0"/>
              <a:t>The 1-page usability test plan</a:t>
            </a:r>
          </a:p>
          <a:p>
            <a:r>
              <a:rPr lang="en-US" sz="700" dirty="0"/>
              <a:t>---------------------------------------</a:t>
            </a:r>
            <a:endParaRPr lang="en-SG" sz="700" dirty="0"/>
          </a:p>
          <a:p>
            <a:r>
              <a:rPr lang="en-SG" sz="700" dirty="0"/>
              <a:t>The Usability Test Plan is a critical document to help you manage and organise a usability test. </a:t>
            </a:r>
          </a:p>
          <a:p>
            <a:r>
              <a:rPr lang="en-US" sz="7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http://www.userfocus.co.uk/articles/usability_test_plan_dashboard.html</a:t>
            </a:r>
          </a:p>
          <a:p>
            <a:endParaRPr lang="en-US" sz="700" dirty="0">
              <a:solidFill>
                <a:srgbClr val="737473"/>
              </a:solidFill>
              <a:effectLst/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r>
              <a:rPr lang="en-US" sz="7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Download</a:t>
            </a:r>
            <a:r>
              <a:rPr lang="en-US" sz="700" baseline="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 </a:t>
            </a:r>
            <a:r>
              <a:rPr lang="en-US" sz="7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a (.pdf) printable version:</a:t>
            </a:r>
          </a:p>
          <a:p>
            <a:r>
              <a:rPr lang="en-US" sz="7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--------------------------------------------</a:t>
            </a:r>
          </a:p>
          <a:p>
            <a:r>
              <a:rPr lang="en-US" sz="7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http://www.userfocus.co.uk/pdf/usabilitydashboard.pdf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dirty="0">
              <a:solidFill>
                <a:srgbClr val="737473"/>
              </a:solidFill>
              <a:effectLst/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dirty="0">
              <a:solidFill>
                <a:srgbClr val="737473"/>
              </a:solidFill>
              <a:effectLst/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* </a:t>
            </a:r>
            <a:r>
              <a:rPr lang="en-SG" sz="7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Hypothesis &gt; </a:t>
            </a:r>
            <a:r>
              <a:rPr lang="en-SG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idea or explanation for something that is based on known facts but has not yet been proved.</a:t>
            </a:r>
            <a:r>
              <a:rPr lang="en-SG" sz="7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(Cambridge Dictionary)</a:t>
            </a:r>
            <a:endParaRPr lang="en-SG" sz="200" dirty="0">
              <a:solidFill>
                <a:srgbClr val="737473"/>
              </a:solidFill>
              <a:effectLst/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dirty="0">
              <a:solidFill>
                <a:srgbClr val="737473"/>
              </a:solidFill>
              <a:effectLst/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dirty="0">
              <a:solidFill>
                <a:srgbClr val="737473"/>
              </a:solidFill>
              <a:effectLst/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dirty="0">
              <a:solidFill>
                <a:srgbClr val="737473"/>
              </a:solidFill>
              <a:effectLst/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dirty="0">
              <a:solidFill>
                <a:srgbClr val="737473"/>
              </a:solidFill>
              <a:effectLst/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dirty="0">
              <a:solidFill>
                <a:srgbClr val="737473"/>
              </a:solidFill>
              <a:effectLst/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dirty="0">
              <a:solidFill>
                <a:srgbClr val="737473"/>
              </a:solidFill>
              <a:effectLst/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----------------------------------------------------------------------------------------------------------------------------------------------------</a:t>
            </a:r>
            <a:endParaRPr lang="en-SG" sz="700" dirty="0">
              <a:solidFill>
                <a:srgbClr val="737473"/>
              </a:solidFill>
              <a:effectLst/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7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The Usability Test Plan Dashboard is licensed under the Creative Commons Attribution-Share Alike 3.0 Un-ported License. </a:t>
            </a:r>
            <a:br>
              <a:rPr lang="en-SG" sz="7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</a:br>
            <a:r>
              <a:rPr lang="en-SG" sz="7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Attribution: www.userfocus.co.uk/dashboard</a:t>
            </a:r>
            <a:endParaRPr lang="en-SG" sz="4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SG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07A26D-5981-4C14-9846-F9B681FD742C}" type="slidenum">
              <a:rPr lang="en-SG" smtClean="0"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57700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7A26D-5981-4C14-9846-F9B681FD742C}" type="slidenum">
              <a:rPr lang="en-SG" smtClean="0"/>
              <a:t>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07422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SUS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Source: </a:t>
            </a:r>
            <a:r>
              <a:rPr lang="en-US" dirty="0">
                <a:hlinkClick r:id="rId3"/>
              </a:rPr>
              <a:t>http://uxpajournal.org/sus-a-retrospective/</a:t>
            </a:r>
            <a:endParaRPr lang="en-US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07A26D-5981-4C14-9846-F9B681FD742C}" type="slidenum">
              <a:rPr lang="en-SG" smtClean="0"/>
              <a:t>11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69100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18/7/2021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52993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18/7/2021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4071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18/7/2021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3471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18/7/2021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98333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18/7/2021</a:t>
            </a:fld>
            <a:endParaRPr lang="en-S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50913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18/7/2021</a:t>
            </a:fld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0607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18/7/2021</a:t>
            </a:fld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40234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18/7/2021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79889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18/7/2021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1009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18/7/2021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24945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7F4-3578-4B75-B7C8-F5A06CBD4861}" type="datetimeFigureOut">
              <a:rPr lang="en-SG" smtClean="0"/>
              <a:t>18/7/2021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9711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C87F4-3578-4B75-B7C8-F5A06CBD4861}" type="datetimeFigureOut">
              <a:rPr lang="en-SG" smtClean="0"/>
              <a:t>18/7/2021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A28C7-A976-4710-A649-8F88EF063E1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87425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youtu.be/6cp6n0r-o5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kEiXhRLbhs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pTiUrs5fFL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jcayMRKrm1I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sl2vo0SxZk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uxpajournal.org/sus-a-retrospectiv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12174"/>
            <a:ext cx="12192000" cy="2387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Usability Testing Report</a:t>
            </a:r>
            <a:br>
              <a:rPr lang="en-US" dirty="0"/>
            </a:br>
            <a:r>
              <a:rPr lang="en-US" sz="4000" dirty="0"/>
              <a:t>Moosic</a:t>
            </a:r>
            <a:endParaRPr lang="en-SG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307290"/>
            <a:ext cx="12192000" cy="560109"/>
          </a:xfrm>
        </p:spPr>
        <p:txBody>
          <a:bodyPr/>
          <a:lstStyle/>
          <a:p>
            <a:r>
              <a:rPr lang="en-US" dirty="0"/>
              <a:t> Name: Isaac Tan | Admin No. 2100902B |Class: P11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73610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98"/>
          <p:cNvSpPr/>
          <p:nvPr/>
        </p:nvSpPr>
        <p:spPr>
          <a:xfrm rot="5400000">
            <a:off x="5257512" y="109380"/>
            <a:ext cx="1700971" cy="11796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  <a:endParaRPr lang="en-SG" dirty="0"/>
          </a:p>
        </p:txBody>
      </p:sp>
      <p:sp>
        <p:nvSpPr>
          <p:cNvPr id="31" name="Rectangle 30"/>
          <p:cNvSpPr/>
          <p:nvPr/>
        </p:nvSpPr>
        <p:spPr>
          <a:xfrm>
            <a:off x="155063" y="63981"/>
            <a:ext cx="31831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1400" b="1" dirty="0">
                <a:solidFill>
                  <a:srgbClr val="0070C0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1. USABILITY TEST PLAN DASHBOARD</a:t>
            </a:r>
            <a:endParaRPr lang="en-SG" sz="1400" dirty="0">
              <a:solidFill>
                <a:srgbClr val="FF0000"/>
              </a:solidFill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289556" y="5197025"/>
            <a:ext cx="2439961" cy="336613"/>
            <a:chOff x="323498" y="5189605"/>
            <a:chExt cx="2937944" cy="336613"/>
          </a:xfrm>
        </p:grpSpPr>
        <p:sp>
          <p:nvSpPr>
            <p:cNvPr id="57" name="Rectangle 56"/>
            <p:cNvSpPr/>
            <p:nvPr/>
          </p:nvSpPr>
          <p:spPr>
            <a:xfrm>
              <a:off x="323498" y="5189605"/>
              <a:ext cx="839289" cy="18823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SG" sz="900" b="1" dirty="0">
                  <a:solidFill>
                    <a:srgbClr val="181717"/>
                  </a:solidFill>
                  <a:effectLst/>
                  <a:latin typeface="Myriad Pro" panose="020B0503030403020204" pitchFamily="34" charset="0"/>
                  <a:ea typeface="Myriad Pro" panose="020B0503030403020204" pitchFamily="34" charset="0"/>
                  <a:cs typeface="Myriad Pro" panose="020B0503030403020204" pitchFamily="34" charset="0"/>
                </a:rPr>
                <a:t>PROCEDURE</a:t>
              </a:r>
              <a:endParaRPr lang="en-SG" sz="1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23552" y="5343609"/>
              <a:ext cx="2937890" cy="18260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SG" sz="900" dirty="0">
                  <a:solidFill>
                    <a:srgbClr val="737473"/>
                  </a:solidFill>
                  <a:effectLst/>
                  <a:latin typeface="Myriad Pro" panose="020B0503030403020204" pitchFamily="34" charset="0"/>
                  <a:ea typeface="Myriad Pro" panose="020B0503030403020204" pitchFamily="34" charset="0"/>
                  <a:cs typeface="Myriad Pro" panose="020B0503030403020204" pitchFamily="34" charset="0"/>
                </a:rPr>
                <a:t>What are the main steps in the test procedure?</a:t>
              </a:r>
              <a:endParaRPr lang="en-SG" sz="1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614791" y="5546724"/>
            <a:ext cx="10984635" cy="1231368"/>
            <a:chOff x="408343" y="5654561"/>
            <a:chExt cx="8658220" cy="864135"/>
          </a:xfrm>
        </p:grpSpPr>
        <p:sp>
          <p:nvSpPr>
            <p:cNvPr id="60" name="Shape 59"/>
            <p:cNvSpPr/>
            <p:nvPr/>
          </p:nvSpPr>
          <p:spPr>
            <a:xfrm>
              <a:off x="3307436" y="5654561"/>
              <a:ext cx="1410499" cy="864135"/>
            </a:xfrm>
            <a:custGeom>
              <a:avLst/>
              <a:gdLst/>
              <a:ahLst/>
              <a:cxnLst/>
              <a:rect l="0" t="0" r="0" b="0"/>
              <a:pathLst>
                <a:path w="1410513" h="864693">
                  <a:moveTo>
                    <a:pt x="0" y="0"/>
                  </a:moveTo>
                  <a:lnTo>
                    <a:pt x="1074064" y="0"/>
                  </a:lnTo>
                  <a:lnTo>
                    <a:pt x="1410513" y="432346"/>
                  </a:lnTo>
                  <a:lnTo>
                    <a:pt x="1074064" y="864693"/>
                  </a:lnTo>
                  <a:lnTo>
                    <a:pt x="0" y="864693"/>
                  </a:lnTo>
                  <a:lnTo>
                    <a:pt x="336436" y="432346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5E1D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61" name="Shape 60"/>
            <p:cNvSpPr/>
            <p:nvPr/>
          </p:nvSpPr>
          <p:spPr>
            <a:xfrm>
              <a:off x="1857888" y="5654561"/>
              <a:ext cx="1410499" cy="864135"/>
            </a:xfrm>
            <a:custGeom>
              <a:avLst/>
              <a:gdLst/>
              <a:ahLst/>
              <a:cxnLst/>
              <a:rect l="0" t="0" r="0" b="0"/>
              <a:pathLst>
                <a:path w="1410513" h="864693">
                  <a:moveTo>
                    <a:pt x="0" y="0"/>
                  </a:moveTo>
                  <a:lnTo>
                    <a:pt x="1074065" y="0"/>
                  </a:lnTo>
                  <a:lnTo>
                    <a:pt x="1410513" y="432346"/>
                  </a:lnTo>
                  <a:lnTo>
                    <a:pt x="1074065" y="864693"/>
                  </a:lnTo>
                  <a:lnTo>
                    <a:pt x="0" y="864693"/>
                  </a:lnTo>
                  <a:lnTo>
                    <a:pt x="336436" y="432346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5E1D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SG" sz="1200" dirty="0"/>
            </a:p>
          </p:txBody>
        </p:sp>
        <p:sp>
          <p:nvSpPr>
            <p:cNvPr id="62" name="Shape 61"/>
            <p:cNvSpPr/>
            <p:nvPr/>
          </p:nvSpPr>
          <p:spPr>
            <a:xfrm>
              <a:off x="408343" y="5654561"/>
              <a:ext cx="1410499" cy="864135"/>
            </a:xfrm>
            <a:custGeom>
              <a:avLst/>
              <a:gdLst/>
              <a:ahLst/>
              <a:cxnLst/>
              <a:rect l="0" t="0" r="0" b="0"/>
              <a:pathLst>
                <a:path w="1410513" h="864693">
                  <a:moveTo>
                    <a:pt x="0" y="0"/>
                  </a:moveTo>
                  <a:lnTo>
                    <a:pt x="1074065" y="0"/>
                  </a:lnTo>
                  <a:lnTo>
                    <a:pt x="1410513" y="432346"/>
                  </a:lnTo>
                  <a:lnTo>
                    <a:pt x="1074065" y="864693"/>
                  </a:lnTo>
                  <a:lnTo>
                    <a:pt x="0" y="864693"/>
                  </a:lnTo>
                  <a:lnTo>
                    <a:pt x="336436" y="432346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5E1D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SG" sz="1200" dirty="0"/>
            </a:p>
          </p:txBody>
        </p:sp>
        <p:sp>
          <p:nvSpPr>
            <p:cNvPr id="63" name="Shape 62"/>
            <p:cNvSpPr/>
            <p:nvPr/>
          </p:nvSpPr>
          <p:spPr>
            <a:xfrm>
              <a:off x="4756971" y="5654561"/>
              <a:ext cx="1410498" cy="864135"/>
            </a:xfrm>
            <a:custGeom>
              <a:avLst/>
              <a:gdLst/>
              <a:ahLst/>
              <a:cxnLst/>
              <a:rect l="0" t="0" r="0" b="0"/>
              <a:pathLst>
                <a:path w="1410512" h="864693">
                  <a:moveTo>
                    <a:pt x="0" y="0"/>
                  </a:moveTo>
                  <a:lnTo>
                    <a:pt x="1074064" y="0"/>
                  </a:lnTo>
                  <a:lnTo>
                    <a:pt x="1410512" y="432346"/>
                  </a:lnTo>
                  <a:lnTo>
                    <a:pt x="1074064" y="864693"/>
                  </a:lnTo>
                  <a:lnTo>
                    <a:pt x="0" y="864693"/>
                  </a:lnTo>
                  <a:lnTo>
                    <a:pt x="336436" y="432346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5E1D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64" name="Shape 63"/>
            <p:cNvSpPr/>
            <p:nvPr/>
          </p:nvSpPr>
          <p:spPr>
            <a:xfrm>
              <a:off x="6206518" y="5654561"/>
              <a:ext cx="1410499" cy="864135"/>
            </a:xfrm>
            <a:custGeom>
              <a:avLst/>
              <a:gdLst/>
              <a:ahLst/>
              <a:cxnLst/>
              <a:rect l="0" t="0" r="0" b="0"/>
              <a:pathLst>
                <a:path w="1410513" h="864693">
                  <a:moveTo>
                    <a:pt x="0" y="0"/>
                  </a:moveTo>
                  <a:lnTo>
                    <a:pt x="1074065" y="0"/>
                  </a:lnTo>
                  <a:lnTo>
                    <a:pt x="1410513" y="432346"/>
                  </a:lnTo>
                  <a:lnTo>
                    <a:pt x="1074065" y="864693"/>
                  </a:lnTo>
                  <a:lnTo>
                    <a:pt x="0" y="864693"/>
                  </a:lnTo>
                  <a:lnTo>
                    <a:pt x="336436" y="432346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5E1D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65" name="Shape 64"/>
            <p:cNvSpPr/>
            <p:nvPr/>
          </p:nvSpPr>
          <p:spPr>
            <a:xfrm>
              <a:off x="7656065" y="5654561"/>
              <a:ext cx="1410498" cy="864135"/>
            </a:xfrm>
            <a:custGeom>
              <a:avLst/>
              <a:gdLst/>
              <a:ahLst/>
              <a:cxnLst/>
              <a:rect l="0" t="0" r="0" b="0"/>
              <a:pathLst>
                <a:path w="1410512" h="864693">
                  <a:moveTo>
                    <a:pt x="0" y="0"/>
                  </a:moveTo>
                  <a:lnTo>
                    <a:pt x="1074064" y="0"/>
                  </a:lnTo>
                  <a:lnTo>
                    <a:pt x="1410512" y="432346"/>
                  </a:lnTo>
                  <a:lnTo>
                    <a:pt x="1074064" y="864693"/>
                  </a:lnTo>
                  <a:lnTo>
                    <a:pt x="0" y="864693"/>
                  </a:lnTo>
                  <a:lnTo>
                    <a:pt x="336435" y="432346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5E1D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SG" dirty="0"/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188479" y="227818"/>
            <a:ext cx="11790190" cy="4730670"/>
            <a:chOff x="188479" y="487794"/>
            <a:chExt cx="11790190" cy="4730670"/>
          </a:xfrm>
        </p:grpSpPr>
        <p:sp>
          <p:nvSpPr>
            <p:cNvPr id="53" name="Shape 1288"/>
            <p:cNvSpPr/>
            <p:nvPr/>
          </p:nvSpPr>
          <p:spPr>
            <a:xfrm>
              <a:off x="9736006" y="707203"/>
              <a:ext cx="2242663" cy="196993"/>
            </a:xfrm>
            <a:custGeom>
              <a:avLst/>
              <a:gdLst/>
              <a:ahLst/>
              <a:cxnLst/>
              <a:rect l="0" t="0" r="0" b="0"/>
              <a:pathLst>
                <a:path w="1695196" h="165202">
                  <a:moveTo>
                    <a:pt x="0" y="0"/>
                  </a:moveTo>
                  <a:lnTo>
                    <a:pt x="1695196" y="0"/>
                  </a:lnTo>
                  <a:lnTo>
                    <a:pt x="1695196" y="165202"/>
                  </a:lnTo>
                  <a:lnTo>
                    <a:pt x="0" y="165202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EFD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r>
                <a:rPr lang="en-US" dirty="0"/>
                <a:t>18</a:t>
              </a:r>
              <a:r>
                <a:rPr lang="en-US" baseline="30000" dirty="0"/>
                <a:t>th</a:t>
              </a:r>
              <a:r>
                <a:rPr lang="en-US" dirty="0"/>
                <a:t> July 2021</a:t>
              </a:r>
              <a:endParaRPr lang="en-SG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09863" y="491668"/>
              <a:ext cx="633507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SG" sz="900" b="1" dirty="0">
                  <a:solidFill>
                    <a:srgbClr val="181717"/>
                  </a:solidFill>
                  <a:effectLst/>
                  <a:latin typeface="Myriad Pro" panose="020B0503030403020204" pitchFamily="34" charset="0"/>
                  <a:ea typeface="Myriad Pro" panose="020B0503030403020204" pitchFamily="34" charset="0"/>
                  <a:cs typeface="Myriad Pro" panose="020B0503030403020204" pitchFamily="34" charset="0"/>
                </a:rPr>
                <a:t>AUTHOR</a:t>
              </a:r>
              <a:endParaRPr lang="en-SG" sz="900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962244" y="487794"/>
              <a:ext cx="114486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b="1" dirty="0">
                  <a:solidFill>
                    <a:srgbClr val="181717"/>
                  </a:solidFill>
                  <a:latin typeface="Myriad Pro" panose="020B0503030403020204" pitchFamily="34" charset="0"/>
                </a:rPr>
                <a:t>CONTACT DETAILS</a:t>
              </a:r>
              <a:endParaRPr lang="en-SG" sz="900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9720724" y="487794"/>
              <a:ext cx="1672253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b="1" dirty="0">
                  <a:solidFill>
                    <a:srgbClr val="181717"/>
                  </a:solidFill>
                  <a:latin typeface="Myriad Pro" panose="020B0503030403020204" pitchFamily="34" charset="0"/>
                </a:rPr>
                <a:t>FINAL DATE FOR COMMENTS</a:t>
              </a:r>
              <a:endParaRPr lang="en-SG" sz="900" dirty="0"/>
            </a:p>
          </p:txBody>
        </p:sp>
        <p:grpSp>
          <p:nvGrpSpPr>
            <p:cNvPr id="90" name="Group 89"/>
            <p:cNvGrpSpPr/>
            <p:nvPr/>
          </p:nvGrpSpPr>
          <p:grpSpPr>
            <a:xfrm>
              <a:off x="9724077" y="1027637"/>
              <a:ext cx="2254592" cy="4190827"/>
              <a:chOff x="9724077" y="1027637"/>
              <a:chExt cx="2254592" cy="4190827"/>
            </a:xfrm>
          </p:grpSpPr>
          <p:sp>
            <p:nvSpPr>
              <p:cNvPr id="82" name="Rectangle 81"/>
              <p:cNvSpPr/>
              <p:nvPr/>
            </p:nvSpPr>
            <p:spPr>
              <a:xfrm>
                <a:off x="9724077" y="1027637"/>
                <a:ext cx="2242663" cy="20325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9736006" y="3166644"/>
                <a:ext cx="2242663" cy="20518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4962243" y="696314"/>
              <a:ext cx="4640598" cy="4522150"/>
              <a:chOff x="4962243" y="696314"/>
              <a:chExt cx="4640598" cy="4522150"/>
            </a:xfrm>
          </p:grpSpPr>
          <p:grpSp>
            <p:nvGrpSpPr>
              <p:cNvPr id="85" name="Group 84"/>
              <p:cNvGrpSpPr/>
              <p:nvPr/>
            </p:nvGrpSpPr>
            <p:grpSpPr>
              <a:xfrm>
                <a:off x="4968340" y="1027637"/>
                <a:ext cx="4634501" cy="4190827"/>
                <a:chOff x="4968340" y="1027637"/>
                <a:chExt cx="4634501" cy="4190827"/>
              </a:xfrm>
            </p:grpSpPr>
            <p:sp>
              <p:nvSpPr>
                <p:cNvPr id="79" name="Rectangle 78"/>
                <p:cNvSpPr/>
                <p:nvPr/>
              </p:nvSpPr>
              <p:spPr>
                <a:xfrm>
                  <a:off x="7347581" y="1027637"/>
                  <a:ext cx="2255260" cy="41908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dirty="0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4968340" y="1027637"/>
                  <a:ext cx="2258005" cy="20325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dirty="0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4968340" y="3166644"/>
                  <a:ext cx="2258005" cy="20518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dirty="0"/>
                </a:p>
              </p:txBody>
            </p:sp>
          </p:grpSp>
          <p:sp>
            <p:nvSpPr>
              <p:cNvPr id="84" name="Shape 1287"/>
              <p:cNvSpPr/>
              <p:nvPr/>
            </p:nvSpPr>
            <p:spPr>
              <a:xfrm>
                <a:off x="4962243" y="696314"/>
                <a:ext cx="4640597" cy="224882"/>
              </a:xfrm>
              <a:custGeom>
                <a:avLst/>
                <a:gdLst/>
                <a:ahLst/>
                <a:cxnLst/>
                <a:rect l="0" t="0" r="0" b="0"/>
                <a:pathLst>
                  <a:path w="3507880" h="165202">
                    <a:moveTo>
                      <a:pt x="0" y="0"/>
                    </a:moveTo>
                    <a:lnTo>
                      <a:pt x="3507880" y="0"/>
                    </a:lnTo>
                    <a:lnTo>
                      <a:pt x="3507880" y="165202"/>
                    </a:lnTo>
                    <a:lnTo>
                      <a:pt x="0" y="165202"/>
                    </a:lnTo>
                    <a:lnTo>
                      <a:pt x="0" y="0"/>
                    </a:lnTo>
                  </a:path>
                </a:pathLst>
              </a:custGeom>
              <a:ln w="0" cap="flat">
                <a:miter lim="127000"/>
              </a:ln>
            </p:spPr>
            <p:style>
              <a:lnRef idx="0">
                <a:srgbClr val="000000">
                  <a:alpha val="0"/>
                </a:srgbClr>
              </a:lnRef>
              <a:fillRef idx="1">
                <a:srgbClr val="FFFEFD"/>
              </a:fillRef>
              <a:effectRef idx="0">
                <a:scrgbClr r="0" g="0" b="0"/>
              </a:effectRef>
              <a:fontRef idx="none"/>
            </p:style>
            <p:txBody>
              <a:bodyPr/>
              <a:lstStyle/>
              <a:p>
                <a:r>
                  <a:rPr lang="en-US" dirty="0"/>
                  <a:t>2100902B@student.tp.edu.sg</a:t>
                </a:r>
                <a:endParaRPr lang="en-SG" dirty="0"/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188479" y="694978"/>
              <a:ext cx="4640598" cy="4522150"/>
              <a:chOff x="4962243" y="696314"/>
              <a:chExt cx="4640598" cy="4522150"/>
            </a:xfrm>
          </p:grpSpPr>
          <p:grpSp>
            <p:nvGrpSpPr>
              <p:cNvPr id="93" name="Group 92"/>
              <p:cNvGrpSpPr/>
              <p:nvPr/>
            </p:nvGrpSpPr>
            <p:grpSpPr>
              <a:xfrm>
                <a:off x="4968340" y="1027637"/>
                <a:ext cx="4634501" cy="4190827"/>
                <a:chOff x="4968340" y="1027637"/>
                <a:chExt cx="4634501" cy="4190827"/>
              </a:xfrm>
            </p:grpSpPr>
            <p:sp>
              <p:nvSpPr>
                <p:cNvPr id="95" name="Rectangle 94"/>
                <p:cNvSpPr/>
                <p:nvPr/>
              </p:nvSpPr>
              <p:spPr>
                <a:xfrm>
                  <a:off x="7347581" y="1027637"/>
                  <a:ext cx="2255260" cy="41908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dirty="0"/>
                </a:p>
              </p:txBody>
            </p:sp>
            <p:sp>
              <p:nvSpPr>
                <p:cNvPr id="96" name="Rectangle 95"/>
                <p:cNvSpPr/>
                <p:nvPr/>
              </p:nvSpPr>
              <p:spPr>
                <a:xfrm>
                  <a:off x="4968340" y="1027637"/>
                  <a:ext cx="2258005" cy="20325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dirty="0"/>
                </a:p>
              </p:txBody>
            </p:sp>
            <p:sp>
              <p:nvSpPr>
                <p:cNvPr id="97" name="Rectangle 96"/>
                <p:cNvSpPr/>
                <p:nvPr/>
              </p:nvSpPr>
              <p:spPr>
                <a:xfrm>
                  <a:off x="4968340" y="3166644"/>
                  <a:ext cx="2258005" cy="20518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dirty="0"/>
                </a:p>
              </p:txBody>
            </p:sp>
          </p:grpSp>
          <p:sp>
            <p:nvSpPr>
              <p:cNvPr id="94" name="Shape 1287"/>
              <p:cNvSpPr/>
              <p:nvPr/>
            </p:nvSpPr>
            <p:spPr>
              <a:xfrm>
                <a:off x="4962243" y="696314"/>
                <a:ext cx="4640597" cy="224882"/>
              </a:xfrm>
              <a:custGeom>
                <a:avLst/>
                <a:gdLst/>
                <a:ahLst/>
                <a:cxnLst/>
                <a:rect l="0" t="0" r="0" b="0"/>
                <a:pathLst>
                  <a:path w="3507880" h="165202">
                    <a:moveTo>
                      <a:pt x="0" y="0"/>
                    </a:moveTo>
                    <a:lnTo>
                      <a:pt x="3507880" y="0"/>
                    </a:lnTo>
                    <a:lnTo>
                      <a:pt x="3507880" y="165202"/>
                    </a:lnTo>
                    <a:lnTo>
                      <a:pt x="0" y="165202"/>
                    </a:lnTo>
                    <a:lnTo>
                      <a:pt x="0" y="0"/>
                    </a:lnTo>
                  </a:path>
                </a:pathLst>
              </a:custGeom>
              <a:ln w="0" cap="flat">
                <a:miter lim="127000"/>
              </a:ln>
            </p:spPr>
            <p:style>
              <a:lnRef idx="0">
                <a:srgbClr val="000000">
                  <a:alpha val="0"/>
                </a:srgbClr>
              </a:lnRef>
              <a:fillRef idx="1">
                <a:srgbClr val="FFFEFD"/>
              </a:fillRef>
              <a:effectRef idx="0">
                <a:scrgbClr r="0" g="0" b="0"/>
              </a:effectRef>
              <a:fontRef idx="none"/>
            </p:style>
            <p:txBody>
              <a:bodyPr/>
              <a:lstStyle/>
              <a:p>
                <a:r>
                  <a:rPr lang="en-US" dirty="0"/>
                  <a:t>Isaac Tan</a:t>
                </a:r>
                <a:endParaRPr lang="en-SG" dirty="0"/>
              </a:p>
            </p:txBody>
          </p:sp>
        </p:grpSp>
      </p:grpSp>
      <p:sp>
        <p:nvSpPr>
          <p:cNvPr id="102" name="Rectangle 101"/>
          <p:cNvSpPr/>
          <p:nvPr/>
        </p:nvSpPr>
        <p:spPr>
          <a:xfrm>
            <a:off x="185396" y="762958"/>
            <a:ext cx="2264101" cy="1261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435"/>
              </a:spcAft>
            </a:pPr>
            <a:r>
              <a:rPr lang="en-SG" sz="900" b="1" dirty="0">
                <a:solidFill>
                  <a:srgbClr val="181717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PRODUCT UNDER TEST</a:t>
            </a:r>
            <a:endParaRPr lang="en-SG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SG" sz="9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What’s being tested? What are the business and experience goals of the product?</a:t>
            </a:r>
          </a:p>
          <a:p>
            <a:endParaRPr lang="en-SG" sz="900" dirty="0">
              <a:solidFill>
                <a:srgbClr val="737473"/>
              </a:solidFill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Music app prototype that is easy to use, readable and understandable</a:t>
            </a:r>
          </a:p>
          <a:p>
            <a:pPr marL="171450" indent="-171450">
              <a:buFontTx/>
              <a:buChar char="-"/>
            </a:pPr>
            <a:endParaRPr lang="en-SG" sz="900" dirty="0">
              <a:solidFill>
                <a:srgbClr val="737473"/>
              </a:solidFill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2573817" y="761453"/>
            <a:ext cx="2255259" cy="3921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435"/>
              </a:spcAft>
            </a:pPr>
            <a:r>
              <a:rPr lang="en-SG" sz="900" b="1" dirty="0">
                <a:solidFill>
                  <a:srgbClr val="181717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TEST OBJECTIVES</a:t>
            </a:r>
            <a:endParaRPr lang="en-SG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SG" sz="9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What are the goals of the usability test? What specific questions will be answered? </a:t>
            </a:r>
            <a:endParaRPr lang="en-SG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SG" sz="9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What hypotheses* will be tested?</a:t>
            </a:r>
          </a:p>
          <a:p>
            <a:endParaRPr lang="en-SG" sz="900" dirty="0">
              <a:solidFill>
                <a:srgbClr val="737473"/>
              </a:solidFill>
              <a:effectLst/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Goals: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To find out if the app has easy-navigation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To see how much difficulty the user face while navigating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To make sure that users do not face any difficulty in trying to create/edit playlists</a:t>
            </a:r>
          </a:p>
          <a:p>
            <a:pPr marL="171450" indent="-171450">
              <a:buFontTx/>
              <a:buChar char="-"/>
            </a:pPr>
            <a:endParaRPr lang="en-SG" sz="900" dirty="0">
              <a:solidFill>
                <a:srgbClr val="737473"/>
              </a:solidFill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Questions: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Are people aware of the “repeat once” function in song player page?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Is the song settings button visible to users?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Will users </a:t>
            </a:r>
          </a:p>
          <a:p>
            <a:endParaRPr lang="en-SG" sz="900" dirty="0">
              <a:solidFill>
                <a:srgbClr val="737473"/>
              </a:solidFill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Hypothesis:</a:t>
            </a:r>
          </a:p>
          <a:p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- The number of pages to reach destination is suitable and does not cause annoyance pages after pages to reach destination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1834" y="2905332"/>
            <a:ext cx="2251226" cy="1815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355"/>
              </a:spcAft>
            </a:pPr>
            <a:r>
              <a:rPr lang="en-SG" sz="900" b="1" dirty="0">
                <a:solidFill>
                  <a:srgbClr val="181717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BUSINESS CASE</a:t>
            </a:r>
            <a:endParaRPr lang="en-SG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SG" sz="9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Why are we doing this test? What are the benefits? What are the risks of not testing?</a:t>
            </a:r>
          </a:p>
          <a:p>
            <a:endParaRPr lang="en-SG" sz="900" dirty="0">
              <a:solidFill>
                <a:srgbClr val="737473"/>
              </a:solidFill>
              <a:latin typeface="Myriad Pro" panose="020B0503030403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</a:rPr>
              <a:t>To see if there are small parts in the app that may need some amendments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</a:rPr>
              <a:t>To know what user thinks of the app and give feedback that can help in having more improvements of the app</a:t>
            </a:r>
            <a:endParaRPr lang="en-SG" sz="900" dirty="0"/>
          </a:p>
        </p:txBody>
      </p:sp>
      <p:sp>
        <p:nvSpPr>
          <p:cNvPr id="105" name="Rectangle 104"/>
          <p:cNvSpPr/>
          <p:nvPr/>
        </p:nvSpPr>
        <p:spPr>
          <a:xfrm>
            <a:off x="4968340" y="766325"/>
            <a:ext cx="2255260" cy="1261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435"/>
              </a:spcAft>
            </a:pPr>
            <a:r>
              <a:rPr lang="en-SG" sz="900" b="1" dirty="0">
                <a:solidFill>
                  <a:srgbClr val="181717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PARTICIPANTS</a:t>
            </a:r>
            <a:endParaRPr lang="en-SG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SG" sz="9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How many participants will be recruited? What are their key characteristics?</a:t>
            </a:r>
          </a:p>
          <a:p>
            <a:endParaRPr lang="en-SG" sz="900" dirty="0">
              <a:solidFill>
                <a:srgbClr val="737473"/>
              </a:solidFill>
              <a:latin typeface="Myriad Pro" panose="020B0503030403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</a:rPr>
              <a:t>4 participants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</a:rPr>
              <a:t>A mix of male and female teenagers who own smart phones and understand how music apps function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335650" y="766324"/>
            <a:ext cx="2267190" cy="2646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435"/>
              </a:spcAft>
            </a:pPr>
            <a:r>
              <a:rPr lang="en-SG" sz="900" b="1" dirty="0">
                <a:solidFill>
                  <a:srgbClr val="181717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TEST TASKS</a:t>
            </a:r>
            <a:endParaRPr lang="en-SG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SG" sz="9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What are the test tasks?</a:t>
            </a:r>
          </a:p>
          <a:p>
            <a:endParaRPr lang="en-SG" sz="900" dirty="0">
              <a:solidFill>
                <a:srgbClr val="737473"/>
              </a:solidFill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Register, login/logout</a:t>
            </a:r>
            <a:endParaRPr lang="en-SG" sz="900" dirty="0">
              <a:solidFill>
                <a:srgbClr val="737473"/>
              </a:solidFill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Check out new album/song and like it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Play song from home page playlist and remove song from queue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Search for song and add to playlist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Using shuffle/repeat/play/pause functions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Using skip/previous song functions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Looking at lyrics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Creating new playlist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Edit playlist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Check out personal information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Check the followers user has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Log out of all connected devices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Log out of app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20724" y="762563"/>
            <a:ext cx="2242662" cy="1261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435"/>
              </a:spcAft>
            </a:pPr>
            <a:r>
              <a:rPr lang="en-SG" sz="900" b="1" dirty="0">
                <a:solidFill>
                  <a:srgbClr val="181717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RESPONSIBILITIES</a:t>
            </a:r>
            <a:endParaRPr lang="en-SG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SG" sz="9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Who is involved in the test and what are their responsibilities?</a:t>
            </a:r>
          </a:p>
          <a:p>
            <a:endParaRPr lang="en-SG" sz="900" dirty="0">
              <a:solidFill>
                <a:srgbClr val="737473"/>
              </a:solidFill>
              <a:latin typeface="Myriad Pro" panose="020B0503030403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</a:rPr>
              <a:t>Chan </a:t>
            </a:r>
            <a:r>
              <a:rPr lang="en-SG" sz="900" dirty="0" err="1">
                <a:solidFill>
                  <a:srgbClr val="737473"/>
                </a:solidFill>
                <a:latin typeface="Myriad Pro" panose="020B0503030403020204" pitchFamily="34" charset="0"/>
              </a:rPr>
              <a:t>Karyan</a:t>
            </a:r>
            <a:endParaRPr lang="en-SG" sz="900" dirty="0">
              <a:solidFill>
                <a:srgbClr val="737473"/>
              </a:solidFill>
              <a:latin typeface="Myriad Pro" panose="020B0503030403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</a:rPr>
              <a:t>Lucas Tang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</a:rPr>
              <a:t>Calista Yong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</a:rPr>
              <a:t>Nathaniel Low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720724" y="2905332"/>
            <a:ext cx="2255260" cy="1399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390"/>
              </a:spcAft>
            </a:pPr>
            <a:r>
              <a:rPr lang="en-SG" sz="900" b="1" dirty="0">
                <a:solidFill>
                  <a:srgbClr val="181717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LOCATION &amp; DATES</a:t>
            </a:r>
            <a:endParaRPr lang="en-SG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SG" sz="9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Where and when will the test take place? When and how will the results be shared?</a:t>
            </a:r>
          </a:p>
          <a:p>
            <a:endParaRPr lang="en-SG" sz="900" dirty="0">
              <a:solidFill>
                <a:srgbClr val="737473"/>
              </a:solidFill>
              <a:latin typeface="Myriad Pro" panose="020B0503030403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</a:rPr>
              <a:t>17-18 July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</a:rPr>
              <a:t>Since we are using Google Meet to call, both me and all users will be in our homes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968339" y="2905332"/>
            <a:ext cx="2267190" cy="1812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7000"/>
              </a:lnSpc>
              <a:spcAft>
                <a:spcPts val="335"/>
              </a:spcAft>
            </a:pPr>
            <a:r>
              <a:rPr lang="en-SG" sz="900" b="1" dirty="0">
                <a:solidFill>
                  <a:srgbClr val="181717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EQUIPMENT</a:t>
            </a:r>
            <a:endParaRPr lang="en-SG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SG" sz="9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What equipment is required? </a:t>
            </a:r>
            <a:endParaRPr lang="en-SG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SG" sz="900" dirty="0">
                <a:solidFill>
                  <a:srgbClr val="737473"/>
                </a:solidFill>
                <a:effectLst/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How will you record the data?</a:t>
            </a:r>
          </a:p>
          <a:p>
            <a:endParaRPr lang="en-SG" sz="900" dirty="0">
              <a:solidFill>
                <a:srgbClr val="737473"/>
              </a:solidFill>
              <a:latin typeface="Myriad Pro" panose="020B0503030403020204" pitchFamily="34" charset="0"/>
              <a:ea typeface="Myriad Pro" panose="020B0503030403020204" pitchFamily="34" charset="0"/>
              <a:cs typeface="Myriad Pro" panose="020B0503030403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Some users will be using laptops, some iPads to test out the prototype (unfortunately, iPads are unable to play included sound tracks due to technical difficulties)</a:t>
            </a:r>
          </a:p>
          <a:p>
            <a:pPr marL="171450" indent="-171450">
              <a:buFontTx/>
              <a:buChar char="-"/>
            </a:pPr>
            <a:r>
              <a:rPr lang="en-SG" sz="900" dirty="0">
                <a:solidFill>
                  <a:srgbClr val="737473"/>
                </a:solidFill>
                <a:latin typeface="Myriad Pro" panose="020B0503030403020204" pitchFamily="34" charset="0"/>
                <a:ea typeface="Myriad Pro" panose="020B0503030403020204" pitchFamily="34" charset="0"/>
                <a:cs typeface="Myriad Pro" panose="020B0503030403020204" pitchFamily="34" charset="0"/>
              </a:rPr>
              <a:t>All sessions will be held on Google Meet and being screen recorded using desktop recorder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4F1489-93F2-463B-B9A4-493482BAF7D3}"/>
              </a:ext>
            </a:extLst>
          </p:cNvPr>
          <p:cNvSpPr txBox="1"/>
          <p:nvPr/>
        </p:nvSpPr>
        <p:spPr>
          <a:xfrm>
            <a:off x="986585" y="5746909"/>
            <a:ext cx="1300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1-2 mins explaining to user what they will be doing</a:t>
            </a:r>
            <a:endParaRPr lang="en-SG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EA62ED-E913-424D-83CF-4CB0B9072227}"/>
              </a:ext>
            </a:extLst>
          </p:cNvPr>
          <p:cNvSpPr txBox="1"/>
          <p:nvPr/>
        </p:nvSpPr>
        <p:spPr>
          <a:xfrm>
            <a:off x="2729517" y="5862325"/>
            <a:ext cx="143862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2-3 mins asking user to register and log out and log 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92270D-4E0B-4FD9-AFFC-2665905BCC6B}"/>
              </a:ext>
            </a:extLst>
          </p:cNvPr>
          <p:cNvSpPr txBox="1"/>
          <p:nvPr/>
        </p:nvSpPr>
        <p:spPr>
          <a:xfrm>
            <a:off x="4566528" y="5684349"/>
            <a:ext cx="15158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3-6 mins giving user tasks to do regarding playing song and song settings</a:t>
            </a:r>
            <a:endParaRPr lang="en-SG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2C888-AB6B-47DC-A538-5000590AE9FB}"/>
              </a:ext>
            </a:extLst>
          </p:cNvPr>
          <p:cNvSpPr txBox="1"/>
          <p:nvPr/>
        </p:nvSpPr>
        <p:spPr>
          <a:xfrm>
            <a:off x="6406545" y="5654575"/>
            <a:ext cx="15148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6-8 mins accomplishing tasks creating playlists/editing playlist</a:t>
            </a:r>
            <a:endParaRPr lang="en-SG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1FBFA-3E36-4773-B4D6-2D3F073347A6}"/>
              </a:ext>
            </a:extLst>
          </p:cNvPr>
          <p:cNvSpPr txBox="1"/>
          <p:nvPr/>
        </p:nvSpPr>
        <p:spPr>
          <a:xfrm>
            <a:off x="8371415" y="5654575"/>
            <a:ext cx="13645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8-11 mins checking out user information and log out all connected devices</a:t>
            </a:r>
            <a:endParaRPr lang="en-SG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FE3738-07FF-42A4-863B-007A38211CB7}"/>
              </a:ext>
            </a:extLst>
          </p:cNvPr>
          <p:cNvSpPr txBox="1"/>
          <p:nvPr/>
        </p:nvSpPr>
        <p:spPr>
          <a:xfrm>
            <a:off x="10209637" y="5746909"/>
            <a:ext cx="129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11-13 mins log out of app and getting feedback from user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595781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Usability Test </a:t>
            </a:r>
            <a:r>
              <a:rPr lang="en-US" b="1" dirty="0"/>
              <a:t>Evidence (Video Data)</a:t>
            </a:r>
            <a:endParaRPr lang="en-S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0369" y="1429698"/>
            <a:ext cx="8819147" cy="528573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LcParenR"/>
            </a:pPr>
            <a:r>
              <a:rPr lang="en-US" sz="2400" dirty="0"/>
              <a:t>Lucas Tang </a:t>
            </a:r>
            <a:r>
              <a:rPr lang="en-US" sz="2400" dirty="0">
                <a:hlinkClick r:id="rId2"/>
              </a:rPr>
              <a:t>https://youtu.be/6cp6n0r-o5g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Tasks:</a:t>
            </a:r>
          </a:p>
          <a:p>
            <a:r>
              <a:rPr lang="en-US" sz="2400" dirty="0"/>
              <a:t>Register and log out</a:t>
            </a:r>
          </a:p>
          <a:p>
            <a:r>
              <a:rPr lang="en-US" sz="2400" dirty="0"/>
              <a:t>Log in to current account</a:t>
            </a:r>
          </a:p>
          <a:p>
            <a:r>
              <a:rPr lang="en-US" sz="2400" dirty="0"/>
              <a:t>Like new album release</a:t>
            </a:r>
          </a:p>
          <a:p>
            <a:r>
              <a:rPr lang="en-US" sz="2400" dirty="0"/>
              <a:t>Like, shuffle and repeat once for trending song</a:t>
            </a:r>
          </a:p>
          <a:p>
            <a:r>
              <a:rPr lang="en-US" sz="2400" dirty="0"/>
              <a:t>Search song and add song to playlist</a:t>
            </a:r>
          </a:p>
          <a:p>
            <a:r>
              <a:rPr lang="en-US" sz="2400" dirty="0"/>
              <a:t>Play songs in library playlist, use skip and previous song functions and share song to follower</a:t>
            </a:r>
          </a:p>
          <a:p>
            <a:r>
              <a:rPr lang="en-US" sz="2400" dirty="0"/>
              <a:t>Log out connected devices and log out of app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795" y="365125"/>
            <a:ext cx="924009" cy="92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76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Usability Test </a:t>
            </a:r>
            <a:r>
              <a:rPr lang="en-US" b="1" dirty="0"/>
              <a:t>Evidence (Video Data)</a:t>
            </a:r>
            <a:endParaRPr lang="en-SG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795" y="365125"/>
            <a:ext cx="924009" cy="92400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3303A9-D4A6-4348-AFB1-23D89E2ED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369" y="1429698"/>
            <a:ext cx="8819147" cy="5285733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LcParenR"/>
            </a:pPr>
            <a:r>
              <a:rPr lang="en-US" sz="2400" dirty="0"/>
              <a:t>Nathaniel Low </a:t>
            </a:r>
            <a:r>
              <a:rPr lang="en-US" sz="2400" dirty="0">
                <a:hlinkClick r:id="rId3"/>
              </a:rPr>
              <a:t>https://youtu.be/kEiXhRLbhsg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Tasks:</a:t>
            </a:r>
          </a:p>
          <a:p>
            <a:r>
              <a:rPr lang="en-US" sz="2400" dirty="0"/>
              <a:t>Register and log out</a:t>
            </a:r>
          </a:p>
          <a:p>
            <a:r>
              <a:rPr lang="en-US" sz="2400" dirty="0"/>
              <a:t>Log in to current account</a:t>
            </a:r>
          </a:p>
          <a:p>
            <a:r>
              <a:rPr lang="en-US" sz="2400" dirty="0"/>
              <a:t>Like new album release</a:t>
            </a:r>
          </a:p>
          <a:p>
            <a:r>
              <a:rPr lang="en-US" sz="2400" dirty="0"/>
              <a:t>Like, shuffle and repeat once for trending song</a:t>
            </a:r>
          </a:p>
          <a:p>
            <a:r>
              <a:rPr lang="en-US" sz="2400" dirty="0"/>
              <a:t>Search song and add song to playlist</a:t>
            </a:r>
          </a:p>
          <a:p>
            <a:r>
              <a:rPr lang="en-US" sz="2400" dirty="0"/>
              <a:t>Play songs in library playlist, use skip and previous song functions and share song to follower</a:t>
            </a:r>
          </a:p>
          <a:p>
            <a:r>
              <a:rPr lang="en-US" sz="2400" dirty="0"/>
              <a:t>Create new playlist</a:t>
            </a:r>
          </a:p>
          <a:p>
            <a:r>
              <a:rPr lang="en-US" sz="2400" dirty="0"/>
              <a:t>Check personal information and look at followers</a:t>
            </a:r>
          </a:p>
          <a:p>
            <a:r>
              <a:rPr lang="en-US" sz="2400" dirty="0"/>
              <a:t>Log out connected devices and log out of app</a:t>
            </a:r>
          </a:p>
        </p:txBody>
      </p:sp>
    </p:spTree>
    <p:extLst>
      <p:ext uri="{BB962C8B-B14F-4D97-AF65-F5344CB8AC3E}">
        <p14:creationId xmlns:p14="http://schemas.microsoft.com/office/powerpoint/2010/main" val="210330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Usability Test </a:t>
            </a:r>
            <a:r>
              <a:rPr lang="en-US" b="1" dirty="0"/>
              <a:t>Evidence (Video Data)</a:t>
            </a:r>
            <a:endParaRPr lang="en-SG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795" y="365125"/>
            <a:ext cx="924009" cy="92400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BE1FB1-909C-46F1-ACDF-FCFD51CCB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369" y="1429698"/>
            <a:ext cx="8819147" cy="528573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LcParenR"/>
            </a:pPr>
            <a:r>
              <a:rPr lang="en-US" sz="2400" dirty="0"/>
              <a:t>Calista Yong </a:t>
            </a:r>
            <a:r>
              <a:rPr lang="en-US" sz="2400" dirty="0">
                <a:hlinkClick r:id="rId3"/>
              </a:rPr>
              <a:t>https://youtu.be/pTiUrs5fFLM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Tasks:</a:t>
            </a:r>
          </a:p>
          <a:p>
            <a:r>
              <a:rPr lang="en-US" sz="2400" dirty="0"/>
              <a:t>Register and log out</a:t>
            </a:r>
          </a:p>
          <a:p>
            <a:r>
              <a:rPr lang="en-US" sz="2400" dirty="0"/>
              <a:t>Log in to current account</a:t>
            </a:r>
          </a:p>
          <a:p>
            <a:r>
              <a:rPr lang="en-US" sz="2400" dirty="0"/>
              <a:t>Like new album release</a:t>
            </a:r>
          </a:p>
          <a:p>
            <a:r>
              <a:rPr lang="en-US" sz="2400" dirty="0"/>
              <a:t>Like, shuffle and repeat once for trending song</a:t>
            </a:r>
          </a:p>
          <a:p>
            <a:r>
              <a:rPr lang="en-US" sz="2400" dirty="0"/>
              <a:t>Search song and add song to playlist</a:t>
            </a:r>
          </a:p>
          <a:p>
            <a:r>
              <a:rPr lang="en-US" sz="2400" dirty="0"/>
              <a:t>Play songs in library playlist, use skip and previous song functions and share song to follower</a:t>
            </a:r>
          </a:p>
          <a:p>
            <a:r>
              <a:rPr lang="en-US" sz="2400" dirty="0"/>
              <a:t>Create new playlist</a:t>
            </a:r>
          </a:p>
          <a:p>
            <a:r>
              <a:rPr lang="en-US" sz="2400" dirty="0"/>
              <a:t>Log out connected devices and log out of app</a:t>
            </a:r>
          </a:p>
        </p:txBody>
      </p:sp>
    </p:spTree>
    <p:extLst>
      <p:ext uri="{BB962C8B-B14F-4D97-AF65-F5344CB8AC3E}">
        <p14:creationId xmlns:p14="http://schemas.microsoft.com/office/powerpoint/2010/main" val="4026048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Usability Test </a:t>
            </a:r>
            <a:r>
              <a:rPr lang="en-US" b="1" dirty="0"/>
              <a:t>Evidence (Video Data)</a:t>
            </a:r>
            <a:endParaRPr lang="en-SG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795" y="365125"/>
            <a:ext cx="924009" cy="92400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3A46BB-4C5A-4B64-8C07-E4391BF5E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369" y="1429698"/>
            <a:ext cx="8819147" cy="5285733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lphaLcParenR"/>
            </a:pPr>
            <a:r>
              <a:rPr lang="en-US" sz="2400" dirty="0"/>
              <a:t>Chan </a:t>
            </a:r>
            <a:r>
              <a:rPr lang="en-US" sz="2400" dirty="0" err="1"/>
              <a:t>Karyan</a:t>
            </a:r>
            <a:r>
              <a:rPr lang="en-US" sz="2400" dirty="0"/>
              <a:t> </a:t>
            </a:r>
            <a:r>
              <a:rPr lang="en-US" sz="2400" dirty="0">
                <a:hlinkClick r:id="rId3"/>
              </a:rPr>
              <a:t>https://youtu.be/jcayMRKrm1I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Tasks:</a:t>
            </a:r>
          </a:p>
          <a:p>
            <a:r>
              <a:rPr lang="en-US" sz="2400" dirty="0"/>
              <a:t>Register and log out</a:t>
            </a:r>
          </a:p>
          <a:p>
            <a:r>
              <a:rPr lang="en-US" sz="2400" dirty="0"/>
              <a:t>Log in to current account</a:t>
            </a:r>
          </a:p>
          <a:p>
            <a:r>
              <a:rPr lang="en-US" sz="2400" dirty="0"/>
              <a:t>Like new album release</a:t>
            </a:r>
          </a:p>
          <a:p>
            <a:r>
              <a:rPr lang="en-US" sz="2400" dirty="0"/>
              <a:t>Like, shuffle and repeat once for trending song</a:t>
            </a:r>
          </a:p>
          <a:p>
            <a:r>
              <a:rPr lang="en-US" sz="2400" dirty="0"/>
              <a:t>Play song from home page playlist and remove a song from queue</a:t>
            </a:r>
          </a:p>
          <a:p>
            <a:r>
              <a:rPr lang="en-US" sz="2400" dirty="0"/>
              <a:t>Search song and add song to playlist</a:t>
            </a:r>
          </a:p>
          <a:p>
            <a:r>
              <a:rPr lang="en-US" sz="2400" dirty="0"/>
              <a:t>Play songs in library playlist, use skip and previous song functions and share song to follower</a:t>
            </a:r>
          </a:p>
          <a:p>
            <a:r>
              <a:rPr lang="en-US" sz="2400" dirty="0"/>
              <a:t>Edit playlist</a:t>
            </a:r>
          </a:p>
          <a:p>
            <a:r>
              <a:rPr lang="en-US" sz="2400" dirty="0"/>
              <a:t>Create new playlist</a:t>
            </a:r>
          </a:p>
          <a:p>
            <a:r>
              <a:rPr lang="en-US" sz="2400" dirty="0"/>
              <a:t>Check personal information and look at followers</a:t>
            </a:r>
          </a:p>
          <a:p>
            <a:r>
              <a:rPr lang="en-US" sz="2400" dirty="0"/>
              <a:t>Log out connected devices and log out of app</a:t>
            </a:r>
          </a:p>
        </p:txBody>
      </p:sp>
    </p:spTree>
    <p:extLst>
      <p:ext uri="{BB962C8B-B14F-4D97-AF65-F5344CB8AC3E}">
        <p14:creationId xmlns:p14="http://schemas.microsoft.com/office/powerpoint/2010/main" val="4037063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Usability Test </a:t>
            </a:r>
            <a:r>
              <a:rPr lang="en-US" b="1" dirty="0"/>
              <a:t>Evidence (Video Data)</a:t>
            </a:r>
            <a:endParaRPr lang="en-SG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795" y="365125"/>
            <a:ext cx="924009" cy="92400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3A46BB-4C5A-4B64-8C07-E4391BF5E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369" y="1429698"/>
            <a:ext cx="8819147" cy="5285733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lphaLcParenR"/>
            </a:pPr>
            <a:r>
              <a:rPr lang="en-US" sz="2400" dirty="0"/>
              <a:t>Jarell </a:t>
            </a:r>
            <a:r>
              <a:rPr lang="en-US" sz="2400" dirty="0" err="1"/>
              <a:t>Raaj</a:t>
            </a:r>
            <a:r>
              <a:rPr lang="en-US" sz="2400" dirty="0"/>
              <a:t> </a:t>
            </a:r>
            <a:r>
              <a:rPr lang="en-US" sz="2400" dirty="0">
                <a:hlinkClick r:id="rId3"/>
              </a:rPr>
              <a:t>https://youtu.be/sl2vo0SxZkg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Tasks:</a:t>
            </a:r>
          </a:p>
          <a:p>
            <a:r>
              <a:rPr lang="en-US" sz="2400" dirty="0"/>
              <a:t>Register and log out</a:t>
            </a:r>
          </a:p>
          <a:p>
            <a:r>
              <a:rPr lang="en-US" sz="2400" dirty="0"/>
              <a:t>Log in to current account</a:t>
            </a:r>
          </a:p>
          <a:p>
            <a:r>
              <a:rPr lang="en-US" sz="2400" dirty="0"/>
              <a:t>Like new album release</a:t>
            </a:r>
          </a:p>
          <a:p>
            <a:r>
              <a:rPr lang="en-US" sz="2400" dirty="0"/>
              <a:t>Like, shuffle and repeat once for trending song</a:t>
            </a:r>
          </a:p>
          <a:p>
            <a:r>
              <a:rPr lang="en-US" sz="2400" dirty="0"/>
              <a:t>Play song from home page playlist and remove a song from queue</a:t>
            </a:r>
          </a:p>
          <a:p>
            <a:r>
              <a:rPr lang="en-US" sz="2400" dirty="0"/>
              <a:t>Search song and add song to playlist</a:t>
            </a:r>
          </a:p>
          <a:p>
            <a:r>
              <a:rPr lang="en-US" sz="2400" dirty="0"/>
              <a:t>Play songs in library playlist, use skip and previous song functions and share song to follower</a:t>
            </a:r>
          </a:p>
          <a:p>
            <a:r>
              <a:rPr lang="en-US" sz="2400" dirty="0"/>
              <a:t>Edit playlist</a:t>
            </a:r>
          </a:p>
          <a:p>
            <a:r>
              <a:rPr lang="en-US" sz="2400" dirty="0"/>
              <a:t>Create new playlist</a:t>
            </a:r>
          </a:p>
          <a:p>
            <a:r>
              <a:rPr lang="en-US" sz="2400" dirty="0"/>
              <a:t>Check personal information and look at followers</a:t>
            </a:r>
          </a:p>
          <a:p>
            <a:r>
              <a:rPr lang="en-US" sz="2400" dirty="0"/>
              <a:t>Log out connected devices and log out of app</a:t>
            </a:r>
          </a:p>
        </p:txBody>
      </p:sp>
    </p:spTree>
    <p:extLst>
      <p:ext uri="{BB962C8B-B14F-4D97-AF65-F5344CB8AC3E}">
        <p14:creationId xmlns:p14="http://schemas.microsoft.com/office/powerpoint/2010/main" val="3260568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174724"/>
              </p:ext>
            </p:extLst>
          </p:nvPr>
        </p:nvGraphicFramePr>
        <p:xfrm>
          <a:off x="0" y="894736"/>
          <a:ext cx="12192000" cy="59632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0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2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561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User 1</a:t>
                      </a:r>
                      <a:endParaRPr lang="en-SG" sz="20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User 2</a:t>
                      </a:r>
                      <a:endParaRPr lang="en-SG" sz="20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515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Name</a:t>
                      </a:r>
                      <a:r>
                        <a:rPr lang="en-US" sz="1600" baseline="0" dirty="0"/>
                        <a:t> (</a:t>
                      </a:r>
                      <a:r>
                        <a:rPr lang="en-US" sz="1600" b="1" baseline="0" dirty="0"/>
                        <a:t>Age</a:t>
                      </a:r>
                      <a:r>
                        <a:rPr lang="en-US" sz="1600" baseline="0" dirty="0"/>
                        <a:t>)</a:t>
                      </a:r>
                      <a:endParaRPr lang="en-SG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Lucas Tang, 17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Nathaniel Low, 17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604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Location</a:t>
                      </a:r>
                      <a:endParaRPr lang="en-SG" sz="16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At home, Tampines, using Google Meet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At home, Tampines, using Google Meet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5867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Tasks</a:t>
                      </a:r>
                      <a:r>
                        <a:rPr lang="en-US" sz="1600" b="1" baseline="0" dirty="0"/>
                        <a:t> </a:t>
                      </a:r>
                      <a:r>
                        <a:rPr lang="en-US" sz="1600" baseline="0" dirty="0"/>
                        <a:t>Allocated</a:t>
                      </a:r>
                      <a:endParaRPr lang="en-SG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Register and log out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Login and like the new TWICE album released under “New Album Releases”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Play the new TWICE song under “Trending Now”, then like, shuffle and repeat once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Go to search and play the first song, then add song to playlist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Go to library and play the first song from “Cool Songs” playlist, then skip to the third song (Spiral)</a:t>
                      </a:r>
                      <a:endParaRPr lang="en-SG" sz="120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SG" sz="1200" dirty="0"/>
                        <a:t>Go back to the first song and share song to second follower (Dummy </a:t>
                      </a:r>
                      <a:r>
                        <a:rPr lang="en-SG" sz="1200" dirty="0" err="1"/>
                        <a:t>dummy</a:t>
                      </a:r>
                      <a:r>
                        <a:rPr lang="en-SG" sz="1200" dirty="0"/>
                        <a:t> dumb dumb)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SG" sz="1200" dirty="0"/>
                        <a:t>Go to settings and log out of all connected devices and log out of the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Register and log out</a:t>
                      </a:r>
                    </a:p>
                    <a:p>
                      <a:r>
                        <a:rPr lang="en-US" sz="1200" dirty="0"/>
                        <a:t>Login and like the new TWICE album released under “New Album Releases”</a:t>
                      </a:r>
                    </a:p>
                    <a:p>
                      <a:r>
                        <a:rPr lang="en-US" sz="1200" dirty="0"/>
                        <a:t>Play the new TWICE song under “Trending Now”, then like, shuffle and repeat once</a:t>
                      </a:r>
                    </a:p>
                    <a:p>
                      <a:r>
                        <a:rPr lang="en-US" sz="1200" dirty="0"/>
                        <a:t>Go to search and play the first song (TT), then add song to playlist</a:t>
                      </a:r>
                    </a:p>
                    <a:p>
                      <a:r>
                        <a:rPr lang="en-US" sz="1200" dirty="0"/>
                        <a:t>Go to library and play the first song from “Cool Songs” playlist, then skip to the third song (Spiral)</a:t>
                      </a:r>
                    </a:p>
                    <a:p>
                      <a:r>
                        <a:rPr lang="en-US" sz="1200" dirty="0"/>
                        <a:t>Go back to the first song in current playlist and share song to second follower (Dummy </a:t>
                      </a:r>
                      <a:r>
                        <a:rPr lang="en-US" sz="1200" dirty="0" err="1"/>
                        <a:t>dummy</a:t>
                      </a:r>
                      <a:r>
                        <a:rPr lang="en-US" sz="1200" dirty="0"/>
                        <a:t> dumb dumb)</a:t>
                      </a:r>
                    </a:p>
                    <a:p>
                      <a:r>
                        <a:rPr lang="en-US" sz="1200" dirty="0"/>
                        <a:t>Create new playlist</a:t>
                      </a:r>
                    </a:p>
                    <a:p>
                      <a:r>
                        <a:rPr lang="en-US" sz="1200" dirty="0"/>
                        <a:t>Go to settings and check personal information</a:t>
                      </a:r>
                    </a:p>
                    <a:p>
                      <a:r>
                        <a:rPr lang="en-US" sz="1200" dirty="0"/>
                        <a:t>Go to settings and log out of all connected devices and log out of the 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839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Success</a:t>
                      </a:r>
                      <a:r>
                        <a:rPr lang="en-US" sz="1600" dirty="0"/>
                        <a:t> (Easy / Difficult)</a:t>
                      </a:r>
                      <a:endParaRPr lang="en-SG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Easy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0878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Problems </a:t>
                      </a:r>
                      <a:r>
                        <a:rPr lang="en-US" sz="1600" b="0" dirty="0"/>
                        <a:t>E</a:t>
                      </a:r>
                      <a:r>
                        <a:rPr lang="en-US" sz="1600" dirty="0"/>
                        <a:t>ncountered</a:t>
                      </a:r>
                      <a:endParaRPr lang="en-SG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Did not know where to go or what to press when given the task to add song to playlist as he did not notice the 3 ellipses placed on top of the song player.</a:t>
                      </a:r>
                    </a:p>
                    <a:p>
                      <a:r>
                        <a:rPr lang="en-US" sz="1200" dirty="0"/>
                        <a:t>Had some troubles trying to click the back arrow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Did not know how to create new playlist as he did not notice the “+” sign at the top of the library page</a:t>
                      </a:r>
                    </a:p>
                    <a:p>
                      <a:r>
                        <a:rPr lang="en-US" sz="1200" dirty="0"/>
                        <a:t>Had a few </a:t>
                      </a:r>
                      <a:r>
                        <a:rPr lang="en-US" sz="1200" dirty="0" err="1"/>
                        <a:t>misclicks</a:t>
                      </a:r>
                      <a:r>
                        <a:rPr lang="en-US" sz="1200" dirty="0"/>
                        <a:t> but eventually got used to the app and did not have anymore </a:t>
                      </a:r>
                      <a:r>
                        <a:rPr lang="en-US" sz="1200" dirty="0" err="1"/>
                        <a:t>misclicks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C408A9F-B91C-49AB-8D7A-2559F465B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1999" cy="894735"/>
          </a:xfrm>
        </p:spPr>
        <p:txBody>
          <a:bodyPr/>
          <a:lstStyle/>
          <a:p>
            <a:r>
              <a:rPr lang="en-US" dirty="0"/>
              <a:t>3. Usability Test </a:t>
            </a:r>
            <a:r>
              <a:rPr lang="en-US" b="1" dirty="0"/>
              <a:t>Findings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553082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1999" cy="894735"/>
          </a:xfrm>
        </p:spPr>
        <p:txBody>
          <a:bodyPr/>
          <a:lstStyle/>
          <a:p>
            <a:r>
              <a:rPr lang="en-US" dirty="0"/>
              <a:t>3. Usability Test </a:t>
            </a:r>
            <a:r>
              <a:rPr lang="en-US" b="1" dirty="0"/>
              <a:t>Findings</a:t>
            </a:r>
            <a:endParaRPr lang="en-SG" b="1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429594"/>
              </p:ext>
            </p:extLst>
          </p:nvPr>
        </p:nvGraphicFramePr>
        <p:xfrm>
          <a:off x="0" y="894735"/>
          <a:ext cx="12192000" cy="5963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0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2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013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User 3</a:t>
                      </a:r>
                      <a:endParaRPr lang="en-SG" sz="20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User 4</a:t>
                      </a:r>
                      <a:endParaRPr lang="en-SG" sz="20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242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Name</a:t>
                      </a:r>
                      <a:r>
                        <a:rPr lang="en-US" sz="1600" baseline="0" dirty="0"/>
                        <a:t> (</a:t>
                      </a:r>
                      <a:r>
                        <a:rPr lang="en-US" sz="1600" b="1" baseline="0" dirty="0"/>
                        <a:t>Age</a:t>
                      </a:r>
                      <a:r>
                        <a:rPr lang="en-US" sz="1600" baseline="0" dirty="0"/>
                        <a:t>)</a:t>
                      </a:r>
                      <a:endParaRPr lang="en-SG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Calista Yong, 17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Chan </a:t>
                      </a:r>
                      <a:r>
                        <a:rPr lang="en-US" sz="1200" dirty="0" err="1"/>
                        <a:t>Karyan</a:t>
                      </a:r>
                      <a:r>
                        <a:rPr lang="en-US" sz="1200" dirty="0"/>
                        <a:t>, 17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242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Location</a:t>
                      </a:r>
                      <a:endParaRPr lang="en-SG" sz="16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At home, </a:t>
                      </a:r>
                      <a:r>
                        <a:rPr lang="en-US" sz="1200" dirty="0" err="1"/>
                        <a:t>Hougang</a:t>
                      </a:r>
                      <a:r>
                        <a:rPr lang="en-US" sz="1200" dirty="0"/>
                        <a:t>, using Google Meet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At home, Tampines, using Google Meet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175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Tasks</a:t>
                      </a:r>
                      <a:r>
                        <a:rPr lang="en-US" sz="1600" b="1" baseline="0" dirty="0"/>
                        <a:t> </a:t>
                      </a:r>
                      <a:r>
                        <a:rPr lang="en-US" sz="1600" baseline="0" dirty="0"/>
                        <a:t>Allocated</a:t>
                      </a:r>
                      <a:endParaRPr lang="en-SG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Register and log out</a:t>
                      </a:r>
                    </a:p>
                    <a:p>
                      <a:r>
                        <a:rPr lang="en-US" sz="1200" dirty="0"/>
                        <a:t>Login and like the new TWICE album released under “New Album Releases”</a:t>
                      </a:r>
                    </a:p>
                    <a:p>
                      <a:r>
                        <a:rPr lang="en-US" sz="1200" dirty="0"/>
                        <a:t>Play the new TWICE song under “Trending Now”, then like, shuffle and repeat once</a:t>
                      </a:r>
                    </a:p>
                    <a:p>
                      <a:r>
                        <a:rPr lang="en-US" sz="1200" dirty="0"/>
                        <a:t>Go to search and play the first song (TT), then add song to playlist</a:t>
                      </a:r>
                    </a:p>
                    <a:p>
                      <a:r>
                        <a:rPr lang="en-US" sz="1200" dirty="0"/>
                        <a:t>Go to library and play the first song from “Cool Songs” playlist, then skip to the third song (Spiral)</a:t>
                      </a:r>
                    </a:p>
                    <a:p>
                      <a:r>
                        <a:rPr lang="en-US" sz="1200" dirty="0"/>
                        <a:t>Go back to the first song in current playlist and share song to second follower (Dummy </a:t>
                      </a:r>
                      <a:r>
                        <a:rPr lang="en-US" sz="1200" dirty="0" err="1"/>
                        <a:t>dummy</a:t>
                      </a:r>
                      <a:r>
                        <a:rPr lang="en-US" sz="1200" dirty="0"/>
                        <a:t> dumb dumb)</a:t>
                      </a:r>
                    </a:p>
                    <a:p>
                      <a:r>
                        <a:rPr lang="en-US" sz="1200" dirty="0"/>
                        <a:t>Create new playlist</a:t>
                      </a:r>
                    </a:p>
                    <a:p>
                      <a:r>
                        <a:rPr lang="en-US" sz="1200" dirty="0"/>
                        <a:t>Go to settings and log out of all connected devices and log out of the app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Register and log out</a:t>
                      </a:r>
                    </a:p>
                    <a:p>
                      <a:r>
                        <a:rPr lang="en-US" sz="1200" dirty="0"/>
                        <a:t>Login and like the new TWICE album released under “New Album Releases”</a:t>
                      </a:r>
                    </a:p>
                    <a:p>
                      <a:r>
                        <a:rPr lang="en-US" sz="1200" dirty="0"/>
                        <a:t>Play the new TWICE song under “Trending Now”, then like, shuffle and repeat once</a:t>
                      </a:r>
                    </a:p>
                    <a:p>
                      <a:r>
                        <a:rPr lang="en-US" sz="1200" dirty="0"/>
                        <a:t>Play “Cheer Up” from home page “Cool Songs” playlist under “Jump Back In”, then remove “Spiral” from queue</a:t>
                      </a:r>
                    </a:p>
                    <a:p>
                      <a:r>
                        <a:rPr lang="en-US" sz="1200" dirty="0"/>
                        <a:t>Go to search and play the first song (TT), then add song to playlist</a:t>
                      </a:r>
                    </a:p>
                    <a:p>
                      <a:r>
                        <a:rPr lang="en-US" sz="1200" dirty="0"/>
                        <a:t>Go to library and play the first song from “Cool Songs” playlist, then skip to the third song (Spiral)</a:t>
                      </a:r>
                    </a:p>
                    <a:p>
                      <a:r>
                        <a:rPr lang="en-US" sz="1200" dirty="0"/>
                        <a:t>Go back to the first song in current playlist and share song to second follower (Dummy </a:t>
                      </a:r>
                      <a:r>
                        <a:rPr lang="en-US" sz="1200" dirty="0" err="1"/>
                        <a:t>dummy</a:t>
                      </a:r>
                      <a:r>
                        <a:rPr lang="en-US" sz="1200" dirty="0"/>
                        <a:t> dumb dumb)</a:t>
                      </a:r>
                    </a:p>
                    <a:p>
                      <a:r>
                        <a:rPr lang="en-US" sz="1200" dirty="0"/>
                        <a:t>Edit “Cool Songs” playlist</a:t>
                      </a:r>
                    </a:p>
                    <a:p>
                      <a:r>
                        <a:rPr lang="en-US" sz="1200" dirty="0"/>
                        <a:t>Create new playlist</a:t>
                      </a:r>
                    </a:p>
                    <a:p>
                      <a:r>
                        <a:rPr lang="en-US" sz="1200" dirty="0"/>
                        <a:t>Go to settings and check personal information and look at followers</a:t>
                      </a:r>
                    </a:p>
                    <a:p>
                      <a:r>
                        <a:rPr lang="en-US" sz="1200" dirty="0"/>
                        <a:t>Go to settings and log out of all connected devices and log out of the 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242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Success</a:t>
                      </a:r>
                      <a:r>
                        <a:rPr lang="en-US" sz="1600" dirty="0"/>
                        <a:t> (Easy / Difficult)</a:t>
                      </a:r>
                      <a:endParaRPr lang="en-SG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Easy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Easy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2352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Problems </a:t>
                      </a:r>
                      <a:r>
                        <a:rPr lang="en-US" sz="1600" b="0" dirty="0"/>
                        <a:t>E</a:t>
                      </a:r>
                      <a:r>
                        <a:rPr lang="en-US" sz="1600" dirty="0"/>
                        <a:t>ncountered</a:t>
                      </a:r>
                      <a:endParaRPr lang="en-SG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Was very slow in pressing buttons</a:t>
                      </a:r>
                    </a:p>
                    <a:p>
                      <a:r>
                        <a:rPr lang="en-US" sz="1200" dirty="0"/>
                        <a:t>Also did not notice the 3 ellipses on top of song player, did not what to press when tasked to add to playlist</a:t>
                      </a:r>
                    </a:p>
                    <a:p>
                      <a:r>
                        <a:rPr lang="en-US" sz="1200" dirty="0"/>
                        <a:t>Had a small problem trying to share song to follower as I did not include the function to still share song to follower for paused songs and did not </a:t>
                      </a:r>
                      <a:r>
                        <a:rPr lang="en-US" sz="1200" dirty="0" err="1"/>
                        <a:t>realise</a:t>
                      </a:r>
                      <a:r>
                        <a:rPr lang="en-US" sz="1200" dirty="0"/>
                        <a:t> she paused the music, but problem solved eventually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Very quick in accomplishing tasks with very minimal problems or difficulties, no problems encountered, other than laptop technical difficulties – song still playing when still paused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58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1999" cy="894735"/>
          </a:xfrm>
        </p:spPr>
        <p:txBody>
          <a:bodyPr/>
          <a:lstStyle/>
          <a:p>
            <a:r>
              <a:rPr lang="en-US" dirty="0"/>
              <a:t>3. Usability Test </a:t>
            </a:r>
            <a:r>
              <a:rPr lang="en-US" b="1" dirty="0"/>
              <a:t>Findings</a:t>
            </a:r>
            <a:endParaRPr lang="en-SG" b="1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824419"/>
              </p:ext>
            </p:extLst>
          </p:nvPr>
        </p:nvGraphicFramePr>
        <p:xfrm>
          <a:off x="0" y="894734"/>
          <a:ext cx="12192000" cy="5963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0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2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494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User 5</a:t>
                      </a:r>
                      <a:endParaRPr lang="en-SG" sz="20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0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880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Name</a:t>
                      </a:r>
                      <a:r>
                        <a:rPr lang="en-US" sz="1600" baseline="0" dirty="0"/>
                        <a:t> (</a:t>
                      </a:r>
                      <a:r>
                        <a:rPr lang="en-US" sz="1600" b="1" baseline="0" dirty="0"/>
                        <a:t>Age</a:t>
                      </a:r>
                      <a:r>
                        <a:rPr lang="en-US" sz="1600" baseline="0" dirty="0"/>
                        <a:t>)</a:t>
                      </a:r>
                      <a:endParaRPr lang="en-SG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Jarell </a:t>
                      </a:r>
                      <a:r>
                        <a:rPr lang="en-US" sz="1200" dirty="0" err="1"/>
                        <a:t>Raaj</a:t>
                      </a:r>
                      <a:r>
                        <a:rPr lang="en-US" sz="1200" dirty="0"/>
                        <a:t>, 17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880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Location</a:t>
                      </a:r>
                      <a:endParaRPr lang="en-SG" sz="16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At home, Changi North, using Google Meet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9914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Tasks</a:t>
                      </a:r>
                      <a:r>
                        <a:rPr lang="en-US" sz="1600" b="1" baseline="0" dirty="0"/>
                        <a:t> </a:t>
                      </a:r>
                      <a:r>
                        <a:rPr lang="en-US" sz="1600" baseline="0" dirty="0"/>
                        <a:t>Allocated</a:t>
                      </a:r>
                      <a:endParaRPr lang="en-SG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Register and log out</a:t>
                      </a:r>
                    </a:p>
                    <a:p>
                      <a:r>
                        <a:rPr lang="en-US" sz="1200" dirty="0"/>
                        <a:t>Login and like the new TWICE album released under “New Album Releases”</a:t>
                      </a:r>
                    </a:p>
                    <a:p>
                      <a:r>
                        <a:rPr lang="en-US" sz="1200" dirty="0"/>
                        <a:t>Play the new TWICE song under “Trending Now”, then like, shuffle and repeat once</a:t>
                      </a:r>
                    </a:p>
                    <a:p>
                      <a:r>
                        <a:rPr lang="en-US" sz="1200" dirty="0"/>
                        <a:t>Play “Cheer Up” from home page “Cool Songs” playlist under “Jump Back In”, then remove “Spiral” from queue</a:t>
                      </a:r>
                    </a:p>
                    <a:p>
                      <a:r>
                        <a:rPr lang="en-US" sz="1200" dirty="0"/>
                        <a:t>Go to search and play the first song (TT), then add song to playlist</a:t>
                      </a:r>
                    </a:p>
                    <a:p>
                      <a:r>
                        <a:rPr lang="en-US" sz="1200" dirty="0"/>
                        <a:t>Go to library and play the first song from “Cool Songs” playlist, then skip to the third song (Spiral)</a:t>
                      </a:r>
                    </a:p>
                    <a:p>
                      <a:r>
                        <a:rPr lang="en-US" sz="1200" dirty="0"/>
                        <a:t>Go back to the first song in current playlist and share song to second follower (Dummy </a:t>
                      </a:r>
                      <a:r>
                        <a:rPr lang="en-US" sz="1200" dirty="0" err="1"/>
                        <a:t>dummy</a:t>
                      </a:r>
                      <a:r>
                        <a:rPr lang="en-US" sz="1200" dirty="0"/>
                        <a:t> dumb dumb)</a:t>
                      </a:r>
                    </a:p>
                    <a:p>
                      <a:r>
                        <a:rPr lang="en-US" sz="1200" dirty="0"/>
                        <a:t>Edit “Cool Songs” playlist</a:t>
                      </a:r>
                    </a:p>
                    <a:p>
                      <a:r>
                        <a:rPr lang="en-US" sz="1200" dirty="0"/>
                        <a:t>Create new playlist</a:t>
                      </a:r>
                    </a:p>
                    <a:p>
                      <a:r>
                        <a:rPr lang="en-US" sz="1200" dirty="0"/>
                        <a:t>Go to settings and check personal information and look at followers</a:t>
                      </a:r>
                    </a:p>
                    <a:p>
                      <a:r>
                        <a:rPr lang="en-US" sz="1200" dirty="0"/>
                        <a:t>Go to settings and log out of all connected devices and log out of the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774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Success</a:t>
                      </a:r>
                      <a:r>
                        <a:rPr lang="en-US" sz="1600" dirty="0"/>
                        <a:t> (Easy / Difficult)</a:t>
                      </a:r>
                      <a:endParaRPr lang="en-SG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Easy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6324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Problems </a:t>
                      </a:r>
                      <a:r>
                        <a:rPr lang="en-US" sz="1600" b="0" dirty="0"/>
                        <a:t>E</a:t>
                      </a:r>
                      <a:r>
                        <a:rPr lang="en-US" sz="1600" dirty="0"/>
                        <a:t>ncountered</a:t>
                      </a:r>
                      <a:endParaRPr lang="en-SG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 problems encountered, worked his way through the app with ease, may have some </a:t>
                      </a:r>
                      <a:r>
                        <a:rPr lang="en-US" sz="1200" dirty="0" err="1"/>
                        <a:t>misclicks</a:t>
                      </a:r>
                      <a:r>
                        <a:rPr lang="en-US" sz="1200" dirty="0"/>
                        <a:t> sometimes but overall did a great job accomplishing tasks without any problems or difficulties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628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Post Test </a:t>
            </a:r>
            <a:r>
              <a:rPr lang="en-US" b="1" dirty="0"/>
              <a:t>Survey Results </a:t>
            </a:r>
            <a:r>
              <a:rPr lang="en-US" sz="4000" b="1" dirty="0"/>
              <a:t>(SUS Score)</a:t>
            </a:r>
            <a:endParaRPr lang="en-SG" b="1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0DE926C-2347-4843-B66C-F4B2F59CC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4339477"/>
              </p:ext>
            </p:extLst>
          </p:nvPr>
        </p:nvGraphicFramePr>
        <p:xfrm>
          <a:off x="0" y="2961422"/>
          <a:ext cx="6118942" cy="3896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DD405CC-C3ED-480E-A12A-DFB5A99E9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949642"/>
              </p:ext>
            </p:extLst>
          </p:nvPr>
        </p:nvGraphicFramePr>
        <p:xfrm>
          <a:off x="2326149" y="1769795"/>
          <a:ext cx="986585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932">
                  <a:extLst>
                    <a:ext uri="{9D8B030D-6E8A-4147-A177-3AD203B41FA5}">
                      <a16:colId xmlns:a16="http://schemas.microsoft.com/office/drawing/2014/main" val="2275115592"/>
                    </a:ext>
                  </a:extLst>
                </a:gridCol>
                <a:gridCol w="1568958">
                  <a:extLst>
                    <a:ext uri="{9D8B030D-6E8A-4147-A177-3AD203B41FA5}">
                      <a16:colId xmlns:a16="http://schemas.microsoft.com/office/drawing/2014/main" val="521221103"/>
                    </a:ext>
                  </a:extLst>
                </a:gridCol>
                <a:gridCol w="1336802">
                  <a:extLst>
                    <a:ext uri="{9D8B030D-6E8A-4147-A177-3AD203B41FA5}">
                      <a16:colId xmlns:a16="http://schemas.microsoft.com/office/drawing/2014/main" val="2542619734"/>
                    </a:ext>
                  </a:extLst>
                </a:gridCol>
                <a:gridCol w="1395984">
                  <a:extLst>
                    <a:ext uri="{9D8B030D-6E8A-4147-A177-3AD203B41FA5}">
                      <a16:colId xmlns:a16="http://schemas.microsoft.com/office/drawing/2014/main" val="3983200841"/>
                    </a:ext>
                  </a:extLst>
                </a:gridCol>
                <a:gridCol w="1162558">
                  <a:extLst>
                    <a:ext uri="{9D8B030D-6E8A-4147-A177-3AD203B41FA5}">
                      <a16:colId xmlns:a16="http://schemas.microsoft.com/office/drawing/2014/main" val="177221057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81457071"/>
                    </a:ext>
                  </a:extLst>
                </a:gridCol>
                <a:gridCol w="2010474">
                  <a:extLst>
                    <a:ext uri="{9D8B030D-6E8A-4147-A177-3AD203B41FA5}">
                      <a16:colId xmlns:a16="http://schemas.microsoft.com/office/drawing/2014/main" val="3329867897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SUS Score for Usability Testing</a:t>
                      </a:r>
                      <a:endParaRPr lang="en-S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247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Lucas Tang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Nathaniel Low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Calista Yong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Chan </a:t>
                      </a:r>
                      <a:r>
                        <a:rPr lang="en-US" dirty="0" err="1"/>
                        <a:t>Karyan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Jarell </a:t>
                      </a:r>
                      <a:r>
                        <a:rPr lang="en-US" dirty="0" err="1"/>
                        <a:t>Raaj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 Deviation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676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82.5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72.5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77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8.91 (3 </a:t>
                      </a:r>
                      <a:r>
                        <a:rPr lang="en-US" dirty="0" err="1"/>
                        <a:t>s.f.</a:t>
                      </a:r>
                      <a:r>
                        <a:rPr lang="en-US" dirty="0"/>
                        <a:t>)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900766"/>
                  </a:ext>
                </a:extLst>
              </a:tr>
            </a:tbl>
          </a:graphicData>
        </a:graphic>
      </p:graphicFrame>
      <p:pic>
        <p:nvPicPr>
          <p:cNvPr id="1026" name="Picture 2" descr="Figure 1">
            <a:extLst>
              <a:ext uri="{FF2B5EF4-FFF2-40B4-BE49-F238E27FC236}">
                <a16:creationId xmlns:a16="http://schemas.microsoft.com/office/drawing/2014/main" id="{B5D82930-56C6-4BED-A4B3-E55879DCC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29000"/>
            <a:ext cx="6118942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DC0AB2-2D69-4B14-A9E0-6F9C0CDB4090}"/>
              </a:ext>
            </a:extLst>
          </p:cNvPr>
          <p:cNvSpPr txBox="1"/>
          <p:nvPr/>
        </p:nvSpPr>
        <p:spPr>
          <a:xfrm>
            <a:off x="6096000" y="557212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SUS Score Range is in C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81157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 (if any)</a:t>
            </a:r>
            <a:endParaRPr lang="en-S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https://uxpajournal.org/sus-a-retrospective/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08013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2210</Words>
  <Application>Microsoft Office PowerPoint</Application>
  <PresentationFormat>Widescreen</PresentationFormat>
  <Paragraphs>280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Myriad Pro</vt:lpstr>
      <vt:lpstr>Arial</vt:lpstr>
      <vt:lpstr>Calibri</vt:lpstr>
      <vt:lpstr>Calibri Light</vt:lpstr>
      <vt:lpstr>Office Theme</vt:lpstr>
      <vt:lpstr>Usability Testing Report Moosic</vt:lpstr>
      <vt:lpstr>PowerPoint Presentation</vt:lpstr>
      <vt:lpstr>2. Usability Test Evidence (Video Data)</vt:lpstr>
      <vt:lpstr>2. Usability Test Evidence (Video Data)</vt:lpstr>
      <vt:lpstr>2. Usability Test Evidence (Video Data)</vt:lpstr>
      <vt:lpstr>2. Usability Test Evidence (Video Data)</vt:lpstr>
      <vt:lpstr>2. Usability Test Evidence (Video Data)</vt:lpstr>
      <vt:lpstr>3. Usability Test Findings</vt:lpstr>
      <vt:lpstr>3. Usability Test Findings</vt:lpstr>
      <vt:lpstr>3. Usability Test Findings</vt:lpstr>
      <vt:lpstr>4. Post Test Survey Results (SUS Score)</vt:lpstr>
      <vt:lpstr>References (if any)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Eber-Tan Yu Lin, Josephine</dc:creator>
  <cp:lastModifiedBy>ISAAC TAN (CHEN EN)</cp:lastModifiedBy>
  <cp:revision>76</cp:revision>
  <cp:lastPrinted>2017-06-27T00:56:20Z</cp:lastPrinted>
  <dcterms:created xsi:type="dcterms:W3CDTF">2017-04-13T11:04:04Z</dcterms:created>
  <dcterms:modified xsi:type="dcterms:W3CDTF">2021-07-18T11:10:04Z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cb20ed-001a-45f4-b2e7-234c5fc91178_Enabled">
    <vt:lpwstr>True</vt:lpwstr>
  </property>
  <property fmtid="{D5CDD505-2E9C-101B-9397-08002B2CF9AE}" pid="3" name="MSIP_Label_4bcb20ed-001a-45f4-b2e7-234c5fc91178_SiteId">
    <vt:lpwstr>25a99bf0-8e72-472a-ae50-adfbdf0df6f1</vt:lpwstr>
  </property>
  <property fmtid="{D5CDD505-2E9C-101B-9397-08002B2CF9AE}" pid="4" name="MSIP_Label_4bcb20ed-001a-45f4-b2e7-234c5fc91178_Owner">
    <vt:lpwstr>andrewt@TP.EDU.SG</vt:lpwstr>
  </property>
  <property fmtid="{D5CDD505-2E9C-101B-9397-08002B2CF9AE}" pid="5" name="MSIP_Label_4bcb20ed-001a-45f4-b2e7-234c5fc91178_SetDate">
    <vt:lpwstr>2021-07-04T06:05:51.9177001Z</vt:lpwstr>
  </property>
  <property fmtid="{D5CDD505-2E9C-101B-9397-08002B2CF9AE}" pid="6" name="MSIP_Label_4bcb20ed-001a-45f4-b2e7-234c5fc91178_Name">
    <vt:lpwstr>OFFICIAL (CLOSED)</vt:lpwstr>
  </property>
  <property fmtid="{D5CDD505-2E9C-101B-9397-08002B2CF9AE}" pid="7" name="MSIP_Label_4bcb20ed-001a-45f4-b2e7-234c5fc91178_Application">
    <vt:lpwstr>Microsoft Azure Information Protection</vt:lpwstr>
  </property>
  <property fmtid="{D5CDD505-2E9C-101B-9397-08002B2CF9AE}" pid="8" name="MSIP_Label_4bcb20ed-001a-45f4-b2e7-234c5fc91178_ActionId">
    <vt:lpwstr>7cf1c9f7-1a6d-4403-938a-b80fd8e02c87</vt:lpwstr>
  </property>
  <property fmtid="{D5CDD505-2E9C-101B-9397-08002B2CF9AE}" pid="9" name="MSIP_Label_4bcb20ed-001a-45f4-b2e7-234c5fc91178_Extended_MSFT_Method">
    <vt:lpwstr>Automatic</vt:lpwstr>
  </property>
  <property fmtid="{D5CDD505-2E9C-101B-9397-08002B2CF9AE}" pid="10" name="MSIP_Label_f69d7fc4-da81-42e5-b309-526f71322d86_Enabled">
    <vt:lpwstr>True</vt:lpwstr>
  </property>
  <property fmtid="{D5CDD505-2E9C-101B-9397-08002B2CF9AE}" pid="11" name="MSIP_Label_f69d7fc4-da81-42e5-b309-526f71322d86_SiteId">
    <vt:lpwstr>25a99bf0-8e72-472a-ae50-adfbdf0df6f1</vt:lpwstr>
  </property>
  <property fmtid="{D5CDD505-2E9C-101B-9397-08002B2CF9AE}" pid="12" name="MSIP_Label_f69d7fc4-da81-42e5-b309-526f71322d86_Owner">
    <vt:lpwstr>andrewt@TP.EDU.SG</vt:lpwstr>
  </property>
  <property fmtid="{D5CDD505-2E9C-101B-9397-08002B2CF9AE}" pid="13" name="MSIP_Label_f69d7fc4-da81-42e5-b309-526f71322d86_SetDate">
    <vt:lpwstr>2021-07-04T06:05:51.9177001Z</vt:lpwstr>
  </property>
  <property fmtid="{D5CDD505-2E9C-101B-9397-08002B2CF9AE}" pid="14" name="MSIP_Label_f69d7fc4-da81-42e5-b309-526f71322d86_Name">
    <vt:lpwstr>NON-SENSITIVE</vt:lpwstr>
  </property>
  <property fmtid="{D5CDD505-2E9C-101B-9397-08002B2CF9AE}" pid="15" name="MSIP_Label_f69d7fc4-da81-42e5-b309-526f71322d86_Application">
    <vt:lpwstr>Microsoft Azure Information Protection</vt:lpwstr>
  </property>
  <property fmtid="{D5CDD505-2E9C-101B-9397-08002B2CF9AE}" pid="16" name="MSIP_Label_f69d7fc4-da81-42e5-b309-526f71322d86_ActionId">
    <vt:lpwstr>7cf1c9f7-1a6d-4403-938a-b80fd8e02c87</vt:lpwstr>
  </property>
  <property fmtid="{D5CDD505-2E9C-101B-9397-08002B2CF9AE}" pid="17" name="MSIP_Label_f69d7fc4-da81-42e5-b309-526f71322d86_Parent">
    <vt:lpwstr>4bcb20ed-001a-45f4-b2e7-234c5fc91178</vt:lpwstr>
  </property>
  <property fmtid="{D5CDD505-2E9C-101B-9397-08002B2CF9AE}" pid="18" name="MSIP_Label_f69d7fc4-da81-42e5-b309-526f71322d86_Extended_MSFT_Method">
    <vt:lpwstr>Automatic</vt:lpwstr>
  </property>
  <property fmtid="{D5CDD505-2E9C-101B-9397-08002B2CF9AE}" pid="19" name="Sensitivity">
    <vt:lpwstr>OFFICIAL (CLOSED) NON-SENSITIVE</vt:lpwstr>
  </property>
</Properties>
</file>