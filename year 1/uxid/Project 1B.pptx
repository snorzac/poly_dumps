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48" r:id="rId2"/>
  </p:sldMasterIdLst>
  <p:notesMasterIdLst>
    <p:notesMasterId r:id="rId7"/>
  </p:notesMasterIdLst>
  <p:sldIdLst>
    <p:sldId id="256" r:id="rId3"/>
    <p:sldId id="266" r:id="rId4"/>
    <p:sldId id="265"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E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811" autoAdjust="0"/>
  </p:normalViewPr>
  <p:slideViewPr>
    <p:cSldViewPr snapToGrid="0">
      <p:cViewPr varScale="1">
        <p:scale>
          <a:sx n="60" d="100"/>
          <a:sy n="60" d="100"/>
        </p:scale>
        <p:origin x="90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CA0859-35CC-44D4-8CF6-79919F147444}" type="datetimeFigureOut">
              <a:rPr lang="en-SG" smtClean="0"/>
              <a:t>4/6/2021</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6C9B6C-F877-4C23-B0F7-DF67D5CB57F6}" type="slidenum">
              <a:rPr lang="en-SG" smtClean="0"/>
              <a:t>‹#›</a:t>
            </a:fld>
            <a:endParaRPr lang="en-SG"/>
          </a:p>
        </p:txBody>
      </p:sp>
    </p:spTree>
    <p:extLst>
      <p:ext uri="{BB962C8B-B14F-4D97-AF65-F5344CB8AC3E}">
        <p14:creationId xmlns:p14="http://schemas.microsoft.com/office/powerpoint/2010/main" val="4228044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36C9B6C-F877-4C23-B0F7-DF67D5CB57F6}" type="slidenum">
              <a:rPr lang="en-SG" smtClean="0"/>
              <a:t>2</a:t>
            </a:fld>
            <a:endParaRPr lang="en-SG"/>
          </a:p>
        </p:txBody>
      </p:sp>
    </p:spTree>
    <p:extLst>
      <p:ext uri="{BB962C8B-B14F-4D97-AF65-F5344CB8AC3E}">
        <p14:creationId xmlns:p14="http://schemas.microsoft.com/office/powerpoint/2010/main" val="4211705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36C9B6C-F877-4C23-B0F7-DF67D5CB57F6}" type="slidenum">
              <a:rPr lang="en-SG" smtClean="0"/>
              <a:t>3</a:t>
            </a:fld>
            <a:endParaRPr lang="en-SG"/>
          </a:p>
        </p:txBody>
      </p:sp>
    </p:spTree>
    <p:extLst>
      <p:ext uri="{BB962C8B-B14F-4D97-AF65-F5344CB8AC3E}">
        <p14:creationId xmlns:p14="http://schemas.microsoft.com/office/powerpoint/2010/main" val="3386605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36C9B6C-F877-4C23-B0F7-DF67D5CB57F6}" type="slidenum">
              <a:rPr lang="en-SG" smtClean="0"/>
              <a:t>4</a:t>
            </a:fld>
            <a:endParaRPr lang="en-SG"/>
          </a:p>
        </p:txBody>
      </p:sp>
    </p:spTree>
    <p:extLst>
      <p:ext uri="{BB962C8B-B14F-4D97-AF65-F5344CB8AC3E}">
        <p14:creationId xmlns:p14="http://schemas.microsoft.com/office/powerpoint/2010/main" val="314838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AE42-06CE-45C1-84B2-B44DC18863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022596F-CFD1-4BDF-BB90-688604369D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F1363A7-7AFD-4B84-8A87-016E6D4D7CB2}"/>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F54ACEE4-F1AD-478A-8E43-B3B5E3E754B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19D5052-E366-41FE-BAE2-0B006E8DCAD8}"/>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1772048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4F466-FE1B-4DF4-8D9C-479F23B20279}"/>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8386F46-8A47-498A-9CF9-07B29B2F04A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E852E28-5C60-46BA-990E-CA80620EBC47}"/>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9BBB857F-B5B0-4E35-9C80-936A3600FEE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E47D609-F8B1-4873-A3F1-41D64325E7F7}"/>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2459808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3D2F3-D3C8-4D56-AD15-90EB2E92CB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E509006-9BE1-43EE-A80B-7A49643675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D35A84C-A830-4E25-BE18-0CD6B1239AE6}"/>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161BFF4B-690D-4CB3-A217-7BEAF4691BC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0C87062-A819-48CE-866C-4D61CE14B85C}"/>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219998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BF4F-18AA-46A4-ACD0-E66DBA1DACF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9FE89A-36DD-4322-BB04-214BCD8B85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14702EC-720D-4E27-B75B-C3100FBAC41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6EE5BE17-F4B0-421D-854F-3A116BF2B4B0}"/>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6" name="Footer Placeholder 5">
            <a:extLst>
              <a:ext uri="{FF2B5EF4-FFF2-40B4-BE49-F238E27FC236}">
                <a16:creationId xmlns:a16="http://schemas.microsoft.com/office/drawing/2014/main" id="{DC68D7D1-F10F-495D-8302-DDBB4EFD989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312E3A2-6D95-4EE7-A2D8-03D84F73B7F0}"/>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381172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0B27E-4B50-48F0-85A0-0B5DE018BDFB}"/>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08FD476-DEC4-40FA-8B73-94185F8093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C7F0B16-6CE5-46E4-8EBF-85FDE038AB2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AE4F18F-B0EA-49D0-8796-44613C973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71DD88C-D3B1-4E98-B9C1-B0BB30D8E81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2307A88-98C2-4393-BA7E-8DE4515923B7}"/>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8" name="Footer Placeholder 7">
            <a:extLst>
              <a:ext uri="{FF2B5EF4-FFF2-40B4-BE49-F238E27FC236}">
                <a16:creationId xmlns:a16="http://schemas.microsoft.com/office/drawing/2014/main" id="{7AA68039-49E4-42E5-B991-3D6CF51F4BA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4226ED7-E1E5-417F-B351-E527EC23893D}"/>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3616634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9086B-1D35-4DCB-B3B4-3DAFFA8A554E}"/>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3E7D550-0CFE-4A58-AB1F-B952F5315991}"/>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4" name="Footer Placeholder 3">
            <a:extLst>
              <a:ext uri="{FF2B5EF4-FFF2-40B4-BE49-F238E27FC236}">
                <a16:creationId xmlns:a16="http://schemas.microsoft.com/office/drawing/2014/main" id="{4147B440-0087-4843-B6B2-49F7210C249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88972886-EFAA-478F-92A5-78E15CE0B8ED}"/>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958665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F4D27F-70BE-46C4-AD57-F8D29EB6C72C}"/>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3" name="Footer Placeholder 2">
            <a:extLst>
              <a:ext uri="{FF2B5EF4-FFF2-40B4-BE49-F238E27FC236}">
                <a16:creationId xmlns:a16="http://schemas.microsoft.com/office/drawing/2014/main" id="{A38FED9B-19FD-4104-85BA-16A77450B5F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9F9357E1-F1D4-4A3A-AE2D-C98B5ACFBE95}"/>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267048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FE87-4E8E-4567-A381-F60F76295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8CB6DDBE-A768-456F-AD53-94A3391C36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C16072A3-1050-46EB-B50C-24142C8876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0B5CF32-AC7A-4446-9DE1-0FBC6E0D6455}"/>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6" name="Footer Placeholder 5">
            <a:extLst>
              <a:ext uri="{FF2B5EF4-FFF2-40B4-BE49-F238E27FC236}">
                <a16:creationId xmlns:a16="http://schemas.microsoft.com/office/drawing/2014/main" id="{9BA24059-D269-4E43-A84F-47B7CB27A82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999BAD0-63DB-4C2D-A424-B85AEE3AC04A}"/>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1494590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C66EE-ED68-4141-BB2E-A3F1FED322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856F8DE0-5AA8-47DA-8247-3D534D9E4E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C5A40C42-1636-4443-83BC-27F52F988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9B7227-63EE-4EB5-9BD6-EC2140C84D6F}"/>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6" name="Footer Placeholder 5">
            <a:extLst>
              <a:ext uri="{FF2B5EF4-FFF2-40B4-BE49-F238E27FC236}">
                <a16:creationId xmlns:a16="http://schemas.microsoft.com/office/drawing/2014/main" id="{200AB6CB-E7B0-49D5-93DD-AB0E5448306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4758E22-CA3F-4E2E-9668-CF7F045630C1}"/>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4079105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14CF1-5052-449C-8DBE-C1D4F4E7BCD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E1777C6-8FB9-45A3-A721-4F27005889B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E407860-E9C1-49D8-B828-55F50DC1A557}"/>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3D3C3F88-8546-4A41-8E2B-66A3401A29D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3296154-42A5-44B1-918A-2946F2F20B85}"/>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5147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52290-FBF7-4D0C-9F1D-CFD1A340D1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0D6234D-D0A4-45CE-9826-AD4D75D3F60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7CD3D1B-F937-4583-B638-48635C940179}"/>
              </a:ext>
            </a:extLst>
          </p:cNvPr>
          <p:cNvSpPr>
            <a:spLocks noGrp="1"/>
          </p:cNvSpPr>
          <p:nvPr>
            <p:ph type="dt" sz="half" idx="10"/>
          </p:nvPr>
        </p:nvSpPr>
        <p:spPr/>
        <p:txBody>
          <a:body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EBAEF4E4-1216-4DDD-B201-114EC35242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FF8B3CA-D0B7-4B0C-AFEC-2D21FFF50FCD}"/>
              </a:ext>
            </a:extLst>
          </p:cNvPr>
          <p:cNvSpPr>
            <a:spLocks noGrp="1"/>
          </p:cNvSpPr>
          <p:nvPr>
            <p:ph type="sldNum" sz="quarter" idx="12"/>
          </p:nvPr>
        </p:nvSpPr>
        <p:spPr/>
        <p:txBody>
          <a:bodyPr/>
          <a:lstStyle/>
          <a:p>
            <a:fld id="{6503FFCC-F8F0-4520-B022-1AA42DF50818}" type="slidenum">
              <a:rPr lang="en-SG" smtClean="0"/>
              <a:t>‹#›</a:t>
            </a:fld>
            <a:endParaRPr lang="en-SG"/>
          </a:p>
        </p:txBody>
      </p:sp>
    </p:spTree>
    <p:extLst>
      <p:ext uri="{BB962C8B-B14F-4D97-AF65-F5344CB8AC3E}">
        <p14:creationId xmlns:p14="http://schemas.microsoft.com/office/powerpoint/2010/main" val="2740695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67BC365-9B12-4F82-9D16-1C29C54DE81B}"/>
              </a:ext>
            </a:extLst>
          </p:cNvPr>
          <p:cNvSpPr/>
          <p:nvPr userDrawn="1"/>
        </p:nvSpPr>
        <p:spPr>
          <a:xfrm>
            <a:off x="0" y="0"/>
            <a:ext cx="12192000"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itle 1">
            <a:extLst>
              <a:ext uri="{FF2B5EF4-FFF2-40B4-BE49-F238E27FC236}">
                <a16:creationId xmlns:a16="http://schemas.microsoft.com/office/drawing/2014/main" id="{6284C730-064D-4D2B-8B07-E0DBC10CA2F4}"/>
              </a:ext>
            </a:extLst>
          </p:cNvPr>
          <p:cNvSpPr>
            <a:spLocks noGrp="1"/>
          </p:cNvSpPr>
          <p:nvPr>
            <p:ph type="title" hasCustomPrompt="1"/>
          </p:nvPr>
        </p:nvSpPr>
        <p:spPr>
          <a:xfrm>
            <a:off x="380997" y="250724"/>
            <a:ext cx="6981828" cy="412955"/>
          </a:xfrm>
        </p:spPr>
        <p:txBody>
          <a:bodyPr>
            <a:normAutofit/>
          </a:bodyPr>
          <a:lstStyle>
            <a:lvl1pPr>
              <a:defRPr sz="3200" b="1" cap="all" baseline="0">
                <a:solidFill>
                  <a:schemeClr val="bg1"/>
                </a:solidFill>
                <a:latin typeface="+mn-lt"/>
              </a:defRPr>
            </a:lvl1pPr>
          </a:lstStyle>
          <a:p>
            <a:r>
              <a:rPr lang="en-US" dirty="0"/>
              <a:t>Click to INSERT title of </a:t>
            </a:r>
            <a:r>
              <a:rPr lang="en-US" dirty="0" err="1"/>
              <a:t>sTORY</a:t>
            </a:r>
            <a:endParaRPr lang="en-SG" dirty="0"/>
          </a:p>
        </p:txBody>
      </p:sp>
    </p:spTree>
    <p:extLst>
      <p:ext uri="{BB962C8B-B14F-4D97-AF65-F5344CB8AC3E}">
        <p14:creationId xmlns:p14="http://schemas.microsoft.com/office/powerpoint/2010/main" val="1476524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67BC365-9B12-4F82-9D16-1C29C54DE81B}"/>
              </a:ext>
            </a:extLst>
          </p:cNvPr>
          <p:cNvSpPr/>
          <p:nvPr userDrawn="1"/>
        </p:nvSpPr>
        <p:spPr>
          <a:xfrm>
            <a:off x="0" y="0"/>
            <a:ext cx="12192000"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itle 1">
            <a:extLst>
              <a:ext uri="{FF2B5EF4-FFF2-40B4-BE49-F238E27FC236}">
                <a16:creationId xmlns:a16="http://schemas.microsoft.com/office/drawing/2014/main" id="{6284C730-064D-4D2B-8B07-E0DBC10CA2F4}"/>
              </a:ext>
            </a:extLst>
          </p:cNvPr>
          <p:cNvSpPr>
            <a:spLocks noGrp="1"/>
          </p:cNvSpPr>
          <p:nvPr>
            <p:ph type="title" hasCustomPrompt="1"/>
          </p:nvPr>
        </p:nvSpPr>
        <p:spPr>
          <a:xfrm>
            <a:off x="380996" y="250724"/>
            <a:ext cx="8420103" cy="412955"/>
          </a:xfrm>
        </p:spPr>
        <p:txBody>
          <a:bodyPr>
            <a:normAutofit/>
          </a:bodyPr>
          <a:lstStyle>
            <a:lvl1pPr>
              <a:defRPr sz="3200" b="1" cap="all" baseline="0">
                <a:solidFill>
                  <a:schemeClr val="bg1"/>
                </a:solidFill>
                <a:latin typeface="+mn-lt"/>
              </a:defRPr>
            </a:lvl1pPr>
          </a:lstStyle>
          <a:p>
            <a:r>
              <a:rPr lang="en-US" dirty="0"/>
              <a:t>Low – Fidelity Prototype : Overview</a:t>
            </a:r>
            <a:endParaRPr lang="en-SG" dirty="0"/>
          </a:p>
        </p:txBody>
      </p:sp>
    </p:spTree>
    <p:extLst>
      <p:ext uri="{BB962C8B-B14F-4D97-AF65-F5344CB8AC3E}">
        <p14:creationId xmlns:p14="http://schemas.microsoft.com/office/powerpoint/2010/main" val="2468728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oup 10"/>
          <p:cNvGrpSpPr/>
          <p:nvPr userDrawn="1"/>
        </p:nvGrpSpPr>
        <p:grpSpPr>
          <a:xfrm>
            <a:off x="0" y="0"/>
            <a:ext cx="12192000" cy="6858000"/>
            <a:chOff x="0" y="0"/>
            <a:chExt cx="12192000" cy="6858000"/>
          </a:xfrm>
        </p:grpSpPr>
        <p:sp>
          <p:nvSpPr>
            <p:cNvPr id="8" name="Rectangle 7"/>
            <p:cNvSpPr/>
            <p:nvPr userDrawn="1"/>
          </p:nvSpPr>
          <p:spPr>
            <a:xfrm>
              <a:off x="0" y="0"/>
              <a:ext cx="12192000"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p:cNvSpPr/>
            <p:nvPr userDrawn="1"/>
          </p:nvSpPr>
          <p:spPr>
            <a:xfrm>
              <a:off x="0" y="0"/>
              <a:ext cx="12192000" cy="6858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bg1"/>
                </a:solidFill>
              </a:endParaRPr>
            </a:p>
          </p:txBody>
        </p:sp>
      </p:grpSp>
      <p:sp>
        <p:nvSpPr>
          <p:cNvPr id="7" name="Picture Placeholder 6"/>
          <p:cNvSpPr>
            <a:spLocks noGrp="1"/>
          </p:cNvSpPr>
          <p:nvPr userDrawn="1">
            <p:ph type="pic" sz="quarter" idx="13" hasCustomPrompt="1"/>
          </p:nvPr>
        </p:nvSpPr>
        <p:spPr>
          <a:xfrm>
            <a:off x="380998" y="859809"/>
            <a:ext cx="2022990" cy="2344991"/>
          </a:xfrm>
          <a:ln w="3175">
            <a:solidFill>
              <a:schemeClr val="accent1">
                <a:lumMod val="60000"/>
                <a:lumOff val="40000"/>
              </a:schemeClr>
            </a:solidFill>
          </a:ln>
        </p:spPr>
        <p:txBody>
          <a:bodyPr>
            <a:normAutofit/>
          </a:bodyPr>
          <a:lstStyle>
            <a:lvl1pPr>
              <a:defRPr sz="1600" b="1" baseline="0">
                <a:solidFill>
                  <a:schemeClr val="bg2">
                    <a:lumMod val="50000"/>
                  </a:schemeClr>
                </a:solidFill>
              </a:defRPr>
            </a:lvl1pPr>
          </a:lstStyle>
          <a:p>
            <a:r>
              <a:rPr lang="en-US" dirty="0"/>
              <a:t>Insert Photo</a:t>
            </a:r>
            <a:endParaRPr lang="en-SG" dirty="0"/>
          </a:p>
        </p:txBody>
      </p:sp>
      <p:sp>
        <p:nvSpPr>
          <p:cNvPr id="2" name="Title 1"/>
          <p:cNvSpPr>
            <a:spLocks noGrp="1"/>
          </p:cNvSpPr>
          <p:nvPr userDrawn="1">
            <p:ph type="title" hasCustomPrompt="1"/>
          </p:nvPr>
        </p:nvSpPr>
        <p:spPr>
          <a:xfrm>
            <a:off x="380997" y="250724"/>
            <a:ext cx="11424316" cy="412955"/>
          </a:xfrm>
        </p:spPr>
        <p:txBody>
          <a:bodyPr>
            <a:normAutofit/>
          </a:bodyPr>
          <a:lstStyle>
            <a:lvl1pPr>
              <a:defRPr sz="3200" b="1" cap="all" baseline="0">
                <a:solidFill>
                  <a:schemeClr val="bg1"/>
                </a:solidFill>
                <a:latin typeface="+mn-lt"/>
              </a:defRPr>
            </a:lvl1pPr>
          </a:lstStyle>
          <a:p>
            <a:r>
              <a:rPr lang="en-US" dirty="0"/>
              <a:t>Click to edit Name</a:t>
            </a:r>
            <a:endParaRPr lang="en-SG" dirty="0"/>
          </a:p>
        </p:txBody>
      </p:sp>
      <p:grpSp>
        <p:nvGrpSpPr>
          <p:cNvPr id="69" name="Group 68"/>
          <p:cNvGrpSpPr/>
          <p:nvPr userDrawn="1"/>
        </p:nvGrpSpPr>
        <p:grpSpPr>
          <a:xfrm>
            <a:off x="2536725" y="859809"/>
            <a:ext cx="4406280" cy="2363330"/>
            <a:chOff x="2536725" y="859809"/>
            <a:chExt cx="4406280" cy="2363330"/>
          </a:xfrm>
        </p:grpSpPr>
        <p:sp>
          <p:nvSpPr>
            <p:cNvPr id="15" name="Rectangle 14"/>
            <p:cNvSpPr/>
            <p:nvPr userDrawn="1"/>
          </p:nvSpPr>
          <p:spPr>
            <a:xfrm>
              <a:off x="2536725" y="859809"/>
              <a:ext cx="4406280" cy="236333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p:cNvSpPr txBox="1"/>
            <p:nvPr userDrawn="1"/>
          </p:nvSpPr>
          <p:spPr>
            <a:xfrm>
              <a:off x="2645797" y="859809"/>
              <a:ext cx="1123000" cy="369332"/>
            </a:xfrm>
            <a:prstGeom prst="rect">
              <a:avLst/>
            </a:prstGeom>
            <a:noFill/>
          </p:spPr>
          <p:txBody>
            <a:bodyPr wrap="none" rtlCol="0">
              <a:spAutoFit/>
            </a:bodyPr>
            <a:lstStyle/>
            <a:p>
              <a:r>
                <a:rPr lang="en-US" b="1" dirty="0">
                  <a:solidFill>
                    <a:schemeClr val="tx2">
                      <a:lumMod val="75000"/>
                    </a:schemeClr>
                  </a:solidFill>
                </a:rPr>
                <a:t>Bio</a:t>
              </a:r>
              <a:r>
                <a:rPr lang="en-US" dirty="0">
                  <a:solidFill>
                    <a:schemeClr val="tx2">
                      <a:lumMod val="75000"/>
                    </a:schemeClr>
                  </a:solidFill>
                </a:rPr>
                <a:t>graphy</a:t>
              </a:r>
              <a:endParaRPr lang="en-SG" dirty="0">
                <a:solidFill>
                  <a:schemeClr val="tx2">
                    <a:lumMod val="75000"/>
                  </a:schemeClr>
                </a:solidFill>
              </a:endParaRPr>
            </a:p>
          </p:txBody>
        </p:sp>
      </p:grpSp>
      <p:sp>
        <p:nvSpPr>
          <p:cNvPr id="18" name="Text Placeholder 17"/>
          <p:cNvSpPr>
            <a:spLocks noGrp="1"/>
          </p:cNvSpPr>
          <p:nvPr>
            <p:ph type="body" sz="quarter" idx="14" hasCustomPrompt="1"/>
          </p:nvPr>
        </p:nvSpPr>
        <p:spPr>
          <a:xfrm>
            <a:off x="2645798" y="1229696"/>
            <a:ext cx="4178084" cy="1881638"/>
          </a:xfrm>
        </p:spPr>
        <p:txBody>
          <a:bodyPr>
            <a:normAutofit/>
          </a:bodyPr>
          <a:lstStyle>
            <a:lvl1pPr marL="0" indent="0" algn="just">
              <a:buNone/>
              <a:defRPr sz="1050"/>
            </a:lvl1pPr>
          </a:lstStyle>
          <a:p>
            <a:pPr lvl="0"/>
            <a:r>
              <a:rPr lang="en-US" dirty="0"/>
              <a:t>Click to insert text</a:t>
            </a:r>
            <a:endParaRPr lang="en-SG" dirty="0"/>
          </a:p>
          <a:p>
            <a:pPr lvl="0"/>
            <a:endParaRPr lang="en-SG" dirty="0"/>
          </a:p>
        </p:txBody>
      </p:sp>
      <p:sp>
        <p:nvSpPr>
          <p:cNvPr id="21" name="TextBox 20"/>
          <p:cNvSpPr txBox="1"/>
          <p:nvPr userDrawn="1"/>
        </p:nvSpPr>
        <p:spPr>
          <a:xfrm>
            <a:off x="7109625" y="875651"/>
            <a:ext cx="716863" cy="369332"/>
          </a:xfrm>
          <a:prstGeom prst="rect">
            <a:avLst/>
          </a:prstGeom>
          <a:noFill/>
        </p:spPr>
        <p:txBody>
          <a:bodyPr wrap="none" rtlCol="0">
            <a:spAutoFit/>
          </a:bodyPr>
          <a:lstStyle/>
          <a:p>
            <a:r>
              <a:rPr lang="en-US" b="1" dirty="0">
                <a:solidFill>
                  <a:schemeClr val="tx2">
                    <a:lumMod val="75000"/>
                  </a:schemeClr>
                </a:solidFill>
              </a:rPr>
              <a:t>Goals</a:t>
            </a:r>
            <a:endParaRPr lang="en-SG" dirty="0">
              <a:solidFill>
                <a:schemeClr val="tx2">
                  <a:lumMod val="75000"/>
                </a:schemeClr>
              </a:solidFill>
            </a:endParaRPr>
          </a:p>
        </p:txBody>
      </p:sp>
      <p:sp>
        <p:nvSpPr>
          <p:cNvPr id="23" name="TextBox 22"/>
          <p:cNvSpPr txBox="1"/>
          <p:nvPr userDrawn="1"/>
        </p:nvSpPr>
        <p:spPr>
          <a:xfrm>
            <a:off x="7097587" y="2647027"/>
            <a:ext cx="1327479" cy="369332"/>
          </a:xfrm>
          <a:prstGeom prst="rect">
            <a:avLst/>
          </a:prstGeom>
          <a:noFill/>
        </p:spPr>
        <p:txBody>
          <a:bodyPr wrap="none" rtlCol="0">
            <a:spAutoFit/>
          </a:bodyPr>
          <a:lstStyle/>
          <a:p>
            <a:r>
              <a:rPr lang="en-US" b="1" dirty="0">
                <a:solidFill>
                  <a:schemeClr val="tx2">
                    <a:lumMod val="75000"/>
                  </a:schemeClr>
                </a:solidFill>
              </a:rPr>
              <a:t>Frustrations</a:t>
            </a:r>
            <a:endParaRPr lang="en-SG" dirty="0">
              <a:solidFill>
                <a:schemeClr val="tx2">
                  <a:lumMod val="75000"/>
                </a:schemeClr>
              </a:solidFill>
            </a:endParaRPr>
          </a:p>
        </p:txBody>
      </p:sp>
      <p:sp>
        <p:nvSpPr>
          <p:cNvPr id="26" name="Rectangle 25"/>
          <p:cNvSpPr/>
          <p:nvPr userDrawn="1"/>
        </p:nvSpPr>
        <p:spPr>
          <a:xfrm>
            <a:off x="380997" y="3309142"/>
            <a:ext cx="2022991" cy="23449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30" name="Content Placeholder 29"/>
          <p:cNvSpPr>
            <a:spLocks noGrp="1"/>
          </p:cNvSpPr>
          <p:nvPr>
            <p:ph sz="quarter" idx="18" hasCustomPrompt="1"/>
          </p:nvPr>
        </p:nvSpPr>
        <p:spPr>
          <a:xfrm>
            <a:off x="7114611" y="1236889"/>
            <a:ext cx="4690702" cy="1381941"/>
          </a:xfrm>
        </p:spPr>
        <p:txBody>
          <a:bodyPr>
            <a:normAutofit/>
          </a:bodyPr>
          <a:lstStyle>
            <a:lvl1pPr>
              <a:buFont typeface="+mj-lt"/>
              <a:buAutoNum type="arabicParenR"/>
              <a:defRPr sz="1050"/>
            </a:lvl1pPr>
          </a:lstStyle>
          <a:p>
            <a:pPr lvl="0"/>
            <a:r>
              <a:rPr lang="en-US" dirty="0"/>
              <a:t>Click to insert text</a:t>
            </a:r>
            <a:endParaRPr lang="en-SG" dirty="0"/>
          </a:p>
          <a:p>
            <a:pPr lvl="0"/>
            <a:endParaRPr lang="en-SG" dirty="0"/>
          </a:p>
        </p:txBody>
      </p:sp>
      <p:sp>
        <p:nvSpPr>
          <p:cNvPr id="31" name="Content Placeholder 29"/>
          <p:cNvSpPr>
            <a:spLocks noGrp="1"/>
          </p:cNvSpPr>
          <p:nvPr>
            <p:ph sz="quarter" idx="19" hasCustomPrompt="1"/>
          </p:nvPr>
        </p:nvSpPr>
        <p:spPr>
          <a:xfrm>
            <a:off x="7114610" y="3016360"/>
            <a:ext cx="4690703" cy="1694746"/>
          </a:xfrm>
        </p:spPr>
        <p:txBody>
          <a:bodyPr>
            <a:normAutofit/>
          </a:bodyPr>
          <a:lstStyle>
            <a:lvl1pPr marL="171450" indent="-171450">
              <a:buFont typeface="Wingdings" panose="05000000000000000000" pitchFamily="2" charset="2"/>
              <a:buChar char="v"/>
              <a:defRPr sz="1050"/>
            </a:lvl1pPr>
          </a:lstStyle>
          <a:p>
            <a:pPr lvl="0"/>
            <a:r>
              <a:rPr lang="en-US" dirty="0"/>
              <a:t>Click to insert text</a:t>
            </a:r>
            <a:endParaRPr lang="en-SG" dirty="0"/>
          </a:p>
        </p:txBody>
      </p:sp>
      <p:sp>
        <p:nvSpPr>
          <p:cNvPr id="33" name="Text Placeholder 32"/>
          <p:cNvSpPr>
            <a:spLocks noGrp="1"/>
          </p:cNvSpPr>
          <p:nvPr>
            <p:ph type="body" sz="quarter" idx="20" hasCustomPrompt="1"/>
          </p:nvPr>
        </p:nvSpPr>
        <p:spPr>
          <a:xfrm>
            <a:off x="478942" y="3434501"/>
            <a:ext cx="1812946" cy="2094271"/>
          </a:xfrm>
        </p:spPr>
        <p:txBody>
          <a:bodyPr>
            <a:normAutofit/>
          </a:bodyPr>
          <a:lstStyle>
            <a:lvl1pPr marL="0" indent="0" algn="ctr">
              <a:buNone/>
              <a:defRPr sz="1400" b="0" i="1" u="none" baseline="0">
                <a:solidFill>
                  <a:schemeClr val="tx2">
                    <a:lumMod val="75000"/>
                  </a:schemeClr>
                </a:solidFill>
              </a:defRPr>
            </a:lvl1pPr>
          </a:lstStyle>
          <a:p>
            <a:pPr lvl="0"/>
            <a:r>
              <a:rPr lang="en-US" dirty="0"/>
              <a:t>Insert Personal Quotation </a:t>
            </a:r>
            <a:br>
              <a:rPr lang="en-US" dirty="0"/>
            </a:br>
            <a:br>
              <a:rPr lang="en-US" dirty="0"/>
            </a:br>
            <a:r>
              <a:rPr lang="en-US" dirty="0"/>
              <a:t>&gt; Click to edit text</a:t>
            </a:r>
          </a:p>
        </p:txBody>
      </p:sp>
      <p:sp>
        <p:nvSpPr>
          <p:cNvPr id="34" name="TextBox 33"/>
          <p:cNvSpPr txBox="1"/>
          <p:nvPr userDrawn="1"/>
        </p:nvSpPr>
        <p:spPr>
          <a:xfrm>
            <a:off x="295937" y="5745371"/>
            <a:ext cx="1456424" cy="1015663"/>
          </a:xfrm>
          <a:prstGeom prst="rect">
            <a:avLst/>
          </a:prstGeom>
          <a:noFill/>
        </p:spPr>
        <p:txBody>
          <a:bodyPr wrap="none" rtlCol="0">
            <a:spAutoFit/>
          </a:bodyPr>
          <a:lstStyle/>
          <a:p>
            <a:pPr algn="r">
              <a:lnSpc>
                <a:spcPct val="100000"/>
              </a:lnSpc>
            </a:pPr>
            <a:r>
              <a:rPr lang="en-US" sz="1200" b="1" spc="300" dirty="0">
                <a:solidFill>
                  <a:srgbClr val="0070C0"/>
                </a:solidFill>
              </a:rPr>
              <a:t>AGE :</a:t>
            </a:r>
          </a:p>
          <a:p>
            <a:pPr algn="r">
              <a:lnSpc>
                <a:spcPct val="100000"/>
              </a:lnSpc>
            </a:pPr>
            <a:r>
              <a:rPr lang="en-US" sz="1200" b="1" spc="300" dirty="0">
                <a:solidFill>
                  <a:srgbClr val="0070C0"/>
                </a:solidFill>
              </a:rPr>
              <a:t>WORK :</a:t>
            </a:r>
          </a:p>
          <a:p>
            <a:pPr algn="r">
              <a:lnSpc>
                <a:spcPct val="100000"/>
              </a:lnSpc>
            </a:pPr>
            <a:r>
              <a:rPr lang="en-US" sz="1200" b="1" spc="300" dirty="0">
                <a:solidFill>
                  <a:srgbClr val="0070C0"/>
                </a:solidFill>
              </a:rPr>
              <a:t>FAMILY :</a:t>
            </a:r>
          </a:p>
          <a:p>
            <a:pPr algn="r">
              <a:lnSpc>
                <a:spcPct val="100000"/>
              </a:lnSpc>
            </a:pPr>
            <a:r>
              <a:rPr lang="en-US" sz="1200" b="1" spc="300" dirty="0">
                <a:solidFill>
                  <a:srgbClr val="0070C0"/>
                </a:solidFill>
              </a:rPr>
              <a:t>LOCATION :</a:t>
            </a:r>
          </a:p>
          <a:p>
            <a:pPr algn="r">
              <a:lnSpc>
                <a:spcPct val="100000"/>
              </a:lnSpc>
            </a:pPr>
            <a:r>
              <a:rPr lang="en-US" sz="1200" b="1" spc="300" dirty="0">
                <a:solidFill>
                  <a:srgbClr val="0070C0"/>
                </a:solidFill>
              </a:rPr>
              <a:t>CHARACTER :</a:t>
            </a:r>
            <a:endParaRPr lang="en-SG" sz="1200" b="1" spc="300" dirty="0">
              <a:solidFill>
                <a:srgbClr val="0070C0"/>
              </a:solidFill>
            </a:endParaRPr>
          </a:p>
        </p:txBody>
      </p:sp>
      <p:sp>
        <p:nvSpPr>
          <p:cNvPr id="36" name="Text Placeholder 17"/>
          <p:cNvSpPr>
            <a:spLocks noGrp="1"/>
          </p:cNvSpPr>
          <p:nvPr>
            <p:ph type="body" sz="quarter" idx="22" hasCustomPrompt="1"/>
          </p:nvPr>
        </p:nvSpPr>
        <p:spPr>
          <a:xfrm>
            <a:off x="1606265" y="5778968"/>
            <a:ext cx="1141525"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0" name="Text Placeholder 17"/>
          <p:cNvSpPr>
            <a:spLocks noGrp="1"/>
          </p:cNvSpPr>
          <p:nvPr>
            <p:ph type="body" sz="quarter" idx="23" hasCustomPrompt="1"/>
          </p:nvPr>
        </p:nvSpPr>
        <p:spPr>
          <a:xfrm>
            <a:off x="1606264" y="5964268"/>
            <a:ext cx="1456423"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1" name="Text Placeholder 17"/>
          <p:cNvSpPr>
            <a:spLocks noGrp="1"/>
          </p:cNvSpPr>
          <p:nvPr>
            <p:ph type="body" sz="quarter" idx="24" hasCustomPrompt="1"/>
          </p:nvPr>
        </p:nvSpPr>
        <p:spPr>
          <a:xfrm>
            <a:off x="1606264" y="6152010"/>
            <a:ext cx="1456424"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2" name="Text Placeholder 17"/>
          <p:cNvSpPr>
            <a:spLocks noGrp="1"/>
          </p:cNvSpPr>
          <p:nvPr>
            <p:ph type="body" sz="quarter" idx="25" hasCustomPrompt="1"/>
          </p:nvPr>
        </p:nvSpPr>
        <p:spPr>
          <a:xfrm>
            <a:off x="1606263" y="6339752"/>
            <a:ext cx="1456424" cy="185300"/>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43" name="Text Placeholder 17"/>
          <p:cNvSpPr>
            <a:spLocks noGrp="1"/>
          </p:cNvSpPr>
          <p:nvPr>
            <p:ph type="body" sz="quarter" idx="26" hasCustomPrompt="1"/>
          </p:nvPr>
        </p:nvSpPr>
        <p:spPr>
          <a:xfrm>
            <a:off x="1606262" y="6531430"/>
            <a:ext cx="1456426" cy="165227"/>
          </a:xfrm>
        </p:spPr>
        <p:txBody>
          <a:bodyPr>
            <a:noAutofit/>
          </a:bodyPr>
          <a:lstStyle>
            <a:lvl1pPr marL="0" indent="0">
              <a:buNone/>
              <a:defRPr sz="1000" b="1">
                <a:solidFill>
                  <a:schemeClr val="tx2">
                    <a:lumMod val="75000"/>
                  </a:schemeClr>
                </a:solidFill>
              </a:defRPr>
            </a:lvl1pPr>
          </a:lstStyle>
          <a:p>
            <a:pPr lvl="0"/>
            <a:r>
              <a:rPr lang="en-US" dirty="0"/>
              <a:t>Click to insert text</a:t>
            </a:r>
            <a:endParaRPr lang="en-SG" dirty="0"/>
          </a:p>
          <a:p>
            <a:pPr lvl="0"/>
            <a:endParaRPr lang="en-SG" dirty="0"/>
          </a:p>
        </p:txBody>
      </p:sp>
      <p:sp>
        <p:nvSpPr>
          <p:cNvPr id="51" name="Rectangle 50"/>
          <p:cNvSpPr/>
          <p:nvPr userDrawn="1"/>
        </p:nvSpPr>
        <p:spPr>
          <a:xfrm>
            <a:off x="2536725" y="3331456"/>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2" name="Text Placeholder 32"/>
          <p:cNvSpPr>
            <a:spLocks noGrp="1"/>
          </p:cNvSpPr>
          <p:nvPr>
            <p:ph type="body" sz="quarter" idx="27" hasCustomPrompt="1"/>
          </p:nvPr>
        </p:nvSpPr>
        <p:spPr>
          <a:xfrm>
            <a:off x="2539379" y="3487113"/>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3" name="Rectangle 52"/>
          <p:cNvSpPr/>
          <p:nvPr userDrawn="1"/>
        </p:nvSpPr>
        <p:spPr>
          <a:xfrm>
            <a:off x="2536725" y="4006031"/>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4" name="Text Placeholder 32"/>
          <p:cNvSpPr>
            <a:spLocks noGrp="1"/>
          </p:cNvSpPr>
          <p:nvPr>
            <p:ph type="body" sz="quarter" idx="28" hasCustomPrompt="1"/>
          </p:nvPr>
        </p:nvSpPr>
        <p:spPr>
          <a:xfrm>
            <a:off x="2539379" y="4161688"/>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5" name="Rectangle 54"/>
          <p:cNvSpPr/>
          <p:nvPr userDrawn="1"/>
        </p:nvSpPr>
        <p:spPr>
          <a:xfrm>
            <a:off x="2546569" y="4680606"/>
            <a:ext cx="1669963" cy="547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SG" dirty="0"/>
          </a:p>
        </p:txBody>
      </p:sp>
      <p:sp>
        <p:nvSpPr>
          <p:cNvPr id="56" name="Text Placeholder 32"/>
          <p:cNvSpPr>
            <a:spLocks noGrp="1"/>
          </p:cNvSpPr>
          <p:nvPr>
            <p:ph type="body" sz="quarter" idx="29" hasCustomPrompt="1"/>
          </p:nvPr>
        </p:nvSpPr>
        <p:spPr>
          <a:xfrm>
            <a:off x="2549223" y="4836263"/>
            <a:ext cx="1667309" cy="275445"/>
          </a:xfrm>
        </p:spPr>
        <p:txBody>
          <a:bodyPr>
            <a:normAutofit/>
          </a:bodyPr>
          <a:lstStyle>
            <a:lvl1pPr marL="0" indent="0" algn="ctr">
              <a:buNone/>
              <a:defRPr sz="1200" b="1" i="0" u="none" baseline="0">
                <a:solidFill>
                  <a:srgbClr val="FFFF00"/>
                </a:solidFill>
              </a:defRPr>
            </a:lvl1pPr>
          </a:lstStyle>
          <a:p>
            <a:pPr lvl="0"/>
            <a:r>
              <a:rPr lang="en-US" dirty="0"/>
              <a:t>Click to insert Trait</a:t>
            </a:r>
          </a:p>
        </p:txBody>
      </p:sp>
      <p:sp>
        <p:nvSpPr>
          <p:cNvPr id="59" name="TextBox 58"/>
          <p:cNvSpPr txBox="1"/>
          <p:nvPr userDrawn="1"/>
        </p:nvSpPr>
        <p:spPr>
          <a:xfrm>
            <a:off x="10158884" y="4790890"/>
            <a:ext cx="1646429" cy="369332"/>
          </a:xfrm>
          <a:prstGeom prst="rect">
            <a:avLst/>
          </a:prstGeom>
          <a:noFill/>
        </p:spPr>
        <p:txBody>
          <a:bodyPr wrap="square" rtlCol="0">
            <a:spAutoFit/>
          </a:bodyPr>
          <a:lstStyle/>
          <a:p>
            <a:r>
              <a:rPr lang="en-US" b="1" dirty="0">
                <a:solidFill>
                  <a:schemeClr val="tx2">
                    <a:lumMod val="75000"/>
                  </a:schemeClr>
                </a:solidFill>
              </a:rPr>
              <a:t>Brands</a:t>
            </a:r>
            <a:endParaRPr lang="en-SG" dirty="0">
              <a:solidFill>
                <a:schemeClr val="tx2">
                  <a:lumMod val="75000"/>
                </a:schemeClr>
              </a:solidFill>
            </a:endParaRPr>
          </a:p>
        </p:txBody>
      </p:sp>
      <p:sp>
        <p:nvSpPr>
          <p:cNvPr id="60" name="Content Placeholder 29"/>
          <p:cNvSpPr>
            <a:spLocks noGrp="1"/>
          </p:cNvSpPr>
          <p:nvPr>
            <p:ph sz="quarter" idx="31" hasCustomPrompt="1"/>
          </p:nvPr>
        </p:nvSpPr>
        <p:spPr>
          <a:xfrm>
            <a:off x="10199076" y="5194790"/>
            <a:ext cx="1606237" cy="1566244"/>
          </a:xfrm>
        </p:spPr>
        <p:txBody>
          <a:bodyPr>
            <a:normAutofit/>
          </a:bodyPr>
          <a:lstStyle>
            <a:lvl1pPr marL="171450" indent="-171450">
              <a:buFont typeface="Wingdings" panose="05000000000000000000" pitchFamily="2" charset="2"/>
              <a:buChar char="ü"/>
              <a:defRPr sz="1050"/>
            </a:lvl1pPr>
          </a:lstStyle>
          <a:p>
            <a:pPr lvl="0"/>
            <a:r>
              <a:rPr lang="en-US" dirty="0"/>
              <a:t>Click to insert text</a:t>
            </a:r>
            <a:endParaRPr lang="en-SG" dirty="0"/>
          </a:p>
          <a:p>
            <a:pPr lvl="0"/>
            <a:endParaRPr lang="en-SG" dirty="0"/>
          </a:p>
        </p:txBody>
      </p:sp>
      <p:grpSp>
        <p:nvGrpSpPr>
          <p:cNvPr id="70" name="Group 69"/>
          <p:cNvGrpSpPr/>
          <p:nvPr userDrawn="1"/>
        </p:nvGrpSpPr>
        <p:grpSpPr>
          <a:xfrm>
            <a:off x="3207297" y="5329454"/>
            <a:ext cx="3115184" cy="1446305"/>
            <a:chOff x="7076801" y="4945342"/>
            <a:chExt cx="3115184" cy="1446305"/>
          </a:xfrm>
        </p:grpSpPr>
        <p:sp>
          <p:nvSpPr>
            <p:cNvPr id="61" name="TextBox 60"/>
            <p:cNvSpPr txBox="1"/>
            <p:nvPr userDrawn="1"/>
          </p:nvSpPr>
          <p:spPr>
            <a:xfrm>
              <a:off x="8143399" y="4945342"/>
              <a:ext cx="2048586" cy="369332"/>
            </a:xfrm>
            <a:prstGeom prst="rect">
              <a:avLst/>
            </a:prstGeom>
            <a:noFill/>
          </p:spPr>
          <p:txBody>
            <a:bodyPr wrap="square" rtlCol="0">
              <a:spAutoFit/>
            </a:bodyPr>
            <a:lstStyle/>
            <a:p>
              <a:r>
                <a:rPr lang="en-US" b="1" dirty="0">
                  <a:solidFill>
                    <a:srgbClr val="0070C0"/>
                  </a:solidFill>
                </a:rPr>
                <a:t>Preferred Channels</a:t>
              </a:r>
              <a:endParaRPr lang="en-SG" dirty="0">
                <a:solidFill>
                  <a:srgbClr val="0070C0"/>
                </a:solidFill>
              </a:endParaRPr>
            </a:p>
          </p:txBody>
        </p:sp>
        <p:sp>
          <p:nvSpPr>
            <p:cNvPr id="62" name="TextBox 61"/>
            <p:cNvSpPr txBox="1"/>
            <p:nvPr userDrawn="1"/>
          </p:nvSpPr>
          <p:spPr>
            <a:xfrm>
              <a:off x="7076801" y="5191318"/>
              <a:ext cx="1223631" cy="1200329"/>
            </a:xfrm>
            <a:prstGeom prst="rect">
              <a:avLst/>
            </a:prstGeom>
            <a:noFill/>
          </p:spPr>
          <p:txBody>
            <a:bodyPr wrap="square" rtlCol="0">
              <a:spAutoFit/>
            </a:bodyPr>
            <a:lstStyle/>
            <a:p>
              <a:pPr algn="r">
                <a:lnSpc>
                  <a:spcPct val="150000"/>
                </a:lnSpc>
              </a:pPr>
              <a:r>
                <a:rPr lang="en-US" sz="1200" b="1" dirty="0">
                  <a:solidFill>
                    <a:schemeClr val="tx2">
                      <a:lumMod val="75000"/>
                    </a:schemeClr>
                  </a:solidFill>
                </a:rPr>
                <a:t>Social Media</a:t>
              </a:r>
            </a:p>
            <a:p>
              <a:pPr algn="r">
                <a:lnSpc>
                  <a:spcPct val="150000"/>
                </a:lnSpc>
              </a:pPr>
              <a:r>
                <a:rPr lang="en-US" sz="1200" b="1" dirty="0">
                  <a:solidFill>
                    <a:schemeClr val="tx2">
                      <a:lumMod val="75000"/>
                    </a:schemeClr>
                  </a:solidFill>
                </a:rPr>
                <a:t>Mobile</a:t>
              </a:r>
            </a:p>
            <a:p>
              <a:pPr algn="r">
                <a:lnSpc>
                  <a:spcPct val="150000"/>
                </a:lnSpc>
              </a:pPr>
              <a:r>
                <a:rPr lang="en-US" sz="1200" b="1" dirty="0">
                  <a:solidFill>
                    <a:schemeClr val="tx2">
                      <a:lumMod val="75000"/>
                    </a:schemeClr>
                  </a:solidFill>
                </a:rPr>
                <a:t>Email</a:t>
              </a:r>
            </a:p>
            <a:p>
              <a:pPr algn="r">
                <a:lnSpc>
                  <a:spcPct val="150000"/>
                </a:lnSpc>
              </a:pPr>
              <a:r>
                <a:rPr lang="en-US" sz="1200" b="1" dirty="0">
                  <a:solidFill>
                    <a:schemeClr val="tx2">
                      <a:lumMod val="75000"/>
                    </a:schemeClr>
                  </a:solidFill>
                </a:rPr>
                <a:t>Traditional</a:t>
              </a:r>
              <a:r>
                <a:rPr lang="en-US" sz="1200" b="1" baseline="0" dirty="0">
                  <a:solidFill>
                    <a:schemeClr val="tx2">
                      <a:lumMod val="75000"/>
                    </a:schemeClr>
                  </a:solidFill>
                </a:rPr>
                <a:t> Ads</a:t>
              </a:r>
              <a:endParaRPr lang="en-SG" sz="1200" b="1" dirty="0">
                <a:solidFill>
                  <a:schemeClr val="tx2">
                    <a:lumMod val="75000"/>
                  </a:schemeClr>
                </a:solidFill>
              </a:endParaRPr>
            </a:p>
          </p:txBody>
        </p:sp>
      </p:grpSp>
      <p:grpSp>
        <p:nvGrpSpPr>
          <p:cNvPr id="68" name="Group 67"/>
          <p:cNvGrpSpPr/>
          <p:nvPr userDrawn="1"/>
        </p:nvGrpSpPr>
        <p:grpSpPr>
          <a:xfrm>
            <a:off x="4262973" y="3223139"/>
            <a:ext cx="2732726" cy="1980043"/>
            <a:chOff x="2536724" y="3305454"/>
            <a:chExt cx="2732726" cy="1980043"/>
          </a:xfrm>
        </p:grpSpPr>
        <p:sp>
          <p:nvSpPr>
            <p:cNvPr id="44" name="TextBox 43"/>
            <p:cNvSpPr txBox="1"/>
            <p:nvPr userDrawn="1"/>
          </p:nvSpPr>
          <p:spPr>
            <a:xfrm>
              <a:off x="2536724" y="3305454"/>
              <a:ext cx="1252138" cy="369332"/>
            </a:xfrm>
            <a:prstGeom prst="rect">
              <a:avLst/>
            </a:prstGeom>
            <a:noFill/>
          </p:spPr>
          <p:txBody>
            <a:bodyPr wrap="none" rtlCol="0">
              <a:spAutoFit/>
            </a:bodyPr>
            <a:lstStyle/>
            <a:p>
              <a:r>
                <a:rPr lang="en-US" b="1" dirty="0">
                  <a:solidFill>
                    <a:schemeClr val="tx2">
                      <a:lumMod val="75000"/>
                    </a:schemeClr>
                  </a:solidFill>
                </a:rPr>
                <a:t>Personality</a:t>
              </a:r>
              <a:endParaRPr lang="en-SG" dirty="0">
                <a:solidFill>
                  <a:schemeClr val="tx2">
                    <a:lumMod val="75000"/>
                  </a:schemeClr>
                </a:solidFill>
              </a:endParaRPr>
            </a:p>
          </p:txBody>
        </p:sp>
        <p:grpSp>
          <p:nvGrpSpPr>
            <p:cNvPr id="67" name="Group 66"/>
            <p:cNvGrpSpPr/>
            <p:nvPr userDrawn="1"/>
          </p:nvGrpSpPr>
          <p:grpSpPr>
            <a:xfrm>
              <a:off x="2547646" y="3618643"/>
              <a:ext cx="2721804" cy="1666854"/>
              <a:chOff x="2547646" y="3618643"/>
              <a:chExt cx="2721804" cy="1666854"/>
            </a:xfrm>
          </p:grpSpPr>
          <p:sp>
            <p:nvSpPr>
              <p:cNvPr id="46" name="TextBox 45"/>
              <p:cNvSpPr txBox="1"/>
              <p:nvPr userDrawn="1"/>
            </p:nvSpPr>
            <p:spPr>
              <a:xfrm>
                <a:off x="2547646" y="3618643"/>
                <a:ext cx="2721804" cy="1600438"/>
              </a:xfrm>
              <a:prstGeom prst="rect">
                <a:avLst/>
              </a:prstGeom>
              <a:noFill/>
            </p:spPr>
            <p:txBody>
              <a:bodyPr wrap="square" rtlCol="0">
                <a:spAutoFit/>
              </a:bodyPr>
              <a:lstStyle/>
              <a:p>
                <a:r>
                  <a:rPr lang="en-US" sz="1400" b="0" dirty="0">
                    <a:solidFill>
                      <a:schemeClr val="tx2">
                        <a:lumMod val="75000"/>
                      </a:schemeClr>
                    </a:solidFill>
                  </a:rPr>
                  <a:t>Introvert		 Extrovert</a:t>
                </a:r>
              </a:p>
              <a:p>
                <a:endParaRPr lang="en-US" sz="1400" b="0" dirty="0">
                  <a:solidFill>
                    <a:schemeClr val="tx2">
                      <a:lumMod val="75000"/>
                    </a:schemeClr>
                  </a:solidFill>
                </a:endParaRPr>
              </a:p>
              <a:p>
                <a:r>
                  <a:rPr lang="en-US" sz="1400" b="0" dirty="0">
                    <a:solidFill>
                      <a:schemeClr val="tx2">
                        <a:lumMod val="75000"/>
                      </a:schemeClr>
                    </a:solidFill>
                  </a:rPr>
                  <a:t>Analytical		  Creative</a:t>
                </a:r>
              </a:p>
              <a:p>
                <a:endParaRPr lang="en-US" sz="1400" b="0" dirty="0">
                  <a:solidFill>
                    <a:schemeClr val="tx2">
                      <a:lumMod val="75000"/>
                    </a:schemeClr>
                  </a:solidFill>
                </a:endParaRPr>
              </a:p>
              <a:p>
                <a:r>
                  <a:rPr lang="en-US" sz="1400" b="0" dirty="0">
                    <a:solidFill>
                      <a:schemeClr val="tx2">
                        <a:lumMod val="75000"/>
                      </a:schemeClr>
                    </a:solidFill>
                  </a:rPr>
                  <a:t>Loyal		       Fickle</a:t>
                </a:r>
              </a:p>
              <a:p>
                <a:r>
                  <a:rPr lang="en-US" sz="1400" b="0" dirty="0">
                    <a:solidFill>
                      <a:schemeClr val="tx2">
                        <a:lumMod val="75000"/>
                      </a:schemeClr>
                    </a:solidFill>
                  </a:rPr>
                  <a:t>	</a:t>
                </a:r>
              </a:p>
              <a:p>
                <a:r>
                  <a:rPr lang="en-US" sz="1400" b="0" dirty="0">
                    <a:solidFill>
                      <a:schemeClr val="tx2">
                        <a:lumMod val="75000"/>
                      </a:schemeClr>
                    </a:solidFill>
                  </a:rPr>
                  <a:t>Passive		      Active</a:t>
                </a:r>
                <a:endParaRPr lang="en-SG" sz="1400" b="0" dirty="0">
                  <a:solidFill>
                    <a:schemeClr val="tx2">
                      <a:lumMod val="75000"/>
                    </a:schemeClr>
                  </a:solidFill>
                </a:endParaRPr>
              </a:p>
            </p:txBody>
          </p:sp>
          <p:sp>
            <p:nvSpPr>
              <p:cNvPr id="47" name="Rectangle 46"/>
              <p:cNvSpPr/>
              <p:nvPr userDrawn="1"/>
            </p:nvSpPr>
            <p:spPr>
              <a:xfrm>
                <a:off x="2645798" y="3864971"/>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4" name="Rectangle 63"/>
              <p:cNvSpPr/>
              <p:nvPr userDrawn="1"/>
            </p:nvSpPr>
            <p:spPr>
              <a:xfrm>
                <a:off x="2645196" y="4291639"/>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5" name="Rectangle 64"/>
              <p:cNvSpPr/>
              <p:nvPr userDrawn="1"/>
            </p:nvSpPr>
            <p:spPr>
              <a:xfrm>
                <a:off x="2645196" y="4728093"/>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Rectangle 65"/>
              <p:cNvSpPr/>
              <p:nvPr userDrawn="1"/>
            </p:nvSpPr>
            <p:spPr>
              <a:xfrm>
                <a:off x="2645196" y="5141270"/>
                <a:ext cx="252670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86" name="Group 85"/>
          <p:cNvGrpSpPr/>
          <p:nvPr userDrawn="1"/>
        </p:nvGrpSpPr>
        <p:grpSpPr>
          <a:xfrm>
            <a:off x="7069851" y="4787432"/>
            <a:ext cx="2877140" cy="2070564"/>
            <a:chOff x="7164260" y="4787432"/>
            <a:chExt cx="2877140" cy="2070564"/>
          </a:xfrm>
        </p:grpSpPr>
        <p:grpSp>
          <p:nvGrpSpPr>
            <p:cNvPr id="72" name="Group 71"/>
            <p:cNvGrpSpPr/>
            <p:nvPr userDrawn="1"/>
          </p:nvGrpSpPr>
          <p:grpSpPr>
            <a:xfrm>
              <a:off x="7164260" y="4787432"/>
              <a:ext cx="2263617" cy="2070564"/>
              <a:chOff x="2728104" y="3343034"/>
              <a:chExt cx="2263617" cy="2306934"/>
            </a:xfrm>
          </p:grpSpPr>
          <p:sp>
            <p:nvSpPr>
              <p:cNvPr id="73" name="TextBox 72"/>
              <p:cNvSpPr txBox="1"/>
              <p:nvPr userDrawn="1"/>
            </p:nvSpPr>
            <p:spPr>
              <a:xfrm>
                <a:off x="3653598" y="3343034"/>
                <a:ext cx="1338123" cy="369332"/>
              </a:xfrm>
              <a:prstGeom prst="rect">
                <a:avLst/>
              </a:prstGeom>
              <a:noFill/>
            </p:spPr>
            <p:txBody>
              <a:bodyPr wrap="none" rtlCol="0">
                <a:spAutoFit/>
              </a:bodyPr>
              <a:lstStyle/>
              <a:p>
                <a:r>
                  <a:rPr lang="en-US" b="1" dirty="0">
                    <a:solidFill>
                      <a:srgbClr val="0070C0"/>
                    </a:solidFill>
                  </a:rPr>
                  <a:t>Motivations</a:t>
                </a:r>
                <a:endParaRPr lang="en-SG" dirty="0">
                  <a:solidFill>
                    <a:srgbClr val="0070C0"/>
                  </a:solidFill>
                </a:endParaRPr>
              </a:p>
            </p:txBody>
          </p:sp>
          <p:sp>
            <p:nvSpPr>
              <p:cNvPr id="75" name="TextBox 74"/>
              <p:cNvSpPr txBox="1"/>
              <p:nvPr userDrawn="1"/>
            </p:nvSpPr>
            <p:spPr>
              <a:xfrm>
                <a:off x="2728104" y="3618643"/>
                <a:ext cx="1072297" cy="2031325"/>
              </a:xfrm>
              <a:prstGeom prst="rect">
                <a:avLst/>
              </a:prstGeom>
              <a:noFill/>
            </p:spPr>
            <p:txBody>
              <a:bodyPr wrap="square" rtlCol="0">
                <a:spAutoFit/>
              </a:bodyPr>
              <a:lstStyle/>
              <a:p>
                <a:pPr algn="r">
                  <a:lnSpc>
                    <a:spcPct val="150000"/>
                  </a:lnSpc>
                </a:pPr>
                <a:r>
                  <a:rPr lang="en-US" sz="1200" b="1" dirty="0">
                    <a:solidFill>
                      <a:schemeClr val="tx2">
                        <a:lumMod val="75000"/>
                      </a:schemeClr>
                    </a:solidFill>
                  </a:rPr>
                  <a:t>Price</a:t>
                </a:r>
              </a:p>
              <a:p>
                <a:pPr algn="r">
                  <a:lnSpc>
                    <a:spcPct val="150000"/>
                  </a:lnSpc>
                </a:pPr>
                <a:r>
                  <a:rPr lang="en-US" sz="1200" b="1" dirty="0">
                    <a:solidFill>
                      <a:schemeClr val="tx2">
                        <a:lumMod val="75000"/>
                      </a:schemeClr>
                    </a:solidFill>
                  </a:rPr>
                  <a:t>Comfort</a:t>
                </a:r>
              </a:p>
              <a:p>
                <a:pPr algn="r">
                  <a:lnSpc>
                    <a:spcPct val="150000"/>
                  </a:lnSpc>
                </a:pPr>
                <a:r>
                  <a:rPr lang="en-US" sz="1200" b="1" dirty="0">
                    <a:solidFill>
                      <a:schemeClr val="tx2">
                        <a:lumMod val="75000"/>
                      </a:schemeClr>
                    </a:solidFill>
                  </a:rPr>
                  <a:t>Convenience</a:t>
                </a:r>
              </a:p>
              <a:p>
                <a:pPr algn="r">
                  <a:lnSpc>
                    <a:spcPct val="150000"/>
                  </a:lnSpc>
                </a:pPr>
                <a:r>
                  <a:rPr lang="en-US" sz="1200" b="1" dirty="0">
                    <a:solidFill>
                      <a:schemeClr val="tx2">
                        <a:lumMod val="75000"/>
                      </a:schemeClr>
                    </a:solidFill>
                  </a:rPr>
                  <a:t>Speed</a:t>
                </a:r>
              </a:p>
              <a:p>
                <a:pPr algn="r">
                  <a:lnSpc>
                    <a:spcPct val="150000"/>
                  </a:lnSpc>
                </a:pPr>
                <a:r>
                  <a:rPr lang="en-US" sz="1200" b="1" dirty="0">
                    <a:solidFill>
                      <a:schemeClr val="tx2">
                        <a:lumMod val="75000"/>
                      </a:schemeClr>
                    </a:solidFill>
                  </a:rPr>
                  <a:t>Loyalty/Miles</a:t>
                </a:r>
              </a:p>
              <a:p>
                <a:pPr algn="r">
                  <a:lnSpc>
                    <a:spcPct val="150000"/>
                  </a:lnSpc>
                </a:pPr>
                <a:r>
                  <a:rPr lang="en-US" sz="1200" b="1" dirty="0">
                    <a:solidFill>
                      <a:schemeClr val="tx2">
                        <a:lumMod val="75000"/>
                      </a:schemeClr>
                    </a:solidFill>
                  </a:rPr>
                  <a:t>Social</a:t>
                </a:r>
              </a:p>
              <a:p>
                <a:pPr algn="r">
                  <a:lnSpc>
                    <a:spcPct val="150000"/>
                  </a:lnSpc>
                </a:pPr>
                <a:endParaRPr lang="en-SG" sz="1200" b="1" dirty="0">
                  <a:solidFill>
                    <a:schemeClr val="tx2">
                      <a:lumMod val="75000"/>
                    </a:schemeClr>
                  </a:solidFill>
                </a:endParaRPr>
              </a:p>
            </p:txBody>
          </p:sp>
        </p:grpSp>
        <p:sp>
          <p:nvSpPr>
            <p:cNvPr id="80" name="Rectangle 79"/>
            <p:cNvSpPr/>
            <p:nvPr userDrawn="1"/>
          </p:nvSpPr>
          <p:spPr>
            <a:xfrm>
              <a:off x="8196606" y="5203040"/>
              <a:ext cx="1844794"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Rectangle 80"/>
            <p:cNvSpPr/>
            <p:nvPr userDrawn="1"/>
          </p:nvSpPr>
          <p:spPr>
            <a:xfrm>
              <a:off x="8196605" y="5469432"/>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Rectangle 81"/>
            <p:cNvSpPr/>
            <p:nvPr userDrawn="1"/>
          </p:nvSpPr>
          <p:spPr>
            <a:xfrm>
              <a:off x="8196605" y="5741456"/>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Rectangle 82"/>
            <p:cNvSpPr/>
            <p:nvPr userDrawn="1"/>
          </p:nvSpPr>
          <p:spPr>
            <a:xfrm>
              <a:off x="8196605" y="6024264"/>
              <a:ext cx="1844795"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4" name="Rectangle 83"/>
            <p:cNvSpPr/>
            <p:nvPr userDrawn="1"/>
          </p:nvSpPr>
          <p:spPr>
            <a:xfrm>
              <a:off x="8196608" y="6289970"/>
              <a:ext cx="1844792"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Rectangle 84"/>
            <p:cNvSpPr/>
            <p:nvPr userDrawn="1"/>
          </p:nvSpPr>
          <p:spPr>
            <a:xfrm>
              <a:off x="8196604" y="6572778"/>
              <a:ext cx="1844796" cy="14422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172625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CC6C62-2D9B-41C7-AAA2-D64B9ABFB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8E2A972-9CB2-4E28-8690-1D8E0951F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E0CC89-B1FE-4153-9870-F3D37E1BFF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737F2F-6792-4CA1-9989-C688C2EC84BE}" type="datetimeFigureOut">
              <a:rPr lang="en-SG" smtClean="0"/>
              <a:t>4/6/2021</a:t>
            </a:fld>
            <a:endParaRPr lang="en-SG"/>
          </a:p>
        </p:txBody>
      </p:sp>
      <p:sp>
        <p:nvSpPr>
          <p:cNvPr id="5" name="Footer Placeholder 4">
            <a:extLst>
              <a:ext uri="{FF2B5EF4-FFF2-40B4-BE49-F238E27FC236}">
                <a16:creationId xmlns:a16="http://schemas.microsoft.com/office/drawing/2014/main" id="{A6F77BE6-CAAE-4032-A47C-F5549BE7F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978ABE2F-0A85-4467-8CF7-2B85BBD19F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3FFCC-F8F0-4520-B022-1AA42DF50818}" type="slidenum">
              <a:rPr lang="en-SG" smtClean="0"/>
              <a:t>‹#›</a:t>
            </a:fld>
            <a:endParaRPr lang="en-SG"/>
          </a:p>
        </p:txBody>
      </p:sp>
    </p:spTree>
    <p:extLst>
      <p:ext uri="{BB962C8B-B14F-4D97-AF65-F5344CB8AC3E}">
        <p14:creationId xmlns:p14="http://schemas.microsoft.com/office/powerpoint/2010/main" val="2918538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C86A9-D0F7-4691-8439-80FE4663593A}" type="datetimeFigureOut">
              <a:rPr lang="en-SG" smtClean="0"/>
              <a:t>4/6/2021</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6A2D3-E894-47BC-84F1-C33D0C47EEF5}" type="slidenum">
              <a:rPr lang="en-SG" smtClean="0"/>
              <a:t>‹#›</a:t>
            </a:fld>
            <a:endParaRPr lang="en-SG"/>
          </a:p>
        </p:txBody>
      </p:sp>
    </p:spTree>
    <p:extLst>
      <p:ext uri="{BB962C8B-B14F-4D97-AF65-F5344CB8AC3E}">
        <p14:creationId xmlns:p14="http://schemas.microsoft.com/office/powerpoint/2010/main" val="1504125979"/>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xd.adobe.com/view/71205d6d-6318-4bc6-923a-5e9668f40763-2473/" TargetMode="External"/><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E8A5A-5C79-45F6-B8A3-740B0BA76AF6}"/>
              </a:ext>
            </a:extLst>
          </p:cNvPr>
          <p:cNvSpPr>
            <a:spLocks noGrp="1"/>
          </p:cNvSpPr>
          <p:nvPr>
            <p:ph type="ctrTitle"/>
          </p:nvPr>
        </p:nvSpPr>
        <p:spPr/>
        <p:txBody>
          <a:bodyPr/>
          <a:lstStyle/>
          <a:p>
            <a:r>
              <a:rPr lang="en-SG" dirty="0"/>
              <a:t>Project 1b.</a:t>
            </a:r>
          </a:p>
        </p:txBody>
      </p:sp>
      <p:sp>
        <p:nvSpPr>
          <p:cNvPr id="3" name="Subtitle 2">
            <a:extLst>
              <a:ext uri="{FF2B5EF4-FFF2-40B4-BE49-F238E27FC236}">
                <a16:creationId xmlns:a16="http://schemas.microsoft.com/office/drawing/2014/main" id="{EC00F86D-2ACC-4B0A-AE74-07FC7E89FC41}"/>
              </a:ext>
            </a:extLst>
          </p:cNvPr>
          <p:cNvSpPr>
            <a:spLocks noGrp="1"/>
          </p:cNvSpPr>
          <p:nvPr>
            <p:ph type="subTitle" idx="1"/>
          </p:nvPr>
        </p:nvSpPr>
        <p:spPr/>
        <p:txBody>
          <a:bodyPr>
            <a:normAutofit/>
          </a:bodyPr>
          <a:lstStyle/>
          <a:p>
            <a:r>
              <a:rPr lang="en-SG" sz="2800" dirty="0"/>
              <a:t>Persona + Storyboard + Low Fidelity Prototype</a:t>
            </a:r>
          </a:p>
        </p:txBody>
      </p:sp>
      <p:cxnSp>
        <p:nvCxnSpPr>
          <p:cNvPr id="5" name="Straight Connector 4">
            <a:extLst>
              <a:ext uri="{FF2B5EF4-FFF2-40B4-BE49-F238E27FC236}">
                <a16:creationId xmlns:a16="http://schemas.microsoft.com/office/drawing/2014/main" id="{8C374D50-9778-4EE3-AFE4-9CAB92DEEF39}"/>
              </a:ext>
            </a:extLst>
          </p:cNvPr>
          <p:cNvCxnSpPr/>
          <p:nvPr/>
        </p:nvCxnSpPr>
        <p:spPr>
          <a:xfrm>
            <a:off x="1847850" y="4245253"/>
            <a:ext cx="882015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368E884-B12A-4A89-99D2-149B100A3B21}"/>
              </a:ext>
            </a:extLst>
          </p:cNvPr>
          <p:cNvSpPr/>
          <p:nvPr/>
        </p:nvSpPr>
        <p:spPr>
          <a:xfrm>
            <a:off x="0" y="4429919"/>
            <a:ext cx="12191999" cy="400110"/>
          </a:xfrm>
          <a:prstGeom prst="rect">
            <a:avLst/>
          </a:prstGeom>
        </p:spPr>
        <p:txBody>
          <a:bodyPr wrap="square">
            <a:spAutoFit/>
          </a:bodyPr>
          <a:lstStyle/>
          <a:p>
            <a:pPr algn="ctr"/>
            <a:r>
              <a:rPr lang="en-SG" sz="2000" dirty="0">
                <a:solidFill>
                  <a:srgbClr val="0070C0"/>
                </a:solidFill>
              </a:rPr>
              <a:t>By Isaac Tan | 2100902B | Class: P11</a:t>
            </a:r>
          </a:p>
        </p:txBody>
      </p:sp>
    </p:spTree>
    <p:extLst>
      <p:ext uri="{BB962C8B-B14F-4D97-AF65-F5344CB8AC3E}">
        <p14:creationId xmlns:p14="http://schemas.microsoft.com/office/powerpoint/2010/main" val="1109916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err="1"/>
              <a:t>Ferturb</a:t>
            </a:r>
            <a:r>
              <a:rPr lang="en-US" dirty="0"/>
              <a:t> </a:t>
            </a:r>
            <a:r>
              <a:rPr lang="en-US" dirty="0" err="1"/>
              <a:t>bom</a:t>
            </a:r>
            <a:endParaRPr lang="en-SG" dirty="0"/>
          </a:p>
        </p:txBody>
      </p:sp>
      <p:sp>
        <p:nvSpPr>
          <p:cNvPr id="4" name="Text Placeholder 3"/>
          <p:cNvSpPr>
            <a:spLocks noGrp="1"/>
          </p:cNvSpPr>
          <p:nvPr>
            <p:ph type="body" sz="quarter" idx="14"/>
          </p:nvPr>
        </p:nvSpPr>
        <p:spPr/>
        <p:txBody>
          <a:bodyPr>
            <a:normAutofit fontScale="92500"/>
          </a:bodyPr>
          <a:lstStyle/>
          <a:p>
            <a:r>
              <a:rPr lang="en-US" sz="1100" dirty="0" err="1"/>
              <a:t>Ferturb</a:t>
            </a:r>
            <a:r>
              <a:rPr lang="en-US" sz="1100" dirty="0"/>
              <a:t> is a marine biologist who studies the evolution and characteristics of penguins and works part time at the Singapore zoo taking care of penguins. Every day after work, it has become a habit for him to whip out his phone and listen to music for </a:t>
            </a:r>
            <a:r>
              <a:rPr lang="en-US" sz="1100"/>
              <a:t>his 30-minute </a:t>
            </a:r>
            <a:r>
              <a:rPr lang="en-US" sz="1100" dirty="0"/>
              <a:t>bus ride home the moment he steps out of his workplace building. Despite already cultivated this habit, he still faces frustrations as he cannot pin his frequently-listened playlist on the home page where he can directly be redirected to the specific playlist. Instead, 6 playlists are always grouped together on the main page and are not always fixed in their places but are always mixed up. Hence, natural human error occurs, and he will always press the playlist at that location where he thinks is his </a:t>
            </a:r>
            <a:r>
              <a:rPr lang="en-US" sz="1100" dirty="0" err="1"/>
              <a:t>favourite</a:t>
            </a:r>
            <a:r>
              <a:rPr lang="en-US" sz="1100" dirty="0"/>
              <a:t> playlist until he gets used to the random shuffling positions of playlists and accepts that the they are not always fixed in the same locations.</a:t>
            </a:r>
            <a:endParaRPr lang="en-SG" sz="1100" dirty="0"/>
          </a:p>
        </p:txBody>
      </p:sp>
      <p:sp>
        <p:nvSpPr>
          <p:cNvPr id="5" name="Content Placeholder 4"/>
          <p:cNvSpPr>
            <a:spLocks noGrp="1"/>
          </p:cNvSpPr>
          <p:nvPr>
            <p:ph sz="quarter" idx="18"/>
          </p:nvPr>
        </p:nvSpPr>
        <p:spPr/>
        <p:txBody>
          <a:bodyPr/>
          <a:lstStyle/>
          <a:p>
            <a:pPr>
              <a:buFont typeface="+mj-lt"/>
              <a:buAutoNum type="arabicPeriod"/>
            </a:pPr>
            <a:r>
              <a:rPr lang="en-US" dirty="0"/>
              <a:t>To be able to start playing his </a:t>
            </a:r>
            <a:r>
              <a:rPr lang="en-US" dirty="0" err="1"/>
              <a:t>favourite</a:t>
            </a:r>
            <a:r>
              <a:rPr lang="en-US" dirty="0"/>
              <a:t> playlist of songs within 2-3 clicks of buttons</a:t>
            </a:r>
          </a:p>
          <a:p>
            <a:pPr>
              <a:buFont typeface="+mj-lt"/>
              <a:buAutoNum type="arabicPeriod"/>
            </a:pPr>
            <a:endParaRPr lang="en-US" dirty="0"/>
          </a:p>
        </p:txBody>
      </p:sp>
      <p:sp>
        <p:nvSpPr>
          <p:cNvPr id="6" name="Content Placeholder 5"/>
          <p:cNvSpPr>
            <a:spLocks noGrp="1"/>
          </p:cNvSpPr>
          <p:nvPr>
            <p:ph sz="quarter" idx="19"/>
          </p:nvPr>
        </p:nvSpPr>
        <p:spPr/>
        <p:txBody>
          <a:bodyPr/>
          <a:lstStyle/>
          <a:p>
            <a:r>
              <a:rPr lang="en-US" dirty="0"/>
              <a:t>Cannot pin his </a:t>
            </a:r>
            <a:r>
              <a:rPr lang="en-US" dirty="0" err="1"/>
              <a:t>favourite</a:t>
            </a:r>
            <a:r>
              <a:rPr lang="en-US" dirty="0"/>
              <a:t> playlists on the home page and has to manually go to his library of playlist and select that playlist</a:t>
            </a:r>
          </a:p>
          <a:p>
            <a:r>
              <a:rPr lang="en-US" dirty="0"/>
              <a:t>Number of playlists on main page are too many and quite small, and are not always fixed in their locations, always mixed up around the few playlist displayed on the top section of the home page.</a:t>
            </a:r>
          </a:p>
          <a:p>
            <a:r>
              <a:rPr lang="en-US" dirty="0"/>
              <a:t>These errors causes </a:t>
            </a:r>
            <a:r>
              <a:rPr lang="en-US" dirty="0" err="1"/>
              <a:t>Ferturb</a:t>
            </a:r>
            <a:r>
              <a:rPr lang="en-US" dirty="0"/>
              <a:t> to spend more time looking at his phone trying to get to the playlist and play the song – accidents may occur such as car accidents or bicycle accidents or bump into people as not paying attention on the road.</a:t>
            </a:r>
          </a:p>
        </p:txBody>
      </p:sp>
      <p:sp>
        <p:nvSpPr>
          <p:cNvPr id="7" name="Text Placeholder 6"/>
          <p:cNvSpPr>
            <a:spLocks noGrp="1"/>
          </p:cNvSpPr>
          <p:nvPr>
            <p:ph type="body" sz="quarter" idx="20"/>
          </p:nvPr>
        </p:nvSpPr>
        <p:spPr/>
        <p:txBody>
          <a:bodyPr/>
          <a:lstStyle/>
          <a:p>
            <a:r>
              <a:rPr lang="en-US" dirty="0"/>
              <a:t>“I want to use a music player app where I can easily access my playlists within 2-3 clicks with easy navigation.”</a:t>
            </a:r>
            <a:endParaRPr lang="en-SG" dirty="0"/>
          </a:p>
        </p:txBody>
      </p:sp>
      <p:sp>
        <p:nvSpPr>
          <p:cNvPr id="8" name="Text Placeholder 7"/>
          <p:cNvSpPr>
            <a:spLocks noGrp="1"/>
          </p:cNvSpPr>
          <p:nvPr>
            <p:ph type="body" sz="quarter" idx="22"/>
          </p:nvPr>
        </p:nvSpPr>
        <p:spPr/>
        <p:txBody>
          <a:bodyPr/>
          <a:lstStyle/>
          <a:p>
            <a:r>
              <a:rPr lang="en-US" dirty="0"/>
              <a:t>24</a:t>
            </a:r>
            <a:endParaRPr lang="en-SG" dirty="0"/>
          </a:p>
        </p:txBody>
      </p:sp>
      <p:sp>
        <p:nvSpPr>
          <p:cNvPr id="9" name="Text Placeholder 8"/>
          <p:cNvSpPr>
            <a:spLocks noGrp="1"/>
          </p:cNvSpPr>
          <p:nvPr>
            <p:ph type="body" sz="quarter" idx="23"/>
          </p:nvPr>
        </p:nvSpPr>
        <p:spPr/>
        <p:txBody>
          <a:bodyPr/>
          <a:lstStyle/>
          <a:p>
            <a:r>
              <a:rPr lang="en-US" dirty="0"/>
              <a:t>Marine Biologist</a:t>
            </a:r>
            <a:endParaRPr lang="en-SG" dirty="0"/>
          </a:p>
        </p:txBody>
      </p:sp>
      <p:sp>
        <p:nvSpPr>
          <p:cNvPr id="10" name="Text Placeholder 9"/>
          <p:cNvSpPr>
            <a:spLocks noGrp="1"/>
          </p:cNvSpPr>
          <p:nvPr>
            <p:ph type="body" sz="quarter" idx="24"/>
          </p:nvPr>
        </p:nvSpPr>
        <p:spPr/>
        <p:txBody>
          <a:bodyPr/>
          <a:lstStyle/>
          <a:p>
            <a:r>
              <a:rPr lang="en-US" dirty="0"/>
              <a:t>Single</a:t>
            </a:r>
            <a:endParaRPr lang="en-SG" dirty="0"/>
          </a:p>
        </p:txBody>
      </p:sp>
      <p:sp>
        <p:nvSpPr>
          <p:cNvPr id="11" name="Text Placeholder 10"/>
          <p:cNvSpPr>
            <a:spLocks noGrp="1"/>
          </p:cNvSpPr>
          <p:nvPr>
            <p:ph type="body" sz="quarter" idx="25"/>
          </p:nvPr>
        </p:nvSpPr>
        <p:spPr/>
        <p:txBody>
          <a:bodyPr/>
          <a:lstStyle/>
          <a:p>
            <a:r>
              <a:rPr lang="en-US" dirty="0"/>
              <a:t>Singapore</a:t>
            </a:r>
            <a:endParaRPr lang="en-SG" dirty="0"/>
          </a:p>
        </p:txBody>
      </p:sp>
      <p:sp>
        <p:nvSpPr>
          <p:cNvPr id="12" name="Text Placeholder 11"/>
          <p:cNvSpPr>
            <a:spLocks noGrp="1"/>
          </p:cNvSpPr>
          <p:nvPr>
            <p:ph type="body" sz="quarter" idx="26"/>
          </p:nvPr>
        </p:nvSpPr>
        <p:spPr/>
        <p:txBody>
          <a:bodyPr/>
          <a:lstStyle/>
          <a:p>
            <a:r>
              <a:rPr lang="en-US" dirty="0"/>
              <a:t>Passionate about music</a:t>
            </a:r>
            <a:endParaRPr lang="en-SG" dirty="0"/>
          </a:p>
        </p:txBody>
      </p:sp>
      <p:sp>
        <p:nvSpPr>
          <p:cNvPr id="13" name="Text Placeholder 12"/>
          <p:cNvSpPr>
            <a:spLocks noGrp="1"/>
          </p:cNvSpPr>
          <p:nvPr>
            <p:ph type="body" sz="quarter" idx="27"/>
          </p:nvPr>
        </p:nvSpPr>
        <p:spPr/>
        <p:txBody>
          <a:bodyPr/>
          <a:lstStyle/>
          <a:p>
            <a:r>
              <a:rPr lang="en-US" dirty="0"/>
              <a:t>Outgoing</a:t>
            </a:r>
            <a:endParaRPr lang="en-SG" dirty="0"/>
          </a:p>
        </p:txBody>
      </p:sp>
      <p:sp>
        <p:nvSpPr>
          <p:cNvPr id="14" name="Text Placeholder 13"/>
          <p:cNvSpPr>
            <a:spLocks noGrp="1"/>
          </p:cNvSpPr>
          <p:nvPr>
            <p:ph type="body" sz="quarter" idx="28"/>
          </p:nvPr>
        </p:nvSpPr>
        <p:spPr/>
        <p:txBody>
          <a:bodyPr/>
          <a:lstStyle/>
          <a:p>
            <a:r>
              <a:rPr lang="en-US" dirty="0"/>
              <a:t>Sociable</a:t>
            </a:r>
            <a:endParaRPr lang="en-SG" dirty="0"/>
          </a:p>
        </p:txBody>
      </p:sp>
      <p:sp>
        <p:nvSpPr>
          <p:cNvPr id="15" name="Text Placeholder 14"/>
          <p:cNvSpPr>
            <a:spLocks noGrp="1"/>
          </p:cNvSpPr>
          <p:nvPr>
            <p:ph type="body" sz="quarter" idx="29"/>
          </p:nvPr>
        </p:nvSpPr>
        <p:spPr/>
        <p:txBody>
          <a:bodyPr/>
          <a:lstStyle/>
          <a:p>
            <a:r>
              <a:rPr lang="en-US" dirty="0"/>
              <a:t>Persevering</a:t>
            </a:r>
            <a:endParaRPr lang="en-SG" dirty="0"/>
          </a:p>
        </p:txBody>
      </p:sp>
      <p:sp>
        <p:nvSpPr>
          <p:cNvPr id="16" name="Content Placeholder 15"/>
          <p:cNvSpPr>
            <a:spLocks noGrp="1"/>
          </p:cNvSpPr>
          <p:nvPr>
            <p:ph sz="quarter" idx="31"/>
          </p:nvPr>
        </p:nvSpPr>
        <p:spPr/>
        <p:txBody>
          <a:bodyPr/>
          <a:lstStyle/>
          <a:p>
            <a:r>
              <a:rPr lang="en-US" dirty="0"/>
              <a:t>Spotify</a:t>
            </a:r>
          </a:p>
          <a:p>
            <a:r>
              <a:rPr lang="en-US" dirty="0"/>
              <a:t>SoundCloud</a:t>
            </a:r>
          </a:p>
          <a:p>
            <a:endParaRPr lang="en-SG" dirty="0"/>
          </a:p>
        </p:txBody>
      </p:sp>
      <p:grpSp>
        <p:nvGrpSpPr>
          <p:cNvPr id="22" name="Group 21"/>
          <p:cNvGrpSpPr/>
          <p:nvPr/>
        </p:nvGrpSpPr>
        <p:grpSpPr>
          <a:xfrm>
            <a:off x="4462124" y="5683919"/>
            <a:ext cx="1679561" cy="188897"/>
            <a:chOff x="4462124" y="5683919"/>
            <a:chExt cx="1679561" cy="188897"/>
          </a:xfrm>
        </p:grpSpPr>
        <p:sp>
          <p:nvSpPr>
            <p:cNvPr id="17" name="5-Point Star 16"/>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5-Point Star 17"/>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5-Point Star 18"/>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5-Point Star 19"/>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5-Point Star 20"/>
            <p:cNvSpPr/>
            <p:nvPr/>
          </p:nvSpPr>
          <p:spPr>
            <a:xfrm>
              <a:off x="5953988" y="56839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3" name="Group 22"/>
          <p:cNvGrpSpPr/>
          <p:nvPr/>
        </p:nvGrpSpPr>
        <p:grpSpPr>
          <a:xfrm>
            <a:off x="4462124" y="5960671"/>
            <a:ext cx="1679561" cy="188897"/>
            <a:chOff x="4462124" y="5683919"/>
            <a:chExt cx="1679561" cy="188897"/>
          </a:xfrm>
        </p:grpSpPr>
        <p:sp>
          <p:nvSpPr>
            <p:cNvPr id="24" name="5-Point Star 23"/>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5-Point Star 24"/>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5-Point Star 25"/>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5-Point Star 26"/>
            <p:cNvSpPr/>
            <p:nvPr/>
          </p:nvSpPr>
          <p:spPr>
            <a:xfrm>
              <a:off x="5581022" y="568392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8" name="5-Point Star 27"/>
            <p:cNvSpPr/>
            <p:nvPr/>
          </p:nvSpPr>
          <p:spPr>
            <a:xfrm>
              <a:off x="5953988" y="56839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29" name="Group 28"/>
          <p:cNvGrpSpPr/>
          <p:nvPr/>
        </p:nvGrpSpPr>
        <p:grpSpPr>
          <a:xfrm>
            <a:off x="4462124" y="6244662"/>
            <a:ext cx="933629" cy="188895"/>
            <a:chOff x="4462124" y="5683921"/>
            <a:chExt cx="933629" cy="188895"/>
          </a:xfrm>
        </p:grpSpPr>
        <p:sp>
          <p:nvSpPr>
            <p:cNvPr id="30" name="5-Point Star 29"/>
            <p:cNvSpPr/>
            <p:nvPr/>
          </p:nvSpPr>
          <p:spPr>
            <a:xfrm>
              <a:off x="4462124"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5-Point Star 30"/>
            <p:cNvSpPr/>
            <p:nvPr/>
          </p:nvSpPr>
          <p:spPr>
            <a:xfrm>
              <a:off x="4835090" y="5685119"/>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5-Point Star 31"/>
            <p:cNvSpPr/>
            <p:nvPr/>
          </p:nvSpPr>
          <p:spPr>
            <a:xfrm>
              <a:off x="5208056" y="5683921"/>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36" name="5-Point Star 35"/>
          <p:cNvSpPr/>
          <p:nvPr/>
        </p:nvSpPr>
        <p:spPr>
          <a:xfrm>
            <a:off x="4462124" y="6508960"/>
            <a:ext cx="187697" cy="187697"/>
          </a:xfrm>
          <a:prstGeom prst="star5">
            <a:avLst>
              <a:gd name="adj" fmla="val 25408"/>
              <a:gd name="hf" fmla="val 105146"/>
              <a:gd name="vf" fmla="val 11055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Rectangle 40"/>
          <p:cNvSpPr/>
          <p:nvPr/>
        </p:nvSpPr>
        <p:spPr>
          <a:xfrm>
            <a:off x="5301268" y="3780316"/>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2" name="Rectangle 41"/>
          <p:cNvSpPr/>
          <p:nvPr/>
        </p:nvSpPr>
        <p:spPr>
          <a:xfrm>
            <a:off x="4676695" y="4209347"/>
            <a:ext cx="185269" cy="14097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3" name="Rectangle 42"/>
          <p:cNvSpPr/>
          <p:nvPr/>
        </p:nvSpPr>
        <p:spPr>
          <a:xfrm>
            <a:off x="4843500" y="4640621"/>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Rectangle 43"/>
          <p:cNvSpPr/>
          <p:nvPr/>
        </p:nvSpPr>
        <p:spPr>
          <a:xfrm>
            <a:off x="5582235" y="5053681"/>
            <a:ext cx="185269" cy="14097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Rectangle 44"/>
          <p:cNvSpPr/>
          <p:nvPr/>
        </p:nvSpPr>
        <p:spPr>
          <a:xfrm>
            <a:off x="8102361" y="5204216"/>
            <a:ext cx="1349555" cy="1382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5"/>
          <p:cNvSpPr/>
          <p:nvPr/>
        </p:nvSpPr>
        <p:spPr>
          <a:xfrm>
            <a:off x="8102362" y="5469907"/>
            <a:ext cx="1723748"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7" name="Rectangle 46"/>
          <p:cNvSpPr/>
          <p:nvPr/>
        </p:nvSpPr>
        <p:spPr>
          <a:xfrm>
            <a:off x="8102362" y="5740766"/>
            <a:ext cx="1723748" cy="1407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Rectangle 47"/>
          <p:cNvSpPr/>
          <p:nvPr/>
        </p:nvSpPr>
        <p:spPr>
          <a:xfrm>
            <a:off x="8099896" y="6023462"/>
            <a:ext cx="1029418" cy="1407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Rectangle 48"/>
          <p:cNvSpPr/>
          <p:nvPr/>
        </p:nvSpPr>
        <p:spPr>
          <a:xfrm>
            <a:off x="8103588" y="6291654"/>
            <a:ext cx="1349556" cy="1407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Rectangle 49"/>
          <p:cNvSpPr/>
          <p:nvPr/>
        </p:nvSpPr>
        <p:spPr>
          <a:xfrm>
            <a:off x="8099896" y="6574350"/>
            <a:ext cx="512048" cy="1414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51" name="Picture Placeholder 50" descr="A person standing in front of a city skyline&#10;&#10;Description automatically generated with low confidence">
            <a:extLst>
              <a:ext uri="{FF2B5EF4-FFF2-40B4-BE49-F238E27FC236}">
                <a16:creationId xmlns:a16="http://schemas.microsoft.com/office/drawing/2014/main" id="{F89C8F22-0B67-49A1-A8DC-395AA1D61D2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7654" r="17654"/>
          <a:stretch>
            <a:fillRect/>
          </a:stretch>
        </p:blipFill>
        <p:spPr/>
      </p:pic>
    </p:spTree>
    <p:extLst>
      <p:ext uri="{BB962C8B-B14F-4D97-AF65-F5344CB8AC3E}">
        <p14:creationId xmlns:p14="http://schemas.microsoft.com/office/powerpoint/2010/main" val="419965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descr="Diagram&#10;&#10;Description automatically generated">
            <a:extLst>
              <a:ext uri="{FF2B5EF4-FFF2-40B4-BE49-F238E27FC236}">
                <a16:creationId xmlns:a16="http://schemas.microsoft.com/office/drawing/2014/main" id="{D307ACFC-35D1-44AF-A877-5BB7B0758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4790116"/>
          </a:xfrm>
          <a:prstGeom prst="rect">
            <a:avLst/>
          </a:prstGeom>
        </p:spPr>
      </p:pic>
    </p:spTree>
    <p:extLst>
      <p:ext uri="{BB962C8B-B14F-4D97-AF65-F5344CB8AC3E}">
        <p14:creationId xmlns:p14="http://schemas.microsoft.com/office/powerpoint/2010/main" val="4057908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94FF-C150-44B8-9465-A3B0F7E12183}"/>
              </a:ext>
            </a:extLst>
          </p:cNvPr>
          <p:cNvSpPr>
            <a:spLocks noGrp="1"/>
          </p:cNvSpPr>
          <p:nvPr>
            <p:ph type="title"/>
          </p:nvPr>
        </p:nvSpPr>
        <p:spPr/>
        <p:txBody>
          <a:bodyPr>
            <a:normAutofit fontScale="90000"/>
          </a:bodyPr>
          <a:lstStyle/>
          <a:p>
            <a:r>
              <a:rPr lang="en-US" dirty="0"/>
              <a:t>Low-fidelity prototype: overview</a:t>
            </a:r>
            <a:endParaRPr lang="en-SG" dirty="0"/>
          </a:p>
        </p:txBody>
      </p:sp>
      <p:pic>
        <p:nvPicPr>
          <p:cNvPr id="4" name="Picture 3" descr="Shape&#10;&#10;Description automatically generated with medium confidence">
            <a:extLst>
              <a:ext uri="{FF2B5EF4-FFF2-40B4-BE49-F238E27FC236}">
                <a16:creationId xmlns:a16="http://schemas.microsoft.com/office/drawing/2014/main" id="{51016909-F227-442D-BB46-DC3A4BC2A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219676"/>
            <a:ext cx="2381693" cy="5157305"/>
          </a:xfrm>
          <a:prstGeom prst="rect">
            <a:avLst/>
          </a:prstGeom>
        </p:spPr>
      </p:pic>
      <p:pic>
        <p:nvPicPr>
          <p:cNvPr id="6" name="Picture 5" descr="A picture containing box and whisker chart&#10;&#10;Description automatically generated">
            <a:extLst>
              <a:ext uri="{FF2B5EF4-FFF2-40B4-BE49-F238E27FC236}">
                <a16:creationId xmlns:a16="http://schemas.microsoft.com/office/drawing/2014/main" id="{2EB77047-07E4-40D0-A611-05EF57F10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1691" y="1219676"/>
            <a:ext cx="2381693" cy="5157305"/>
          </a:xfrm>
          <a:prstGeom prst="rect">
            <a:avLst/>
          </a:prstGeom>
        </p:spPr>
      </p:pic>
      <p:pic>
        <p:nvPicPr>
          <p:cNvPr id="8" name="Picture 7" descr="A picture containing diagram&#10;&#10;Description automatically generated">
            <a:extLst>
              <a:ext uri="{FF2B5EF4-FFF2-40B4-BE49-F238E27FC236}">
                <a16:creationId xmlns:a16="http://schemas.microsoft.com/office/drawing/2014/main" id="{B9F0DEF2-7305-4F0E-AAE0-DE66439D43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3384" y="1219675"/>
            <a:ext cx="2381693" cy="5157306"/>
          </a:xfrm>
          <a:prstGeom prst="rect">
            <a:avLst/>
          </a:prstGeom>
        </p:spPr>
      </p:pic>
      <p:pic>
        <p:nvPicPr>
          <p:cNvPr id="10" name="Picture 9" descr="Chart, shape&#10;&#10;Description automatically generated">
            <a:extLst>
              <a:ext uri="{FF2B5EF4-FFF2-40B4-BE49-F238E27FC236}">
                <a16:creationId xmlns:a16="http://schemas.microsoft.com/office/drawing/2014/main" id="{1B1DE537-A329-457C-A7DD-437C078D19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45076" y="1219674"/>
            <a:ext cx="2381694" cy="5157307"/>
          </a:xfrm>
          <a:prstGeom prst="rect">
            <a:avLst/>
          </a:prstGeom>
        </p:spPr>
      </p:pic>
      <p:pic>
        <p:nvPicPr>
          <p:cNvPr id="12" name="Picture 11" descr="Graphical user interface, text, application&#10;&#10;Description automatically generated">
            <a:extLst>
              <a:ext uri="{FF2B5EF4-FFF2-40B4-BE49-F238E27FC236}">
                <a16:creationId xmlns:a16="http://schemas.microsoft.com/office/drawing/2014/main" id="{43DD0527-AAC3-47E8-BB34-4BCD7A3104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6767" y="1219674"/>
            <a:ext cx="2381694" cy="5157308"/>
          </a:xfrm>
          <a:prstGeom prst="rect">
            <a:avLst/>
          </a:prstGeom>
        </p:spPr>
      </p:pic>
      <p:sp>
        <p:nvSpPr>
          <p:cNvPr id="14" name="TextBox 13">
            <a:extLst>
              <a:ext uri="{FF2B5EF4-FFF2-40B4-BE49-F238E27FC236}">
                <a16:creationId xmlns:a16="http://schemas.microsoft.com/office/drawing/2014/main" id="{B6BB26B7-28C8-4031-B93E-D2699D15A62B}"/>
              </a:ext>
            </a:extLst>
          </p:cNvPr>
          <p:cNvSpPr txBox="1"/>
          <p:nvPr/>
        </p:nvSpPr>
        <p:spPr>
          <a:xfrm>
            <a:off x="2420228" y="1064248"/>
            <a:ext cx="1729512" cy="307777"/>
          </a:xfrm>
          <a:prstGeom prst="rect">
            <a:avLst/>
          </a:prstGeom>
          <a:noFill/>
        </p:spPr>
        <p:txBody>
          <a:bodyPr wrap="none" rtlCol="0">
            <a:spAutoFit/>
          </a:bodyPr>
          <a:lstStyle/>
          <a:p>
            <a:r>
              <a:rPr lang="en-US" sz="1400" b="1" dirty="0"/>
              <a:t>2. Searching for song</a:t>
            </a:r>
            <a:endParaRPr lang="en-SG" sz="1400" b="1" dirty="0"/>
          </a:p>
        </p:txBody>
      </p:sp>
      <p:sp>
        <p:nvSpPr>
          <p:cNvPr id="15" name="TextBox 14">
            <a:extLst>
              <a:ext uri="{FF2B5EF4-FFF2-40B4-BE49-F238E27FC236}">
                <a16:creationId xmlns:a16="http://schemas.microsoft.com/office/drawing/2014/main" id="{B9AC1D9C-EB29-4548-AA80-D31197FDD72E}"/>
              </a:ext>
            </a:extLst>
          </p:cNvPr>
          <p:cNvSpPr txBox="1"/>
          <p:nvPr/>
        </p:nvSpPr>
        <p:spPr>
          <a:xfrm>
            <a:off x="-2" y="1064249"/>
            <a:ext cx="1544975" cy="307777"/>
          </a:xfrm>
          <a:prstGeom prst="rect">
            <a:avLst/>
          </a:prstGeom>
          <a:noFill/>
        </p:spPr>
        <p:txBody>
          <a:bodyPr wrap="none" rtlCol="0">
            <a:spAutoFit/>
          </a:bodyPr>
          <a:lstStyle/>
          <a:p>
            <a:r>
              <a:rPr lang="en-US" sz="1400" b="1" dirty="0"/>
              <a:t>1. App Home Page</a:t>
            </a:r>
            <a:endParaRPr lang="en-SG" sz="1400" b="1" dirty="0"/>
          </a:p>
        </p:txBody>
      </p:sp>
      <p:sp>
        <p:nvSpPr>
          <p:cNvPr id="17" name="TextBox 16">
            <a:extLst>
              <a:ext uri="{FF2B5EF4-FFF2-40B4-BE49-F238E27FC236}">
                <a16:creationId xmlns:a16="http://schemas.microsoft.com/office/drawing/2014/main" id="{D10A673B-99C0-486E-B20A-01B56347AB0D}"/>
              </a:ext>
            </a:extLst>
          </p:cNvPr>
          <p:cNvSpPr txBox="1"/>
          <p:nvPr/>
        </p:nvSpPr>
        <p:spPr>
          <a:xfrm>
            <a:off x="5024995" y="1064248"/>
            <a:ext cx="1375633" cy="307777"/>
          </a:xfrm>
          <a:prstGeom prst="rect">
            <a:avLst/>
          </a:prstGeom>
          <a:noFill/>
        </p:spPr>
        <p:txBody>
          <a:bodyPr wrap="none" rtlCol="0">
            <a:spAutoFit/>
          </a:bodyPr>
          <a:lstStyle/>
          <a:p>
            <a:r>
              <a:rPr lang="en-US" sz="1400" b="1" dirty="0"/>
              <a:t>3. Playing music</a:t>
            </a:r>
            <a:endParaRPr lang="en-SG" sz="1400" b="1" dirty="0"/>
          </a:p>
        </p:txBody>
      </p:sp>
      <p:sp>
        <p:nvSpPr>
          <p:cNvPr id="19" name="TextBox 18">
            <a:extLst>
              <a:ext uri="{FF2B5EF4-FFF2-40B4-BE49-F238E27FC236}">
                <a16:creationId xmlns:a16="http://schemas.microsoft.com/office/drawing/2014/main" id="{12FDC644-ADC1-4C36-A63E-AC26B5390AC3}"/>
              </a:ext>
            </a:extLst>
          </p:cNvPr>
          <p:cNvSpPr txBox="1"/>
          <p:nvPr/>
        </p:nvSpPr>
        <p:spPr>
          <a:xfrm>
            <a:off x="7275881" y="1064247"/>
            <a:ext cx="1275990" cy="307777"/>
          </a:xfrm>
          <a:prstGeom prst="rect">
            <a:avLst/>
          </a:prstGeom>
          <a:noFill/>
        </p:spPr>
        <p:txBody>
          <a:bodyPr wrap="none" rtlCol="0">
            <a:spAutoFit/>
          </a:bodyPr>
          <a:lstStyle/>
          <a:p>
            <a:r>
              <a:rPr lang="en-US" sz="1400" b="1" dirty="0"/>
              <a:t>4. Library page</a:t>
            </a:r>
            <a:endParaRPr lang="en-SG" sz="1400" b="1" dirty="0"/>
          </a:p>
        </p:txBody>
      </p:sp>
      <p:sp>
        <p:nvSpPr>
          <p:cNvPr id="20" name="TextBox 19">
            <a:extLst>
              <a:ext uri="{FF2B5EF4-FFF2-40B4-BE49-F238E27FC236}">
                <a16:creationId xmlns:a16="http://schemas.microsoft.com/office/drawing/2014/main" id="{38C84E24-FFD1-4D54-B473-272280C8BD74}"/>
              </a:ext>
            </a:extLst>
          </p:cNvPr>
          <p:cNvSpPr txBox="1"/>
          <p:nvPr/>
        </p:nvSpPr>
        <p:spPr>
          <a:xfrm>
            <a:off x="9657574" y="1064246"/>
            <a:ext cx="1352486" cy="307777"/>
          </a:xfrm>
          <a:prstGeom prst="rect">
            <a:avLst/>
          </a:prstGeom>
          <a:noFill/>
        </p:spPr>
        <p:txBody>
          <a:bodyPr wrap="none" rtlCol="0">
            <a:spAutoFit/>
          </a:bodyPr>
          <a:lstStyle/>
          <a:p>
            <a:r>
              <a:rPr lang="en-US" sz="1400" b="1" dirty="0"/>
              <a:t>5. Settings Page</a:t>
            </a:r>
            <a:endParaRPr lang="en-SG" sz="1400" b="1" dirty="0"/>
          </a:p>
        </p:txBody>
      </p:sp>
      <p:sp>
        <p:nvSpPr>
          <p:cNvPr id="21" name="TextBox 20">
            <a:extLst>
              <a:ext uri="{FF2B5EF4-FFF2-40B4-BE49-F238E27FC236}">
                <a16:creationId xmlns:a16="http://schemas.microsoft.com/office/drawing/2014/main" id="{1B67FD2F-18AF-4F5C-A91A-8E94C9C9545E}"/>
              </a:ext>
            </a:extLst>
          </p:cNvPr>
          <p:cNvSpPr txBox="1"/>
          <p:nvPr/>
        </p:nvSpPr>
        <p:spPr>
          <a:xfrm>
            <a:off x="-2" y="6532408"/>
            <a:ext cx="7960705" cy="584775"/>
          </a:xfrm>
          <a:prstGeom prst="rect">
            <a:avLst/>
          </a:prstGeom>
          <a:noFill/>
        </p:spPr>
        <p:txBody>
          <a:bodyPr wrap="none" rtlCol="0">
            <a:spAutoFit/>
          </a:bodyPr>
          <a:lstStyle/>
          <a:p>
            <a:r>
              <a:rPr lang="en-US" sz="1600" dirty="0"/>
              <a:t>Preview online: </a:t>
            </a:r>
            <a:r>
              <a:rPr lang="en-US" sz="1600" dirty="0">
                <a:hlinkClick r:id="rId8"/>
              </a:rPr>
              <a:t>https://xd.adobe.com/view/</a:t>
            </a:r>
            <a:r>
              <a:rPr lang="en-US" sz="1600">
                <a:hlinkClick r:id="rId8"/>
              </a:rPr>
              <a:t>71205d6d-6318-4bc6-923a-5e9668f40763-2473/</a:t>
            </a:r>
            <a:endParaRPr lang="en-US" sz="1600" dirty="0"/>
          </a:p>
          <a:p>
            <a:endParaRPr lang="en-SG" sz="1600" dirty="0"/>
          </a:p>
        </p:txBody>
      </p:sp>
    </p:spTree>
    <p:extLst>
      <p:ext uri="{BB962C8B-B14F-4D97-AF65-F5344CB8AC3E}">
        <p14:creationId xmlns:p14="http://schemas.microsoft.com/office/powerpoint/2010/main" val="2575693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TotalTime>
  <Words>394</Words>
  <Application>Microsoft Office PowerPoint</Application>
  <PresentationFormat>Widescreen</PresentationFormat>
  <Paragraphs>30</Paragraphs>
  <Slides>4</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vt:i4>
      </vt:variant>
    </vt:vector>
  </HeadingPairs>
  <TitlesOfParts>
    <vt:vector size="10" baseType="lpstr">
      <vt:lpstr>Arial</vt:lpstr>
      <vt:lpstr>Calibri</vt:lpstr>
      <vt:lpstr>Calibri Light</vt:lpstr>
      <vt:lpstr>Wingdings</vt:lpstr>
      <vt:lpstr>Office Theme</vt:lpstr>
      <vt:lpstr>Office Theme</vt:lpstr>
      <vt:lpstr>Project 1b.</vt:lpstr>
      <vt:lpstr>Ferturb bom</vt:lpstr>
      <vt:lpstr>PowerPoint Presentation</vt:lpstr>
      <vt:lpstr>Low-fidelity prototype: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Josephine</dc:creator>
  <cp:lastModifiedBy>ISAAC TAN (CHEN EN)</cp:lastModifiedBy>
  <cp:revision>48</cp:revision>
  <dcterms:created xsi:type="dcterms:W3CDTF">2018-05-20T13:43:34Z</dcterms:created>
  <dcterms:modified xsi:type="dcterms:W3CDTF">2021-06-04T15:01:01Z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cb20ed-001a-45f4-b2e7-234c5fc91178_Enabled">
    <vt:lpwstr>True</vt:lpwstr>
  </property>
  <property fmtid="{D5CDD505-2E9C-101B-9397-08002B2CF9AE}" pid="3" name="MSIP_Label_4bcb20ed-001a-45f4-b2e7-234c5fc91178_SiteId">
    <vt:lpwstr>25a99bf0-8e72-472a-ae50-adfbdf0df6f1</vt:lpwstr>
  </property>
  <property fmtid="{D5CDD505-2E9C-101B-9397-08002B2CF9AE}" pid="4" name="MSIP_Label_4bcb20ed-001a-45f4-b2e7-234c5fc91178_Owner">
    <vt:lpwstr>andrewt@TP.EDU.SG</vt:lpwstr>
  </property>
  <property fmtid="{D5CDD505-2E9C-101B-9397-08002B2CF9AE}" pid="5" name="MSIP_Label_4bcb20ed-001a-45f4-b2e7-234c5fc91178_SetDate">
    <vt:lpwstr>2021-05-16T07:50:18.5916255Z</vt:lpwstr>
  </property>
  <property fmtid="{D5CDD505-2E9C-101B-9397-08002B2CF9AE}" pid="6" name="MSIP_Label_4bcb20ed-001a-45f4-b2e7-234c5fc91178_Name">
    <vt:lpwstr>OFFICIAL (CLOSED)</vt:lpwstr>
  </property>
  <property fmtid="{D5CDD505-2E9C-101B-9397-08002B2CF9AE}" pid="7" name="MSIP_Label_4bcb20ed-001a-45f4-b2e7-234c5fc91178_Application">
    <vt:lpwstr>Microsoft Azure Information Protection</vt:lpwstr>
  </property>
  <property fmtid="{D5CDD505-2E9C-101B-9397-08002B2CF9AE}" pid="8" name="MSIP_Label_4bcb20ed-001a-45f4-b2e7-234c5fc91178_ActionId">
    <vt:lpwstr>9d440c5e-9290-492a-bc24-64d210d76ea9</vt:lpwstr>
  </property>
  <property fmtid="{D5CDD505-2E9C-101B-9397-08002B2CF9AE}" pid="9" name="MSIP_Label_4bcb20ed-001a-45f4-b2e7-234c5fc91178_Extended_MSFT_Method">
    <vt:lpwstr>Automatic</vt:lpwstr>
  </property>
  <property fmtid="{D5CDD505-2E9C-101B-9397-08002B2CF9AE}" pid="10" name="MSIP_Label_f69d7fc4-da81-42e5-b309-526f71322d86_Enabled">
    <vt:lpwstr>True</vt:lpwstr>
  </property>
  <property fmtid="{D5CDD505-2E9C-101B-9397-08002B2CF9AE}" pid="11" name="MSIP_Label_f69d7fc4-da81-42e5-b309-526f71322d86_SiteId">
    <vt:lpwstr>25a99bf0-8e72-472a-ae50-adfbdf0df6f1</vt:lpwstr>
  </property>
  <property fmtid="{D5CDD505-2E9C-101B-9397-08002B2CF9AE}" pid="12" name="MSIP_Label_f69d7fc4-da81-42e5-b309-526f71322d86_Owner">
    <vt:lpwstr>andrewt@TP.EDU.SG</vt:lpwstr>
  </property>
  <property fmtid="{D5CDD505-2E9C-101B-9397-08002B2CF9AE}" pid="13" name="MSIP_Label_f69d7fc4-da81-42e5-b309-526f71322d86_SetDate">
    <vt:lpwstr>2021-05-16T07:50:18.5916255Z</vt:lpwstr>
  </property>
  <property fmtid="{D5CDD505-2E9C-101B-9397-08002B2CF9AE}" pid="14" name="MSIP_Label_f69d7fc4-da81-42e5-b309-526f71322d86_Name">
    <vt:lpwstr>NON-SENSITIVE</vt:lpwstr>
  </property>
  <property fmtid="{D5CDD505-2E9C-101B-9397-08002B2CF9AE}" pid="15" name="MSIP_Label_f69d7fc4-da81-42e5-b309-526f71322d86_Application">
    <vt:lpwstr>Microsoft Azure Information Protection</vt:lpwstr>
  </property>
  <property fmtid="{D5CDD505-2E9C-101B-9397-08002B2CF9AE}" pid="16" name="MSIP_Label_f69d7fc4-da81-42e5-b309-526f71322d86_ActionId">
    <vt:lpwstr>9d440c5e-9290-492a-bc24-64d210d76ea9</vt:lpwstr>
  </property>
  <property fmtid="{D5CDD505-2E9C-101B-9397-08002B2CF9AE}" pid="17" name="MSIP_Label_f69d7fc4-da81-42e5-b309-526f71322d86_Parent">
    <vt:lpwstr>4bcb20ed-001a-45f4-b2e7-234c5fc91178</vt:lpwstr>
  </property>
  <property fmtid="{D5CDD505-2E9C-101B-9397-08002B2CF9AE}" pid="18" name="MSIP_Label_f69d7fc4-da81-42e5-b309-526f71322d86_Extended_MSFT_Method">
    <vt:lpwstr>Automatic</vt:lpwstr>
  </property>
  <property fmtid="{D5CDD505-2E9C-101B-9397-08002B2CF9AE}" pid="19" name="Sensitivity">
    <vt:lpwstr>OFFICIAL (CLOSED) NON-SENSITIVE</vt:lpwstr>
  </property>
</Properties>
</file>