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9" r:id="rId3"/>
    <p:sldId id="275" r:id="rId4"/>
    <p:sldId id="267" r:id="rId5"/>
    <p:sldId id="268" r:id="rId6"/>
    <p:sldId id="270" r:id="rId7"/>
    <p:sldId id="271" r:id="rId8"/>
    <p:sldId id="272" r:id="rId9"/>
    <p:sldId id="276" r:id="rId10"/>
    <p:sldId id="273" r:id="rId11"/>
    <p:sldId id="279" r:id="rId12"/>
    <p:sldId id="277" r:id="rId13"/>
    <p:sldId id="278" r:id="rId14"/>
    <p:sldId id="265"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5857" autoAdjust="0"/>
  </p:normalViewPr>
  <p:slideViewPr>
    <p:cSldViewPr snapToGrid="0" snapToObjects="1">
      <p:cViewPr varScale="1">
        <p:scale>
          <a:sx n="62" d="100"/>
          <a:sy n="62" d="100"/>
        </p:scale>
        <p:origin x="80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3705D7-80E0-49BF-9C8D-714E9A6F4976}"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B1940C8-5090-44E4-BE35-D52295B8CF41}">
      <dgm:prSet custT="1"/>
      <dgm:spPr/>
      <dgm:t>
        <a:bodyPr/>
        <a:lstStyle/>
        <a:p>
          <a:pPr>
            <a:lnSpc>
              <a:spcPct val="100000"/>
            </a:lnSpc>
          </a:pPr>
          <a:r>
            <a:rPr lang="en-US" sz="2000" dirty="0"/>
            <a:t>All music apps have the basic functions (</a:t>
          </a:r>
          <a:r>
            <a:rPr lang="en-US" sz="2000" b="1" dirty="0"/>
            <a:t>play/pause, forward/previous, shuffle</a:t>
          </a:r>
          <a:r>
            <a:rPr lang="en-US" sz="2000" dirty="0"/>
            <a:t>)</a:t>
          </a:r>
        </a:p>
      </dgm:t>
    </dgm:pt>
    <dgm:pt modelId="{7069A739-9BCA-41CB-8535-D3E7C78ACD9E}" type="parTrans" cxnId="{545EDA91-4109-4E2B-8CBF-6DE0EDA50EC2}">
      <dgm:prSet/>
      <dgm:spPr/>
      <dgm:t>
        <a:bodyPr/>
        <a:lstStyle/>
        <a:p>
          <a:endParaRPr lang="en-US" sz="1800"/>
        </a:p>
      </dgm:t>
    </dgm:pt>
    <dgm:pt modelId="{2D3321B2-3CD0-4CC0-888F-BBCF8E43BE37}" type="sibTrans" cxnId="{545EDA91-4109-4E2B-8CBF-6DE0EDA50EC2}">
      <dgm:prSet/>
      <dgm:spPr/>
      <dgm:t>
        <a:bodyPr/>
        <a:lstStyle/>
        <a:p>
          <a:pPr>
            <a:lnSpc>
              <a:spcPct val="100000"/>
            </a:lnSpc>
          </a:pPr>
          <a:endParaRPr lang="en-US" sz="1800"/>
        </a:p>
      </dgm:t>
    </dgm:pt>
    <dgm:pt modelId="{6EF65C2F-247B-45A8-BE7A-DC62A988FD19}">
      <dgm:prSet custT="1"/>
      <dgm:spPr/>
      <dgm:t>
        <a:bodyPr/>
        <a:lstStyle/>
        <a:p>
          <a:pPr>
            <a:lnSpc>
              <a:spcPct val="100000"/>
            </a:lnSpc>
          </a:pPr>
          <a:r>
            <a:rPr lang="en-US" sz="2000" dirty="0"/>
            <a:t>Even after coming back on the app after a long period of time, it is very common-sense and straightforward to know what these buttons do.</a:t>
          </a:r>
        </a:p>
      </dgm:t>
    </dgm:pt>
    <dgm:pt modelId="{8E1121C4-F72B-441C-BD88-72E8BFDA6DFD}" type="parTrans" cxnId="{953B1E23-E36C-424F-A9FC-DCB6097B03FD}">
      <dgm:prSet/>
      <dgm:spPr/>
      <dgm:t>
        <a:bodyPr/>
        <a:lstStyle/>
        <a:p>
          <a:endParaRPr lang="en-US" sz="1800"/>
        </a:p>
      </dgm:t>
    </dgm:pt>
    <dgm:pt modelId="{C438662B-8229-4264-99E3-1A9314B712FD}" type="sibTrans" cxnId="{953B1E23-E36C-424F-A9FC-DCB6097B03FD}">
      <dgm:prSet/>
      <dgm:spPr/>
      <dgm:t>
        <a:bodyPr/>
        <a:lstStyle/>
        <a:p>
          <a:endParaRPr lang="en-US" sz="1800"/>
        </a:p>
      </dgm:t>
    </dgm:pt>
    <dgm:pt modelId="{F76CAA83-5FCF-4A80-8701-C430246F6FEA}" type="pres">
      <dgm:prSet presAssocID="{073705D7-80E0-49BF-9C8D-714E9A6F4976}" presName="root" presStyleCnt="0">
        <dgm:presLayoutVars>
          <dgm:dir/>
          <dgm:resizeHandles val="exact"/>
        </dgm:presLayoutVars>
      </dgm:prSet>
      <dgm:spPr/>
    </dgm:pt>
    <dgm:pt modelId="{D2969973-78DA-43E3-BDF6-7756DB716CBD}" type="pres">
      <dgm:prSet presAssocID="{4B1940C8-5090-44E4-BE35-D52295B8CF41}" presName="compNode" presStyleCnt="0"/>
      <dgm:spPr/>
    </dgm:pt>
    <dgm:pt modelId="{F5A6D6E3-B054-41BA-9BA6-826F8EF81703}" type="pres">
      <dgm:prSet presAssocID="{4B1940C8-5090-44E4-BE35-D52295B8CF41}" presName="bgRect" presStyleLbl="bgShp" presStyleIdx="0" presStyleCnt="2"/>
      <dgm:spPr/>
    </dgm:pt>
    <dgm:pt modelId="{761ECAB5-9F77-4813-865F-6CB00E5507E1}" type="pres">
      <dgm:prSet presAssocID="{4B1940C8-5090-44E4-BE35-D52295B8CF4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use"/>
        </a:ext>
      </dgm:extLst>
    </dgm:pt>
    <dgm:pt modelId="{CDDD1978-37DB-47C5-BE4E-EB24E3D94638}" type="pres">
      <dgm:prSet presAssocID="{4B1940C8-5090-44E4-BE35-D52295B8CF41}" presName="spaceRect" presStyleCnt="0"/>
      <dgm:spPr/>
    </dgm:pt>
    <dgm:pt modelId="{1250B5AC-B201-41E4-9197-2C71E04494DB}" type="pres">
      <dgm:prSet presAssocID="{4B1940C8-5090-44E4-BE35-D52295B8CF41}" presName="parTx" presStyleLbl="revTx" presStyleIdx="0" presStyleCnt="2">
        <dgm:presLayoutVars>
          <dgm:chMax val="0"/>
          <dgm:chPref val="0"/>
        </dgm:presLayoutVars>
      </dgm:prSet>
      <dgm:spPr/>
    </dgm:pt>
    <dgm:pt modelId="{C84A0DDA-583D-416C-989C-1F3FBBED91A1}" type="pres">
      <dgm:prSet presAssocID="{2D3321B2-3CD0-4CC0-888F-BBCF8E43BE37}" presName="sibTrans" presStyleCnt="0"/>
      <dgm:spPr/>
    </dgm:pt>
    <dgm:pt modelId="{91D635DC-D409-4617-AC10-2918DC301DF2}" type="pres">
      <dgm:prSet presAssocID="{6EF65C2F-247B-45A8-BE7A-DC62A988FD19}" presName="compNode" presStyleCnt="0"/>
      <dgm:spPr/>
    </dgm:pt>
    <dgm:pt modelId="{A87A3A8B-7104-4488-B0F2-598C4CF5C8B1}" type="pres">
      <dgm:prSet presAssocID="{6EF65C2F-247B-45A8-BE7A-DC62A988FD19}" presName="bgRect" presStyleLbl="bgShp" presStyleIdx="1" presStyleCnt="2"/>
      <dgm:spPr/>
    </dgm:pt>
    <dgm:pt modelId="{515760FF-8A22-49B3-A8CA-6DE4B3C25CA6}" type="pres">
      <dgm:prSet presAssocID="{6EF65C2F-247B-45A8-BE7A-DC62A988FD19}"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huffle with solid fill"/>
        </a:ext>
      </dgm:extLst>
    </dgm:pt>
    <dgm:pt modelId="{9AE41458-310E-49B8-A9A4-16F887FC8681}" type="pres">
      <dgm:prSet presAssocID="{6EF65C2F-247B-45A8-BE7A-DC62A988FD19}" presName="spaceRect" presStyleCnt="0"/>
      <dgm:spPr/>
    </dgm:pt>
    <dgm:pt modelId="{FDB8E95E-9C3F-40F3-90B0-F25871E599E3}" type="pres">
      <dgm:prSet presAssocID="{6EF65C2F-247B-45A8-BE7A-DC62A988FD19}" presName="parTx" presStyleLbl="revTx" presStyleIdx="1" presStyleCnt="2">
        <dgm:presLayoutVars>
          <dgm:chMax val="0"/>
          <dgm:chPref val="0"/>
        </dgm:presLayoutVars>
      </dgm:prSet>
      <dgm:spPr/>
    </dgm:pt>
  </dgm:ptLst>
  <dgm:cxnLst>
    <dgm:cxn modelId="{953B1E23-E36C-424F-A9FC-DCB6097B03FD}" srcId="{073705D7-80E0-49BF-9C8D-714E9A6F4976}" destId="{6EF65C2F-247B-45A8-BE7A-DC62A988FD19}" srcOrd="1" destOrd="0" parTransId="{8E1121C4-F72B-441C-BD88-72E8BFDA6DFD}" sibTransId="{C438662B-8229-4264-99E3-1A9314B712FD}"/>
    <dgm:cxn modelId="{E48D326A-B439-44D0-8FED-4061229E0971}" type="presOf" srcId="{073705D7-80E0-49BF-9C8D-714E9A6F4976}" destId="{F76CAA83-5FCF-4A80-8701-C430246F6FEA}" srcOrd="0" destOrd="0" presId="urn:microsoft.com/office/officeart/2018/2/layout/IconVerticalSolidList"/>
    <dgm:cxn modelId="{4E60B572-5790-411F-930A-91B2A6047374}" type="presOf" srcId="{4B1940C8-5090-44E4-BE35-D52295B8CF41}" destId="{1250B5AC-B201-41E4-9197-2C71E04494DB}" srcOrd="0" destOrd="0" presId="urn:microsoft.com/office/officeart/2018/2/layout/IconVerticalSolidList"/>
    <dgm:cxn modelId="{545EDA91-4109-4E2B-8CBF-6DE0EDA50EC2}" srcId="{073705D7-80E0-49BF-9C8D-714E9A6F4976}" destId="{4B1940C8-5090-44E4-BE35-D52295B8CF41}" srcOrd="0" destOrd="0" parTransId="{7069A739-9BCA-41CB-8535-D3E7C78ACD9E}" sibTransId="{2D3321B2-3CD0-4CC0-888F-BBCF8E43BE37}"/>
    <dgm:cxn modelId="{A19C33E9-D99F-4674-A4CE-4A2EC7312466}" type="presOf" srcId="{6EF65C2F-247B-45A8-BE7A-DC62A988FD19}" destId="{FDB8E95E-9C3F-40F3-90B0-F25871E599E3}" srcOrd="0" destOrd="0" presId="urn:microsoft.com/office/officeart/2018/2/layout/IconVerticalSolidList"/>
    <dgm:cxn modelId="{6B0E9DF2-3172-4DFF-B5F3-D9A8EC675E6D}" type="presParOf" srcId="{F76CAA83-5FCF-4A80-8701-C430246F6FEA}" destId="{D2969973-78DA-43E3-BDF6-7756DB716CBD}" srcOrd="0" destOrd="0" presId="urn:microsoft.com/office/officeart/2018/2/layout/IconVerticalSolidList"/>
    <dgm:cxn modelId="{6916B31B-2287-47F8-A31D-735F2BA591B7}" type="presParOf" srcId="{D2969973-78DA-43E3-BDF6-7756DB716CBD}" destId="{F5A6D6E3-B054-41BA-9BA6-826F8EF81703}" srcOrd="0" destOrd="0" presId="urn:microsoft.com/office/officeart/2018/2/layout/IconVerticalSolidList"/>
    <dgm:cxn modelId="{C346C81C-C54D-44E6-9A58-157A1A7DDC4E}" type="presParOf" srcId="{D2969973-78DA-43E3-BDF6-7756DB716CBD}" destId="{761ECAB5-9F77-4813-865F-6CB00E5507E1}" srcOrd="1" destOrd="0" presId="urn:microsoft.com/office/officeart/2018/2/layout/IconVerticalSolidList"/>
    <dgm:cxn modelId="{26E8B443-418B-4EB4-A579-7B256E37C9FD}" type="presParOf" srcId="{D2969973-78DA-43E3-BDF6-7756DB716CBD}" destId="{CDDD1978-37DB-47C5-BE4E-EB24E3D94638}" srcOrd="2" destOrd="0" presId="urn:microsoft.com/office/officeart/2018/2/layout/IconVerticalSolidList"/>
    <dgm:cxn modelId="{EE3DB295-3369-421D-A9AB-11592E4E549F}" type="presParOf" srcId="{D2969973-78DA-43E3-BDF6-7756DB716CBD}" destId="{1250B5AC-B201-41E4-9197-2C71E04494DB}" srcOrd="3" destOrd="0" presId="urn:microsoft.com/office/officeart/2018/2/layout/IconVerticalSolidList"/>
    <dgm:cxn modelId="{7D7E5B97-97D6-435D-A902-2DE5D92C5AA2}" type="presParOf" srcId="{F76CAA83-5FCF-4A80-8701-C430246F6FEA}" destId="{C84A0DDA-583D-416C-989C-1F3FBBED91A1}" srcOrd="1" destOrd="0" presId="urn:microsoft.com/office/officeart/2018/2/layout/IconVerticalSolidList"/>
    <dgm:cxn modelId="{E0136614-0A79-4DA1-8B89-F5AD737ADD73}" type="presParOf" srcId="{F76CAA83-5FCF-4A80-8701-C430246F6FEA}" destId="{91D635DC-D409-4617-AC10-2918DC301DF2}" srcOrd="2" destOrd="0" presId="urn:microsoft.com/office/officeart/2018/2/layout/IconVerticalSolidList"/>
    <dgm:cxn modelId="{70282B08-B93A-4C56-87B4-C8DF68B76B77}" type="presParOf" srcId="{91D635DC-D409-4617-AC10-2918DC301DF2}" destId="{A87A3A8B-7104-4488-B0F2-598C4CF5C8B1}" srcOrd="0" destOrd="0" presId="urn:microsoft.com/office/officeart/2018/2/layout/IconVerticalSolidList"/>
    <dgm:cxn modelId="{587D7DF2-049C-4CFE-87B6-71CB53AFE0A0}" type="presParOf" srcId="{91D635DC-D409-4617-AC10-2918DC301DF2}" destId="{515760FF-8A22-49B3-A8CA-6DE4B3C25CA6}" srcOrd="1" destOrd="0" presId="urn:microsoft.com/office/officeart/2018/2/layout/IconVerticalSolidList"/>
    <dgm:cxn modelId="{21E323C1-14F5-4BC2-98B5-F7676CC53884}" type="presParOf" srcId="{91D635DC-D409-4617-AC10-2918DC301DF2}" destId="{9AE41458-310E-49B8-A9A4-16F887FC8681}" srcOrd="2" destOrd="0" presId="urn:microsoft.com/office/officeart/2018/2/layout/IconVerticalSolidList"/>
    <dgm:cxn modelId="{D87FDF70-ABAA-476C-8A5C-6EB86000E368}" type="presParOf" srcId="{91D635DC-D409-4617-AC10-2918DC301DF2}" destId="{FDB8E95E-9C3F-40F3-90B0-F25871E599E3}"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6D6E3-B054-41BA-9BA6-826F8EF81703}">
      <dsp:nvSpPr>
        <dsp:cNvPr id="0" name=""/>
        <dsp:cNvSpPr/>
      </dsp:nvSpPr>
      <dsp:spPr>
        <a:xfrm>
          <a:off x="0" y="714022"/>
          <a:ext cx="6842935" cy="13181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1ECAB5-9F77-4813-865F-6CB00E5507E1}">
      <dsp:nvSpPr>
        <dsp:cNvPr id="0" name=""/>
        <dsp:cNvSpPr/>
      </dsp:nvSpPr>
      <dsp:spPr>
        <a:xfrm>
          <a:off x="398753" y="1010615"/>
          <a:ext cx="725007" cy="7250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50B5AC-B201-41E4-9197-2C71E04494DB}">
      <dsp:nvSpPr>
        <dsp:cNvPr id="0" name=""/>
        <dsp:cNvSpPr/>
      </dsp:nvSpPr>
      <dsp:spPr>
        <a:xfrm>
          <a:off x="1522514" y="714022"/>
          <a:ext cx="5320420" cy="1318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509" tIns="139509" rIns="139509" bIns="139509" numCol="1" spcCol="1270" anchor="ctr" anchorCtr="0">
          <a:noAutofit/>
        </a:bodyPr>
        <a:lstStyle/>
        <a:p>
          <a:pPr marL="0" lvl="0" indent="0" algn="l" defTabSz="889000">
            <a:lnSpc>
              <a:spcPct val="100000"/>
            </a:lnSpc>
            <a:spcBef>
              <a:spcPct val="0"/>
            </a:spcBef>
            <a:spcAft>
              <a:spcPct val="35000"/>
            </a:spcAft>
            <a:buNone/>
          </a:pPr>
          <a:r>
            <a:rPr lang="en-US" sz="2000" kern="1200" dirty="0"/>
            <a:t>All music apps have the basic functions (</a:t>
          </a:r>
          <a:r>
            <a:rPr lang="en-US" sz="2000" b="1" kern="1200" dirty="0"/>
            <a:t>play/pause, forward/previous, shuffle</a:t>
          </a:r>
          <a:r>
            <a:rPr lang="en-US" sz="2000" kern="1200" dirty="0"/>
            <a:t>)</a:t>
          </a:r>
        </a:p>
      </dsp:txBody>
      <dsp:txXfrm>
        <a:off x="1522514" y="714022"/>
        <a:ext cx="5320420" cy="1318194"/>
      </dsp:txXfrm>
    </dsp:sp>
    <dsp:sp modelId="{A87A3A8B-7104-4488-B0F2-598C4CF5C8B1}">
      <dsp:nvSpPr>
        <dsp:cNvPr id="0" name=""/>
        <dsp:cNvSpPr/>
      </dsp:nvSpPr>
      <dsp:spPr>
        <a:xfrm>
          <a:off x="0" y="2361765"/>
          <a:ext cx="6842935" cy="131819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5760FF-8A22-49B3-A8CA-6DE4B3C25CA6}">
      <dsp:nvSpPr>
        <dsp:cNvPr id="0" name=""/>
        <dsp:cNvSpPr/>
      </dsp:nvSpPr>
      <dsp:spPr>
        <a:xfrm>
          <a:off x="398753" y="2658359"/>
          <a:ext cx="725007" cy="72500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B8E95E-9C3F-40F3-90B0-F25871E599E3}">
      <dsp:nvSpPr>
        <dsp:cNvPr id="0" name=""/>
        <dsp:cNvSpPr/>
      </dsp:nvSpPr>
      <dsp:spPr>
        <a:xfrm>
          <a:off x="1522514" y="2361765"/>
          <a:ext cx="5320420" cy="13181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509" tIns="139509" rIns="139509" bIns="139509" numCol="1" spcCol="1270" anchor="ctr" anchorCtr="0">
          <a:noAutofit/>
        </a:bodyPr>
        <a:lstStyle/>
        <a:p>
          <a:pPr marL="0" lvl="0" indent="0" algn="l" defTabSz="889000">
            <a:lnSpc>
              <a:spcPct val="100000"/>
            </a:lnSpc>
            <a:spcBef>
              <a:spcPct val="0"/>
            </a:spcBef>
            <a:spcAft>
              <a:spcPct val="35000"/>
            </a:spcAft>
            <a:buNone/>
          </a:pPr>
          <a:r>
            <a:rPr lang="en-US" sz="2000" kern="1200" dirty="0"/>
            <a:t>Even after coming back on the app after a long period of time, it is very common-sense and straightforward to know what these buttons do.</a:t>
          </a:r>
        </a:p>
      </dsp:txBody>
      <dsp:txXfrm>
        <a:off x="1522514" y="2361765"/>
        <a:ext cx="5320420" cy="131819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DD13A-2B0B-5D43-B14B-A3E3D8D1E454}" type="datetimeFigureOut">
              <a:rPr lang="en-US" smtClean="0"/>
              <a:t>5/21/2021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F96110-E673-4B43-80A3-A733A8918EC3}" type="slidenum">
              <a:rPr lang="en-US" smtClean="0"/>
              <a:t>‹#›</a:t>
            </a:fld>
            <a:endParaRPr lang="en-US" dirty="0"/>
          </a:p>
        </p:txBody>
      </p:sp>
    </p:spTree>
    <p:extLst>
      <p:ext uri="{BB962C8B-B14F-4D97-AF65-F5344CB8AC3E}">
        <p14:creationId xmlns:p14="http://schemas.microsoft.com/office/powerpoint/2010/main" val="692996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5048880A-75DD-4838-AFBC-E75FBE476E55}" type="slidenum">
              <a:rPr lang="en-SG" smtClean="0"/>
              <a:t>4</a:t>
            </a:fld>
            <a:endParaRPr lang="en-SG" dirty="0"/>
          </a:p>
        </p:txBody>
      </p:sp>
    </p:spTree>
    <p:extLst>
      <p:ext uri="{BB962C8B-B14F-4D97-AF65-F5344CB8AC3E}">
        <p14:creationId xmlns:p14="http://schemas.microsoft.com/office/powerpoint/2010/main" val="192330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You</a:t>
            </a:r>
            <a:r>
              <a:rPr lang="en-SG" baseline="0" dirty="0"/>
              <a:t> are not limited to only 1 slide, you may add more if task requires more steps,</a:t>
            </a:r>
            <a:endParaRPr lang="en-SG" dirty="0"/>
          </a:p>
          <a:p>
            <a:endParaRPr lang="en-SG" dirty="0"/>
          </a:p>
          <a:p>
            <a:r>
              <a:rPr lang="en-SG" dirty="0"/>
              <a:t>----------------------------</a:t>
            </a:r>
          </a:p>
          <a:p>
            <a:r>
              <a:rPr lang="en-SG" dirty="0"/>
              <a:t>More info</a:t>
            </a:r>
            <a:r>
              <a:rPr lang="en-SG" baseline="0" dirty="0"/>
              <a:t> on </a:t>
            </a:r>
            <a:r>
              <a:rPr lang="en-SG" dirty="0"/>
              <a:t>Channels:</a:t>
            </a:r>
          </a:p>
          <a:p>
            <a:r>
              <a:rPr lang="en-SG" dirty="0"/>
              <a:t>-----------------------------</a:t>
            </a:r>
          </a:p>
          <a:p>
            <a:endParaRPr lang="en-SG" dirty="0"/>
          </a:p>
          <a:p>
            <a:r>
              <a:rPr lang="en-SG" dirty="0"/>
              <a:t>Channels are the means of interaction between a customer and an organization. Interaction can take place in a website, native app, social media platform (eg. facebook, Instagram) call center, in-store ... etc</a:t>
            </a:r>
          </a:p>
          <a:p>
            <a:endParaRPr lang="en-SG" dirty="0"/>
          </a:p>
          <a:p>
            <a:endParaRPr lang="en-SG" dirty="0"/>
          </a:p>
        </p:txBody>
      </p:sp>
      <p:sp>
        <p:nvSpPr>
          <p:cNvPr id="4" name="Slide Number Placeholder 3"/>
          <p:cNvSpPr>
            <a:spLocks noGrp="1"/>
          </p:cNvSpPr>
          <p:nvPr>
            <p:ph type="sldNum" sz="quarter" idx="10"/>
          </p:nvPr>
        </p:nvSpPr>
        <p:spPr/>
        <p:txBody>
          <a:bodyPr/>
          <a:lstStyle/>
          <a:p>
            <a:fld id="{5048880A-75DD-4838-AFBC-E75FBE476E55}" type="slidenum">
              <a:rPr lang="en-SG" smtClean="0"/>
              <a:t>5</a:t>
            </a:fld>
            <a:endParaRPr lang="en-SG" dirty="0"/>
          </a:p>
        </p:txBody>
      </p:sp>
    </p:spTree>
    <p:extLst>
      <p:ext uri="{BB962C8B-B14F-4D97-AF65-F5344CB8AC3E}">
        <p14:creationId xmlns:p14="http://schemas.microsoft.com/office/powerpoint/2010/main" val="1796469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3F96110-E673-4B43-80A3-A733A8918EC3}" type="slidenum">
              <a:rPr lang="en-US" smtClean="0"/>
              <a:t>6</a:t>
            </a:fld>
            <a:endParaRPr lang="en-US" dirty="0"/>
          </a:p>
        </p:txBody>
      </p:sp>
    </p:spTree>
    <p:extLst>
      <p:ext uri="{BB962C8B-B14F-4D97-AF65-F5344CB8AC3E}">
        <p14:creationId xmlns:p14="http://schemas.microsoft.com/office/powerpoint/2010/main" val="1007346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63F96110-E673-4B43-80A3-A733A8918EC3}" type="slidenum">
              <a:rPr lang="en-US" smtClean="0"/>
              <a:t>8</a:t>
            </a:fld>
            <a:endParaRPr lang="en-US" dirty="0"/>
          </a:p>
        </p:txBody>
      </p:sp>
    </p:spTree>
    <p:extLst>
      <p:ext uri="{BB962C8B-B14F-4D97-AF65-F5344CB8AC3E}">
        <p14:creationId xmlns:p14="http://schemas.microsoft.com/office/powerpoint/2010/main" val="40779269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1997862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14396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1448328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323557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598745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2408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182061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1773807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1014328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1097371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6F6254-00DC-CC44-BEDD-78F80580B7C3}" type="datetimeFigureOut">
              <a:rPr lang="en-US" smtClean="0"/>
              <a:t>5/21/2021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696F101-0D89-7745-963F-31D9D6B80049}" type="slidenum">
              <a:rPr lang="en-US" smtClean="0"/>
              <a:t>‹#›</a:t>
            </a:fld>
            <a:endParaRPr lang="en-US" dirty="0"/>
          </a:p>
        </p:txBody>
      </p:sp>
    </p:spTree>
    <p:extLst>
      <p:ext uri="{BB962C8B-B14F-4D97-AF65-F5344CB8AC3E}">
        <p14:creationId xmlns:p14="http://schemas.microsoft.com/office/powerpoint/2010/main" val="939223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8" name="Rectangle 7"/>
          <p:cNvSpPr/>
          <p:nvPr userDrawn="1"/>
        </p:nvSpPr>
        <p:spPr>
          <a:xfrm>
            <a:off x="0" y="0"/>
            <a:ext cx="4114800" cy="7079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p:cNvSpPr txBox="1"/>
          <p:nvPr userDrawn="1"/>
        </p:nvSpPr>
        <p:spPr>
          <a:xfrm>
            <a:off x="339215" y="166091"/>
            <a:ext cx="3701845" cy="461665"/>
          </a:xfrm>
          <a:prstGeom prst="rect">
            <a:avLst/>
          </a:prstGeom>
          <a:noFill/>
        </p:spPr>
        <p:txBody>
          <a:bodyPr wrap="square" rtlCol="0">
            <a:spAutoFit/>
          </a:bodyPr>
          <a:lstStyle/>
          <a:p>
            <a:r>
              <a:rPr lang="en-US" sz="2400" b="1" dirty="0">
                <a:solidFill>
                  <a:schemeClr val="bg1"/>
                </a:solidFill>
              </a:rPr>
              <a:t>User Journey </a:t>
            </a:r>
            <a:r>
              <a:rPr lang="en-US" sz="2400" b="0" dirty="0">
                <a:solidFill>
                  <a:schemeClr val="bg1"/>
                </a:solidFill>
              </a:rPr>
              <a:t>Mapping Tool</a:t>
            </a:r>
            <a:endParaRPr lang="en-SG" sz="2400" b="0" dirty="0">
              <a:solidFill>
                <a:schemeClr val="bg1"/>
              </a:solidFill>
            </a:endParaRPr>
          </a:p>
        </p:txBody>
      </p:sp>
      <p:sp>
        <p:nvSpPr>
          <p:cNvPr id="57" name="TextBox 56"/>
          <p:cNvSpPr txBox="1"/>
          <p:nvPr userDrawn="1"/>
        </p:nvSpPr>
        <p:spPr>
          <a:xfrm>
            <a:off x="339215" y="892622"/>
            <a:ext cx="3701845" cy="2246769"/>
          </a:xfrm>
          <a:prstGeom prst="rect">
            <a:avLst/>
          </a:prstGeom>
          <a:noFill/>
        </p:spPr>
        <p:txBody>
          <a:bodyPr wrap="square" rtlCol="0">
            <a:spAutoFit/>
          </a:bodyPr>
          <a:lstStyle/>
          <a:p>
            <a:pPr algn="just"/>
            <a:r>
              <a:rPr lang="en-SG" sz="1400" dirty="0">
                <a:solidFill>
                  <a:schemeClr val="bg2">
                    <a:lumMod val="50000"/>
                  </a:schemeClr>
                </a:solidFill>
              </a:rPr>
              <a:t>Use this tool, to better understand the user’s journey</a:t>
            </a:r>
            <a:r>
              <a:rPr lang="en-SG" sz="1400" baseline="0" dirty="0">
                <a:solidFill>
                  <a:schemeClr val="bg2">
                    <a:lumMod val="50000"/>
                  </a:schemeClr>
                </a:solidFill>
              </a:rPr>
              <a:t> and pain points</a:t>
            </a:r>
            <a:r>
              <a:rPr lang="en-SG" sz="1400" dirty="0">
                <a:solidFill>
                  <a:schemeClr val="bg2">
                    <a:lumMod val="50000"/>
                  </a:schemeClr>
                </a:solidFill>
              </a:rPr>
              <a:t>, and identify opportunities for improvement use.</a:t>
            </a:r>
          </a:p>
          <a:p>
            <a:pPr algn="just"/>
            <a:endParaRPr lang="en-SG" sz="1400" dirty="0"/>
          </a:p>
          <a:p>
            <a:pPr algn="just"/>
            <a:r>
              <a:rPr lang="en-SG" sz="1400" dirty="0">
                <a:solidFill>
                  <a:schemeClr val="bg2">
                    <a:lumMod val="50000"/>
                  </a:schemeClr>
                </a:solidFill>
              </a:rPr>
              <a:t>You may want to critique an existing Mobile App </a:t>
            </a:r>
            <a:br>
              <a:rPr lang="en-SG" sz="1400" dirty="0">
                <a:solidFill>
                  <a:schemeClr val="bg2">
                    <a:lumMod val="50000"/>
                  </a:schemeClr>
                </a:solidFill>
              </a:rPr>
            </a:br>
            <a:r>
              <a:rPr lang="en-SG" sz="1400" dirty="0">
                <a:solidFill>
                  <a:srgbClr val="0070C0"/>
                </a:solidFill>
              </a:rPr>
              <a:t>[ using the Principles of Usability &gt; </a:t>
            </a:r>
            <a:r>
              <a:rPr lang="en-SG" sz="1400" b="1" dirty="0">
                <a:solidFill>
                  <a:srgbClr val="0070C0"/>
                </a:solidFill>
              </a:rPr>
              <a:t>L.E.M.E.S</a:t>
            </a:r>
            <a:r>
              <a:rPr lang="en-SG" sz="1400" dirty="0">
                <a:solidFill>
                  <a:srgbClr val="0070C0"/>
                </a:solidFill>
              </a:rPr>
              <a:t> ] </a:t>
            </a:r>
            <a:r>
              <a:rPr lang="en-SG" sz="1400" dirty="0">
                <a:solidFill>
                  <a:schemeClr val="bg2">
                    <a:lumMod val="50000"/>
                  </a:schemeClr>
                </a:solidFill>
              </a:rPr>
              <a:t>with a view to improve the user experience, or to design a new feature/service by creating the ideal user journey step by step.</a:t>
            </a:r>
          </a:p>
          <a:p>
            <a:pPr algn="just"/>
            <a:endParaRPr lang="en-SG" sz="1400" dirty="0">
              <a:solidFill>
                <a:schemeClr val="bg2">
                  <a:lumMod val="50000"/>
                </a:schemeClr>
              </a:solidFill>
            </a:endParaRPr>
          </a:p>
        </p:txBody>
      </p:sp>
      <p:sp>
        <p:nvSpPr>
          <p:cNvPr id="58" name="TextBox 57"/>
          <p:cNvSpPr txBox="1"/>
          <p:nvPr userDrawn="1"/>
        </p:nvSpPr>
        <p:spPr>
          <a:xfrm>
            <a:off x="1912457" y="3744075"/>
            <a:ext cx="2128603" cy="1200329"/>
          </a:xfrm>
          <a:prstGeom prst="rect">
            <a:avLst/>
          </a:prstGeom>
          <a:noFill/>
        </p:spPr>
        <p:txBody>
          <a:bodyPr wrap="square" rtlCol="0">
            <a:spAutoFit/>
          </a:bodyPr>
          <a:lstStyle/>
          <a:p>
            <a:pPr algn="r"/>
            <a:r>
              <a:rPr lang="en-SG" sz="1600" b="1" dirty="0">
                <a:solidFill>
                  <a:srgbClr val="0070C0"/>
                </a:solidFill>
              </a:rPr>
              <a:t>* TIP</a:t>
            </a:r>
          </a:p>
          <a:p>
            <a:pPr algn="r"/>
            <a:r>
              <a:rPr lang="en-US" sz="1400" b="1" dirty="0">
                <a:solidFill>
                  <a:srgbClr val="0070C0"/>
                </a:solidFill>
              </a:rPr>
              <a:t>Talk to users</a:t>
            </a:r>
            <a:r>
              <a:rPr lang="en-SG" sz="1400" b="1" dirty="0">
                <a:solidFill>
                  <a:srgbClr val="0070C0"/>
                </a:solidFill>
              </a:rPr>
              <a:t> </a:t>
            </a:r>
            <a:r>
              <a:rPr lang="en-SG" sz="1400" dirty="0">
                <a:solidFill>
                  <a:schemeClr val="bg2">
                    <a:lumMod val="50000"/>
                  </a:schemeClr>
                </a:solidFill>
              </a:rPr>
              <a:t>to discover their journey, experiences and pain points.</a:t>
            </a:r>
          </a:p>
          <a:p>
            <a:pPr algn="r"/>
            <a:endParaRPr lang="en-US" sz="1400" dirty="0">
              <a:solidFill>
                <a:srgbClr val="0070C0"/>
              </a:solidFill>
            </a:endParaRPr>
          </a:p>
        </p:txBody>
      </p:sp>
      <p:sp>
        <p:nvSpPr>
          <p:cNvPr id="63" name="Rectangle 62"/>
          <p:cNvSpPr/>
          <p:nvPr userDrawn="1"/>
        </p:nvSpPr>
        <p:spPr>
          <a:xfrm>
            <a:off x="4245984" y="-1"/>
            <a:ext cx="2005784" cy="70792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4" name="TextBox 73"/>
          <p:cNvSpPr txBox="1"/>
          <p:nvPr userDrawn="1"/>
        </p:nvSpPr>
        <p:spPr>
          <a:xfrm>
            <a:off x="4386096" y="212936"/>
            <a:ext cx="1729085" cy="369332"/>
          </a:xfrm>
          <a:prstGeom prst="rect">
            <a:avLst/>
          </a:prstGeom>
          <a:noFill/>
        </p:spPr>
        <p:txBody>
          <a:bodyPr wrap="square" rtlCol="0">
            <a:spAutoFit/>
          </a:bodyPr>
          <a:lstStyle/>
          <a:p>
            <a:pPr algn="ctr"/>
            <a:r>
              <a:rPr lang="en-US" sz="1800" b="0" dirty="0">
                <a:solidFill>
                  <a:schemeClr val="bg1"/>
                </a:solidFill>
              </a:rPr>
              <a:t>Journey </a:t>
            </a:r>
            <a:r>
              <a:rPr lang="en-US" sz="1800" b="1" dirty="0">
                <a:solidFill>
                  <a:schemeClr val="bg1"/>
                </a:solidFill>
              </a:rPr>
              <a:t>Type</a:t>
            </a:r>
            <a:endParaRPr lang="en-SG" sz="1800" b="0" dirty="0">
              <a:solidFill>
                <a:schemeClr val="bg1"/>
              </a:solidFill>
            </a:endParaRPr>
          </a:p>
        </p:txBody>
      </p:sp>
      <p:sp>
        <p:nvSpPr>
          <p:cNvPr id="76" name="Rectangle 75"/>
          <p:cNvSpPr/>
          <p:nvPr userDrawn="1"/>
        </p:nvSpPr>
        <p:spPr>
          <a:xfrm>
            <a:off x="4245984" y="766914"/>
            <a:ext cx="2005784" cy="382311"/>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8" name="Rectangle 77"/>
          <p:cNvSpPr/>
          <p:nvPr userDrawn="1"/>
        </p:nvSpPr>
        <p:spPr>
          <a:xfrm>
            <a:off x="6369760" y="-2"/>
            <a:ext cx="2625204" cy="70792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9" name="Rectangle 78"/>
          <p:cNvSpPr/>
          <p:nvPr userDrawn="1"/>
        </p:nvSpPr>
        <p:spPr>
          <a:xfrm>
            <a:off x="6369760" y="766914"/>
            <a:ext cx="2625204" cy="382311"/>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7" name="Rectangle 86"/>
          <p:cNvSpPr/>
          <p:nvPr userDrawn="1"/>
        </p:nvSpPr>
        <p:spPr>
          <a:xfrm>
            <a:off x="4245984" y="1208217"/>
            <a:ext cx="2005784" cy="177095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8" name="Rectangle 87"/>
          <p:cNvSpPr/>
          <p:nvPr userDrawn="1"/>
        </p:nvSpPr>
        <p:spPr>
          <a:xfrm>
            <a:off x="4245984" y="3038167"/>
            <a:ext cx="2005784" cy="91440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9" name="Rectangle 88"/>
          <p:cNvSpPr/>
          <p:nvPr userDrawn="1"/>
        </p:nvSpPr>
        <p:spPr>
          <a:xfrm>
            <a:off x="4245984" y="4011562"/>
            <a:ext cx="2005784" cy="69317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0" name="Rectangle 89"/>
          <p:cNvSpPr/>
          <p:nvPr userDrawn="1"/>
        </p:nvSpPr>
        <p:spPr>
          <a:xfrm>
            <a:off x="4245984" y="4763728"/>
            <a:ext cx="2005784" cy="209427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1" name="Rectangle 90"/>
          <p:cNvSpPr/>
          <p:nvPr userDrawn="1"/>
        </p:nvSpPr>
        <p:spPr>
          <a:xfrm>
            <a:off x="6369760" y="1208217"/>
            <a:ext cx="2625204" cy="17709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2" name="Rectangle 91"/>
          <p:cNvSpPr/>
          <p:nvPr userDrawn="1"/>
        </p:nvSpPr>
        <p:spPr>
          <a:xfrm>
            <a:off x="6369760" y="3038167"/>
            <a:ext cx="2625204" cy="91440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3" name="Rectangle 92"/>
          <p:cNvSpPr/>
          <p:nvPr userDrawn="1"/>
        </p:nvSpPr>
        <p:spPr>
          <a:xfrm>
            <a:off x="6369760" y="4011562"/>
            <a:ext cx="2625204" cy="6931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4" name="Rectangle 93"/>
          <p:cNvSpPr/>
          <p:nvPr userDrawn="1"/>
        </p:nvSpPr>
        <p:spPr>
          <a:xfrm>
            <a:off x="6369760" y="4763728"/>
            <a:ext cx="2625204" cy="209427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 name="Rectangle 3"/>
          <p:cNvSpPr/>
          <p:nvPr userDrawn="1"/>
        </p:nvSpPr>
        <p:spPr>
          <a:xfrm>
            <a:off x="4701340" y="1239147"/>
            <a:ext cx="1413841" cy="861774"/>
          </a:xfrm>
          <a:prstGeom prst="rect">
            <a:avLst/>
          </a:prstGeom>
        </p:spPr>
        <p:txBody>
          <a:bodyPr wrap="square">
            <a:spAutoFit/>
          </a:bodyPr>
          <a:lstStyle/>
          <a:p>
            <a:pPr algn="r"/>
            <a:r>
              <a:rPr lang="en-SG" sz="1000" b="1" dirty="0"/>
              <a:t>What is the user </a:t>
            </a:r>
            <a:br>
              <a:rPr lang="en-SG" sz="1000" b="1" dirty="0"/>
            </a:br>
            <a:r>
              <a:rPr lang="en-SG" sz="1000" b="1" dirty="0"/>
              <a:t>trying to do? </a:t>
            </a:r>
            <a:br>
              <a:rPr lang="en-SG" sz="1000" b="1" dirty="0"/>
            </a:br>
            <a:br>
              <a:rPr lang="en-SG" sz="1000" b="1" dirty="0"/>
            </a:br>
            <a:r>
              <a:rPr lang="en-SG" sz="1000" dirty="0"/>
              <a:t>[Describe the action the user is performing]</a:t>
            </a:r>
          </a:p>
        </p:txBody>
      </p:sp>
      <p:sp>
        <p:nvSpPr>
          <p:cNvPr id="101" name="Rectangle 100"/>
          <p:cNvSpPr/>
          <p:nvPr userDrawn="1"/>
        </p:nvSpPr>
        <p:spPr>
          <a:xfrm>
            <a:off x="4268800" y="3139391"/>
            <a:ext cx="1869197" cy="707886"/>
          </a:xfrm>
          <a:prstGeom prst="rect">
            <a:avLst/>
          </a:prstGeom>
        </p:spPr>
        <p:txBody>
          <a:bodyPr wrap="square">
            <a:spAutoFit/>
          </a:bodyPr>
          <a:lstStyle/>
          <a:p>
            <a:pPr algn="r"/>
            <a:r>
              <a:rPr lang="en-SG" sz="1000" b="1" dirty="0"/>
              <a:t>Which of the needs state </a:t>
            </a:r>
            <a:br>
              <a:rPr lang="en-SG" sz="1000" b="1" dirty="0"/>
            </a:br>
            <a:r>
              <a:rPr lang="en-SG" sz="1000" b="1" dirty="0"/>
              <a:t>does this</a:t>
            </a:r>
            <a:r>
              <a:rPr lang="en-SG" sz="1000" b="1" baseline="0" dirty="0"/>
              <a:t> </a:t>
            </a:r>
            <a:r>
              <a:rPr lang="en-SG" sz="1000" b="1" dirty="0"/>
              <a:t>step relate to?</a:t>
            </a:r>
            <a:br>
              <a:rPr lang="en-SG" sz="1000" b="1" dirty="0"/>
            </a:br>
            <a:endParaRPr lang="en-SG" sz="1000" b="1" dirty="0"/>
          </a:p>
          <a:p>
            <a:pPr algn="r"/>
            <a:r>
              <a:rPr lang="en-SG" sz="1000" dirty="0"/>
              <a:t>[You can choose more than one]</a:t>
            </a:r>
          </a:p>
        </p:txBody>
      </p:sp>
      <p:sp>
        <p:nvSpPr>
          <p:cNvPr id="102" name="Rectangle 101"/>
          <p:cNvSpPr/>
          <p:nvPr userDrawn="1"/>
        </p:nvSpPr>
        <p:spPr>
          <a:xfrm>
            <a:off x="4571831" y="4076079"/>
            <a:ext cx="1541203" cy="400110"/>
          </a:xfrm>
          <a:prstGeom prst="rect">
            <a:avLst/>
          </a:prstGeom>
        </p:spPr>
        <p:txBody>
          <a:bodyPr wrap="square">
            <a:spAutoFit/>
          </a:bodyPr>
          <a:lstStyle/>
          <a:p>
            <a:pPr algn="r"/>
            <a:r>
              <a:rPr lang="en-SG" sz="1000" b="1" dirty="0"/>
              <a:t>What channel is the user using</a:t>
            </a:r>
            <a:r>
              <a:rPr lang="en-SG" sz="1000" b="1" baseline="0" dirty="0"/>
              <a:t> </a:t>
            </a:r>
            <a:r>
              <a:rPr lang="en-SG" sz="1000" b="1" dirty="0"/>
              <a:t>in this step?</a:t>
            </a:r>
          </a:p>
        </p:txBody>
      </p:sp>
      <p:sp>
        <p:nvSpPr>
          <p:cNvPr id="103" name="Rectangle 102"/>
          <p:cNvSpPr/>
          <p:nvPr userDrawn="1"/>
        </p:nvSpPr>
        <p:spPr>
          <a:xfrm>
            <a:off x="4495334" y="4852972"/>
            <a:ext cx="1617700" cy="400110"/>
          </a:xfrm>
          <a:prstGeom prst="rect">
            <a:avLst/>
          </a:prstGeom>
        </p:spPr>
        <p:txBody>
          <a:bodyPr wrap="square">
            <a:spAutoFit/>
          </a:bodyPr>
          <a:lstStyle/>
          <a:p>
            <a:pPr algn="r"/>
            <a:r>
              <a:rPr lang="en-SG" sz="1000" b="1" dirty="0"/>
              <a:t>What is causing user pain in this</a:t>
            </a:r>
            <a:r>
              <a:rPr lang="en-SG" sz="1000" b="1" baseline="0" dirty="0"/>
              <a:t> </a:t>
            </a:r>
            <a:r>
              <a:rPr lang="en-SG" sz="1000" b="1" dirty="0"/>
              <a:t>part of the journey?</a:t>
            </a:r>
          </a:p>
        </p:txBody>
      </p:sp>
      <p:grpSp>
        <p:nvGrpSpPr>
          <p:cNvPr id="6" name="Group 5"/>
          <p:cNvGrpSpPr/>
          <p:nvPr userDrawn="1"/>
        </p:nvGrpSpPr>
        <p:grpSpPr>
          <a:xfrm>
            <a:off x="6615864" y="38488"/>
            <a:ext cx="2275358" cy="630942"/>
            <a:chOff x="7000874" y="38488"/>
            <a:chExt cx="2275358" cy="630942"/>
          </a:xfrm>
        </p:grpSpPr>
        <p:sp>
          <p:nvSpPr>
            <p:cNvPr id="5" name="Oval 4"/>
            <p:cNvSpPr/>
            <p:nvPr userDrawn="1"/>
          </p:nvSpPr>
          <p:spPr>
            <a:xfrm>
              <a:off x="7000874" y="89111"/>
              <a:ext cx="123825" cy="1238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5" name="Rectangle 104"/>
            <p:cNvSpPr/>
            <p:nvPr userDrawn="1"/>
          </p:nvSpPr>
          <p:spPr>
            <a:xfrm>
              <a:off x="7123666" y="38488"/>
              <a:ext cx="2152566" cy="630942"/>
            </a:xfrm>
            <a:prstGeom prst="rect">
              <a:avLst/>
            </a:prstGeom>
          </p:spPr>
          <p:txBody>
            <a:bodyPr wrap="square">
              <a:spAutoFit/>
            </a:bodyPr>
            <a:lstStyle/>
            <a:p>
              <a:pPr>
                <a:spcBef>
                  <a:spcPts val="300"/>
                </a:spcBef>
              </a:pPr>
              <a:r>
                <a:rPr lang="en-SG" sz="1000" dirty="0">
                  <a:solidFill>
                    <a:schemeClr val="bg1"/>
                  </a:solidFill>
                </a:rPr>
                <a:t>INFORMATION</a:t>
              </a:r>
            </a:p>
            <a:p>
              <a:pPr>
                <a:spcBef>
                  <a:spcPts val="300"/>
                </a:spcBef>
              </a:pPr>
              <a:r>
                <a:rPr lang="en-US" sz="1000" dirty="0">
                  <a:solidFill>
                    <a:schemeClr val="bg1"/>
                  </a:solidFill>
                </a:rPr>
                <a:t>INTERACTION</a:t>
              </a:r>
            </a:p>
            <a:p>
              <a:pPr>
                <a:spcBef>
                  <a:spcPts val="300"/>
                </a:spcBef>
              </a:pPr>
              <a:r>
                <a:rPr lang="en-US" sz="1000" dirty="0">
                  <a:solidFill>
                    <a:schemeClr val="bg1"/>
                  </a:solidFill>
                </a:rPr>
                <a:t>INFORMATION</a:t>
              </a:r>
              <a:r>
                <a:rPr lang="en-US" sz="1000" baseline="0" dirty="0">
                  <a:solidFill>
                    <a:schemeClr val="bg1"/>
                  </a:solidFill>
                </a:rPr>
                <a:t> &amp; INTERACTION</a:t>
              </a:r>
              <a:endParaRPr lang="en-SG" sz="1000" dirty="0">
                <a:solidFill>
                  <a:schemeClr val="bg1"/>
                </a:solidFill>
              </a:endParaRPr>
            </a:p>
          </p:txBody>
        </p:sp>
        <p:sp>
          <p:nvSpPr>
            <p:cNvPr id="106" name="Oval 105"/>
            <p:cNvSpPr/>
            <p:nvPr userDrawn="1"/>
          </p:nvSpPr>
          <p:spPr>
            <a:xfrm>
              <a:off x="7004300" y="273098"/>
              <a:ext cx="123825" cy="1238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7" name="Oval 106"/>
            <p:cNvSpPr/>
            <p:nvPr userDrawn="1"/>
          </p:nvSpPr>
          <p:spPr>
            <a:xfrm>
              <a:off x="7004299" y="471264"/>
              <a:ext cx="123825" cy="1238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10" name="Rectangle 9"/>
          <p:cNvSpPr/>
          <p:nvPr userDrawn="1"/>
        </p:nvSpPr>
        <p:spPr>
          <a:xfrm>
            <a:off x="6391881" y="819569"/>
            <a:ext cx="703305" cy="276999"/>
          </a:xfrm>
          <a:prstGeom prst="rect">
            <a:avLst/>
          </a:prstGeom>
        </p:spPr>
        <p:txBody>
          <a:bodyPr wrap="square">
            <a:spAutoFit/>
          </a:bodyPr>
          <a:lstStyle/>
          <a:p>
            <a:pPr>
              <a:spcBef>
                <a:spcPts val="300"/>
              </a:spcBef>
            </a:pPr>
            <a:r>
              <a:rPr lang="en-US" sz="1200" dirty="0">
                <a:solidFill>
                  <a:schemeClr val="bg1"/>
                </a:solidFill>
              </a:rPr>
              <a:t>STEP</a:t>
            </a:r>
            <a:endParaRPr lang="en-SG" sz="1200" dirty="0">
              <a:solidFill>
                <a:schemeClr val="bg1"/>
              </a:solidFill>
            </a:endParaRPr>
          </a:p>
        </p:txBody>
      </p:sp>
      <p:sp>
        <p:nvSpPr>
          <p:cNvPr id="108" name="Rectangle 107"/>
          <p:cNvSpPr/>
          <p:nvPr userDrawn="1"/>
        </p:nvSpPr>
        <p:spPr>
          <a:xfrm>
            <a:off x="6391881" y="1223759"/>
            <a:ext cx="2430483" cy="553998"/>
          </a:xfrm>
          <a:prstGeom prst="rect">
            <a:avLst/>
          </a:prstGeom>
        </p:spPr>
        <p:txBody>
          <a:bodyPr wrap="square">
            <a:spAutoFit/>
          </a:bodyPr>
          <a:lstStyle/>
          <a:p>
            <a:pPr>
              <a:spcBef>
                <a:spcPts val="300"/>
              </a:spcBef>
            </a:pPr>
            <a:r>
              <a:rPr lang="en-US" sz="1200" dirty="0">
                <a:solidFill>
                  <a:schemeClr val="bg2">
                    <a:lumMod val="25000"/>
                  </a:schemeClr>
                </a:solidFill>
              </a:rPr>
              <a:t>USER JOURNEY</a:t>
            </a:r>
          </a:p>
          <a:p>
            <a:pPr>
              <a:spcBef>
                <a:spcPts val="0"/>
              </a:spcBef>
            </a:pPr>
            <a:r>
              <a:rPr lang="en-US" sz="900" i="1" dirty="0">
                <a:solidFill>
                  <a:schemeClr val="bg2">
                    <a:lumMod val="25000"/>
                  </a:schemeClr>
                </a:solidFill>
              </a:rPr>
              <a:t>Eg. </a:t>
            </a:r>
            <a:r>
              <a:rPr lang="en-SG" sz="900" i="1" dirty="0">
                <a:solidFill>
                  <a:schemeClr val="bg2">
                    <a:lumMod val="25000"/>
                  </a:schemeClr>
                </a:solidFill>
              </a:rPr>
              <a:t>Roger is reading information on the </a:t>
            </a:r>
          </a:p>
          <a:p>
            <a:pPr>
              <a:spcBef>
                <a:spcPts val="0"/>
              </a:spcBef>
            </a:pPr>
            <a:r>
              <a:rPr lang="en-SG" sz="900" i="1" dirty="0">
                <a:solidFill>
                  <a:schemeClr val="bg2">
                    <a:lumMod val="25000"/>
                  </a:schemeClr>
                </a:solidFill>
              </a:rPr>
              <a:t>Website</a:t>
            </a:r>
            <a:r>
              <a:rPr lang="en-SG" sz="900" i="1" baseline="0" dirty="0">
                <a:solidFill>
                  <a:schemeClr val="bg2">
                    <a:lumMod val="25000"/>
                  </a:schemeClr>
                </a:solidFill>
              </a:rPr>
              <a:t> </a:t>
            </a:r>
            <a:r>
              <a:rPr lang="en-SG" sz="900" i="1" dirty="0">
                <a:solidFill>
                  <a:schemeClr val="bg2">
                    <a:lumMod val="25000"/>
                  </a:schemeClr>
                </a:solidFill>
              </a:rPr>
              <a:t>and trying to understand it.</a:t>
            </a:r>
          </a:p>
        </p:txBody>
      </p:sp>
      <p:sp>
        <p:nvSpPr>
          <p:cNvPr id="109" name="Rectangle 108"/>
          <p:cNvSpPr/>
          <p:nvPr userDrawn="1"/>
        </p:nvSpPr>
        <p:spPr>
          <a:xfrm>
            <a:off x="6369760" y="3072051"/>
            <a:ext cx="2289377" cy="276999"/>
          </a:xfrm>
          <a:prstGeom prst="rect">
            <a:avLst/>
          </a:prstGeom>
        </p:spPr>
        <p:txBody>
          <a:bodyPr wrap="square">
            <a:spAutoFit/>
          </a:bodyPr>
          <a:lstStyle/>
          <a:p>
            <a:pPr>
              <a:spcBef>
                <a:spcPts val="300"/>
              </a:spcBef>
            </a:pPr>
            <a:r>
              <a:rPr lang="en-US" sz="1200" dirty="0">
                <a:solidFill>
                  <a:schemeClr val="bg2">
                    <a:lumMod val="25000"/>
                  </a:schemeClr>
                </a:solidFill>
              </a:rPr>
              <a:t>NEED STATE</a:t>
            </a:r>
          </a:p>
        </p:txBody>
      </p:sp>
      <p:sp>
        <p:nvSpPr>
          <p:cNvPr id="110" name="Rectangle 109"/>
          <p:cNvSpPr/>
          <p:nvPr userDrawn="1"/>
        </p:nvSpPr>
        <p:spPr>
          <a:xfrm>
            <a:off x="6339605" y="4014524"/>
            <a:ext cx="2289377" cy="415498"/>
          </a:xfrm>
          <a:prstGeom prst="rect">
            <a:avLst/>
          </a:prstGeom>
        </p:spPr>
        <p:txBody>
          <a:bodyPr wrap="square">
            <a:spAutoFit/>
          </a:bodyPr>
          <a:lstStyle/>
          <a:p>
            <a:pPr>
              <a:spcBef>
                <a:spcPts val="300"/>
              </a:spcBef>
            </a:pPr>
            <a:r>
              <a:rPr lang="en-US" sz="1200" dirty="0">
                <a:solidFill>
                  <a:schemeClr val="bg2">
                    <a:lumMod val="25000"/>
                  </a:schemeClr>
                </a:solidFill>
              </a:rPr>
              <a:t>CHANNELS</a:t>
            </a:r>
          </a:p>
          <a:p>
            <a:pPr>
              <a:spcBef>
                <a:spcPts val="0"/>
              </a:spcBef>
            </a:pPr>
            <a:r>
              <a:rPr lang="en-US" sz="900" i="1" dirty="0">
                <a:solidFill>
                  <a:schemeClr val="bg2">
                    <a:lumMod val="25000"/>
                  </a:schemeClr>
                </a:solidFill>
              </a:rPr>
              <a:t>Eg. </a:t>
            </a:r>
            <a:r>
              <a:rPr lang="en-SG" sz="900" i="1" dirty="0">
                <a:solidFill>
                  <a:schemeClr val="bg2">
                    <a:lumMod val="25000"/>
                  </a:schemeClr>
                </a:solidFill>
              </a:rPr>
              <a:t>Government Website</a:t>
            </a:r>
          </a:p>
        </p:txBody>
      </p:sp>
      <p:sp>
        <p:nvSpPr>
          <p:cNvPr id="111" name="Rectangle 110"/>
          <p:cNvSpPr/>
          <p:nvPr userDrawn="1"/>
        </p:nvSpPr>
        <p:spPr>
          <a:xfrm>
            <a:off x="6362384" y="4763728"/>
            <a:ext cx="2528838" cy="553998"/>
          </a:xfrm>
          <a:prstGeom prst="rect">
            <a:avLst/>
          </a:prstGeom>
        </p:spPr>
        <p:txBody>
          <a:bodyPr wrap="square">
            <a:spAutoFit/>
          </a:bodyPr>
          <a:lstStyle/>
          <a:p>
            <a:pPr>
              <a:spcBef>
                <a:spcPts val="300"/>
              </a:spcBef>
            </a:pPr>
            <a:r>
              <a:rPr lang="en-US" sz="1200" dirty="0">
                <a:solidFill>
                  <a:schemeClr val="bg2">
                    <a:lumMod val="25000"/>
                  </a:schemeClr>
                </a:solidFill>
              </a:rPr>
              <a:t>PAIN POINTS</a:t>
            </a:r>
          </a:p>
          <a:p>
            <a:pPr>
              <a:spcBef>
                <a:spcPts val="0"/>
              </a:spcBef>
            </a:pPr>
            <a:r>
              <a:rPr lang="en-US" sz="900" i="1" dirty="0">
                <a:solidFill>
                  <a:schemeClr val="bg2">
                    <a:lumMod val="25000"/>
                  </a:schemeClr>
                </a:solidFill>
              </a:rPr>
              <a:t>Eg. </a:t>
            </a:r>
            <a:r>
              <a:rPr lang="en-SG" sz="900" i="1" dirty="0">
                <a:solidFill>
                  <a:schemeClr val="bg2">
                    <a:lumMod val="25000"/>
                  </a:schemeClr>
                </a:solidFill>
              </a:rPr>
              <a:t>Roger is having trouble understanding the</a:t>
            </a:r>
          </a:p>
          <a:p>
            <a:pPr>
              <a:spcBef>
                <a:spcPts val="0"/>
              </a:spcBef>
            </a:pPr>
            <a:r>
              <a:rPr lang="en-SG" sz="900" i="1" dirty="0">
                <a:solidFill>
                  <a:schemeClr val="bg2">
                    <a:lumMod val="25000"/>
                  </a:schemeClr>
                </a:solidFill>
              </a:rPr>
              <a:t>government terminology used on the website.</a:t>
            </a:r>
          </a:p>
        </p:txBody>
      </p:sp>
      <p:sp>
        <p:nvSpPr>
          <p:cNvPr id="128" name="Rectangle 127"/>
          <p:cNvSpPr/>
          <p:nvPr userDrawn="1"/>
        </p:nvSpPr>
        <p:spPr>
          <a:xfrm>
            <a:off x="7626803" y="3094453"/>
            <a:ext cx="1315896" cy="877163"/>
          </a:xfrm>
          <a:prstGeom prst="rect">
            <a:avLst/>
          </a:prstGeom>
        </p:spPr>
        <p:txBody>
          <a:bodyPr wrap="square">
            <a:spAutoFit/>
          </a:bodyPr>
          <a:lstStyle/>
          <a:p>
            <a:pPr marL="171450" indent="-171450">
              <a:spcBef>
                <a:spcPts val="0"/>
              </a:spcBef>
              <a:buFont typeface="Wingdings" panose="05000000000000000000" pitchFamily="2" charset="2"/>
              <a:buChar char="q"/>
            </a:pPr>
            <a:r>
              <a:rPr lang="en-SG" sz="850" dirty="0">
                <a:solidFill>
                  <a:schemeClr val="bg2">
                    <a:lumMod val="25000"/>
                  </a:schemeClr>
                </a:solidFill>
              </a:rPr>
              <a:t> FINDING</a:t>
            </a:r>
          </a:p>
          <a:p>
            <a:pPr marL="171450" indent="-171450">
              <a:spcBef>
                <a:spcPts val="0"/>
              </a:spcBef>
              <a:buFont typeface="Wingdings" panose="05000000000000000000" pitchFamily="2" charset="2"/>
              <a:buChar char="q"/>
            </a:pPr>
            <a:r>
              <a:rPr lang="en-SG" sz="850" dirty="0">
                <a:solidFill>
                  <a:schemeClr val="bg2">
                    <a:lumMod val="25000"/>
                  </a:schemeClr>
                </a:solidFill>
              </a:rPr>
              <a:t> UNDERSTANDING</a:t>
            </a:r>
          </a:p>
          <a:p>
            <a:pPr marL="171450" indent="-171450">
              <a:spcBef>
                <a:spcPts val="0"/>
              </a:spcBef>
              <a:buFont typeface="Wingdings" panose="05000000000000000000" pitchFamily="2" charset="2"/>
              <a:buChar char="q"/>
            </a:pPr>
            <a:r>
              <a:rPr lang="en-SG" sz="850" dirty="0">
                <a:solidFill>
                  <a:schemeClr val="bg2">
                    <a:lumMod val="25000"/>
                  </a:schemeClr>
                </a:solidFill>
              </a:rPr>
              <a:t> APPLYING</a:t>
            </a:r>
          </a:p>
          <a:p>
            <a:pPr marL="171450" indent="-171450">
              <a:spcBef>
                <a:spcPts val="0"/>
              </a:spcBef>
              <a:buFont typeface="Wingdings" panose="05000000000000000000" pitchFamily="2" charset="2"/>
              <a:buChar char="q"/>
            </a:pPr>
            <a:r>
              <a:rPr lang="en-SG" sz="850" dirty="0">
                <a:solidFill>
                  <a:schemeClr val="bg2">
                    <a:lumMod val="25000"/>
                  </a:schemeClr>
                </a:solidFill>
              </a:rPr>
              <a:t> WHAT NEXT</a:t>
            </a:r>
          </a:p>
          <a:p>
            <a:pPr marL="171450" indent="-171450">
              <a:spcBef>
                <a:spcPts val="0"/>
              </a:spcBef>
              <a:buFont typeface="Wingdings" panose="05000000000000000000" pitchFamily="2" charset="2"/>
              <a:buChar char="q"/>
            </a:pPr>
            <a:r>
              <a:rPr lang="en-SG" sz="850" dirty="0">
                <a:solidFill>
                  <a:schemeClr val="bg2">
                    <a:lumMod val="25000"/>
                  </a:schemeClr>
                </a:solidFill>
              </a:rPr>
              <a:t> INTERACTING</a:t>
            </a:r>
          </a:p>
          <a:p>
            <a:pPr marL="171450" indent="-171450">
              <a:spcBef>
                <a:spcPts val="0"/>
              </a:spcBef>
              <a:buFont typeface="Wingdings" panose="05000000000000000000" pitchFamily="2" charset="2"/>
              <a:buChar char="q"/>
            </a:pPr>
            <a:r>
              <a:rPr lang="en-SG" sz="850" dirty="0">
                <a:solidFill>
                  <a:schemeClr val="bg2">
                    <a:lumMod val="25000"/>
                  </a:schemeClr>
                </a:solidFill>
              </a:rPr>
              <a:t> RECEIVING</a:t>
            </a:r>
          </a:p>
        </p:txBody>
      </p:sp>
      <p:sp>
        <p:nvSpPr>
          <p:cNvPr id="13" name="TextBox 12"/>
          <p:cNvSpPr txBox="1"/>
          <p:nvPr userDrawn="1"/>
        </p:nvSpPr>
        <p:spPr>
          <a:xfrm>
            <a:off x="7607122" y="3124555"/>
            <a:ext cx="473206" cy="369332"/>
          </a:xfrm>
          <a:prstGeom prst="rect">
            <a:avLst/>
          </a:prstGeom>
          <a:noFill/>
        </p:spPr>
        <p:txBody>
          <a:bodyPr wrap="none" rtlCol="0">
            <a:spAutoFit/>
          </a:bodyPr>
          <a:lstStyle/>
          <a:p>
            <a:pPr marL="285750" indent="-285750">
              <a:buFont typeface="Wingdings" panose="05000000000000000000" pitchFamily="2" charset="2"/>
              <a:buChar char="ü"/>
            </a:pPr>
            <a:endParaRPr lang="en-SG" dirty="0"/>
          </a:p>
        </p:txBody>
      </p:sp>
      <p:sp>
        <p:nvSpPr>
          <p:cNvPr id="19" name="Rectangle 18"/>
          <p:cNvSpPr/>
          <p:nvPr userDrawn="1"/>
        </p:nvSpPr>
        <p:spPr>
          <a:xfrm>
            <a:off x="7726040" y="3286093"/>
            <a:ext cx="85318" cy="9245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TextBox 19"/>
          <p:cNvSpPr txBox="1"/>
          <p:nvPr userDrawn="1"/>
        </p:nvSpPr>
        <p:spPr>
          <a:xfrm>
            <a:off x="7418352" y="3203241"/>
            <a:ext cx="344966" cy="246221"/>
          </a:xfrm>
          <a:prstGeom prst="rect">
            <a:avLst/>
          </a:prstGeom>
          <a:noFill/>
        </p:spPr>
        <p:txBody>
          <a:bodyPr wrap="none" rtlCol="0">
            <a:spAutoFit/>
          </a:bodyPr>
          <a:lstStyle/>
          <a:p>
            <a:r>
              <a:rPr lang="en-US" sz="1000" i="1" dirty="0">
                <a:solidFill>
                  <a:srgbClr val="FF0000"/>
                </a:solidFill>
              </a:rPr>
              <a:t>Eg.</a:t>
            </a:r>
            <a:endParaRPr lang="en-SG" sz="1000" i="1" dirty="0">
              <a:solidFill>
                <a:srgbClr val="FF0000"/>
              </a:solidFill>
            </a:endParaRPr>
          </a:p>
        </p:txBody>
      </p:sp>
      <p:sp>
        <p:nvSpPr>
          <p:cNvPr id="22" name="Oval 21"/>
          <p:cNvSpPr/>
          <p:nvPr userDrawn="1"/>
        </p:nvSpPr>
        <p:spPr>
          <a:xfrm>
            <a:off x="8754522" y="115624"/>
            <a:ext cx="512132" cy="51213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1</a:t>
            </a:r>
            <a:endParaRPr lang="en-SG" b="1" dirty="0"/>
          </a:p>
        </p:txBody>
      </p:sp>
      <p:sp>
        <p:nvSpPr>
          <p:cNvPr id="130" name="Oval 129"/>
          <p:cNvSpPr/>
          <p:nvPr userDrawn="1"/>
        </p:nvSpPr>
        <p:spPr>
          <a:xfrm>
            <a:off x="8777129" y="3257348"/>
            <a:ext cx="512132" cy="51213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3</a:t>
            </a:r>
            <a:endParaRPr lang="en-SG" b="1" dirty="0"/>
          </a:p>
        </p:txBody>
      </p:sp>
      <p:sp>
        <p:nvSpPr>
          <p:cNvPr id="131" name="Oval 130"/>
          <p:cNvSpPr/>
          <p:nvPr userDrawn="1"/>
        </p:nvSpPr>
        <p:spPr>
          <a:xfrm>
            <a:off x="8748903" y="4084743"/>
            <a:ext cx="512132" cy="51213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4</a:t>
            </a:r>
            <a:endParaRPr lang="en-SG" b="1" dirty="0"/>
          </a:p>
        </p:txBody>
      </p:sp>
      <p:sp>
        <p:nvSpPr>
          <p:cNvPr id="132" name="Oval 131"/>
          <p:cNvSpPr/>
          <p:nvPr userDrawn="1"/>
        </p:nvSpPr>
        <p:spPr>
          <a:xfrm>
            <a:off x="8754522" y="5529065"/>
            <a:ext cx="512132" cy="51213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5</a:t>
            </a:r>
            <a:endParaRPr lang="en-SG" b="1" dirty="0"/>
          </a:p>
        </p:txBody>
      </p:sp>
      <p:sp>
        <p:nvSpPr>
          <p:cNvPr id="24" name="Rectangle 23"/>
          <p:cNvSpPr/>
          <p:nvPr userDrawn="1"/>
        </p:nvSpPr>
        <p:spPr>
          <a:xfrm>
            <a:off x="9362621" y="89111"/>
            <a:ext cx="2802677" cy="6340197"/>
          </a:xfrm>
          <a:prstGeom prst="rect">
            <a:avLst/>
          </a:prstGeom>
        </p:spPr>
        <p:txBody>
          <a:bodyPr wrap="square">
            <a:spAutoFit/>
          </a:bodyPr>
          <a:lstStyle/>
          <a:p>
            <a:r>
              <a:rPr lang="en-SG" sz="1400" dirty="0">
                <a:solidFill>
                  <a:schemeClr val="accent6">
                    <a:lumMod val="50000"/>
                  </a:schemeClr>
                </a:solidFill>
              </a:rPr>
              <a:t>Decide if the journey you want</a:t>
            </a:r>
          </a:p>
          <a:p>
            <a:r>
              <a:rPr lang="en-SG" sz="1400" dirty="0">
                <a:solidFill>
                  <a:schemeClr val="accent6">
                    <a:lumMod val="50000"/>
                  </a:schemeClr>
                </a:solidFill>
              </a:rPr>
              <a:t>to map or create is an information</a:t>
            </a:r>
          </a:p>
          <a:p>
            <a:r>
              <a:rPr lang="en-SG" sz="1400" dirty="0">
                <a:solidFill>
                  <a:schemeClr val="accent6">
                    <a:lumMod val="50000"/>
                  </a:schemeClr>
                </a:solidFill>
              </a:rPr>
              <a:t>journey, an interaction journey or</a:t>
            </a:r>
          </a:p>
          <a:p>
            <a:r>
              <a:rPr lang="en-SG" sz="1400" dirty="0">
                <a:solidFill>
                  <a:schemeClr val="accent6">
                    <a:lumMod val="50000"/>
                  </a:schemeClr>
                </a:solidFill>
              </a:rPr>
              <a:t>if it has both stages.</a:t>
            </a:r>
          </a:p>
          <a:p>
            <a:endParaRPr lang="en-US" sz="1400" dirty="0">
              <a:solidFill>
                <a:schemeClr val="accent6">
                  <a:lumMod val="50000"/>
                </a:schemeClr>
              </a:solidFill>
            </a:endParaRPr>
          </a:p>
          <a:p>
            <a:endParaRPr lang="en-US" sz="1400" dirty="0">
              <a:solidFill>
                <a:schemeClr val="accent6">
                  <a:lumMod val="50000"/>
                </a:schemeClr>
              </a:solidFill>
            </a:endParaRPr>
          </a:p>
          <a:p>
            <a:endParaRPr lang="en-US" sz="1400" dirty="0">
              <a:solidFill>
                <a:schemeClr val="accent6">
                  <a:lumMod val="50000"/>
                </a:schemeClr>
              </a:solidFill>
            </a:endParaRPr>
          </a:p>
          <a:p>
            <a:endParaRPr lang="en-SG" sz="1400" dirty="0">
              <a:solidFill>
                <a:schemeClr val="accent6">
                  <a:lumMod val="50000"/>
                </a:schemeClr>
              </a:solidFill>
            </a:endParaRPr>
          </a:p>
          <a:p>
            <a:r>
              <a:rPr lang="en-SG" sz="1400" dirty="0">
                <a:solidFill>
                  <a:schemeClr val="accent6">
                    <a:lumMod val="50000"/>
                  </a:schemeClr>
                </a:solidFill>
              </a:rPr>
              <a:t>Write the </a:t>
            </a:r>
            <a:r>
              <a:rPr lang="en-SG" sz="1400" b="1" dirty="0">
                <a:solidFill>
                  <a:schemeClr val="accent6">
                    <a:lumMod val="50000"/>
                  </a:schemeClr>
                </a:solidFill>
              </a:rPr>
              <a:t>Action/Activity</a:t>
            </a:r>
            <a:r>
              <a:rPr lang="en-SG" sz="1400" dirty="0">
                <a:solidFill>
                  <a:schemeClr val="accent6">
                    <a:lumMod val="50000"/>
                  </a:schemeClr>
                </a:solidFill>
              </a:rPr>
              <a:t> the user</a:t>
            </a:r>
            <a:r>
              <a:rPr lang="en-SG" sz="1400" baseline="0" dirty="0">
                <a:solidFill>
                  <a:schemeClr val="accent6">
                    <a:lumMod val="50000"/>
                  </a:schemeClr>
                </a:solidFill>
              </a:rPr>
              <a:t> </a:t>
            </a:r>
            <a:r>
              <a:rPr lang="en-SG" sz="1400" dirty="0">
                <a:solidFill>
                  <a:schemeClr val="accent6">
                    <a:lumMod val="50000"/>
                  </a:schemeClr>
                </a:solidFill>
              </a:rPr>
              <a:t>takes here</a:t>
            </a:r>
            <a:r>
              <a:rPr lang="en-SG" sz="1400" baseline="0" dirty="0">
                <a:solidFill>
                  <a:schemeClr val="accent6">
                    <a:lumMod val="50000"/>
                  </a:schemeClr>
                </a:solidFill>
              </a:rPr>
              <a:t> + sentiment</a:t>
            </a:r>
            <a:br>
              <a:rPr lang="en-SG" sz="1400" baseline="0" dirty="0">
                <a:solidFill>
                  <a:schemeClr val="accent6">
                    <a:lumMod val="50000"/>
                  </a:schemeClr>
                </a:solidFill>
              </a:rPr>
            </a:br>
            <a:r>
              <a:rPr lang="en-SG" sz="1400" baseline="0" dirty="0">
                <a:solidFill>
                  <a:schemeClr val="accent6">
                    <a:lumMod val="50000"/>
                  </a:schemeClr>
                </a:solidFill>
              </a:rPr>
              <a:t>(potential emotional highs &amp; lows)</a:t>
            </a:r>
            <a:br>
              <a:rPr lang="en-SG" sz="1400" dirty="0">
                <a:solidFill>
                  <a:schemeClr val="accent6">
                    <a:lumMod val="50000"/>
                  </a:schemeClr>
                </a:solidFill>
              </a:rPr>
            </a:br>
            <a:endParaRPr lang="en-SG" sz="1400" dirty="0">
              <a:solidFill>
                <a:schemeClr val="accent6">
                  <a:lumMod val="50000"/>
                </a:schemeClr>
              </a:solidFill>
            </a:endParaRPr>
          </a:p>
          <a:p>
            <a:endParaRPr lang="en-SG" sz="1400" dirty="0">
              <a:solidFill>
                <a:schemeClr val="accent6">
                  <a:lumMod val="50000"/>
                </a:schemeClr>
              </a:solidFill>
            </a:endParaRPr>
          </a:p>
          <a:p>
            <a:endParaRPr lang="en-US" sz="1400" dirty="0">
              <a:solidFill>
                <a:schemeClr val="accent6">
                  <a:lumMod val="50000"/>
                </a:schemeClr>
              </a:solidFill>
            </a:endParaRPr>
          </a:p>
          <a:p>
            <a:br>
              <a:rPr lang="en-SG" sz="1400" dirty="0">
                <a:solidFill>
                  <a:schemeClr val="accent6">
                    <a:lumMod val="50000"/>
                  </a:schemeClr>
                </a:solidFill>
              </a:rPr>
            </a:br>
            <a:r>
              <a:rPr lang="en-SG" sz="1400" dirty="0">
                <a:solidFill>
                  <a:schemeClr val="accent6">
                    <a:lumMod val="50000"/>
                  </a:schemeClr>
                </a:solidFill>
              </a:rPr>
              <a:t>Identify the user’s need</a:t>
            </a:r>
          </a:p>
          <a:p>
            <a:r>
              <a:rPr lang="en-SG" sz="1400" dirty="0">
                <a:solidFill>
                  <a:schemeClr val="accent6">
                    <a:lumMod val="50000"/>
                  </a:schemeClr>
                </a:solidFill>
              </a:rPr>
              <a:t>state for each step.</a:t>
            </a:r>
          </a:p>
          <a:p>
            <a:endParaRPr lang="en-SG" sz="1400" dirty="0">
              <a:solidFill>
                <a:schemeClr val="accent6">
                  <a:lumMod val="50000"/>
                </a:schemeClr>
              </a:solidFill>
            </a:endParaRPr>
          </a:p>
          <a:p>
            <a:endParaRPr lang="en-SG" sz="1400" dirty="0">
              <a:solidFill>
                <a:schemeClr val="accent6">
                  <a:lumMod val="50000"/>
                </a:schemeClr>
              </a:solidFill>
            </a:endParaRPr>
          </a:p>
          <a:p>
            <a:r>
              <a:rPr lang="en-SG" sz="1400" dirty="0">
                <a:solidFill>
                  <a:schemeClr val="accent6">
                    <a:lumMod val="50000"/>
                  </a:schemeClr>
                </a:solidFill>
              </a:rPr>
              <a:t>Write which channel the user</a:t>
            </a:r>
          </a:p>
          <a:p>
            <a:r>
              <a:rPr lang="en-SG" sz="1400" dirty="0">
                <a:solidFill>
                  <a:schemeClr val="accent6">
                    <a:lumMod val="50000"/>
                  </a:schemeClr>
                </a:solidFill>
              </a:rPr>
              <a:t>is using at this step in their journey.</a:t>
            </a:r>
          </a:p>
          <a:p>
            <a:endParaRPr lang="en-SG" sz="1400" dirty="0">
              <a:solidFill>
                <a:schemeClr val="accent6">
                  <a:lumMod val="50000"/>
                </a:schemeClr>
              </a:solidFill>
            </a:endParaRPr>
          </a:p>
          <a:p>
            <a:endParaRPr lang="en-SG" sz="1400" dirty="0">
              <a:solidFill>
                <a:schemeClr val="accent6">
                  <a:lumMod val="50000"/>
                </a:schemeClr>
              </a:solidFill>
            </a:endParaRPr>
          </a:p>
          <a:p>
            <a:endParaRPr lang="en-SG" sz="1400" dirty="0">
              <a:solidFill>
                <a:schemeClr val="accent6">
                  <a:lumMod val="50000"/>
                </a:schemeClr>
              </a:solidFill>
            </a:endParaRPr>
          </a:p>
          <a:p>
            <a:endParaRPr lang="en-SG" sz="1400" dirty="0">
              <a:solidFill>
                <a:schemeClr val="accent6">
                  <a:lumMod val="50000"/>
                </a:schemeClr>
              </a:solidFill>
            </a:endParaRPr>
          </a:p>
          <a:p>
            <a:r>
              <a:rPr lang="en-SG" sz="1400" dirty="0">
                <a:solidFill>
                  <a:schemeClr val="accent6">
                    <a:lumMod val="50000"/>
                  </a:schemeClr>
                </a:solidFill>
              </a:rPr>
              <a:t>Write down the</a:t>
            </a:r>
            <a:r>
              <a:rPr lang="en-SG" sz="1400" baseline="0" dirty="0">
                <a:solidFill>
                  <a:schemeClr val="accent6">
                    <a:lumMod val="50000"/>
                  </a:schemeClr>
                </a:solidFill>
              </a:rPr>
              <a:t> </a:t>
            </a:r>
            <a:r>
              <a:rPr lang="en-SG" sz="1400" dirty="0">
                <a:solidFill>
                  <a:schemeClr val="accent6">
                    <a:lumMod val="50000"/>
                  </a:schemeClr>
                </a:solidFill>
              </a:rPr>
              <a:t>user’s negative experience (pain</a:t>
            </a:r>
            <a:r>
              <a:rPr lang="en-SG" sz="1400" baseline="0" dirty="0">
                <a:solidFill>
                  <a:schemeClr val="accent6">
                    <a:lumMod val="50000"/>
                  </a:schemeClr>
                </a:solidFill>
              </a:rPr>
              <a:t> </a:t>
            </a:r>
            <a:r>
              <a:rPr lang="en-SG" sz="1400" dirty="0">
                <a:solidFill>
                  <a:schemeClr val="accent6">
                    <a:lumMod val="50000"/>
                  </a:schemeClr>
                </a:solidFill>
              </a:rPr>
              <a:t>points)</a:t>
            </a:r>
            <a:r>
              <a:rPr lang="en-SG" sz="1400" baseline="0" dirty="0">
                <a:solidFill>
                  <a:schemeClr val="accent6">
                    <a:lumMod val="50000"/>
                  </a:schemeClr>
                </a:solidFill>
              </a:rPr>
              <a:t> </a:t>
            </a:r>
            <a:r>
              <a:rPr lang="en-SG" sz="1400" dirty="0">
                <a:solidFill>
                  <a:schemeClr val="accent6">
                    <a:lumMod val="50000"/>
                  </a:schemeClr>
                </a:solidFill>
              </a:rPr>
              <a:t>at</a:t>
            </a:r>
            <a:r>
              <a:rPr lang="en-SG" sz="1400" baseline="0" dirty="0">
                <a:solidFill>
                  <a:schemeClr val="accent6">
                    <a:lumMod val="50000"/>
                  </a:schemeClr>
                </a:solidFill>
              </a:rPr>
              <a:t> </a:t>
            </a:r>
            <a:r>
              <a:rPr lang="en-SG" sz="1400" dirty="0">
                <a:solidFill>
                  <a:schemeClr val="accent6">
                    <a:lumMod val="50000"/>
                  </a:schemeClr>
                </a:solidFill>
              </a:rPr>
              <a:t>this step in the journey.</a:t>
            </a:r>
          </a:p>
        </p:txBody>
      </p:sp>
      <p:cxnSp>
        <p:nvCxnSpPr>
          <p:cNvPr id="43" name="Straight Connector 42"/>
          <p:cNvCxnSpPr/>
          <p:nvPr userDrawn="1"/>
        </p:nvCxnSpPr>
        <p:spPr>
          <a:xfrm>
            <a:off x="6369760" y="2164036"/>
            <a:ext cx="2625204" cy="722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29" name="Oval 128"/>
          <p:cNvSpPr/>
          <p:nvPr userDrawn="1"/>
        </p:nvSpPr>
        <p:spPr>
          <a:xfrm>
            <a:off x="8738898" y="1857804"/>
            <a:ext cx="512132" cy="512132"/>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2</a:t>
            </a:r>
            <a:endParaRPr lang="en-SG" b="1" dirty="0"/>
          </a:p>
        </p:txBody>
      </p:sp>
      <p:grpSp>
        <p:nvGrpSpPr>
          <p:cNvPr id="47" name="Group 46"/>
          <p:cNvGrpSpPr/>
          <p:nvPr userDrawn="1"/>
        </p:nvGrpSpPr>
        <p:grpSpPr>
          <a:xfrm>
            <a:off x="8371241" y="2004420"/>
            <a:ext cx="306473" cy="306473"/>
            <a:chOff x="2108729" y="1481828"/>
            <a:chExt cx="507972" cy="507972"/>
          </a:xfrm>
        </p:grpSpPr>
        <p:sp>
          <p:nvSpPr>
            <p:cNvPr id="48" name="Oval 47"/>
            <p:cNvSpPr/>
            <p:nvPr/>
          </p:nvSpPr>
          <p:spPr>
            <a:xfrm>
              <a:off x="2154848" y="1527947"/>
              <a:ext cx="415733" cy="415733"/>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49" name="Picture 4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08729" y="1481828"/>
              <a:ext cx="507972" cy="507972"/>
            </a:xfrm>
            <a:prstGeom prst="rect">
              <a:avLst/>
            </a:prstGeom>
          </p:spPr>
        </p:pic>
      </p:grpSp>
      <p:grpSp>
        <p:nvGrpSpPr>
          <p:cNvPr id="50" name="Group 49"/>
          <p:cNvGrpSpPr/>
          <p:nvPr userDrawn="1"/>
        </p:nvGrpSpPr>
        <p:grpSpPr>
          <a:xfrm>
            <a:off x="8371241" y="2545646"/>
            <a:ext cx="306473" cy="306473"/>
            <a:chOff x="2728727" y="1481828"/>
            <a:chExt cx="507972" cy="507972"/>
          </a:xfrm>
        </p:grpSpPr>
        <p:sp>
          <p:nvSpPr>
            <p:cNvPr id="51" name="Oval 50"/>
            <p:cNvSpPr/>
            <p:nvPr/>
          </p:nvSpPr>
          <p:spPr>
            <a:xfrm>
              <a:off x="2774846" y="1527946"/>
              <a:ext cx="415733" cy="415733"/>
            </a:xfrm>
            <a:prstGeom prst="ellipse">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52" name="Picture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28727" y="1481828"/>
              <a:ext cx="507972" cy="507972"/>
            </a:xfrm>
            <a:prstGeom prst="rect">
              <a:avLst/>
            </a:prstGeom>
          </p:spPr>
        </p:pic>
      </p:grpSp>
      <p:grpSp>
        <p:nvGrpSpPr>
          <p:cNvPr id="53" name="Group 52"/>
          <p:cNvGrpSpPr/>
          <p:nvPr userDrawn="1"/>
        </p:nvGrpSpPr>
        <p:grpSpPr>
          <a:xfrm>
            <a:off x="8371241" y="1419972"/>
            <a:ext cx="306473" cy="306473"/>
            <a:chOff x="808127" y="1481828"/>
            <a:chExt cx="507972" cy="507972"/>
          </a:xfrm>
        </p:grpSpPr>
        <p:sp>
          <p:nvSpPr>
            <p:cNvPr id="54" name="Oval 53"/>
            <p:cNvSpPr/>
            <p:nvPr/>
          </p:nvSpPr>
          <p:spPr>
            <a:xfrm>
              <a:off x="854246" y="1527946"/>
              <a:ext cx="415733" cy="415733"/>
            </a:xfrm>
            <a:prstGeom prst="ellipse">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55" name="Picture 5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8127" y="1481828"/>
              <a:ext cx="507972" cy="507972"/>
            </a:xfrm>
            <a:prstGeom prst="rect">
              <a:avLst/>
            </a:prstGeom>
          </p:spPr>
        </p:pic>
      </p:grpSp>
    </p:spTree>
    <p:extLst>
      <p:ext uri="{BB962C8B-B14F-4D97-AF65-F5344CB8AC3E}">
        <p14:creationId xmlns:p14="http://schemas.microsoft.com/office/powerpoint/2010/main" val="41992565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78" name="Rectangle 77"/>
          <p:cNvSpPr/>
          <p:nvPr userDrawn="1"/>
        </p:nvSpPr>
        <p:spPr>
          <a:xfrm>
            <a:off x="-7376" y="-2"/>
            <a:ext cx="3930147" cy="70792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 name="Rectangle 7"/>
          <p:cNvSpPr/>
          <p:nvPr userDrawn="1"/>
        </p:nvSpPr>
        <p:spPr>
          <a:xfrm>
            <a:off x="4053899" y="0"/>
            <a:ext cx="8138101" cy="7079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p:cNvSpPr txBox="1"/>
          <p:nvPr userDrawn="1"/>
        </p:nvSpPr>
        <p:spPr>
          <a:xfrm>
            <a:off x="8416415" y="166091"/>
            <a:ext cx="3701845" cy="461665"/>
          </a:xfrm>
          <a:prstGeom prst="rect">
            <a:avLst/>
          </a:prstGeom>
          <a:noFill/>
        </p:spPr>
        <p:txBody>
          <a:bodyPr wrap="square" rtlCol="0">
            <a:spAutoFit/>
          </a:bodyPr>
          <a:lstStyle/>
          <a:p>
            <a:r>
              <a:rPr lang="en-US" sz="2400" b="1" dirty="0">
                <a:solidFill>
                  <a:schemeClr val="bg1"/>
                </a:solidFill>
              </a:rPr>
              <a:t>User Journey </a:t>
            </a:r>
            <a:r>
              <a:rPr lang="en-US" sz="2400" b="0" dirty="0">
                <a:solidFill>
                  <a:schemeClr val="bg1"/>
                </a:solidFill>
              </a:rPr>
              <a:t>Mapping Tool</a:t>
            </a:r>
            <a:endParaRPr lang="en-SG" sz="2400" b="0" dirty="0">
              <a:solidFill>
                <a:schemeClr val="bg1"/>
              </a:solidFill>
            </a:endParaRPr>
          </a:p>
        </p:txBody>
      </p:sp>
      <p:sp>
        <p:nvSpPr>
          <p:cNvPr id="74" name="TextBox 73"/>
          <p:cNvSpPr txBox="1"/>
          <p:nvPr userDrawn="1"/>
        </p:nvSpPr>
        <p:spPr>
          <a:xfrm>
            <a:off x="108244" y="166091"/>
            <a:ext cx="1657697" cy="369332"/>
          </a:xfrm>
          <a:prstGeom prst="rect">
            <a:avLst/>
          </a:prstGeom>
          <a:noFill/>
        </p:spPr>
        <p:txBody>
          <a:bodyPr wrap="square" rtlCol="0">
            <a:spAutoFit/>
          </a:bodyPr>
          <a:lstStyle/>
          <a:p>
            <a:pPr algn="ctr"/>
            <a:r>
              <a:rPr lang="en-US" sz="1800" b="0" dirty="0">
                <a:solidFill>
                  <a:schemeClr val="bg1"/>
                </a:solidFill>
              </a:rPr>
              <a:t>Journey </a:t>
            </a:r>
            <a:r>
              <a:rPr lang="en-US" sz="1800" b="1" dirty="0">
                <a:solidFill>
                  <a:schemeClr val="bg1"/>
                </a:solidFill>
              </a:rPr>
              <a:t>Type</a:t>
            </a:r>
            <a:endParaRPr lang="en-SG" sz="1800" b="0" dirty="0">
              <a:solidFill>
                <a:schemeClr val="bg1"/>
              </a:solidFill>
            </a:endParaRPr>
          </a:p>
        </p:txBody>
      </p:sp>
      <p:grpSp>
        <p:nvGrpSpPr>
          <p:cNvPr id="6" name="Group 5"/>
          <p:cNvGrpSpPr/>
          <p:nvPr userDrawn="1"/>
        </p:nvGrpSpPr>
        <p:grpSpPr>
          <a:xfrm>
            <a:off x="1884986" y="38488"/>
            <a:ext cx="2275358" cy="630942"/>
            <a:chOff x="7000874" y="38488"/>
            <a:chExt cx="2275358" cy="630942"/>
          </a:xfrm>
        </p:grpSpPr>
        <p:sp>
          <p:nvSpPr>
            <p:cNvPr id="5" name="Oval 4"/>
            <p:cNvSpPr/>
            <p:nvPr userDrawn="1"/>
          </p:nvSpPr>
          <p:spPr>
            <a:xfrm>
              <a:off x="7000874" y="89111"/>
              <a:ext cx="123825" cy="1238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5" name="Rectangle 104"/>
            <p:cNvSpPr/>
            <p:nvPr userDrawn="1"/>
          </p:nvSpPr>
          <p:spPr>
            <a:xfrm>
              <a:off x="7123666" y="38488"/>
              <a:ext cx="2152566" cy="630942"/>
            </a:xfrm>
            <a:prstGeom prst="rect">
              <a:avLst/>
            </a:prstGeom>
          </p:spPr>
          <p:txBody>
            <a:bodyPr wrap="square">
              <a:spAutoFit/>
            </a:bodyPr>
            <a:lstStyle/>
            <a:p>
              <a:pPr>
                <a:spcBef>
                  <a:spcPts val="300"/>
                </a:spcBef>
              </a:pPr>
              <a:r>
                <a:rPr lang="en-SG" sz="1000" dirty="0">
                  <a:solidFill>
                    <a:schemeClr val="bg1"/>
                  </a:solidFill>
                </a:rPr>
                <a:t>INFORMATION</a:t>
              </a:r>
            </a:p>
            <a:p>
              <a:pPr>
                <a:spcBef>
                  <a:spcPts val="300"/>
                </a:spcBef>
              </a:pPr>
              <a:r>
                <a:rPr lang="en-US" sz="1000" dirty="0">
                  <a:solidFill>
                    <a:schemeClr val="bg1"/>
                  </a:solidFill>
                </a:rPr>
                <a:t>INTERACTION</a:t>
              </a:r>
            </a:p>
            <a:p>
              <a:pPr>
                <a:spcBef>
                  <a:spcPts val="300"/>
                </a:spcBef>
              </a:pPr>
              <a:r>
                <a:rPr lang="en-US" sz="1000" dirty="0">
                  <a:solidFill>
                    <a:schemeClr val="bg1"/>
                  </a:solidFill>
                </a:rPr>
                <a:t>INFORMATION</a:t>
              </a:r>
              <a:r>
                <a:rPr lang="en-US" sz="1000" baseline="0" dirty="0">
                  <a:solidFill>
                    <a:schemeClr val="bg1"/>
                  </a:solidFill>
                </a:rPr>
                <a:t> &amp; INTERACTION</a:t>
              </a:r>
              <a:endParaRPr lang="en-SG" sz="1000" dirty="0">
                <a:solidFill>
                  <a:schemeClr val="bg1"/>
                </a:solidFill>
              </a:endParaRPr>
            </a:p>
          </p:txBody>
        </p:sp>
        <p:sp>
          <p:nvSpPr>
            <p:cNvPr id="106" name="Oval 105"/>
            <p:cNvSpPr/>
            <p:nvPr userDrawn="1"/>
          </p:nvSpPr>
          <p:spPr>
            <a:xfrm>
              <a:off x="7004300" y="273098"/>
              <a:ext cx="123825" cy="1238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7" name="Oval 106"/>
            <p:cNvSpPr/>
            <p:nvPr userDrawn="1"/>
          </p:nvSpPr>
          <p:spPr>
            <a:xfrm>
              <a:off x="7004299" y="471264"/>
              <a:ext cx="123825" cy="1238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sp>
        <p:nvSpPr>
          <p:cNvPr id="43" name="Rectangle 42"/>
          <p:cNvSpPr/>
          <p:nvPr userDrawn="1"/>
        </p:nvSpPr>
        <p:spPr>
          <a:xfrm>
            <a:off x="0" y="761752"/>
            <a:ext cx="1122947" cy="383253"/>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Rectangle 43"/>
          <p:cNvSpPr/>
          <p:nvPr userDrawn="1"/>
        </p:nvSpPr>
        <p:spPr>
          <a:xfrm>
            <a:off x="0" y="1203055"/>
            <a:ext cx="1122947" cy="177532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Rectangle 44"/>
          <p:cNvSpPr/>
          <p:nvPr userDrawn="1"/>
        </p:nvSpPr>
        <p:spPr>
          <a:xfrm>
            <a:off x="0" y="3033005"/>
            <a:ext cx="1122947" cy="916656"/>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p:cNvSpPr/>
          <p:nvPr userDrawn="1"/>
        </p:nvSpPr>
        <p:spPr>
          <a:xfrm>
            <a:off x="0" y="4006400"/>
            <a:ext cx="1122947" cy="69488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userDrawn="1"/>
        </p:nvSpPr>
        <p:spPr>
          <a:xfrm>
            <a:off x="0" y="4758566"/>
            <a:ext cx="1122947" cy="2099434"/>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Rectangle 47"/>
          <p:cNvSpPr/>
          <p:nvPr userDrawn="1"/>
        </p:nvSpPr>
        <p:spPr>
          <a:xfrm>
            <a:off x="286817" y="814407"/>
            <a:ext cx="703305" cy="276999"/>
          </a:xfrm>
          <a:prstGeom prst="rect">
            <a:avLst/>
          </a:prstGeom>
        </p:spPr>
        <p:txBody>
          <a:bodyPr wrap="square">
            <a:spAutoFit/>
          </a:bodyPr>
          <a:lstStyle/>
          <a:p>
            <a:pPr algn="r">
              <a:spcBef>
                <a:spcPts val="300"/>
              </a:spcBef>
            </a:pPr>
            <a:r>
              <a:rPr lang="en-US" sz="1200" dirty="0">
                <a:solidFill>
                  <a:schemeClr val="bg1"/>
                </a:solidFill>
              </a:rPr>
              <a:t>STEP</a:t>
            </a:r>
            <a:endParaRPr lang="en-SG" sz="1200" dirty="0">
              <a:solidFill>
                <a:schemeClr val="bg1"/>
              </a:solidFill>
            </a:endParaRPr>
          </a:p>
        </p:txBody>
      </p:sp>
      <p:sp>
        <p:nvSpPr>
          <p:cNvPr id="49" name="Rectangle 48"/>
          <p:cNvSpPr/>
          <p:nvPr userDrawn="1"/>
        </p:nvSpPr>
        <p:spPr>
          <a:xfrm>
            <a:off x="22122" y="1218597"/>
            <a:ext cx="972490" cy="461665"/>
          </a:xfrm>
          <a:prstGeom prst="rect">
            <a:avLst/>
          </a:prstGeom>
        </p:spPr>
        <p:txBody>
          <a:bodyPr wrap="square">
            <a:spAutoFit/>
          </a:bodyPr>
          <a:lstStyle/>
          <a:p>
            <a:pPr algn="r">
              <a:spcBef>
                <a:spcPts val="300"/>
              </a:spcBef>
            </a:pPr>
            <a:r>
              <a:rPr lang="en-US" sz="1200" dirty="0">
                <a:solidFill>
                  <a:schemeClr val="bg2">
                    <a:lumMod val="25000"/>
                  </a:schemeClr>
                </a:solidFill>
              </a:rPr>
              <a:t>USER JOURNEY</a:t>
            </a:r>
          </a:p>
        </p:txBody>
      </p:sp>
      <p:sp>
        <p:nvSpPr>
          <p:cNvPr id="50" name="Rectangle 49"/>
          <p:cNvSpPr/>
          <p:nvPr userDrawn="1"/>
        </p:nvSpPr>
        <p:spPr>
          <a:xfrm>
            <a:off x="1" y="3066889"/>
            <a:ext cx="994612" cy="276999"/>
          </a:xfrm>
          <a:prstGeom prst="rect">
            <a:avLst/>
          </a:prstGeom>
        </p:spPr>
        <p:txBody>
          <a:bodyPr wrap="square">
            <a:spAutoFit/>
          </a:bodyPr>
          <a:lstStyle/>
          <a:p>
            <a:pPr algn="r">
              <a:spcBef>
                <a:spcPts val="300"/>
              </a:spcBef>
            </a:pPr>
            <a:r>
              <a:rPr lang="en-US" sz="1200" dirty="0">
                <a:solidFill>
                  <a:schemeClr val="bg2">
                    <a:lumMod val="25000"/>
                  </a:schemeClr>
                </a:solidFill>
              </a:rPr>
              <a:t>NEED STATE</a:t>
            </a:r>
          </a:p>
        </p:txBody>
      </p:sp>
      <p:sp>
        <p:nvSpPr>
          <p:cNvPr id="51" name="Rectangle 50"/>
          <p:cNvSpPr/>
          <p:nvPr userDrawn="1"/>
        </p:nvSpPr>
        <p:spPr>
          <a:xfrm>
            <a:off x="-30155" y="4009362"/>
            <a:ext cx="1024767" cy="276999"/>
          </a:xfrm>
          <a:prstGeom prst="rect">
            <a:avLst/>
          </a:prstGeom>
        </p:spPr>
        <p:txBody>
          <a:bodyPr wrap="square">
            <a:spAutoFit/>
          </a:bodyPr>
          <a:lstStyle/>
          <a:p>
            <a:pPr algn="r">
              <a:spcBef>
                <a:spcPts val="300"/>
              </a:spcBef>
            </a:pPr>
            <a:r>
              <a:rPr lang="en-US" sz="1200" dirty="0">
                <a:solidFill>
                  <a:schemeClr val="bg2">
                    <a:lumMod val="25000"/>
                  </a:schemeClr>
                </a:solidFill>
              </a:rPr>
              <a:t>CHANNEL</a:t>
            </a:r>
          </a:p>
        </p:txBody>
      </p:sp>
      <p:sp>
        <p:nvSpPr>
          <p:cNvPr id="52" name="Rectangle 51"/>
          <p:cNvSpPr/>
          <p:nvPr userDrawn="1"/>
        </p:nvSpPr>
        <p:spPr>
          <a:xfrm>
            <a:off x="-7376" y="4758566"/>
            <a:ext cx="1001988" cy="423034"/>
          </a:xfrm>
          <a:prstGeom prst="rect">
            <a:avLst/>
          </a:prstGeom>
        </p:spPr>
        <p:txBody>
          <a:bodyPr wrap="square">
            <a:spAutoFit/>
          </a:bodyPr>
          <a:lstStyle/>
          <a:p>
            <a:pPr algn="r">
              <a:spcBef>
                <a:spcPts val="300"/>
              </a:spcBef>
            </a:pPr>
            <a:r>
              <a:rPr lang="en-US" sz="1200" dirty="0">
                <a:solidFill>
                  <a:schemeClr val="bg2">
                    <a:lumMod val="25000"/>
                  </a:schemeClr>
                </a:solidFill>
              </a:rPr>
              <a:t>PAIN POINTS</a:t>
            </a:r>
          </a:p>
          <a:p>
            <a:pPr algn="r">
              <a:spcBef>
                <a:spcPts val="0"/>
              </a:spcBef>
            </a:pPr>
            <a:r>
              <a:rPr lang="en-SG" sz="900" i="1" dirty="0">
                <a:solidFill>
                  <a:schemeClr val="bg2">
                    <a:lumMod val="25000"/>
                  </a:schemeClr>
                </a:solidFill>
              </a:rPr>
              <a:t>.</a:t>
            </a:r>
          </a:p>
        </p:txBody>
      </p:sp>
      <p:sp>
        <p:nvSpPr>
          <p:cNvPr id="79" name="Rectangle 78"/>
          <p:cNvSpPr/>
          <p:nvPr userDrawn="1"/>
        </p:nvSpPr>
        <p:spPr>
          <a:xfrm>
            <a:off x="1297567" y="766914"/>
            <a:ext cx="2625204" cy="382311"/>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1" name="Rectangle 90"/>
          <p:cNvSpPr/>
          <p:nvPr userDrawn="1"/>
        </p:nvSpPr>
        <p:spPr>
          <a:xfrm>
            <a:off x="1297567" y="1208217"/>
            <a:ext cx="2625204" cy="17709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2" name="Rectangle 91"/>
          <p:cNvSpPr/>
          <p:nvPr userDrawn="1"/>
        </p:nvSpPr>
        <p:spPr>
          <a:xfrm>
            <a:off x="1297567" y="3038167"/>
            <a:ext cx="2625204" cy="91440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3" name="Rectangle 92"/>
          <p:cNvSpPr/>
          <p:nvPr userDrawn="1"/>
        </p:nvSpPr>
        <p:spPr>
          <a:xfrm>
            <a:off x="1297567" y="4011562"/>
            <a:ext cx="2625204" cy="6931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4" name="Rectangle 93"/>
          <p:cNvSpPr/>
          <p:nvPr userDrawn="1"/>
        </p:nvSpPr>
        <p:spPr>
          <a:xfrm>
            <a:off x="1297567" y="4763728"/>
            <a:ext cx="2625204" cy="209427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28" name="Rectangle 127"/>
          <p:cNvSpPr/>
          <p:nvPr userDrawn="1"/>
        </p:nvSpPr>
        <p:spPr>
          <a:xfrm>
            <a:off x="1500175" y="3062369"/>
            <a:ext cx="1315896" cy="877163"/>
          </a:xfrm>
          <a:prstGeom prst="rect">
            <a:avLst/>
          </a:prstGeom>
        </p:spPr>
        <p:txBody>
          <a:bodyPr wrap="square">
            <a:spAutoFit/>
          </a:bodyPr>
          <a:lstStyle/>
          <a:p>
            <a:pPr marL="171450" indent="-171450">
              <a:spcBef>
                <a:spcPts val="0"/>
              </a:spcBef>
              <a:buFont typeface="Wingdings" panose="05000000000000000000" pitchFamily="2" charset="2"/>
              <a:buChar char="q"/>
            </a:pPr>
            <a:r>
              <a:rPr lang="en-SG" sz="850" dirty="0">
                <a:solidFill>
                  <a:schemeClr val="bg2">
                    <a:lumMod val="25000"/>
                  </a:schemeClr>
                </a:solidFill>
              </a:rPr>
              <a:t> FINDING</a:t>
            </a:r>
          </a:p>
          <a:p>
            <a:pPr marL="171450" indent="-171450">
              <a:spcBef>
                <a:spcPts val="0"/>
              </a:spcBef>
              <a:buFont typeface="Wingdings" panose="05000000000000000000" pitchFamily="2" charset="2"/>
              <a:buChar char="q"/>
            </a:pPr>
            <a:r>
              <a:rPr lang="en-SG" sz="850" dirty="0">
                <a:solidFill>
                  <a:schemeClr val="bg2">
                    <a:lumMod val="25000"/>
                  </a:schemeClr>
                </a:solidFill>
              </a:rPr>
              <a:t> UNDERSTANDING</a:t>
            </a:r>
          </a:p>
          <a:p>
            <a:pPr marL="171450" indent="-171450">
              <a:spcBef>
                <a:spcPts val="0"/>
              </a:spcBef>
              <a:buFont typeface="Wingdings" panose="05000000000000000000" pitchFamily="2" charset="2"/>
              <a:buChar char="q"/>
            </a:pPr>
            <a:r>
              <a:rPr lang="en-SG" sz="850" dirty="0">
                <a:solidFill>
                  <a:schemeClr val="bg2">
                    <a:lumMod val="25000"/>
                  </a:schemeClr>
                </a:solidFill>
              </a:rPr>
              <a:t> APPLYING</a:t>
            </a:r>
          </a:p>
          <a:p>
            <a:pPr marL="171450" indent="-171450">
              <a:spcBef>
                <a:spcPts val="0"/>
              </a:spcBef>
              <a:buFont typeface="Wingdings" panose="05000000000000000000" pitchFamily="2" charset="2"/>
              <a:buChar char="q"/>
            </a:pPr>
            <a:r>
              <a:rPr lang="en-SG" sz="850" dirty="0">
                <a:solidFill>
                  <a:schemeClr val="bg2">
                    <a:lumMod val="25000"/>
                  </a:schemeClr>
                </a:solidFill>
              </a:rPr>
              <a:t> WHAT NEXT</a:t>
            </a:r>
          </a:p>
          <a:p>
            <a:pPr marL="171450" indent="-171450">
              <a:spcBef>
                <a:spcPts val="0"/>
              </a:spcBef>
              <a:buFont typeface="Wingdings" panose="05000000000000000000" pitchFamily="2" charset="2"/>
              <a:buChar char="q"/>
            </a:pPr>
            <a:r>
              <a:rPr lang="en-SG" sz="850" dirty="0">
                <a:solidFill>
                  <a:schemeClr val="bg2">
                    <a:lumMod val="25000"/>
                  </a:schemeClr>
                </a:solidFill>
              </a:rPr>
              <a:t> INTERACTING</a:t>
            </a:r>
          </a:p>
          <a:p>
            <a:pPr marL="171450" indent="-171450">
              <a:spcBef>
                <a:spcPts val="0"/>
              </a:spcBef>
              <a:buFont typeface="Wingdings" panose="05000000000000000000" pitchFamily="2" charset="2"/>
              <a:buChar char="q"/>
            </a:pPr>
            <a:r>
              <a:rPr lang="en-SG" sz="850" dirty="0">
                <a:solidFill>
                  <a:schemeClr val="bg2">
                    <a:lumMod val="25000"/>
                  </a:schemeClr>
                </a:solidFill>
              </a:rPr>
              <a:t> RECEIVING</a:t>
            </a:r>
          </a:p>
        </p:txBody>
      </p:sp>
      <p:grpSp>
        <p:nvGrpSpPr>
          <p:cNvPr id="9" name="Group 8"/>
          <p:cNvGrpSpPr/>
          <p:nvPr userDrawn="1"/>
        </p:nvGrpSpPr>
        <p:grpSpPr>
          <a:xfrm>
            <a:off x="2816071" y="814407"/>
            <a:ext cx="794246" cy="282161"/>
            <a:chOff x="3341640" y="814407"/>
            <a:chExt cx="794246" cy="282161"/>
          </a:xfrm>
        </p:grpSpPr>
        <p:sp>
          <p:nvSpPr>
            <p:cNvPr id="10" name="Rectangle 9"/>
            <p:cNvSpPr/>
            <p:nvPr userDrawn="1"/>
          </p:nvSpPr>
          <p:spPr>
            <a:xfrm>
              <a:off x="3341640" y="819569"/>
              <a:ext cx="703305" cy="276999"/>
            </a:xfrm>
            <a:prstGeom prst="rect">
              <a:avLst/>
            </a:prstGeom>
          </p:spPr>
          <p:txBody>
            <a:bodyPr wrap="square">
              <a:spAutoFit/>
            </a:bodyPr>
            <a:lstStyle/>
            <a:p>
              <a:pPr>
                <a:spcBef>
                  <a:spcPts val="300"/>
                </a:spcBef>
              </a:pPr>
              <a:r>
                <a:rPr lang="en-US" sz="1200" dirty="0">
                  <a:solidFill>
                    <a:schemeClr val="bg1"/>
                  </a:solidFill>
                </a:rPr>
                <a:t>STEP</a:t>
              </a:r>
              <a:endParaRPr lang="en-SG" sz="1200" dirty="0">
                <a:solidFill>
                  <a:schemeClr val="bg1"/>
                </a:solidFill>
              </a:endParaRPr>
            </a:p>
          </p:txBody>
        </p:sp>
        <p:sp>
          <p:nvSpPr>
            <p:cNvPr id="7" name="Oval 6"/>
            <p:cNvSpPr/>
            <p:nvPr userDrawn="1"/>
          </p:nvSpPr>
          <p:spPr>
            <a:xfrm>
              <a:off x="3858887" y="814407"/>
              <a:ext cx="276999" cy="2769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61" name="Group 60"/>
          <p:cNvGrpSpPr/>
          <p:nvPr userDrawn="1"/>
        </p:nvGrpSpPr>
        <p:grpSpPr>
          <a:xfrm>
            <a:off x="4053899" y="766914"/>
            <a:ext cx="2625204" cy="6091086"/>
            <a:chOff x="1823136" y="766914"/>
            <a:chExt cx="2625204" cy="6091086"/>
          </a:xfrm>
        </p:grpSpPr>
        <p:sp>
          <p:nvSpPr>
            <p:cNvPr id="62" name="Rectangle 61"/>
            <p:cNvSpPr/>
            <p:nvPr userDrawn="1"/>
          </p:nvSpPr>
          <p:spPr>
            <a:xfrm>
              <a:off x="1823136" y="766914"/>
              <a:ext cx="2625204" cy="382311"/>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4" name="Rectangle 63"/>
            <p:cNvSpPr/>
            <p:nvPr userDrawn="1"/>
          </p:nvSpPr>
          <p:spPr>
            <a:xfrm>
              <a:off x="1823136" y="1208217"/>
              <a:ext cx="2625204" cy="17709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5" name="Rectangle 64"/>
            <p:cNvSpPr/>
            <p:nvPr userDrawn="1"/>
          </p:nvSpPr>
          <p:spPr>
            <a:xfrm>
              <a:off x="1823136" y="3038167"/>
              <a:ext cx="2625204" cy="91440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6" name="Rectangle 65"/>
            <p:cNvSpPr/>
            <p:nvPr userDrawn="1"/>
          </p:nvSpPr>
          <p:spPr>
            <a:xfrm>
              <a:off x="1823136" y="4011562"/>
              <a:ext cx="2625204" cy="6931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7" name="Rectangle 66"/>
            <p:cNvSpPr/>
            <p:nvPr userDrawn="1"/>
          </p:nvSpPr>
          <p:spPr>
            <a:xfrm>
              <a:off x="1823136" y="4763728"/>
              <a:ext cx="2625204" cy="209427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8" name="Rectangle 67"/>
            <p:cNvSpPr/>
            <p:nvPr userDrawn="1"/>
          </p:nvSpPr>
          <p:spPr>
            <a:xfrm>
              <a:off x="2025744" y="3062369"/>
              <a:ext cx="1315896" cy="877163"/>
            </a:xfrm>
            <a:prstGeom prst="rect">
              <a:avLst/>
            </a:prstGeom>
          </p:spPr>
          <p:txBody>
            <a:bodyPr wrap="square">
              <a:spAutoFit/>
            </a:bodyPr>
            <a:lstStyle/>
            <a:p>
              <a:pPr marL="171450" indent="-171450">
                <a:spcBef>
                  <a:spcPts val="0"/>
                </a:spcBef>
                <a:buFont typeface="Wingdings" panose="05000000000000000000" pitchFamily="2" charset="2"/>
                <a:buChar char="q"/>
              </a:pPr>
              <a:r>
                <a:rPr lang="en-SG" sz="850" dirty="0">
                  <a:solidFill>
                    <a:schemeClr val="bg2">
                      <a:lumMod val="25000"/>
                    </a:schemeClr>
                  </a:solidFill>
                </a:rPr>
                <a:t> FINDING</a:t>
              </a:r>
            </a:p>
            <a:p>
              <a:pPr marL="171450" indent="-171450">
                <a:spcBef>
                  <a:spcPts val="0"/>
                </a:spcBef>
                <a:buFont typeface="Wingdings" panose="05000000000000000000" pitchFamily="2" charset="2"/>
                <a:buChar char="q"/>
              </a:pPr>
              <a:r>
                <a:rPr lang="en-SG" sz="850" dirty="0">
                  <a:solidFill>
                    <a:schemeClr val="bg2">
                      <a:lumMod val="25000"/>
                    </a:schemeClr>
                  </a:solidFill>
                </a:rPr>
                <a:t> UNDERSTANDING</a:t>
              </a:r>
            </a:p>
            <a:p>
              <a:pPr marL="171450" indent="-171450">
                <a:spcBef>
                  <a:spcPts val="0"/>
                </a:spcBef>
                <a:buFont typeface="Wingdings" panose="05000000000000000000" pitchFamily="2" charset="2"/>
                <a:buChar char="q"/>
              </a:pPr>
              <a:r>
                <a:rPr lang="en-SG" sz="850" dirty="0">
                  <a:solidFill>
                    <a:schemeClr val="bg2">
                      <a:lumMod val="25000"/>
                    </a:schemeClr>
                  </a:solidFill>
                </a:rPr>
                <a:t> APPLYING</a:t>
              </a:r>
            </a:p>
            <a:p>
              <a:pPr marL="171450" indent="-171450">
                <a:spcBef>
                  <a:spcPts val="0"/>
                </a:spcBef>
                <a:buFont typeface="Wingdings" panose="05000000000000000000" pitchFamily="2" charset="2"/>
                <a:buChar char="q"/>
              </a:pPr>
              <a:r>
                <a:rPr lang="en-SG" sz="850" dirty="0">
                  <a:solidFill>
                    <a:schemeClr val="bg2">
                      <a:lumMod val="25000"/>
                    </a:schemeClr>
                  </a:solidFill>
                </a:rPr>
                <a:t> WHAT NEXT</a:t>
              </a:r>
            </a:p>
            <a:p>
              <a:pPr marL="171450" indent="-171450">
                <a:spcBef>
                  <a:spcPts val="0"/>
                </a:spcBef>
                <a:buFont typeface="Wingdings" panose="05000000000000000000" pitchFamily="2" charset="2"/>
                <a:buChar char="q"/>
              </a:pPr>
              <a:r>
                <a:rPr lang="en-SG" sz="850" dirty="0">
                  <a:solidFill>
                    <a:schemeClr val="bg2">
                      <a:lumMod val="25000"/>
                    </a:schemeClr>
                  </a:solidFill>
                </a:rPr>
                <a:t> INTERACTING</a:t>
              </a:r>
            </a:p>
            <a:p>
              <a:pPr marL="171450" indent="-171450">
                <a:spcBef>
                  <a:spcPts val="0"/>
                </a:spcBef>
                <a:buFont typeface="Wingdings" panose="05000000000000000000" pitchFamily="2" charset="2"/>
                <a:buChar char="q"/>
              </a:pPr>
              <a:r>
                <a:rPr lang="en-SG" sz="850" dirty="0">
                  <a:solidFill>
                    <a:schemeClr val="bg2">
                      <a:lumMod val="25000"/>
                    </a:schemeClr>
                  </a:solidFill>
                </a:rPr>
                <a:t> RECEIVING</a:t>
              </a:r>
            </a:p>
          </p:txBody>
        </p:sp>
        <p:grpSp>
          <p:nvGrpSpPr>
            <p:cNvPr id="69" name="Group 68"/>
            <p:cNvGrpSpPr/>
            <p:nvPr userDrawn="1"/>
          </p:nvGrpSpPr>
          <p:grpSpPr>
            <a:xfrm>
              <a:off x="3341640" y="814407"/>
              <a:ext cx="794246" cy="282161"/>
              <a:chOff x="3341640" y="814407"/>
              <a:chExt cx="794246" cy="282161"/>
            </a:xfrm>
          </p:grpSpPr>
          <p:sp>
            <p:nvSpPr>
              <p:cNvPr id="70" name="Rectangle 69"/>
              <p:cNvSpPr/>
              <p:nvPr userDrawn="1"/>
            </p:nvSpPr>
            <p:spPr>
              <a:xfrm>
                <a:off x="3341640" y="819569"/>
                <a:ext cx="703305" cy="276999"/>
              </a:xfrm>
              <a:prstGeom prst="rect">
                <a:avLst/>
              </a:prstGeom>
            </p:spPr>
            <p:txBody>
              <a:bodyPr wrap="square">
                <a:spAutoFit/>
              </a:bodyPr>
              <a:lstStyle/>
              <a:p>
                <a:pPr>
                  <a:spcBef>
                    <a:spcPts val="300"/>
                  </a:spcBef>
                </a:pPr>
                <a:r>
                  <a:rPr lang="en-US" sz="1200" dirty="0">
                    <a:solidFill>
                      <a:schemeClr val="bg1"/>
                    </a:solidFill>
                  </a:rPr>
                  <a:t>STEP</a:t>
                </a:r>
                <a:endParaRPr lang="en-SG" sz="1200" dirty="0">
                  <a:solidFill>
                    <a:schemeClr val="bg1"/>
                  </a:solidFill>
                </a:endParaRPr>
              </a:p>
            </p:txBody>
          </p:sp>
          <p:sp>
            <p:nvSpPr>
              <p:cNvPr id="71" name="Oval 70"/>
              <p:cNvSpPr/>
              <p:nvPr userDrawn="1"/>
            </p:nvSpPr>
            <p:spPr>
              <a:xfrm>
                <a:off x="3858887" y="814407"/>
                <a:ext cx="276999" cy="2769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grpSp>
        <p:nvGrpSpPr>
          <p:cNvPr id="72" name="Group 71"/>
          <p:cNvGrpSpPr/>
          <p:nvPr userDrawn="1"/>
        </p:nvGrpSpPr>
        <p:grpSpPr>
          <a:xfrm>
            <a:off x="6813025" y="766914"/>
            <a:ext cx="2625204" cy="6091086"/>
            <a:chOff x="1823136" y="766914"/>
            <a:chExt cx="2625204" cy="6091086"/>
          </a:xfrm>
        </p:grpSpPr>
        <p:sp>
          <p:nvSpPr>
            <p:cNvPr id="73" name="Rectangle 72"/>
            <p:cNvSpPr/>
            <p:nvPr userDrawn="1"/>
          </p:nvSpPr>
          <p:spPr>
            <a:xfrm>
              <a:off x="1823136" y="766914"/>
              <a:ext cx="2625204" cy="382311"/>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5" name="Rectangle 74"/>
            <p:cNvSpPr/>
            <p:nvPr userDrawn="1"/>
          </p:nvSpPr>
          <p:spPr>
            <a:xfrm>
              <a:off x="1823136" y="1208217"/>
              <a:ext cx="2625204" cy="17709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7" name="Rectangle 76"/>
            <p:cNvSpPr/>
            <p:nvPr userDrawn="1"/>
          </p:nvSpPr>
          <p:spPr>
            <a:xfrm>
              <a:off x="1823136" y="3038167"/>
              <a:ext cx="2625204" cy="91440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0" name="Rectangle 79"/>
            <p:cNvSpPr/>
            <p:nvPr userDrawn="1"/>
          </p:nvSpPr>
          <p:spPr>
            <a:xfrm>
              <a:off x="1823136" y="4011562"/>
              <a:ext cx="2625204" cy="6931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1" name="Rectangle 80"/>
            <p:cNvSpPr/>
            <p:nvPr userDrawn="1"/>
          </p:nvSpPr>
          <p:spPr>
            <a:xfrm>
              <a:off x="1823136" y="4763728"/>
              <a:ext cx="2625204" cy="209427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2" name="Rectangle 81"/>
            <p:cNvSpPr/>
            <p:nvPr userDrawn="1"/>
          </p:nvSpPr>
          <p:spPr>
            <a:xfrm>
              <a:off x="2025744" y="3062369"/>
              <a:ext cx="1315896" cy="877163"/>
            </a:xfrm>
            <a:prstGeom prst="rect">
              <a:avLst/>
            </a:prstGeom>
          </p:spPr>
          <p:txBody>
            <a:bodyPr wrap="square">
              <a:spAutoFit/>
            </a:bodyPr>
            <a:lstStyle/>
            <a:p>
              <a:pPr marL="171450" indent="-171450">
                <a:spcBef>
                  <a:spcPts val="0"/>
                </a:spcBef>
                <a:buFont typeface="Wingdings" panose="05000000000000000000" pitchFamily="2" charset="2"/>
                <a:buChar char="q"/>
              </a:pPr>
              <a:r>
                <a:rPr lang="en-SG" sz="850" dirty="0">
                  <a:solidFill>
                    <a:schemeClr val="bg2">
                      <a:lumMod val="25000"/>
                    </a:schemeClr>
                  </a:solidFill>
                </a:rPr>
                <a:t> FINDING</a:t>
              </a:r>
            </a:p>
            <a:p>
              <a:pPr marL="171450" indent="-171450">
                <a:spcBef>
                  <a:spcPts val="0"/>
                </a:spcBef>
                <a:buFont typeface="Wingdings" panose="05000000000000000000" pitchFamily="2" charset="2"/>
                <a:buChar char="q"/>
              </a:pPr>
              <a:r>
                <a:rPr lang="en-SG" sz="850" dirty="0">
                  <a:solidFill>
                    <a:schemeClr val="bg2">
                      <a:lumMod val="25000"/>
                    </a:schemeClr>
                  </a:solidFill>
                </a:rPr>
                <a:t> UNDERSTANDING</a:t>
              </a:r>
            </a:p>
            <a:p>
              <a:pPr marL="171450" indent="-171450">
                <a:spcBef>
                  <a:spcPts val="0"/>
                </a:spcBef>
                <a:buFont typeface="Wingdings" panose="05000000000000000000" pitchFamily="2" charset="2"/>
                <a:buChar char="q"/>
              </a:pPr>
              <a:r>
                <a:rPr lang="en-SG" sz="850" dirty="0">
                  <a:solidFill>
                    <a:schemeClr val="bg2">
                      <a:lumMod val="25000"/>
                    </a:schemeClr>
                  </a:solidFill>
                </a:rPr>
                <a:t> APPLYING</a:t>
              </a:r>
            </a:p>
            <a:p>
              <a:pPr marL="171450" indent="-171450">
                <a:spcBef>
                  <a:spcPts val="0"/>
                </a:spcBef>
                <a:buFont typeface="Wingdings" panose="05000000000000000000" pitchFamily="2" charset="2"/>
                <a:buChar char="q"/>
              </a:pPr>
              <a:r>
                <a:rPr lang="en-SG" sz="850" dirty="0">
                  <a:solidFill>
                    <a:schemeClr val="bg2">
                      <a:lumMod val="25000"/>
                    </a:schemeClr>
                  </a:solidFill>
                </a:rPr>
                <a:t> WHAT NEXT</a:t>
              </a:r>
            </a:p>
            <a:p>
              <a:pPr marL="171450" indent="-171450">
                <a:spcBef>
                  <a:spcPts val="0"/>
                </a:spcBef>
                <a:buFont typeface="Wingdings" panose="05000000000000000000" pitchFamily="2" charset="2"/>
                <a:buChar char="q"/>
              </a:pPr>
              <a:r>
                <a:rPr lang="en-SG" sz="850" dirty="0">
                  <a:solidFill>
                    <a:schemeClr val="bg2">
                      <a:lumMod val="25000"/>
                    </a:schemeClr>
                  </a:solidFill>
                </a:rPr>
                <a:t> INTERACTING</a:t>
              </a:r>
            </a:p>
            <a:p>
              <a:pPr marL="171450" indent="-171450">
                <a:spcBef>
                  <a:spcPts val="0"/>
                </a:spcBef>
                <a:buFont typeface="Wingdings" panose="05000000000000000000" pitchFamily="2" charset="2"/>
                <a:buChar char="q"/>
              </a:pPr>
              <a:r>
                <a:rPr lang="en-SG" sz="850" dirty="0">
                  <a:solidFill>
                    <a:schemeClr val="bg2">
                      <a:lumMod val="25000"/>
                    </a:schemeClr>
                  </a:solidFill>
                </a:rPr>
                <a:t> RECEIVING</a:t>
              </a:r>
            </a:p>
          </p:txBody>
        </p:sp>
        <p:grpSp>
          <p:nvGrpSpPr>
            <p:cNvPr id="83" name="Group 82"/>
            <p:cNvGrpSpPr/>
            <p:nvPr userDrawn="1"/>
          </p:nvGrpSpPr>
          <p:grpSpPr>
            <a:xfrm>
              <a:off x="3341640" y="814407"/>
              <a:ext cx="794246" cy="282161"/>
              <a:chOff x="3341640" y="814407"/>
              <a:chExt cx="794246" cy="282161"/>
            </a:xfrm>
          </p:grpSpPr>
          <p:sp>
            <p:nvSpPr>
              <p:cNvPr id="84" name="Rectangle 83"/>
              <p:cNvSpPr/>
              <p:nvPr userDrawn="1"/>
            </p:nvSpPr>
            <p:spPr>
              <a:xfrm>
                <a:off x="3341640" y="819569"/>
                <a:ext cx="703305" cy="276999"/>
              </a:xfrm>
              <a:prstGeom prst="rect">
                <a:avLst/>
              </a:prstGeom>
            </p:spPr>
            <p:txBody>
              <a:bodyPr wrap="square">
                <a:spAutoFit/>
              </a:bodyPr>
              <a:lstStyle/>
              <a:p>
                <a:pPr>
                  <a:spcBef>
                    <a:spcPts val="300"/>
                  </a:spcBef>
                </a:pPr>
                <a:r>
                  <a:rPr lang="en-US" sz="1200" dirty="0">
                    <a:solidFill>
                      <a:schemeClr val="bg1"/>
                    </a:solidFill>
                  </a:rPr>
                  <a:t>STEP</a:t>
                </a:r>
                <a:endParaRPr lang="en-SG" sz="1200" dirty="0">
                  <a:solidFill>
                    <a:schemeClr val="bg1"/>
                  </a:solidFill>
                </a:endParaRPr>
              </a:p>
            </p:txBody>
          </p:sp>
          <p:sp>
            <p:nvSpPr>
              <p:cNvPr id="85" name="Oval 84"/>
              <p:cNvSpPr/>
              <p:nvPr userDrawn="1"/>
            </p:nvSpPr>
            <p:spPr>
              <a:xfrm>
                <a:off x="3858887" y="814407"/>
                <a:ext cx="276999" cy="2769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grpSp>
        <p:nvGrpSpPr>
          <p:cNvPr id="86" name="Group 85"/>
          <p:cNvGrpSpPr/>
          <p:nvPr userDrawn="1"/>
        </p:nvGrpSpPr>
        <p:grpSpPr>
          <a:xfrm>
            <a:off x="9566564" y="777805"/>
            <a:ext cx="2625204" cy="6091086"/>
            <a:chOff x="1823136" y="766914"/>
            <a:chExt cx="2625204" cy="6091086"/>
          </a:xfrm>
        </p:grpSpPr>
        <p:sp>
          <p:nvSpPr>
            <p:cNvPr id="95" name="Rectangle 94"/>
            <p:cNvSpPr/>
            <p:nvPr userDrawn="1"/>
          </p:nvSpPr>
          <p:spPr>
            <a:xfrm>
              <a:off x="1823136" y="766914"/>
              <a:ext cx="2625204" cy="382311"/>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6" name="Rectangle 95"/>
            <p:cNvSpPr/>
            <p:nvPr userDrawn="1"/>
          </p:nvSpPr>
          <p:spPr>
            <a:xfrm>
              <a:off x="1823136" y="1208217"/>
              <a:ext cx="2625204" cy="177095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7" name="Rectangle 96"/>
            <p:cNvSpPr/>
            <p:nvPr userDrawn="1"/>
          </p:nvSpPr>
          <p:spPr>
            <a:xfrm>
              <a:off x="1823136" y="3038167"/>
              <a:ext cx="2625204" cy="91440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8" name="Rectangle 97"/>
            <p:cNvSpPr/>
            <p:nvPr userDrawn="1"/>
          </p:nvSpPr>
          <p:spPr>
            <a:xfrm>
              <a:off x="1823136" y="4011562"/>
              <a:ext cx="2625204" cy="69317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99" name="Rectangle 98"/>
            <p:cNvSpPr/>
            <p:nvPr userDrawn="1"/>
          </p:nvSpPr>
          <p:spPr>
            <a:xfrm>
              <a:off x="1823136" y="4763728"/>
              <a:ext cx="2625204" cy="2094272"/>
            </a:xfrm>
            <a:prstGeom prst="rect">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00" name="Rectangle 99"/>
            <p:cNvSpPr/>
            <p:nvPr userDrawn="1"/>
          </p:nvSpPr>
          <p:spPr>
            <a:xfrm>
              <a:off x="2025744" y="3062369"/>
              <a:ext cx="1315896" cy="877163"/>
            </a:xfrm>
            <a:prstGeom prst="rect">
              <a:avLst/>
            </a:prstGeom>
          </p:spPr>
          <p:txBody>
            <a:bodyPr wrap="square">
              <a:spAutoFit/>
            </a:bodyPr>
            <a:lstStyle/>
            <a:p>
              <a:pPr marL="171450" indent="-171450">
                <a:spcBef>
                  <a:spcPts val="0"/>
                </a:spcBef>
                <a:buFont typeface="Wingdings" panose="05000000000000000000" pitchFamily="2" charset="2"/>
                <a:buChar char="q"/>
              </a:pPr>
              <a:r>
                <a:rPr lang="en-SG" sz="850" dirty="0">
                  <a:solidFill>
                    <a:schemeClr val="bg2">
                      <a:lumMod val="25000"/>
                    </a:schemeClr>
                  </a:solidFill>
                </a:rPr>
                <a:t> FINDING</a:t>
              </a:r>
            </a:p>
            <a:p>
              <a:pPr marL="171450" indent="-171450">
                <a:spcBef>
                  <a:spcPts val="0"/>
                </a:spcBef>
                <a:buFont typeface="Wingdings" panose="05000000000000000000" pitchFamily="2" charset="2"/>
                <a:buChar char="q"/>
              </a:pPr>
              <a:r>
                <a:rPr lang="en-SG" sz="850" dirty="0">
                  <a:solidFill>
                    <a:schemeClr val="bg2">
                      <a:lumMod val="25000"/>
                    </a:schemeClr>
                  </a:solidFill>
                </a:rPr>
                <a:t> UNDERSTANDING</a:t>
              </a:r>
            </a:p>
            <a:p>
              <a:pPr marL="171450" indent="-171450">
                <a:spcBef>
                  <a:spcPts val="0"/>
                </a:spcBef>
                <a:buFont typeface="Wingdings" panose="05000000000000000000" pitchFamily="2" charset="2"/>
                <a:buChar char="q"/>
              </a:pPr>
              <a:r>
                <a:rPr lang="en-SG" sz="850" dirty="0">
                  <a:solidFill>
                    <a:schemeClr val="bg2">
                      <a:lumMod val="25000"/>
                    </a:schemeClr>
                  </a:solidFill>
                </a:rPr>
                <a:t> APPLYING</a:t>
              </a:r>
            </a:p>
            <a:p>
              <a:pPr marL="171450" indent="-171450">
                <a:spcBef>
                  <a:spcPts val="0"/>
                </a:spcBef>
                <a:buFont typeface="Wingdings" panose="05000000000000000000" pitchFamily="2" charset="2"/>
                <a:buChar char="q"/>
              </a:pPr>
              <a:r>
                <a:rPr lang="en-SG" sz="850" dirty="0">
                  <a:solidFill>
                    <a:schemeClr val="bg2">
                      <a:lumMod val="25000"/>
                    </a:schemeClr>
                  </a:solidFill>
                </a:rPr>
                <a:t> WHAT NEXT</a:t>
              </a:r>
            </a:p>
            <a:p>
              <a:pPr marL="171450" indent="-171450">
                <a:spcBef>
                  <a:spcPts val="0"/>
                </a:spcBef>
                <a:buFont typeface="Wingdings" panose="05000000000000000000" pitchFamily="2" charset="2"/>
                <a:buChar char="q"/>
              </a:pPr>
              <a:r>
                <a:rPr lang="en-SG" sz="850" dirty="0">
                  <a:solidFill>
                    <a:schemeClr val="bg2">
                      <a:lumMod val="25000"/>
                    </a:schemeClr>
                  </a:solidFill>
                </a:rPr>
                <a:t> INTERACTING</a:t>
              </a:r>
            </a:p>
            <a:p>
              <a:pPr marL="171450" indent="-171450">
                <a:spcBef>
                  <a:spcPts val="0"/>
                </a:spcBef>
                <a:buFont typeface="Wingdings" panose="05000000000000000000" pitchFamily="2" charset="2"/>
                <a:buChar char="q"/>
              </a:pPr>
              <a:r>
                <a:rPr lang="en-SG" sz="850" dirty="0">
                  <a:solidFill>
                    <a:schemeClr val="bg2">
                      <a:lumMod val="25000"/>
                    </a:schemeClr>
                  </a:solidFill>
                </a:rPr>
                <a:t> RECEIVING</a:t>
              </a:r>
            </a:p>
          </p:txBody>
        </p:sp>
        <p:grpSp>
          <p:nvGrpSpPr>
            <p:cNvPr id="104" name="Group 103"/>
            <p:cNvGrpSpPr/>
            <p:nvPr userDrawn="1"/>
          </p:nvGrpSpPr>
          <p:grpSpPr>
            <a:xfrm>
              <a:off x="3341640" y="814407"/>
              <a:ext cx="794246" cy="282161"/>
              <a:chOff x="3341640" y="814407"/>
              <a:chExt cx="794246" cy="282161"/>
            </a:xfrm>
          </p:grpSpPr>
          <p:sp>
            <p:nvSpPr>
              <p:cNvPr id="112" name="Rectangle 111"/>
              <p:cNvSpPr/>
              <p:nvPr userDrawn="1"/>
            </p:nvSpPr>
            <p:spPr>
              <a:xfrm>
                <a:off x="3341640" y="819569"/>
                <a:ext cx="703305" cy="276999"/>
              </a:xfrm>
              <a:prstGeom prst="rect">
                <a:avLst/>
              </a:prstGeom>
            </p:spPr>
            <p:txBody>
              <a:bodyPr wrap="square">
                <a:spAutoFit/>
              </a:bodyPr>
              <a:lstStyle/>
              <a:p>
                <a:pPr>
                  <a:spcBef>
                    <a:spcPts val="300"/>
                  </a:spcBef>
                </a:pPr>
                <a:r>
                  <a:rPr lang="en-US" sz="1200" dirty="0">
                    <a:solidFill>
                      <a:schemeClr val="bg1"/>
                    </a:solidFill>
                  </a:rPr>
                  <a:t>STEP</a:t>
                </a:r>
                <a:endParaRPr lang="en-SG" sz="1200" dirty="0">
                  <a:solidFill>
                    <a:schemeClr val="bg1"/>
                  </a:solidFill>
                </a:endParaRPr>
              </a:p>
            </p:txBody>
          </p:sp>
          <p:sp>
            <p:nvSpPr>
              <p:cNvPr id="113" name="Oval 112"/>
              <p:cNvSpPr/>
              <p:nvPr userDrawn="1"/>
            </p:nvSpPr>
            <p:spPr>
              <a:xfrm>
                <a:off x="3858887" y="814407"/>
                <a:ext cx="276999" cy="2769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cxnSp>
        <p:nvCxnSpPr>
          <p:cNvPr id="4" name="Straight Connector 3"/>
          <p:cNvCxnSpPr>
            <a:endCxn id="96" idx="3"/>
          </p:cNvCxnSpPr>
          <p:nvPr userDrawn="1"/>
        </p:nvCxnSpPr>
        <p:spPr>
          <a:xfrm>
            <a:off x="2699709" y="2090715"/>
            <a:ext cx="9492059" cy="1387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2" name="TextBox 11"/>
          <p:cNvSpPr txBox="1"/>
          <p:nvPr userDrawn="1"/>
        </p:nvSpPr>
        <p:spPr>
          <a:xfrm rot="1039788">
            <a:off x="1768894" y="388850"/>
            <a:ext cx="589936" cy="338554"/>
          </a:xfrm>
          <a:prstGeom prst="rect">
            <a:avLst/>
          </a:prstGeom>
          <a:noFill/>
        </p:spPr>
        <p:txBody>
          <a:bodyPr wrap="square" rtlCol="0">
            <a:spAutoFit/>
          </a:bodyPr>
          <a:lstStyle/>
          <a:p>
            <a:r>
              <a:rPr lang="en-SG" sz="1600" b="1" dirty="0">
                <a:solidFill>
                  <a:srgbClr val="FF0000"/>
                </a:solidFill>
                <a:sym typeface="Symbol" panose="05050102010706020507" pitchFamily="18" charset="2"/>
              </a:rPr>
              <a:t></a:t>
            </a:r>
            <a:endParaRPr lang="en-SG" sz="1600" b="1" dirty="0">
              <a:solidFill>
                <a:srgbClr val="FF0000"/>
              </a:solidFill>
            </a:endParaRPr>
          </a:p>
        </p:txBody>
      </p:sp>
      <p:sp>
        <p:nvSpPr>
          <p:cNvPr id="13" name="Rectangle 12"/>
          <p:cNvSpPr/>
          <p:nvPr userDrawn="1"/>
        </p:nvSpPr>
        <p:spPr>
          <a:xfrm>
            <a:off x="1297566" y="4006400"/>
            <a:ext cx="10894201" cy="69488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6" name="Rectangle 75"/>
          <p:cNvSpPr/>
          <p:nvPr userDrawn="1"/>
        </p:nvSpPr>
        <p:spPr>
          <a:xfrm>
            <a:off x="1297566" y="4205219"/>
            <a:ext cx="10894433" cy="369332"/>
          </a:xfrm>
          <a:prstGeom prst="rect">
            <a:avLst/>
          </a:prstGeom>
        </p:spPr>
        <p:txBody>
          <a:bodyPr wrap="square">
            <a:spAutoFit/>
          </a:bodyPr>
          <a:lstStyle/>
          <a:p>
            <a:pPr algn="ctr">
              <a:spcBef>
                <a:spcPts val="300"/>
              </a:spcBef>
            </a:pPr>
            <a:r>
              <a:rPr lang="en-US" sz="1800" dirty="0">
                <a:solidFill>
                  <a:schemeClr val="bg2">
                    <a:lumMod val="25000"/>
                  </a:schemeClr>
                </a:solidFill>
              </a:rPr>
              <a:t>MOBILE APP / WEBSITE / OTHERS:</a:t>
            </a:r>
            <a:r>
              <a:rPr lang="en-US" sz="1800" baseline="0" dirty="0">
                <a:solidFill>
                  <a:schemeClr val="bg2">
                    <a:lumMod val="25000"/>
                  </a:schemeClr>
                </a:solidFill>
              </a:rPr>
              <a:t> ___________________</a:t>
            </a:r>
            <a:endParaRPr lang="en-US" sz="1800" dirty="0">
              <a:solidFill>
                <a:schemeClr val="bg2">
                  <a:lumMod val="25000"/>
                </a:schemeClr>
              </a:solidFill>
            </a:endParaRPr>
          </a:p>
        </p:txBody>
      </p:sp>
      <p:sp>
        <p:nvSpPr>
          <p:cNvPr id="2" name="TextBox 1"/>
          <p:cNvSpPr txBox="1"/>
          <p:nvPr userDrawn="1"/>
        </p:nvSpPr>
        <p:spPr>
          <a:xfrm>
            <a:off x="1245803" y="1526301"/>
            <a:ext cx="1423788" cy="246221"/>
          </a:xfrm>
          <a:prstGeom prst="rect">
            <a:avLst/>
          </a:prstGeom>
          <a:noFill/>
        </p:spPr>
        <p:txBody>
          <a:bodyPr wrap="none" rtlCol="0">
            <a:spAutoFit/>
          </a:bodyPr>
          <a:lstStyle/>
          <a:p>
            <a:r>
              <a:rPr lang="en-US" sz="1000" dirty="0">
                <a:solidFill>
                  <a:srgbClr val="00B050"/>
                </a:solidFill>
              </a:rPr>
              <a:t>[ + ] Positive Experience</a:t>
            </a:r>
            <a:endParaRPr lang="en-SG" sz="1000" dirty="0">
              <a:solidFill>
                <a:srgbClr val="00B050"/>
              </a:solidFill>
            </a:endParaRPr>
          </a:p>
        </p:txBody>
      </p:sp>
      <p:sp>
        <p:nvSpPr>
          <p:cNvPr id="87" name="TextBox 86"/>
          <p:cNvSpPr txBox="1"/>
          <p:nvPr userDrawn="1"/>
        </p:nvSpPr>
        <p:spPr>
          <a:xfrm>
            <a:off x="1246643" y="1967605"/>
            <a:ext cx="1445634" cy="246221"/>
          </a:xfrm>
          <a:prstGeom prst="rect">
            <a:avLst/>
          </a:prstGeom>
          <a:noFill/>
        </p:spPr>
        <p:txBody>
          <a:bodyPr wrap="square" rtlCol="0">
            <a:spAutoFit/>
          </a:bodyPr>
          <a:lstStyle/>
          <a:p>
            <a:r>
              <a:rPr lang="en-US" sz="1000" dirty="0">
                <a:solidFill>
                  <a:schemeClr val="bg1">
                    <a:lumMod val="50000"/>
                  </a:schemeClr>
                </a:solidFill>
              </a:rPr>
              <a:t>[ 0 ] Average Experience</a:t>
            </a:r>
            <a:endParaRPr lang="en-SG" sz="1000" dirty="0">
              <a:solidFill>
                <a:schemeClr val="bg1">
                  <a:lumMod val="50000"/>
                </a:schemeClr>
              </a:solidFill>
            </a:endParaRPr>
          </a:p>
        </p:txBody>
      </p:sp>
      <p:sp>
        <p:nvSpPr>
          <p:cNvPr id="88" name="TextBox 87"/>
          <p:cNvSpPr txBox="1"/>
          <p:nvPr userDrawn="1"/>
        </p:nvSpPr>
        <p:spPr>
          <a:xfrm>
            <a:off x="1254075" y="2389834"/>
            <a:ext cx="1445634" cy="400110"/>
          </a:xfrm>
          <a:prstGeom prst="rect">
            <a:avLst/>
          </a:prstGeom>
          <a:noFill/>
        </p:spPr>
        <p:txBody>
          <a:bodyPr wrap="square" rtlCol="0">
            <a:spAutoFit/>
          </a:bodyPr>
          <a:lstStyle/>
          <a:p>
            <a:r>
              <a:rPr lang="en-US" sz="1000" dirty="0">
                <a:solidFill>
                  <a:srgbClr val="FF0000"/>
                </a:solidFill>
              </a:rPr>
              <a:t>[ - ] Negative Experience</a:t>
            </a:r>
            <a:br>
              <a:rPr lang="en-US" sz="1000" dirty="0">
                <a:solidFill>
                  <a:srgbClr val="FF0000"/>
                </a:solidFill>
              </a:rPr>
            </a:br>
            <a:r>
              <a:rPr lang="en-US" sz="1000" dirty="0">
                <a:solidFill>
                  <a:srgbClr val="FF0000"/>
                </a:solidFill>
              </a:rPr>
              <a:t>       </a:t>
            </a:r>
            <a:r>
              <a:rPr lang="en-US" sz="800" i="1" dirty="0">
                <a:solidFill>
                  <a:srgbClr val="FF0000"/>
                </a:solidFill>
              </a:rPr>
              <a:t>(Pain</a:t>
            </a:r>
            <a:r>
              <a:rPr lang="en-US" sz="800" i="1" baseline="0" dirty="0">
                <a:solidFill>
                  <a:srgbClr val="FF0000"/>
                </a:solidFill>
              </a:rPr>
              <a:t> Points)</a:t>
            </a:r>
            <a:endParaRPr lang="en-SG" sz="800" i="1" dirty="0">
              <a:solidFill>
                <a:srgbClr val="FF0000"/>
              </a:solidFill>
            </a:endParaRPr>
          </a:p>
        </p:txBody>
      </p:sp>
    </p:spTree>
    <p:extLst>
      <p:ext uri="{BB962C8B-B14F-4D97-AF65-F5344CB8AC3E}">
        <p14:creationId xmlns:p14="http://schemas.microsoft.com/office/powerpoint/2010/main" val="12559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6F6254-00DC-CC44-BEDD-78F80580B7C3}" type="datetimeFigureOut">
              <a:rPr lang="en-US" smtClean="0"/>
              <a:t>5/21/2021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6F101-0D89-7745-963F-31D9D6B80049}" type="slidenum">
              <a:rPr lang="en-US" smtClean="0"/>
              <a:t>‹#›</a:t>
            </a:fld>
            <a:endParaRPr lang="en-US" dirty="0"/>
          </a:p>
        </p:txBody>
      </p:sp>
    </p:spTree>
    <p:extLst>
      <p:ext uri="{BB962C8B-B14F-4D97-AF65-F5344CB8AC3E}">
        <p14:creationId xmlns:p14="http://schemas.microsoft.com/office/powerpoint/2010/main" val="1376874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Lst>
  <p:txStyles>
    <p:titleStyle>
      <a:lvl1pPr algn="l" defTabSz="914400" rtl="0" eaLnBrk="1" latinLnBrk="0" hangingPunct="1">
        <a:lnSpc>
          <a:spcPct val="90000"/>
        </a:lnSpc>
        <a:spcBef>
          <a:spcPct val="0"/>
        </a:spcBef>
        <a:buNone/>
        <a:defRPr sz="4400" b="0" i="0" u="none"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bbc.com/news/newsbeat-43240886#:~:text=Founded%20by%20Daniel%20Ek%20and,the%20music%20industry%20was%20facing.&amp;text=This%20cost%20the%20music%20industry,not%20paying%20for%20the%20songs" TargetMode="External"/><Relationship Id="rId2" Type="http://schemas.openxmlformats.org/officeDocument/2006/relationships/hyperlink" Target="https://newsroom.spotify.com/company-inf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6FD2B106-31C7-446F-B4D3-C9EE8CEB5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ln w="0">
            <a:noFill/>
            <a:prstDash val="solid"/>
            <a:round/>
            <a:headEnd/>
            <a:tailEnd/>
          </a:ln>
        </p:spPr>
        <p:txBody>
          <a:bodyPr rtlCol="0" anchor="ctr"/>
          <a:lstStyle/>
          <a:p>
            <a:pPr algn="ctr" defTabSz="457200"/>
            <a:endParaRPr lang="en-US">
              <a:solidFill>
                <a:schemeClr val="tx1"/>
              </a:solidFill>
            </a:endParaRPr>
          </a:p>
        </p:txBody>
      </p:sp>
      <p:sp>
        <p:nvSpPr>
          <p:cNvPr id="137" name="Rectangle 136">
            <a:extLst>
              <a:ext uri="{FF2B5EF4-FFF2-40B4-BE49-F238E27FC236}">
                <a16:creationId xmlns:a16="http://schemas.microsoft.com/office/drawing/2014/main" id="{1D7678B8-0AAC-460B-8CDB-C43156BBA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dirty="0">
              <a:solidFill>
                <a:schemeClr val="tx1"/>
              </a:solidFill>
            </a:endParaRPr>
          </a:p>
        </p:txBody>
      </p:sp>
      <p:sp>
        <p:nvSpPr>
          <p:cNvPr id="2" name="Title 1"/>
          <p:cNvSpPr>
            <a:spLocks noGrp="1"/>
          </p:cNvSpPr>
          <p:nvPr>
            <p:ph type="ctrTitle"/>
          </p:nvPr>
        </p:nvSpPr>
        <p:spPr>
          <a:xfrm>
            <a:off x="766761" y="643468"/>
            <a:ext cx="5292727" cy="4242858"/>
          </a:xfrm>
        </p:spPr>
        <p:txBody>
          <a:bodyPr anchor="b">
            <a:normAutofit/>
          </a:bodyPr>
          <a:lstStyle/>
          <a:p>
            <a:pPr algn="l"/>
            <a:r>
              <a:rPr lang="en-US" sz="8800" b="1" dirty="0"/>
              <a:t>Heuristic Review for Spotify</a:t>
            </a:r>
          </a:p>
        </p:txBody>
      </p:sp>
      <p:sp>
        <p:nvSpPr>
          <p:cNvPr id="3" name="Subtitle 2"/>
          <p:cNvSpPr>
            <a:spLocks noGrp="1"/>
          </p:cNvSpPr>
          <p:nvPr>
            <p:ph type="subTitle" idx="1"/>
          </p:nvPr>
        </p:nvSpPr>
        <p:spPr>
          <a:xfrm>
            <a:off x="766761" y="5019676"/>
            <a:ext cx="5292727" cy="1066799"/>
          </a:xfrm>
        </p:spPr>
        <p:txBody>
          <a:bodyPr>
            <a:normAutofit/>
          </a:bodyPr>
          <a:lstStyle/>
          <a:p>
            <a:pPr algn="l"/>
            <a:r>
              <a:rPr lang="en-US" sz="3200" b="1" dirty="0">
                <a:solidFill>
                  <a:schemeClr val="tx1">
                    <a:alpha val="60000"/>
                  </a:schemeClr>
                </a:solidFill>
                <a:latin typeface="+mj-lt"/>
              </a:rPr>
              <a:t>By Isaac Tan| 2100902B | P11 </a:t>
            </a:r>
          </a:p>
        </p:txBody>
      </p:sp>
      <p:sp>
        <p:nvSpPr>
          <p:cNvPr id="139" name="Freeform 6">
            <a:extLst>
              <a:ext uri="{FF2B5EF4-FFF2-40B4-BE49-F238E27FC236}">
                <a16:creationId xmlns:a16="http://schemas.microsoft.com/office/drawing/2014/main" id="{1F0D9B0E-E48B-450C-9134-0435D96D0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502207" y="61344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rgbClr val="FFFFFF"/>
          </a:solidFill>
          <a:ln w="0">
            <a:noFill/>
            <a:prstDash val="solid"/>
            <a:round/>
            <a:headEnd/>
            <a:tailEnd/>
          </a:ln>
        </p:spPr>
      </p:sp>
      <p:pic>
        <p:nvPicPr>
          <p:cNvPr id="1026" name="Picture 2" descr="Spotify Logo | Symbol, History, PNG (3840*2160)">
            <a:extLst>
              <a:ext uri="{FF2B5EF4-FFF2-40B4-BE49-F238E27FC236}">
                <a16:creationId xmlns:a16="http://schemas.microsoft.com/office/drawing/2014/main" id="{AFB5F0EF-EA29-4950-85D4-F95E1E7E4AC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99994" y="2320858"/>
            <a:ext cx="3240000" cy="18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138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F4C0B10B-D2C4-4A54-AFAD-3D27DF88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5" name="Group 74">
            <a:extLst>
              <a:ext uri="{FF2B5EF4-FFF2-40B4-BE49-F238E27FC236}">
                <a16:creationId xmlns:a16="http://schemas.microsoft.com/office/drawing/2014/main" id="{B6BADB90-C74B-40D6-86DC-503F65FCE8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76" name="Freeform 44">
              <a:extLst>
                <a:ext uri="{FF2B5EF4-FFF2-40B4-BE49-F238E27FC236}">
                  <a16:creationId xmlns:a16="http://schemas.microsoft.com/office/drawing/2014/main" id="{6559431D-1886-4AE0-9B87-9AD2ECAB84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45">
              <a:extLst>
                <a:ext uri="{FF2B5EF4-FFF2-40B4-BE49-F238E27FC236}">
                  <a16:creationId xmlns:a16="http://schemas.microsoft.com/office/drawing/2014/main" id="{373850A5-B04A-4FCD-9E73-EE322167F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8" name="Freeform 46">
              <a:extLst>
                <a:ext uri="{FF2B5EF4-FFF2-40B4-BE49-F238E27FC236}">
                  <a16:creationId xmlns:a16="http://schemas.microsoft.com/office/drawing/2014/main" id="{82C18C67-80FA-4738-AA53-0AF2419F9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9" name="Freeform 47">
              <a:extLst>
                <a:ext uri="{FF2B5EF4-FFF2-40B4-BE49-F238E27FC236}">
                  <a16:creationId xmlns:a16="http://schemas.microsoft.com/office/drawing/2014/main" id="{48543B1A-8BF5-4C63-8404-41B2EA70B3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0" name="Rectangle 79">
              <a:extLst>
                <a:ext uri="{FF2B5EF4-FFF2-40B4-BE49-F238E27FC236}">
                  <a16:creationId xmlns:a16="http://schemas.microsoft.com/office/drawing/2014/main" id="{92DF5096-E051-498C-A3ED-CBA77A813A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title"/>
          </p:nvPr>
        </p:nvSpPr>
        <p:spPr>
          <a:xfrm>
            <a:off x="1047280" y="759805"/>
            <a:ext cx="10306520" cy="1325563"/>
          </a:xfrm>
        </p:spPr>
        <p:txBody>
          <a:bodyPr>
            <a:normAutofit/>
          </a:bodyPr>
          <a:lstStyle/>
          <a:p>
            <a:r>
              <a:rPr lang="en-US" sz="4000" b="1" dirty="0">
                <a:solidFill>
                  <a:schemeClr val="bg1"/>
                </a:solidFill>
              </a:rPr>
              <a:t>Introduction</a:t>
            </a:r>
          </a:p>
        </p:txBody>
      </p:sp>
      <p:sp>
        <p:nvSpPr>
          <p:cNvPr id="3" name="Content Placeholder 2"/>
          <p:cNvSpPr>
            <a:spLocks noGrp="1"/>
          </p:cNvSpPr>
          <p:nvPr>
            <p:ph idx="1"/>
          </p:nvPr>
        </p:nvSpPr>
        <p:spPr>
          <a:xfrm>
            <a:off x="1424904" y="2494450"/>
            <a:ext cx="4053545" cy="3563159"/>
          </a:xfrm>
        </p:spPr>
        <p:txBody>
          <a:bodyPr>
            <a:normAutofit/>
          </a:bodyPr>
          <a:lstStyle/>
          <a:p>
            <a:r>
              <a:rPr lang="en-US" sz="2400" dirty="0"/>
              <a:t>Spotify was founded by Daniel Ek and Martin Lorentzon in Stockholm Sweden.</a:t>
            </a:r>
          </a:p>
          <a:p>
            <a:r>
              <a:rPr lang="en-US" sz="2400" b="0" i="0" dirty="0">
                <a:effectLst/>
                <a:latin typeface="Spotify Circular"/>
              </a:rPr>
              <a:t>It has </a:t>
            </a:r>
            <a:r>
              <a:rPr lang="en-US" sz="2400" dirty="0">
                <a:latin typeface="Spotify Circular"/>
              </a:rPr>
              <a:t>made music streaming more pleasant since the official launch in 2008.</a:t>
            </a:r>
          </a:p>
          <a:p>
            <a:endParaRPr lang="en-US" sz="2400" b="0" i="0" dirty="0">
              <a:effectLst/>
              <a:latin typeface="Spotify Circular"/>
            </a:endParaRPr>
          </a:p>
        </p:txBody>
      </p:sp>
      <p:pic>
        <p:nvPicPr>
          <p:cNvPr id="1028" name="Picture 4" descr="Spotify's Censorship Crisis is About Social Responsibility">
            <a:extLst>
              <a:ext uri="{FF2B5EF4-FFF2-40B4-BE49-F238E27FC236}">
                <a16:creationId xmlns:a16="http://schemas.microsoft.com/office/drawing/2014/main" id="{BDBC18C4-1791-405F-ABE4-FF9AF7A6A4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77" r="7393" b="-2"/>
          <a:stretch/>
        </p:blipFill>
        <p:spPr bwMode="auto">
          <a:xfrm>
            <a:off x="6098892" y="2492376"/>
            <a:ext cx="4802404" cy="3563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256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38EE57-B708-47C9-A4A4-E25F09FAB0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57A28182-58A5-4DBB-8F64-BD944BCA8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710" y="635715"/>
            <a:ext cx="11142208" cy="2482136"/>
            <a:chOff x="409710" y="635715"/>
            <a:chExt cx="11142208" cy="2482136"/>
          </a:xfrm>
        </p:grpSpPr>
        <p:sp>
          <p:nvSpPr>
            <p:cNvPr id="12" name="Freeform 44">
              <a:extLst>
                <a:ext uri="{FF2B5EF4-FFF2-40B4-BE49-F238E27FC236}">
                  <a16:creationId xmlns:a16="http://schemas.microsoft.com/office/drawing/2014/main" id="{E4A9080E-7BA6-45FC-8677-8B9D5F4DAF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Freeform 45">
              <a:extLst>
                <a:ext uri="{FF2B5EF4-FFF2-40B4-BE49-F238E27FC236}">
                  <a16:creationId xmlns:a16="http://schemas.microsoft.com/office/drawing/2014/main" id="{2163D516-75D4-4DE0-AC27-63719125A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46">
              <a:extLst>
                <a:ext uri="{FF2B5EF4-FFF2-40B4-BE49-F238E27FC236}">
                  <a16:creationId xmlns:a16="http://schemas.microsoft.com/office/drawing/2014/main" id="{E74A26A5-C23A-46D4-B0FF-155FB38346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47">
              <a:extLst>
                <a:ext uri="{FF2B5EF4-FFF2-40B4-BE49-F238E27FC236}">
                  <a16:creationId xmlns:a16="http://schemas.microsoft.com/office/drawing/2014/main" id="{08E0243F-1062-43C6-AD04-130DFF668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Rectangle 15">
              <a:extLst>
                <a:ext uri="{FF2B5EF4-FFF2-40B4-BE49-F238E27FC236}">
                  <a16:creationId xmlns:a16="http://schemas.microsoft.com/office/drawing/2014/main" id="{94C5517B-1B0F-47AA-93A5-36718996986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a:extLst>
              <a:ext uri="{FF2B5EF4-FFF2-40B4-BE49-F238E27FC236}">
                <a16:creationId xmlns:a16="http://schemas.microsoft.com/office/drawing/2014/main" id="{8FD098BD-CF1C-4140-BCBC-F6F8FC4F59AD}"/>
              </a:ext>
            </a:extLst>
          </p:cNvPr>
          <p:cNvSpPr>
            <a:spLocks noGrp="1"/>
          </p:cNvSpPr>
          <p:nvPr>
            <p:ph type="title"/>
          </p:nvPr>
        </p:nvSpPr>
        <p:spPr>
          <a:xfrm>
            <a:off x="1047280" y="759805"/>
            <a:ext cx="10306520" cy="1325563"/>
          </a:xfrm>
        </p:spPr>
        <p:txBody>
          <a:bodyPr>
            <a:normAutofit/>
          </a:bodyPr>
          <a:lstStyle/>
          <a:p>
            <a:r>
              <a:rPr lang="en-US" sz="4000" b="1" dirty="0">
                <a:solidFill>
                  <a:schemeClr val="bg1"/>
                </a:solidFill>
              </a:rPr>
              <a:t>Introduction</a:t>
            </a:r>
            <a:endParaRPr lang="en-SG" sz="4000" b="1" dirty="0">
              <a:solidFill>
                <a:schemeClr val="bg1"/>
              </a:solidFill>
            </a:endParaRPr>
          </a:p>
        </p:txBody>
      </p:sp>
      <p:sp>
        <p:nvSpPr>
          <p:cNvPr id="3" name="Content Placeholder 2">
            <a:extLst>
              <a:ext uri="{FF2B5EF4-FFF2-40B4-BE49-F238E27FC236}">
                <a16:creationId xmlns:a16="http://schemas.microsoft.com/office/drawing/2014/main" id="{3972CBC3-C3D3-4C5C-8684-B33C7627CC35}"/>
              </a:ext>
            </a:extLst>
          </p:cNvPr>
          <p:cNvSpPr>
            <a:spLocks noGrp="1"/>
          </p:cNvSpPr>
          <p:nvPr>
            <p:ph idx="1"/>
          </p:nvPr>
        </p:nvSpPr>
        <p:spPr>
          <a:xfrm>
            <a:off x="1424904" y="2494450"/>
            <a:ext cx="4053545" cy="3563159"/>
          </a:xfrm>
        </p:spPr>
        <p:txBody>
          <a:bodyPr>
            <a:normAutofit/>
          </a:bodyPr>
          <a:lstStyle/>
          <a:p>
            <a:r>
              <a:rPr lang="en-US" sz="2400" dirty="0"/>
              <a:t>The app was developed to tackle the increasing piracy issues that the music industry was facing.</a:t>
            </a:r>
          </a:p>
          <a:p>
            <a:r>
              <a:rPr lang="en-US" sz="2400" dirty="0">
                <a:latin typeface="Spotify Circular"/>
              </a:rPr>
              <a:t>It is currently the most well-known music streaming platform with hundreds of millions of users around the world.</a:t>
            </a:r>
            <a:endParaRPr lang="en-US" sz="2400" b="0" i="0" dirty="0">
              <a:effectLst/>
              <a:latin typeface="Spotify Circular"/>
            </a:endParaRPr>
          </a:p>
        </p:txBody>
      </p:sp>
      <p:pic>
        <p:nvPicPr>
          <p:cNvPr id="4" name="Picture 4" descr="Spotify's Censorship Crisis is About Social Responsibility">
            <a:extLst>
              <a:ext uri="{FF2B5EF4-FFF2-40B4-BE49-F238E27FC236}">
                <a16:creationId xmlns:a16="http://schemas.microsoft.com/office/drawing/2014/main" id="{FBE4FBD2-F0A2-440B-9B72-7E2888BF9A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77" r="7393" b="-2"/>
          <a:stretch/>
        </p:blipFill>
        <p:spPr bwMode="auto">
          <a:xfrm>
            <a:off x="6098892" y="2492376"/>
            <a:ext cx="4802404" cy="3563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413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464235" y="6096000"/>
            <a:ext cx="1570943" cy="461665"/>
          </a:xfrm>
          <a:prstGeom prst="rect">
            <a:avLst/>
          </a:prstGeom>
          <a:noFill/>
        </p:spPr>
        <p:txBody>
          <a:bodyPr wrap="none" rtlCol="0">
            <a:spAutoFit/>
          </a:bodyPr>
          <a:lstStyle/>
          <a:p>
            <a:pPr algn="r"/>
            <a:r>
              <a:rPr lang="en-SG" sz="1200" i="1" dirty="0">
                <a:solidFill>
                  <a:schemeClr val="bg2">
                    <a:lumMod val="25000"/>
                  </a:schemeClr>
                </a:solidFill>
              </a:rPr>
              <a:t>Reference:</a:t>
            </a:r>
            <a:br>
              <a:rPr lang="en-SG" sz="1200" dirty="0">
                <a:solidFill>
                  <a:schemeClr val="bg2">
                    <a:lumMod val="25000"/>
                  </a:schemeClr>
                </a:solidFill>
              </a:rPr>
            </a:br>
            <a:r>
              <a:rPr lang="en-SG" sz="1200" dirty="0">
                <a:solidFill>
                  <a:schemeClr val="bg2">
                    <a:lumMod val="25000"/>
                  </a:schemeClr>
                </a:solidFill>
              </a:rPr>
              <a:t>http://www.vic.gov.au</a:t>
            </a:r>
          </a:p>
        </p:txBody>
      </p:sp>
    </p:spTree>
    <p:extLst>
      <p:ext uri="{BB962C8B-B14F-4D97-AF65-F5344CB8AC3E}">
        <p14:creationId xmlns:p14="http://schemas.microsoft.com/office/powerpoint/2010/main" val="2173569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950418" y="1933476"/>
            <a:ext cx="306473" cy="306473"/>
            <a:chOff x="2108729" y="1481828"/>
            <a:chExt cx="507972" cy="507972"/>
          </a:xfrm>
        </p:grpSpPr>
        <p:sp>
          <p:nvSpPr>
            <p:cNvPr id="5" name="Oval 4"/>
            <p:cNvSpPr/>
            <p:nvPr/>
          </p:nvSpPr>
          <p:spPr>
            <a:xfrm>
              <a:off x="2154848" y="1527947"/>
              <a:ext cx="415733" cy="415733"/>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8729" y="1481828"/>
              <a:ext cx="507972" cy="507972"/>
            </a:xfrm>
            <a:prstGeom prst="rect">
              <a:avLst/>
            </a:prstGeom>
          </p:spPr>
        </p:pic>
      </p:grpSp>
      <p:grpSp>
        <p:nvGrpSpPr>
          <p:cNvPr id="10" name="Group 9"/>
          <p:cNvGrpSpPr/>
          <p:nvPr/>
        </p:nvGrpSpPr>
        <p:grpSpPr>
          <a:xfrm>
            <a:off x="950418" y="2474702"/>
            <a:ext cx="306473" cy="306473"/>
            <a:chOff x="2728727" y="1481828"/>
            <a:chExt cx="507972" cy="507972"/>
          </a:xfrm>
        </p:grpSpPr>
        <p:sp>
          <p:nvSpPr>
            <p:cNvPr id="6" name="Oval 5"/>
            <p:cNvSpPr/>
            <p:nvPr/>
          </p:nvSpPr>
          <p:spPr>
            <a:xfrm>
              <a:off x="2774846" y="1527946"/>
              <a:ext cx="415733" cy="415733"/>
            </a:xfrm>
            <a:prstGeom prst="ellipse">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28727" y="1481828"/>
              <a:ext cx="507972" cy="507972"/>
            </a:xfrm>
            <a:prstGeom prst="rect">
              <a:avLst/>
            </a:prstGeom>
          </p:spPr>
        </p:pic>
      </p:grpSp>
      <p:grpSp>
        <p:nvGrpSpPr>
          <p:cNvPr id="8" name="Group 7"/>
          <p:cNvGrpSpPr/>
          <p:nvPr/>
        </p:nvGrpSpPr>
        <p:grpSpPr>
          <a:xfrm>
            <a:off x="950418" y="1349028"/>
            <a:ext cx="306473" cy="306473"/>
            <a:chOff x="808127" y="1481828"/>
            <a:chExt cx="507972" cy="507972"/>
          </a:xfrm>
        </p:grpSpPr>
        <p:sp>
          <p:nvSpPr>
            <p:cNvPr id="7" name="Oval 6"/>
            <p:cNvSpPr/>
            <p:nvPr/>
          </p:nvSpPr>
          <p:spPr>
            <a:xfrm>
              <a:off x="854246" y="1527946"/>
              <a:ext cx="415733" cy="415733"/>
            </a:xfrm>
            <a:prstGeom prst="ellipse">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8127" y="1481828"/>
              <a:ext cx="507972" cy="507972"/>
            </a:xfrm>
            <a:prstGeom prst="rect">
              <a:avLst/>
            </a:prstGeom>
          </p:spPr>
        </p:pic>
      </p:grpSp>
      <p:sp>
        <p:nvSpPr>
          <p:cNvPr id="11" name="TextBox 10">
            <a:extLst>
              <a:ext uri="{FF2B5EF4-FFF2-40B4-BE49-F238E27FC236}">
                <a16:creationId xmlns:a16="http://schemas.microsoft.com/office/drawing/2014/main" id="{E43107B6-BD6D-410D-846D-B6938A9DFF42}"/>
              </a:ext>
            </a:extLst>
          </p:cNvPr>
          <p:cNvSpPr txBox="1"/>
          <p:nvPr/>
        </p:nvSpPr>
        <p:spPr>
          <a:xfrm>
            <a:off x="3321822" y="760556"/>
            <a:ext cx="301686" cy="369332"/>
          </a:xfrm>
          <a:prstGeom prst="rect">
            <a:avLst/>
          </a:prstGeom>
          <a:noFill/>
        </p:spPr>
        <p:txBody>
          <a:bodyPr wrap="none" rtlCol="0">
            <a:spAutoFit/>
          </a:bodyPr>
          <a:lstStyle/>
          <a:p>
            <a:r>
              <a:rPr lang="en-US" dirty="0"/>
              <a:t>1</a:t>
            </a:r>
            <a:endParaRPr lang="en-SG" dirty="0"/>
          </a:p>
        </p:txBody>
      </p:sp>
      <p:sp>
        <p:nvSpPr>
          <p:cNvPr id="12" name="TextBox 11">
            <a:extLst>
              <a:ext uri="{FF2B5EF4-FFF2-40B4-BE49-F238E27FC236}">
                <a16:creationId xmlns:a16="http://schemas.microsoft.com/office/drawing/2014/main" id="{ECAD9B28-35E7-4D95-B2C4-07F57DE6128F}"/>
              </a:ext>
            </a:extLst>
          </p:cNvPr>
          <p:cNvSpPr txBox="1"/>
          <p:nvPr/>
        </p:nvSpPr>
        <p:spPr>
          <a:xfrm>
            <a:off x="6085726" y="770830"/>
            <a:ext cx="301686" cy="369332"/>
          </a:xfrm>
          <a:prstGeom prst="rect">
            <a:avLst/>
          </a:prstGeom>
          <a:noFill/>
        </p:spPr>
        <p:txBody>
          <a:bodyPr wrap="none" rtlCol="0">
            <a:spAutoFit/>
          </a:bodyPr>
          <a:lstStyle/>
          <a:p>
            <a:r>
              <a:rPr lang="en-US" dirty="0"/>
              <a:t>2</a:t>
            </a:r>
            <a:endParaRPr lang="en-SG" dirty="0"/>
          </a:p>
        </p:txBody>
      </p:sp>
      <p:sp>
        <p:nvSpPr>
          <p:cNvPr id="32" name="TextBox 31">
            <a:extLst>
              <a:ext uri="{FF2B5EF4-FFF2-40B4-BE49-F238E27FC236}">
                <a16:creationId xmlns:a16="http://schemas.microsoft.com/office/drawing/2014/main" id="{B1D5DBD3-F610-4AEB-AB5D-0108D7D76ACD}"/>
              </a:ext>
            </a:extLst>
          </p:cNvPr>
          <p:cNvSpPr txBox="1"/>
          <p:nvPr/>
        </p:nvSpPr>
        <p:spPr>
          <a:xfrm>
            <a:off x="7778345" y="4196080"/>
            <a:ext cx="966931" cy="369332"/>
          </a:xfrm>
          <a:prstGeom prst="rect">
            <a:avLst/>
          </a:prstGeom>
          <a:noFill/>
        </p:spPr>
        <p:txBody>
          <a:bodyPr wrap="none" rtlCol="0">
            <a:spAutoFit/>
          </a:bodyPr>
          <a:lstStyle/>
          <a:p>
            <a:r>
              <a:rPr lang="en-US" b="1" dirty="0">
                <a:solidFill>
                  <a:srgbClr val="FF0000"/>
                </a:solidFill>
                <a:latin typeface="Arial" panose="020B0604020202020204" pitchFamily="34" charset="0"/>
                <a:cs typeface="Arial" panose="020B0604020202020204" pitchFamily="34" charset="0"/>
              </a:rPr>
              <a:t>Spotify</a:t>
            </a:r>
            <a:endParaRPr lang="en-SG" b="1" dirty="0">
              <a:solidFill>
                <a:srgbClr val="FF0000"/>
              </a:solidFill>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C57CEFC1-2F5A-4937-B1E2-CD39DD253E52}"/>
              </a:ext>
            </a:extLst>
          </p:cNvPr>
          <p:cNvSpPr txBox="1"/>
          <p:nvPr/>
        </p:nvSpPr>
        <p:spPr>
          <a:xfrm>
            <a:off x="8840005" y="770830"/>
            <a:ext cx="301686" cy="369332"/>
          </a:xfrm>
          <a:prstGeom prst="rect">
            <a:avLst/>
          </a:prstGeom>
          <a:noFill/>
        </p:spPr>
        <p:txBody>
          <a:bodyPr wrap="none" rtlCol="0">
            <a:spAutoFit/>
          </a:bodyPr>
          <a:lstStyle/>
          <a:p>
            <a:r>
              <a:rPr lang="en-US" dirty="0"/>
              <a:t>3</a:t>
            </a:r>
            <a:endParaRPr lang="en-SG" dirty="0"/>
          </a:p>
        </p:txBody>
      </p:sp>
      <p:sp>
        <p:nvSpPr>
          <p:cNvPr id="34" name="TextBox 33">
            <a:extLst>
              <a:ext uri="{FF2B5EF4-FFF2-40B4-BE49-F238E27FC236}">
                <a16:creationId xmlns:a16="http://schemas.microsoft.com/office/drawing/2014/main" id="{FE5F5EA3-498D-47F3-AACC-E62804897D87}"/>
              </a:ext>
            </a:extLst>
          </p:cNvPr>
          <p:cNvSpPr txBox="1"/>
          <p:nvPr/>
        </p:nvSpPr>
        <p:spPr>
          <a:xfrm>
            <a:off x="11585791" y="770830"/>
            <a:ext cx="301686" cy="369332"/>
          </a:xfrm>
          <a:prstGeom prst="rect">
            <a:avLst/>
          </a:prstGeom>
          <a:noFill/>
        </p:spPr>
        <p:txBody>
          <a:bodyPr wrap="none" rtlCol="0">
            <a:spAutoFit/>
          </a:bodyPr>
          <a:lstStyle/>
          <a:p>
            <a:r>
              <a:rPr lang="en-US" dirty="0"/>
              <a:t>4</a:t>
            </a:r>
            <a:endParaRPr lang="en-SG" dirty="0"/>
          </a:p>
        </p:txBody>
      </p:sp>
      <p:sp>
        <p:nvSpPr>
          <p:cNvPr id="38" name="Rectangle 37">
            <a:extLst>
              <a:ext uri="{FF2B5EF4-FFF2-40B4-BE49-F238E27FC236}">
                <a16:creationId xmlns:a16="http://schemas.microsoft.com/office/drawing/2014/main" id="{48E567C5-FEDA-42C7-8999-0440C7E29F49}"/>
              </a:ext>
            </a:extLst>
          </p:cNvPr>
          <p:cNvSpPr/>
          <p:nvPr/>
        </p:nvSpPr>
        <p:spPr>
          <a:xfrm>
            <a:off x="4331101" y="3361690"/>
            <a:ext cx="126999" cy="111760"/>
          </a:xfrm>
          <a:prstGeom prst="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sp>
        <p:nvSpPr>
          <p:cNvPr id="20" name="TextBox 19">
            <a:extLst>
              <a:ext uri="{FF2B5EF4-FFF2-40B4-BE49-F238E27FC236}">
                <a16:creationId xmlns:a16="http://schemas.microsoft.com/office/drawing/2014/main" id="{DA84BAB0-51C7-44E5-A45D-9350502594EF}"/>
              </a:ext>
            </a:extLst>
          </p:cNvPr>
          <p:cNvSpPr txBox="1"/>
          <p:nvPr/>
        </p:nvSpPr>
        <p:spPr>
          <a:xfrm>
            <a:off x="2457975" y="1371608"/>
            <a:ext cx="1727693" cy="1323439"/>
          </a:xfrm>
          <a:prstGeom prst="rect">
            <a:avLst/>
          </a:prstGeom>
          <a:noFill/>
        </p:spPr>
        <p:txBody>
          <a:bodyPr wrap="square" rtlCol="0">
            <a:spAutoFit/>
          </a:bodyPr>
          <a:lstStyle/>
          <a:p>
            <a:r>
              <a:rPr lang="en-US" sz="1600" dirty="0"/>
              <a:t>User is trying to add a new playlist to gather his </a:t>
            </a:r>
            <a:r>
              <a:rPr lang="en-US" sz="1600" dirty="0" err="1"/>
              <a:t>favrouite</a:t>
            </a:r>
            <a:r>
              <a:rPr lang="en-US" sz="1600" dirty="0"/>
              <a:t> songs together</a:t>
            </a:r>
            <a:endParaRPr lang="en-SG" sz="1600" dirty="0"/>
          </a:p>
        </p:txBody>
      </p:sp>
      <p:sp>
        <p:nvSpPr>
          <p:cNvPr id="25" name="TextBox 24">
            <a:extLst>
              <a:ext uri="{FF2B5EF4-FFF2-40B4-BE49-F238E27FC236}">
                <a16:creationId xmlns:a16="http://schemas.microsoft.com/office/drawing/2014/main" id="{CA16CC90-C793-42C2-8EAE-9CA190386B5C}"/>
              </a:ext>
            </a:extLst>
          </p:cNvPr>
          <p:cNvSpPr txBox="1"/>
          <p:nvPr/>
        </p:nvSpPr>
        <p:spPr>
          <a:xfrm>
            <a:off x="4016461" y="1192800"/>
            <a:ext cx="2671210" cy="830997"/>
          </a:xfrm>
          <a:prstGeom prst="rect">
            <a:avLst/>
          </a:prstGeom>
          <a:noFill/>
        </p:spPr>
        <p:txBody>
          <a:bodyPr wrap="square" rtlCol="0">
            <a:spAutoFit/>
          </a:bodyPr>
          <a:lstStyle/>
          <a:p>
            <a:r>
              <a:rPr lang="en-US" sz="2400" dirty="0"/>
              <a:t>User presses the library button</a:t>
            </a:r>
            <a:endParaRPr lang="en-SG" sz="2400" dirty="0"/>
          </a:p>
        </p:txBody>
      </p:sp>
      <p:sp>
        <p:nvSpPr>
          <p:cNvPr id="35" name="Rectangle 34">
            <a:extLst>
              <a:ext uri="{FF2B5EF4-FFF2-40B4-BE49-F238E27FC236}">
                <a16:creationId xmlns:a16="http://schemas.microsoft.com/office/drawing/2014/main" id="{ADF01C7F-1D4A-4435-BE2D-E6492421CD9A}"/>
              </a:ext>
            </a:extLst>
          </p:cNvPr>
          <p:cNvSpPr/>
          <p:nvPr/>
        </p:nvSpPr>
        <p:spPr>
          <a:xfrm>
            <a:off x="1544320" y="3249930"/>
            <a:ext cx="126999" cy="111760"/>
          </a:xfrm>
          <a:prstGeom prst="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sp>
        <p:nvSpPr>
          <p:cNvPr id="36" name="Rectangle 35">
            <a:extLst>
              <a:ext uri="{FF2B5EF4-FFF2-40B4-BE49-F238E27FC236}">
                <a16:creationId xmlns:a16="http://schemas.microsoft.com/office/drawing/2014/main" id="{3B264FA5-B8B1-4CC2-894D-94D8E5F6F9D6}"/>
              </a:ext>
            </a:extLst>
          </p:cNvPr>
          <p:cNvSpPr/>
          <p:nvPr/>
        </p:nvSpPr>
        <p:spPr>
          <a:xfrm>
            <a:off x="4331101" y="3632735"/>
            <a:ext cx="126999" cy="111760"/>
          </a:xfrm>
          <a:prstGeom prst="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sp>
        <p:nvSpPr>
          <p:cNvPr id="15" name="TextBox 14">
            <a:extLst>
              <a:ext uri="{FF2B5EF4-FFF2-40B4-BE49-F238E27FC236}">
                <a16:creationId xmlns:a16="http://schemas.microsoft.com/office/drawing/2014/main" id="{737CABD2-CB6A-4067-8B01-0EF74D8979BB}"/>
              </a:ext>
            </a:extLst>
          </p:cNvPr>
          <p:cNvSpPr txBox="1"/>
          <p:nvPr/>
        </p:nvSpPr>
        <p:spPr>
          <a:xfrm>
            <a:off x="9555002" y="4852062"/>
            <a:ext cx="237566" cy="369332"/>
          </a:xfrm>
          <a:prstGeom prst="rect">
            <a:avLst/>
          </a:prstGeom>
          <a:noFill/>
        </p:spPr>
        <p:txBody>
          <a:bodyPr wrap="none" rtlCol="0">
            <a:spAutoFit/>
          </a:bodyPr>
          <a:lstStyle/>
          <a:p>
            <a:r>
              <a:rPr lang="en-US" dirty="0"/>
              <a:t> </a:t>
            </a:r>
            <a:endParaRPr lang="en-SG" dirty="0"/>
          </a:p>
        </p:txBody>
      </p:sp>
      <p:sp>
        <p:nvSpPr>
          <p:cNvPr id="28" name="Rectangle 27">
            <a:extLst>
              <a:ext uri="{FF2B5EF4-FFF2-40B4-BE49-F238E27FC236}">
                <a16:creationId xmlns:a16="http://schemas.microsoft.com/office/drawing/2014/main" id="{2931CFE0-39B9-4076-B7D8-1F9D7386B92D}"/>
              </a:ext>
            </a:extLst>
          </p:cNvPr>
          <p:cNvSpPr/>
          <p:nvPr/>
        </p:nvSpPr>
        <p:spPr>
          <a:xfrm>
            <a:off x="7072589" y="3124200"/>
            <a:ext cx="126999" cy="111760"/>
          </a:xfrm>
          <a:prstGeom prst="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sp>
        <p:nvSpPr>
          <p:cNvPr id="43" name="Rectangle 42">
            <a:extLst>
              <a:ext uri="{FF2B5EF4-FFF2-40B4-BE49-F238E27FC236}">
                <a16:creationId xmlns:a16="http://schemas.microsoft.com/office/drawing/2014/main" id="{2CDAB867-777C-4AF3-B921-2931E782105B}"/>
              </a:ext>
            </a:extLst>
          </p:cNvPr>
          <p:cNvSpPr/>
          <p:nvPr/>
        </p:nvSpPr>
        <p:spPr>
          <a:xfrm>
            <a:off x="9840924" y="3632735"/>
            <a:ext cx="126999" cy="111760"/>
          </a:xfrm>
          <a:prstGeom prst="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sp>
        <p:nvSpPr>
          <p:cNvPr id="21" name="TextBox 20">
            <a:extLst>
              <a:ext uri="{FF2B5EF4-FFF2-40B4-BE49-F238E27FC236}">
                <a16:creationId xmlns:a16="http://schemas.microsoft.com/office/drawing/2014/main" id="{301C804B-4981-46C5-A2E6-096BB5C22D63}"/>
              </a:ext>
            </a:extLst>
          </p:cNvPr>
          <p:cNvSpPr txBox="1"/>
          <p:nvPr/>
        </p:nvSpPr>
        <p:spPr>
          <a:xfrm>
            <a:off x="6760895" y="1159641"/>
            <a:ext cx="2556360" cy="830997"/>
          </a:xfrm>
          <a:prstGeom prst="rect">
            <a:avLst/>
          </a:prstGeom>
          <a:noFill/>
        </p:spPr>
        <p:txBody>
          <a:bodyPr wrap="square" rtlCol="0">
            <a:spAutoFit/>
          </a:bodyPr>
          <a:lstStyle/>
          <a:p>
            <a:r>
              <a:rPr lang="en-US" sz="2400" dirty="0"/>
              <a:t>User presses the “+” icon </a:t>
            </a:r>
          </a:p>
        </p:txBody>
      </p:sp>
      <p:sp>
        <p:nvSpPr>
          <p:cNvPr id="22" name="TextBox 21">
            <a:extLst>
              <a:ext uri="{FF2B5EF4-FFF2-40B4-BE49-F238E27FC236}">
                <a16:creationId xmlns:a16="http://schemas.microsoft.com/office/drawing/2014/main" id="{E3819F7F-D12E-40D5-A383-EBBB82738533}"/>
              </a:ext>
            </a:extLst>
          </p:cNvPr>
          <p:cNvSpPr txBox="1"/>
          <p:nvPr/>
        </p:nvSpPr>
        <p:spPr>
          <a:xfrm>
            <a:off x="6764662" y="4852062"/>
            <a:ext cx="2873076" cy="1323439"/>
          </a:xfrm>
          <a:prstGeom prst="rect">
            <a:avLst/>
          </a:prstGeom>
          <a:noFill/>
        </p:spPr>
        <p:txBody>
          <a:bodyPr wrap="square" rtlCol="0">
            <a:spAutoFit/>
          </a:bodyPr>
          <a:lstStyle/>
          <a:p>
            <a:r>
              <a:rPr lang="en-US" sz="1600" dirty="0"/>
              <a:t>The “+” icon is located at the top right corner of the screen and user may overlook it and not </a:t>
            </a:r>
            <a:r>
              <a:rPr lang="en-US" sz="1600" dirty="0" err="1"/>
              <a:t>realise</a:t>
            </a:r>
            <a:r>
              <a:rPr lang="en-US" sz="1600" dirty="0"/>
              <a:t> where the icon is located at.</a:t>
            </a:r>
            <a:endParaRPr lang="en-SG" sz="1600" dirty="0"/>
          </a:p>
        </p:txBody>
      </p:sp>
      <p:sp>
        <p:nvSpPr>
          <p:cNvPr id="49" name="TextBox 48">
            <a:extLst>
              <a:ext uri="{FF2B5EF4-FFF2-40B4-BE49-F238E27FC236}">
                <a16:creationId xmlns:a16="http://schemas.microsoft.com/office/drawing/2014/main" id="{5C0314D5-4275-4854-ABA7-9BF2BF0D3219}"/>
              </a:ext>
            </a:extLst>
          </p:cNvPr>
          <p:cNvSpPr txBox="1"/>
          <p:nvPr/>
        </p:nvSpPr>
        <p:spPr>
          <a:xfrm flipH="1">
            <a:off x="9447240" y="1108264"/>
            <a:ext cx="2744759" cy="923330"/>
          </a:xfrm>
          <a:prstGeom prst="rect">
            <a:avLst/>
          </a:prstGeom>
          <a:noFill/>
        </p:spPr>
        <p:txBody>
          <a:bodyPr wrap="square" rtlCol="0">
            <a:spAutoFit/>
          </a:bodyPr>
          <a:lstStyle/>
          <a:p>
            <a:r>
              <a:rPr lang="en-US" dirty="0"/>
              <a:t>User is tasked to name the playlist and then press the “CREATE” button</a:t>
            </a:r>
            <a:endParaRPr lang="en-SG" dirty="0"/>
          </a:p>
        </p:txBody>
      </p:sp>
      <p:sp>
        <p:nvSpPr>
          <p:cNvPr id="51" name="TextBox 50">
            <a:extLst>
              <a:ext uri="{FF2B5EF4-FFF2-40B4-BE49-F238E27FC236}">
                <a16:creationId xmlns:a16="http://schemas.microsoft.com/office/drawing/2014/main" id="{B2DBB698-47A8-46B1-8EDA-F6E476A7BC9B}"/>
              </a:ext>
            </a:extLst>
          </p:cNvPr>
          <p:cNvSpPr txBox="1"/>
          <p:nvPr/>
        </p:nvSpPr>
        <p:spPr>
          <a:xfrm flipH="1">
            <a:off x="4007980" y="4841648"/>
            <a:ext cx="2688171" cy="1815882"/>
          </a:xfrm>
          <a:prstGeom prst="rect">
            <a:avLst/>
          </a:prstGeom>
          <a:noFill/>
        </p:spPr>
        <p:txBody>
          <a:bodyPr wrap="square" rtlCol="0">
            <a:spAutoFit/>
          </a:bodyPr>
          <a:lstStyle/>
          <a:p>
            <a:r>
              <a:rPr lang="en-US" sz="1600" dirty="0"/>
              <a:t>There are many interfaces on the main page and the user has to trial and error and think which interface or category resembles the most to the page where he can create a new playlist.</a:t>
            </a:r>
          </a:p>
        </p:txBody>
      </p:sp>
      <p:sp>
        <p:nvSpPr>
          <p:cNvPr id="54" name="TextBox 53">
            <a:extLst>
              <a:ext uri="{FF2B5EF4-FFF2-40B4-BE49-F238E27FC236}">
                <a16:creationId xmlns:a16="http://schemas.microsoft.com/office/drawing/2014/main" id="{D0470F01-CC00-4743-AA35-80B6E16C95D4}"/>
              </a:ext>
            </a:extLst>
          </p:cNvPr>
          <p:cNvSpPr txBox="1"/>
          <p:nvPr/>
        </p:nvSpPr>
        <p:spPr>
          <a:xfrm>
            <a:off x="9555002" y="4841648"/>
            <a:ext cx="2599981" cy="1323439"/>
          </a:xfrm>
          <a:prstGeom prst="rect">
            <a:avLst/>
          </a:prstGeom>
          <a:noFill/>
        </p:spPr>
        <p:txBody>
          <a:bodyPr wrap="square" rtlCol="0">
            <a:spAutoFit/>
          </a:bodyPr>
          <a:lstStyle/>
          <a:p>
            <a:r>
              <a:rPr lang="en-US" sz="1600" dirty="0"/>
              <a:t>Naming a playlist is just the user typing a heading to name his playlist, so no pain points during this final step of creating a playlist.</a:t>
            </a:r>
          </a:p>
        </p:txBody>
      </p:sp>
      <p:sp>
        <p:nvSpPr>
          <p:cNvPr id="55" name="TextBox 54">
            <a:extLst>
              <a:ext uri="{FF2B5EF4-FFF2-40B4-BE49-F238E27FC236}">
                <a16:creationId xmlns:a16="http://schemas.microsoft.com/office/drawing/2014/main" id="{DCA080A7-9F14-4623-93E9-93CFF42FA1A9}"/>
              </a:ext>
            </a:extLst>
          </p:cNvPr>
          <p:cNvSpPr txBox="1"/>
          <p:nvPr/>
        </p:nvSpPr>
        <p:spPr>
          <a:xfrm>
            <a:off x="1229066" y="4841648"/>
            <a:ext cx="2863152" cy="1815882"/>
          </a:xfrm>
          <a:prstGeom prst="rect">
            <a:avLst/>
          </a:prstGeom>
          <a:noFill/>
        </p:spPr>
        <p:txBody>
          <a:bodyPr wrap="square" rtlCol="0">
            <a:spAutoFit/>
          </a:bodyPr>
          <a:lstStyle/>
          <a:p>
            <a:r>
              <a:rPr lang="en-US" sz="1400" dirty="0"/>
              <a:t>Instead of selecting more than one song and adding them into a new playlist straightaway, the app allows only one song to be added at a time.</a:t>
            </a:r>
          </a:p>
          <a:p>
            <a:r>
              <a:rPr lang="en-US" sz="1400" dirty="0"/>
              <a:t>User may take a long time to add his </a:t>
            </a:r>
            <a:r>
              <a:rPr lang="en-US" sz="1400" dirty="0" err="1"/>
              <a:t>favourite</a:t>
            </a:r>
            <a:r>
              <a:rPr lang="en-US" sz="1400" dirty="0"/>
              <a:t> songs into a new playlist, considering that he has a long list of songs to add.</a:t>
            </a:r>
            <a:endParaRPr lang="en-SG" sz="1400" dirty="0"/>
          </a:p>
        </p:txBody>
      </p:sp>
      <p:sp>
        <p:nvSpPr>
          <p:cNvPr id="56" name="Rectangle 55">
            <a:extLst>
              <a:ext uri="{FF2B5EF4-FFF2-40B4-BE49-F238E27FC236}">
                <a16:creationId xmlns:a16="http://schemas.microsoft.com/office/drawing/2014/main" id="{701DC111-EAA5-4289-9BCC-CD0ECD81E7ED}"/>
              </a:ext>
            </a:extLst>
          </p:cNvPr>
          <p:cNvSpPr/>
          <p:nvPr/>
        </p:nvSpPr>
        <p:spPr>
          <a:xfrm>
            <a:off x="4331100" y="3122290"/>
            <a:ext cx="126999" cy="111760"/>
          </a:xfrm>
          <a:prstGeom prst="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sp>
        <p:nvSpPr>
          <p:cNvPr id="57" name="Rectangle 56">
            <a:extLst>
              <a:ext uri="{FF2B5EF4-FFF2-40B4-BE49-F238E27FC236}">
                <a16:creationId xmlns:a16="http://schemas.microsoft.com/office/drawing/2014/main" id="{C8CF2490-2410-4B5C-98BB-8B86C9703310}"/>
              </a:ext>
            </a:extLst>
          </p:cNvPr>
          <p:cNvSpPr/>
          <p:nvPr/>
        </p:nvSpPr>
        <p:spPr>
          <a:xfrm>
            <a:off x="7072587" y="3628131"/>
            <a:ext cx="126999" cy="111760"/>
          </a:xfrm>
          <a:prstGeom prst="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dirty="0"/>
          </a:p>
        </p:txBody>
      </p:sp>
      <p:sp>
        <p:nvSpPr>
          <p:cNvPr id="58" name="Rectangle 57">
            <a:extLst>
              <a:ext uri="{FF2B5EF4-FFF2-40B4-BE49-F238E27FC236}">
                <a16:creationId xmlns:a16="http://schemas.microsoft.com/office/drawing/2014/main" id="{0133F89B-8CD5-4045-805B-7927A1D5D276}"/>
              </a:ext>
            </a:extLst>
          </p:cNvPr>
          <p:cNvSpPr/>
          <p:nvPr/>
        </p:nvSpPr>
        <p:spPr>
          <a:xfrm>
            <a:off x="9840923" y="3514090"/>
            <a:ext cx="126999" cy="111760"/>
          </a:xfrm>
          <a:prstGeom prst="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sp>
        <p:nvSpPr>
          <p:cNvPr id="59" name="Rectangle 58">
            <a:extLst>
              <a:ext uri="{FF2B5EF4-FFF2-40B4-BE49-F238E27FC236}">
                <a16:creationId xmlns:a16="http://schemas.microsoft.com/office/drawing/2014/main" id="{7EF4C90F-2530-4560-839B-259E97B48024}"/>
              </a:ext>
            </a:extLst>
          </p:cNvPr>
          <p:cNvSpPr/>
          <p:nvPr/>
        </p:nvSpPr>
        <p:spPr>
          <a:xfrm>
            <a:off x="9840922" y="3751380"/>
            <a:ext cx="126999" cy="111760"/>
          </a:xfrm>
          <a:prstGeom prst="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SG"/>
          </a:p>
        </p:txBody>
      </p:sp>
    </p:spTree>
    <p:extLst>
      <p:ext uri="{BB962C8B-B14F-4D97-AF65-F5344CB8AC3E}">
        <p14:creationId xmlns:p14="http://schemas.microsoft.com/office/powerpoint/2010/main" val="2381132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2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E986DDD-91C5-462D-86D9-6A661B6378F4}"/>
              </a:ext>
            </a:extLst>
          </p:cNvPr>
          <p:cNvSpPr>
            <a:spLocks noGrp="1"/>
          </p:cNvSpPr>
          <p:nvPr>
            <p:ph type="title"/>
          </p:nvPr>
        </p:nvSpPr>
        <p:spPr>
          <a:xfrm>
            <a:off x="643467" y="321734"/>
            <a:ext cx="10905066" cy="1135737"/>
          </a:xfrm>
        </p:spPr>
        <p:txBody>
          <a:bodyPr>
            <a:normAutofit/>
          </a:bodyPr>
          <a:lstStyle/>
          <a:p>
            <a:r>
              <a:rPr lang="en-US" sz="3600" b="1" dirty="0">
                <a:solidFill>
                  <a:srgbClr val="00B050"/>
                </a:solidFill>
              </a:rPr>
              <a:t>Learnability</a:t>
            </a:r>
            <a:endParaRPr lang="en-SG" sz="3600" b="1" dirty="0">
              <a:solidFill>
                <a:srgbClr val="00B050"/>
              </a:solidFill>
            </a:endParaRPr>
          </a:p>
        </p:txBody>
      </p:sp>
      <p:sp>
        <p:nvSpPr>
          <p:cNvPr id="3" name="Content Placeholder 2">
            <a:extLst>
              <a:ext uri="{FF2B5EF4-FFF2-40B4-BE49-F238E27FC236}">
                <a16:creationId xmlns:a16="http://schemas.microsoft.com/office/drawing/2014/main" id="{47250EEB-457D-4483-ADFD-E9F8C6ED9CE9}"/>
              </a:ext>
            </a:extLst>
          </p:cNvPr>
          <p:cNvSpPr>
            <a:spLocks noGrp="1"/>
          </p:cNvSpPr>
          <p:nvPr>
            <p:ph idx="1"/>
          </p:nvPr>
        </p:nvSpPr>
        <p:spPr>
          <a:xfrm>
            <a:off x="643469" y="1782981"/>
            <a:ext cx="4008384" cy="4393982"/>
          </a:xfrm>
        </p:spPr>
        <p:txBody>
          <a:bodyPr>
            <a:normAutofit/>
          </a:bodyPr>
          <a:lstStyle/>
          <a:p>
            <a:pPr marL="285750" indent="-285750">
              <a:buFontTx/>
              <a:buChar char="-"/>
            </a:pPr>
            <a:r>
              <a:rPr lang="en-US" sz="2400" dirty="0"/>
              <a:t>The app uses simple headings to classify songs together.</a:t>
            </a:r>
          </a:p>
          <a:p>
            <a:pPr marL="285750" indent="-285750">
              <a:buFontTx/>
              <a:buChar char="-"/>
            </a:pPr>
            <a:r>
              <a:rPr lang="en-US" sz="2400" dirty="0"/>
              <a:t>Very easily recognised by the user to direct their attention to that heading.</a:t>
            </a:r>
          </a:p>
          <a:p>
            <a:pPr marL="285750" indent="-285750">
              <a:buFontTx/>
              <a:buChar char="-"/>
            </a:pPr>
            <a:r>
              <a:rPr lang="en-US" sz="2400" dirty="0"/>
              <a:t>The “</a:t>
            </a:r>
            <a:r>
              <a:rPr lang="en-US" sz="2400" b="1" dirty="0"/>
              <a:t>Recently played</a:t>
            </a:r>
            <a:r>
              <a:rPr lang="en-US" sz="2400" dirty="0"/>
              <a:t>” category shows all songs/playlists that the user has played recently.</a:t>
            </a:r>
          </a:p>
        </p:txBody>
      </p:sp>
      <p:grpSp>
        <p:nvGrpSpPr>
          <p:cNvPr id="25" name="Group 24">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55" name="Isosceles Triangle 25">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26">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Graphical user interface&#10;&#10;Description automatically generated">
            <a:extLst>
              <a:ext uri="{FF2B5EF4-FFF2-40B4-BE49-F238E27FC236}">
                <a16:creationId xmlns:a16="http://schemas.microsoft.com/office/drawing/2014/main" id="{0A606AA4-2342-4CA0-ABFB-60B5AE17262B}"/>
              </a:ext>
            </a:extLst>
          </p:cNvPr>
          <p:cNvPicPr>
            <a:picLocks noChangeAspect="1"/>
          </p:cNvPicPr>
          <p:nvPr/>
        </p:nvPicPr>
        <p:blipFill>
          <a:blip r:embed="rId3"/>
          <a:stretch>
            <a:fillRect/>
          </a:stretch>
        </p:blipFill>
        <p:spPr>
          <a:xfrm>
            <a:off x="5295320" y="2236477"/>
            <a:ext cx="6253212" cy="3454899"/>
          </a:xfrm>
          <a:prstGeom prst="rect">
            <a:avLst/>
          </a:prstGeom>
        </p:spPr>
      </p:pic>
      <p:grpSp>
        <p:nvGrpSpPr>
          <p:cNvPr id="29" name="Group 28">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57" name="Rectangle 29">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30">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592473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669B219-8948-4595-A206-E68EEBD18CA0}"/>
              </a:ext>
            </a:extLst>
          </p:cNvPr>
          <p:cNvSpPr>
            <a:spLocks noGrp="1"/>
          </p:cNvSpPr>
          <p:nvPr>
            <p:ph type="title"/>
          </p:nvPr>
        </p:nvSpPr>
        <p:spPr>
          <a:xfrm>
            <a:off x="643467" y="321734"/>
            <a:ext cx="10905066" cy="1135737"/>
          </a:xfrm>
        </p:spPr>
        <p:txBody>
          <a:bodyPr>
            <a:normAutofit/>
          </a:bodyPr>
          <a:lstStyle/>
          <a:p>
            <a:r>
              <a:rPr lang="en-US" sz="3600" b="1" dirty="0">
                <a:solidFill>
                  <a:srgbClr val="00B050"/>
                </a:solidFill>
              </a:rPr>
              <a:t>Efficiency</a:t>
            </a:r>
            <a:endParaRPr lang="en-SG" sz="3600" b="1" dirty="0">
              <a:solidFill>
                <a:srgbClr val="00B050"/>
              </a:solidFill>
            </a:endParaRPr>
          </a:p>
        </p:txBody>
      </p:sp>
      <p:sp>
        <p:nvSpPr>
          <p:cNvPr id="3" name="Content Placeholder 2">
            <a:extLst>
              <a:ext uri="{FF2B5EF4-FFF2-40B4-BE49-F238E27FC236}">
                <a16:creationId xmlns:a16="http://schemas.microsoft.com/office/drawing/2014/main" id="{E399196C-2EAE-4BDA-B46C-018764448939}"/>
              </a:ext>
            </a:extLst>
          </p:cNvPr>
          <p:cNvSpPr>
            <a:spLocks noGrp="1"/>
          </p:cNvSpPr>
          <p:nvPr>
            <p:ph idx="1"/>
          </p:nvPr>
        </p:nvSpPr>
        <p:spPr>
          <a:xfrm>
            <a:off x="643469" y="1782981"/>
            <a:ext cx="4008384" cy="4393982"/>
          </a:xfrm>
        </p:spPr>
        <p:txBody>
          <a:bodyPr>
            <a:normAutofit/>
          </a:bodyPr>
          <a:lstStyle/>
          <a:p>
            <a:pPr>
              <a:buFontTx/>
              <a:buChar char="-"/>
            </a:pPr>
            <a:r>
              <a:rPr lang="en-US" sz="2000" dirty="0"/>
              <a:t>The “</a:t>
            </a:r>
            <a:r>
              <a:rPr lang="en-US" sz="2000" b="1" dirty="0"/>
              <a:t>…</a:t>
            </a:r>
            <a:r>
              <a:rPr lang="en-US" sz="2000" dirty="0"/>
              <a:t>” button is very common to almost all users as this feature means the settings for the song.</a:t>
            </a:r>
          </a:p>
          <a:p>
            <a:pPr>
              <a:buFontTx/>
              <a:buChar char="-"/>
            </a:pPr>
            <a:r>
              <a:rPr lang="en-US" sz="2000" dirty="0"/>
              <a:t>Pressing on that feature will pull up a list of functions for the user to decide what to do with the song (e.g., </a:t>
            </a:r>
            <a:r>
              <a:rPr lang="en-US" sz="2000" b="1" dirty="0"/>
              <a:t>like, hide song, add to playlist, add to queue</a:t>
            </a:r>
            <a:r>
              <a:rPr lang="en-US" sz="2000" dirty="0"/>
              <a:t>).</a:t>
            </a:r>
          </a:p>
          <a:p>
            <a:pPr>
              <a:buFontTx/>
              <a:buChar char="-"/>
            </a:pPr>
            <a:r>
              <a:rPr lang="en-US" sz="2000" dirty="0"/>
              <a:t>Once knowing where that button locates and what it does, users will naturally lock it in their memory immediately and use it for future purposes.</a:t>
            </a:r>
          </a:p>
        </p:txBody>
      </p:sp>
      <p:grpSp>
        <p:nvGrpSpPr>
          <p:cNvPr id="63" name="Group 62">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64" name="Rectangle 63">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Isosceles Triangle 64">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7" name="Group 6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68" name="Isosceles Triangle 6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11C9987A-D754-4174-BE08-405E0D4EC1A9}"/>
              </a:ext>
            </a:extLst>
          </p:cNvPr>
          <p:cNvPicPr>
            <a:picLocks noChangeAspect="1"/>
          </p:cNvPicPr>
          <p:nvPr/>
        </p:nvPicPr>
        <p:blipFill>
          <a:blip r:embed="rId2"/>
          <a:stretch>
            <a:fillRect/>
          </a:stretch>
        </p:blipFill>
        <p:spPr>
          <a:xfrm>
            <a:off x="8262157" y="1670241"/>
            <a:ext cx="2966086" cy="4361891"/>
          </a:xfrm>
          <a:prstGeom prst="rect">
            <a:avLst/>
          </a:prstGeom>
        </p:spPr>
      </p:pic>
      <p:pic>
        <p:nvPicPr>
          <p:cNvPr id="8" name="Picture 7" descr="Graphical user interface, application&#10;&#10;Description automatically generated">
            <a:extLst>
              <a:ext uri="{FF2B5EF4-FFF2-40B4-BE49-F238E27FC236}">
                <a16:creationId xmlns:a16="http://schemas.microsoft.com/office/drawing/2014/main" id="{02688A17-6555-4416-A6BA-322760FB6768}"/>
              </a:ext>
            </a:extLst>
          </p:cNvPr>
          <p:cNvPicPr>
            <a:picLocks noChangeAspect="1"/>
          </p:cNvPicPr>
          <p:nvPr/>
        </p:nvPicPr>
        <p:blipFill>
          <a:blip r:embed="rId3"/>
          <a:stretch>
            <a:fillRect/>
          </a:stretch>
        </p:blipFill>
        <p:spPr>
          <a:xfrm>
            <a:off x="5690424" y="1670241"/>
            <a:ext cx="2019121" cy="4365669"/>
          </a:xfrm>
          <a:prstGeom prst="rect">
            <a:avLst/>
          </a:prstGeom>
        </p:spPr>
      </p:pic>
    </p:spTree>
    <p:extLst>
      <p:ext uri="{BB962C8B-B14F-4D97-AF65-F5344CB8AC3E}">
        <p14:creationId xmlns:p14="http://schemas.microsoft.com/office/powerpoint/2010/main" val="3443612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0" name="Group 59">
            <a:extLst>
              <a:ext uri="{FF2B5EF4-FFF2-40B4-BE49-F238E27FC236}">
                <a16:creationId xmlns:a16="http://schemas.microsoft.com/office/drawing/2014/main" id="{FA366754-A2F4-475B-8217-AB06F5F15F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61" name="Rectangle 60">
              <a:extLst>
                <a:ext uri="{FF2B5EF4-FFF2-40B4-BE49-F238E27FC236}">
                  <a16:creationId xmlns:a16="http://schemas.microsoft.com/office/drawing/2014/main" id="{322BF2F0-5264-48F8-8780-73D64DE84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Isosceles Triangle 61">
              <a:extLst>
                <a:ext uri="{FF2B5EF4-FFF2-40B4-BE49-F238E27FC236}">
                  <a16:creationId xmlns:a16="http://schemas.microsoft.com/office/drawing/2014/main" id="{7DC5FF32-A8FD-4F1B-B8D3-3D226716C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C3411F23-1399-4C6B-9ED3-ED994699E6E5}"/>
              </a:ext>
            </a:extLst>
          </p:cNvPr>
          <p:cNvSpPr>
            <a:spLocks noGrp="1"/>
          </p:cNvSpPr>
          <p:nvPr>
            <p:ph type="title"/>
          </p:nvPr>
        </p:nvSpPr>
        <p:spPr>
          <a:xfrm>
            <a:off x="643467" y="321734"/>
            <a:ext cx="10905066" cy="1135737"/>
          </a:xfrm>
        </p:spPr>
        <p:txBody>
          <a:bodyPr>
            <a:normAutofit/>
          </a:bodyPr>
          <a:lstStyle/>
          <a:p>
            <a:r>
              <a:rPr lang="en-US" sz="3600" b="1" dirty="0">
                <a:solidFill>
                  <a:srgbClr val="00B050"/>
                </a:solidFill>
              </a:rPr>
              <a:t>Memorability</a:t>
            </a:r>
            <a:endParaRPr lang="en-SG" sz="3600" b="1" dirty="0">
              <a:solidFill>
                <a:srgbClr val="00B050"/>
              </a:solidFill>
            </a:endParaRPr>
          </a:p>
        </p:txBody>
      </p:sp>
      <p:grpSp>
        <p:nvGrpSpPr>
          <p:cNvPr id="64" name="Group 63">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65" name="Isosceles Triangle 6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descr="A screenshot of a video game&#10;&#10;Description automatically generated">
            <a:extLst>
              <a:ext uri="{FF2B5EF4-FFF2-40B4-BE49-F238E27FC236}">
                <a16:creationId xmlns:a16="http://schemas.microsoft.com/office/drawing/2014/main" id="{A3D94F83-2A22-4F45-A344-39A94ABF791E}"/>
              </a:ext>
            </a:extLst>
          </p:cNvPr>
          <p:cNvPicPr>
            <a:picLocks noChangeAspect="1"/>
          </p:cNvPicPr>
          <p:nvPr/>
        </p:nvPicPr>
        <p:blipFill>
          <a:blip r:embed="rId3"/>
          <a:stretch>
            <a:fillRect/>
          </a:stretch>
        </p:blipFill>
        <p:spPr>
          <a:xfrm>
            <a:off x="8132318" y="514219"/>
            <a:ext cx="2604176" cy="5630654"/>
          </a:xfrm>
          <a:prstGeom prst="rect">
            <a:avLst/>
          </a:prstGeom>
        </p:spPr>
      </p:pic>
      <p:graphicFrame>
        <p:nvGraphicFramePr>
          <p:cNvPr id="53" name="Content Placeholder 2">
            <a:extLst>
              <a:ext uri="{FF2B5EF4-FFF2-40B4-BE49-F238E27FC236}">
                <a16:creationId xmlns:a16="http://schemas.microsoft.com/office/drawing/2014/main" id="{5B322CA5-70B8-4598-BB4D-94F326291F1F}"/>
              </a:ext>
            </a:extLst>
          </p:cNvPr>
          <p:cNvGraphicFramePr>
            <a:graphicFrameLocks noGrp="1"/>
          </p:cNvGraphicFramePr>
          <p:nvPr>
            <p:ph idx="1"/>
            <p:extLst>
              <p:ext uri="{D42A27DB-BD31-4B8C-83A1-F6EECF244321}">
                <p14:modId xmlns:p14="http://schemas.microsoft.com/office/powerpoint/2010/main" val="2276896957"/>
              </p:ext>
            </p:extLst>
          </p:nvPr>
        </p:nvGraphicFramePr>
        <p:xfrm>
          <a:off x="643468" y="1782981"/>
          <a:ext cx="6842935" cy="43939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9550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60D798-C214-4486-9ECC-0C0B84D457BC}"/>
              </a:ext>
            </a:extLst>
          </p:cNvPr>
          <p:cNvSpPr>
            <a:spLocks noGrp="1"/>
          </p:cNvSpPr>
          <p:nvPr>
            <p:ph type="title"/>
          </p:nvPr>
        </p:nvSpPr>
        <p:spPr>
          <a:xfrm>
            <a:off x="643467" y="321734"/>
            <a:ext cx="4970877" cy="1135737"/>
          </a:xfrm>
        </p:spPr>
        <p:txBody>
          <a:bodyPr>
            <a:normAutofit/>
          </a:bodyPr>
          <a:lstStyle/>
          <a:p>
            <a:r>
              <a:rPr lang="en-US" sz="3600" b="1" dirty="0">
                <a:solidFill>
                  <a:srgbClr val="00B050"/>
                </a:solidFill>
              </a:rPr>
              <a:t>Memorability</a:t>
            </a:r>
            <a:endParaRPr lang="en-SG" sz="3600" b="1" dirty="0">
              <a:solidFill>
                <a:srgbClr val="00B050"/>
              </a:solidFill>
            </a:endParaRPr>
          </a:p>
        </p:txBody>
      </p:sp>
      <p:sp>
        <p:nvSpPr>
          <p:cNvPr id="3" name="Content Placeholder 2">
            <a:extLst>
              <a:ext uri="{FF2B5EF4-FFF2-40B4-BE49-F238E27FC236}">
                <a16:creationId xmlns:a16="http://schemas.microsoft.com/office/drawing/2014/main" id="{7239BE59-7303-434B-8311-9B32A1DECF82}"/>
              </a:ext>
            </a:extLst>
          </p:cNvPr>
          <p:cNvSpPr>
            <a:spLocks noGrp="1"/>
          </p:cNvSpPr>
          <p:nvPr>
            <p:ph idx="1"/>
          </p:nvPr>
        </p:nvSpPr>
        <p:spPr>
          <a:xfrm>
            <a:off x="643468" y="1782981"/>
            <a:ext cx="5243624" cy="4393982"/>
          </a:xfrm>
        </p:spPr>
        <p:txBody>
          <a:bodyPr>
            <a:normAutofit/>
          </a:bodyPr>
          <a:lstStyle/>
          <a:p>
            <a:r>
              <a:rPr lang="en-US" sz="1900" dirty="0"/>
              <a:t>However, for more advanced functions such as playing songs on another device, users may take some time to recall how to work their way through this obstacle, but it wouldn’t take long to remember.</a:t>
            </a:r>
          </a:p>
          <a:p>
            <a:r>
              <a:rPr lang="en-SG" sz="1900" dirty="0"/>
              <a:t>“</a:t>
            </a:r>
            <a:r>
              <a:rPr lang="en-SG" sz="1900" b="1" dirty="0"/>
              <a:t>AirPlay or Bluetooth</a:t>
            </a:r>
            <a:r>
              <a:rPr lang="en-SG" sz="1900" dirty="0"/>
              <a:t>” has a wireless network logo – connects to a wireless device that is near the user to listen on (e.g., wireless headphones/computer).</a:t>
            </a:r>
          </a:p>
          <a:p>
            <a:r>
              <a:rPr lang="en-SG" sz="1900" dirty="0"/>
              <a:t>“</a:t>
            </a:r>
            <a:r>
              <a:rPr lang="en-SG" sz="1900" b="1" dirty="0"/>
              <a:t>Start a Group Session</a:t>
            </a:r>
            <a:r>
              <a:rPr lang="en-SG" sz="1900" dirty="0"/>
              <a:t>” is self-explanatory to users, and it also includes a short explanation of what it does if users still do not understand – “Listen with friends, in real time. Pick what to play and control the music together.”</a:t>
            </a:r>
          </a:p>
        </p:txBody>
      </p:sp>
      <p:sp>
        <p:nvSpPr>
          <p:cNvPr id="38" name="Isosceles Triangle 3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DDCFC94-582E-499B-A73C-E039C333532D}"/>
              </a:ext>
            </a:extLst>
          </p:cNvPr>
          <p:cNvPicPr>
            <a:picLocks noChangeAspect="1"/>
          </p:cNvPicPr>
          <p:nvPr/>
        </p:nvPicPr>
        <p:blipFill>
          <a:blip r:embed="rId2"/>
          <a:stretch>
            <a:fillRect/>
          </a:stretch>
        </p:blipFill>
        <p:spPr>
          <a:xfrm>
            <a:off x="7552026" y="713127"/>
            <a:ext cx="2702293" cy="5431745"/>
          </a:xfrm>
          <a:prstGeom prst="rect">
            <a:avLst/>
          </a:prstGeom>
        </p:spPr>
      </p:pic>
      <p:grpSp>
        <p:nvGrpSpPr>
          <p:cNvPr id="42" name="Group 41">
            <a:extLst>
              <a:ext uri="{FF2B5EF4-FFF2-40B4-BE49-F238E27FC236}">
                <a16:creationId xmlns:a16="http://schemas.microsoft.com/office/drawing/2014/main" id="{15CBE6EC-46EF-45D9-8E16-DCDC5917CA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4720" y="0"/>
            <a:ext cx="1097280" cy="1097280"/>
            <a:chOff x="11094720" y="0"/>
            <a:chExt cx="1097280" cy="1097280"/>
          </a:xfrm>
        </p:grpSpPr>
        <p:sp>
          <p:nvSpPr>
            <p:cNvPr id="43" name="Isosceles Triangle 42">
              <a:extLst>
                <a:ext uri="{FF2B5EF4-FFF2-40B4-BE49-F238E27FC236}">
                  <a16:creationId xmlns:a16="http://schemas.microsoft.com/office/drawing/2014/main" id="{DEEDCD65-9740-4F34-BDF1-9C068E053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4B3DA7FD-5CC0-46D1-9DFB-5BAF6BE24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5190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9965A11-8973-412E-8086-F733944F0AC5}"/>
              </a:ext>
            </a:extLst>
          </p:cNvPr>
          <p:cNvSpPr>
            <a:spLocks noGrp="1"/>
          </p:cNvSpPr>
          <p:nvPr>
            <p:ph type="title"/>
          </p:nvPr>
        </p:nvSpPr>
        <p:spPr>
          <a:xfrm>
            <a:off x="643467" y="321734"/>
            <a:ext cx="4970877" cy="1135737"/>
          </a:xfrm>
        </p:spPr>
        <p:txBody>
          <a:bodyPr>
            <a:normAutofit/>
          </a:bodyPr>
          <a:lstStyle/>
          <a:p>
            <a:r>
              <a:rPr lang="en-US" sz="3600" b="1" dirty="0">
                <a:solidFill>
                  <a:srgbClr val="00B050"/>
                </a:solidFill>
              </a:rPr>
              <a:t>Error Tolerance</a:t>
            </a:r>
            <a:endParaRPr lang="en-SG" sz="3600" b="1" dirty="0">
              <a:solidFill>
                <a:srgbClr val="00B050"/>
              </a:solidFill>
            </a:endParaRPr>
          </a:p>
        </p:txBody>
      </p:sp>
      <p:sp>
        <p:nvSpPr>
          <p:cNvPr id="3" name="Content Placeholder 2">
            <a:extLst>
              <a:ext uri="{FF2B5EF4-FFF2-40B4-BE49-F238E27FC236}">
                <a16:creationId xmlns:a16="http://schemas.microsoft.com/office/drawing/2014/main" id="{FD5D299D-6581-43B5-A508-CE27E4D635D6}"/>
              </a:ext>
            </a:extLst>
          </p:cNvPr>
          <p:cNvSpPr>
            <a:spLocks noGrp="1"/>
          </p:cNvSpPr>
          <p:nvPr>
            <p:ph idx="1"/>
          </p:nvPr>
        </p:nvSpPr>
        <p:spPr>
          <a:xfrm>
            <a:off x="643468" y="1356189"/>
            <a:ext cx="4514159" cy="5262888"/>
          </a:xfrm>
        </p:spPr>
        <p:txBody>
          <a:bodyPr>
            <a:normAutofit/>
          </a:bodyPr>
          <a:lstStyle/>
          <a:p>
            <a:r>
              <a:rPr lang="en-US" sz="2000" dirty="0"/>
              <a:t>Users may clumsily accidentally tap on a playlist/album and would want to go back to the previous page.</a:t>
            </a:r>
          </a:p>
          <a:p>
            <a:r>
              <a:rPr lang="en-US" sz="2000" dirty="0"/>
              <a:t>They can press the “</a:t>
            </a:r>
            <a:r>
              <a:rPr lang="en-US" sz="2000" dirty="0">
                <a:sym typeface="Wingdings" panose="05000000000000000000" pitchFamily="2" charset="2"/>
              </a:rPr>
              <a:t>” button at the top left corner and a “Home” button at the bottom left corner.</a:t>
            </a:r>
          </a:p>
          <a:p>
            <a:r>
              <a:rPr lang="en-US" sz="2000" dirty="0">
                <a:sym typeface="Wingdings" panose="05000000000000000000" pitchFamily="2" charset="2"/>
              </a:rPr>
              <a:t>The “” button is a very commonly-used interface by literally every app in existence and very easily-</a:t>
            </a:r>
            <a:r>
              <a:rPr lang="en-US" sz="2000" dirty="0" err="1">
                <a:sym typeface="Wingdings" panose="05000000000000000000" pitchFamily="2" charset="2"/>
              </a:rPr>
              <a:t>recognised</a:t>
            </a:r>
            <a:r>
              <a:rPr lang="en-US" sz="2000" dirty="0">
                <a:sym typeface="Wingdings" panose="05000000000000000000" pitchFamily="2" charset="2"/>
              </a:rPr>
              <a:t> by users to know what it does.</a:t>
            </a:r>
            <a:endParaRPr lang="en-US" sz="1600" dirty="0">
              <a:sym typeface="Wingdings" panose="05000000000000000000" pitchFamily="2" charset="2"/>
            </a:endParaRPr>
          </a:p>
          <a:p>
            <a:r>
              <a:rPr lang="en-US" sz="2000" dirty="0">
                <a:sym typeface="Wingdings" panose="05000000000000000000" pitchFamily="2" charset="2"/>
              </a:rPr>
              <a:t>Pressing either of those buttons will bring the user back to the previous page or the home page.</a:t>
            </a:r>
          </a:p>
        </p:txBody>
      </p:sp>
      <p:sp>
        <p:nvSpPr>
          <p:cNvPr id="27" name="Isosceles Triangle 26">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Graphical user interface, website&#10;&#10;Description automatically generated">
            <a:extLst>
              <a:ext uri="{FF2B5EF4-FFF2-40B4-BE49-F238E27FC236}">
                <a16:creationId xmlns:a16="http://schemas.microsoft.com/office/drawing/2014/main" id="{B37B5D88-4BA4-4862-B883-9AEAE3E158BA}"/>
              </a:ext>
            </a:extLst>
          </p:cNvPr>
          <p:cNvPicPr>
            <a:picLocks noChangeAspect="1"/>
          </p:cNvPicPr>
          <p:nvPr/>
        </p:nvPicPr>
        <p:blipFill>
          <a:blip r:embed="rId2"/>
          <a:stretch>
            <a:fillRect/>
          </a:stretch>
        </p:blipFill>
        <p:spPr>
          <a:xfrm>
            <a:off x="7585975" y="713127"/>
            <a:ext cx="2634396" cy="5431745"/>
          </a:xfrm>
          <a:prstGeom prst="rect">
            <a:avLst/>
          </a:prstGeom>
        </p:spPr>
      </p:pic>
      <p:grpSp>
        <p:nvGrpSpPr>
          <p:cNvPr id="31" name="Group 30">
            <a:extLst>
              <a:ext uri="{FF2B5EF4-FFF2-40B4-BE49-F238E27FC236}">
                <a16:creationId xmlns:a16="http://schemas.microsoft.com/office/drawing/2014/main" id="{15CBE6EC-46EF-45D9-8E16-DCDC5917CA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4720" y="0"/>
            <a:ext cx="1097280" cy="1097280"/>
            <a:chOff x="11094720" y="0"/>
            <a:chExt cx="1097280" cy="1097280"/>
          </a:xfrm>
        </p:grpSpPr>
        <p:sp>
          <p:nvSpPr>
            <p:cNvPr id="32" name="Isosceles Triangle 31">
              <a:extLst>
                <a:ext uri="{FF2B5EF4-FFF2-40B4-BE49-F238E27FC236}">
                  <a16:creationId xmlns:a16="http://schemas.microsoft.com/office/drawing/2014/main" id="{DEEDCD65-9740-4F34-BDF1-9C068E053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4B3DA7FD-5CC0-46D1-9DFB-5BAF6BE24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8451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9948B0-717F-4F4A-A45E-53E9640320C7}"/>
              </a:ext>
            </a:extLst>
          </p:cNvPr>
          <p:cNvSpPr>
            <a:spLocks noGrp="1"/>
          </p:cNvSpPr>
          <p:nvPr>
            <p:ph type="title"/>
          </p:nvPr>
        </p:nvSpPr>
        <p:spPr>
          <a:xfrm>
            <a:off x="643467" y="321734"/>
            <a:ext cx="10905066" cy="1135737"/>
          </a:xfrm>
        </p:spPr>
        <p:txBody>
          <a:bodyPr>
            <a:normAutofit/>
          </a:bodyPr>
          <a:lstStyle/>
          <a:p>
            <a:r>
              <a:rPr lang="en-US" sz="3600" b="1" dirty="0">
                <a:solidFill>
                  <a:srgbClr val="00B050"/>
                </a:solidFill>
              </a:rPr>
              <a:t>Satisfaction</a:t>
            </a:r>
            <a:endParaRPr lang="en-SG" sz="3600" b="1" dirty="0">
              <a:solidFill>
                <a:srgbClr val="00B050"/>
              </a:solidFill>
            </a:endParaRPr>
          </a:p>
        </p:txBody>
      </p:sp>
      <p:sp>
        <p:nvSpPr>
          <p:cNvPr id="21" name="Content Placeholder 8">
            <a:extLst>
              <a:ext uri="{FF2B5EF4-FFF2-40B4-BE49-F238E27FC236}">
                <a16:creationId xmlns:a16="http://schemas.microsoft.com/office/drawing/2014/main" id="{F19810CF-099D-4349-ADD7-0B3E151119CF}"/>
              </a:ext>
            </a:extLst>
          </p:cNvPr>
          <p:cNvSpPr>
            <a:spLocks noGrp="1"/>
          </p:cNvSpPr>
          <p:nvPr>
            <p:ph idx="1"/>
          </p:nvPr>
        </p:nvSpPr>
        <p:spPr>
          <a:xfrm>
            <a:off x="643469" y="1782981"/>
            <a:ext cx="4647722" cy="4393982"/>
          </a:xfrm>
        </p:spPr>
        <p:txBody>
          <a:bodyPr>
            <a:normAutofit/>
          </a:bodyPr>
          <a:lstStyle/>
          <a:p>
            <a:r>
              <a:rPr lang="en-US" sz="2000" dirty="0"/>
              <a:t>The app is very simply designed with very minimal confusing interfaces.</a:t>
            </a:r>
          </a:p>
          <a:p>
            <a:r>
              <a:rPr lang="en-US" sz="2000" dirty="0"/>
              <a:t>It provides a wide range of different podcasts and audiobooks for users to pick and choose which one to listen to.</a:t>
            </a:r>
          </a:p>
          <a:p>
            <a:r>
              <a:rPr lang="en-US" sz="2000" dirty="0"/>
              <a:t>The basic interfaces of the app (play/pause, forward/previous etc.) are used effortlessly and do not need to think about how it works.</a:t>
            </a:r>
          </a:p>
          <a:p>
            <a:r>
              <a:rPr lang="en-US" sz="2000" dirty="0"/>
              <a:t>Used by hundreds and millions of people around the world including famous celebrities, the app is perfect in almost every way and is admired by everyone.</a:t>
            </a:r>
          </a:p>
        </p:txBody>
      </p:sp>
      <p:grpSp>
        <p:nvGrpSpPr>
          <p:cNvPr id="22" name="Group 13">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5" name="Isosceles Triangle 1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descr="Text&#10;&#10;Description automatically generated">
            <a:extLst>
              <a:ext uri="{FF2B5EF4-FFF2-40B4-BE49-F238E27FC236}">
                <a16:creationId xmlns:a16="http://schemas.microsoft.com/office/drawing/2014/main" id="{2C782FE4-DFF3-4A54-AD1A-BD48E257BA50}"/>
              </a:ext>
            </a:extLst>
          </p:cNvPr>
          <p:cNvPicPr>
            <a:picLocks noChangeAspect="1"/>
          </p:cNvPicPr>
          <p:nvPr/>
        </p:nvPicPr>
        <p:blipFill>
          <a:blip r:embed="rId2"/>
          <a:stretch>
            <a:fillRect/>
          </a:stretch>
        </p:blipFill>
        <p:spPr>
          <a:xfrm>
            <a:off x="5434329" y="1782981"/>
            <a:ext cx="5975194" cy="4361892"/>
          </a:xfrm>
          <a:prstGeom prst="rect">
            <a:avLst/>
          </a:prstGeom>
        </p:spPr>
      </p:pic>
      <p:grpSp>
        <p:nvGrpSpPr>
          <p:cNvPr id="18" name="Group 17">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9" name="Rectangle 18">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644635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9948B0-717F-4F4A-A45E-53E9640320C7}"/>
              </a:ext>
            </a:extLst>
          </p:cNvPr>
          <p:cNvSpPr>
            <a:spLocks noGrp="1"/>
          </p:cNvSpPr>
          <p:nvPr>
            <p:ph type="title"/>
          </p:nvPr>
        </p:nvSpPr>
        <p:spPr>
          <a:xfrm>
            <a:off x="643467" y="321734"/>
            <a:ext cx="10905066" cy="1135737"/>
          </a:xfrm>
        </p:spPr>
        <p:txBody>
          <a:bodyPr>
            <a:normAutofit/>
          </a:bodyPr>
          <a:lstStyle/>
          <a:p>
            <a:r>
              <a:rPr lang="en-US" sz="3600" b="1" dirty="0">
                <a:solidFill>
                  <a:srgbClr val="00B050"/>
                </a:solidFill>
              </a:rPr>
              <a:t>Satisfaction</a:t>
            </a:r>
            <a:endParaRPr lang="en-SG" sz="3600" b="1" dirty="0">
              <a:solidFill>
                <a:srgbClr val="00B050"/>
              </a:solidFill>
            </a:endParaRPr>
          </a:p>
        </p:txBody>
      </p:sp>
      <p:sp>
        <p:nvSpPr>
          <p:cNvPr id="3" name="Content Placeholder 2">
            <a:extLst>
              <a:ext uri="{FF2B5EF4-FFF2-40B4-BE49-F238E27FC236}">
                <a16:creationId xmlns:a16="http://schemas.microsoft.com/office/drawing/2014/main" id="{8C22DB3C-FF48-4351-B6B7-160A817DDF70}"/>
              </a:ext>
            </a:extLst>
          </p:cNvPr>
          <p:cNvSpPr>
            <a:spLocks noGrp="1"/>
          </p:cNvSpPr>
          <p:nvPr>
            <p:ph idx="1"/>
          </p:nvPr>
        </p:nvSpPr>
        <p:spPr>
          <a:xfrm>
            <a:off x="643468" y="1243172"/>
            <a:ext cx="4723540" cy="5375905"/>
          </a:xfrm>
        </p:spPr>
        <p:txBody>
          <a:bodyPr>
            <a:normAutofit/>
          </a:bodyPr>
          <a:lstStyle/>
          <a:p>
            <a:r>
              <a:rPr lang="en-US" sz="2000" dirty="0"/>
              <a:t>Though Spotify may look like a pleasant app, some may think otherwise.</a:t>
            </a:r>
          </a:p>
          <a:p>
            <a:r>
              <a:rPr lang="en-US" sz="2000" dirty="0"/>
              <a:t>Without Spotify premium, the user will be unable to enjoy the fullness of the app with uninterrupted music.</a:t>
            </a:r>
          </a:p>
          <a:p>
            <a:r>
              <a:rPr lang="en-US" sz="2000" dirty="0"/>
              <a:t>Instead, one will receive 30 second advertisements after every 2-3 songs.</a:t>
            </a:r>
          </a:p>
          <a:p>
            <a:r>
              <a:rPr lang="en-US" sz="2000" dirty="0"/>
              <a:t>Glitches may happen and instead of receiving 1-3 advertisements after the song, they may receive more than 3 in a row which does not always happen.</a:t>
            </a:r>
          </a:p>
          <a:p>
            <a:r>
              <a:rPr lang="en-US" sz="2000" dirty="0"/>
              <a:t>This results with the user getting a rise in annoyance with the unending advertisements – may delete and download another music app.</a:t>
            </a:r>
          </a:p>
        </p:txBody>
      </p:sp>
      <p:grpSp>
        <p:nvGrpSpPr>
          <p:cNvPr id="26" name="Group 25">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7" name="Isosceles Triangle 26">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8" name="Picture 7" descr="Text&#10;&#10;Description automatically generated">
            <a:extLst>
              <a:ext uri="{FF2B5EF4-FFF2-40B4-BE49-F238E27FC236}">
                <a16:creationId xmlns:a16="http://schemas.microsoft.com/office/drawing/2014/main" id="{2E75CF4E-96D3-45CE-B74A-7F470D15EB3C}"/>
              </a:ext>
            </a:extLst>
          </p:cNvPr>
          <p:cNvPicPr>
            <a:picLocks noChangeAspect="1"/>
          </p:cNvPicPr>
          <p:nvPr/>
        </p:nvPicPr>
        <p:blipFill>
          <a:blip r:embed="rId2"/>
          <a:stretch>
            <a:fillRect/>
          </a:stretch>
        </p:blipFill>
        <p:spPr>
          <a:xfrm>
            <a:off x="6775312" y="575353"/>
            <a:ext cx="4008384" cy="5739500"/>
          </a:xfrm>
          <a:prstGeom prst="rect">
            <a:avLst/>
          </a:prstGeom>
        </p:spPr>
      </p:pic>
      <p:grpSp>
        <p:nvGrpSpPr>
          <p:cNvPr id="30" name="Group 29">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31" name="Rectangle 30">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Isosceles Triangle 31">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906574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rPr>
              <a:t>Conclusion</a:t>
            </a:r>
          </a:p>
        </p:txBody>
      </p:sp>
      <p:sp>
        <p:nvSpPr>
          <p:cNvPr id="4" name="Content Placeholder 3"/>
          <p:cNvSpPr>
            <a:spLocks noGrp="1"/>
          </p:cNvSpPr>
          <p:nvPr>
            <p:ph idx="1"/>
          </p:nvPr>
        </p:nvSpPr>
        <p:spPr/>
        <p:txBody>
          <a:bodyPr>
            <a:normAutofit fontScale="92500" lnSpcReduction="10000"/>
          </a:bodyPr>
          <a:lstStyle/>
          <a:p>
            <a:r>
              <a:rPr lang="en-SG" dirty="0"/>
              <a:t>Spotify is very simply-designed with very minimal to no confusing functions.</a:t>
            </a:r>
          </a:p>
          <a:p>
            <a:r>
              <a:rPr lang="en-SG" dirty="0"/>
              <a:t>It uses basic interface buttons, just like other music streaming apps.</a:t>
            </a:r>
          </a:p>
          <a:p>
            <a:r>
              <a:rPr lang="en-SG" dirty="0"/>
              <a:t>One area for improvement is to resolve common-occurring bugs and glitches such as advertisements playing even after 3-4 of them in a row</a:t>
            </a:r>
          </a:p>
          <a:p>
            <a:pPr lvl="1"/>
            <a:r>
              <a:rPr lang="en-SG" dirty="0"/>
              <a:t>Despite not having premium, they still should not suffer in continuous advertisement replays.</a:t>
            </a:r>
          </a:p>
          <a:p>
            <a:r>
              <a:rPr lang="en-SG" dirty="0"/>
              <a:t>There were a lot more bad reviews than I expected during this research and it was difficult to find a feature that most users liked.</a:t>
            </a:r>
          </a:p>
          <a:p>
            <a:r>
              <a:rPr lang="en-SG" dirty="0"/>
              <a:t>The research for the background information of the app went very smoothly as it was quite easy to search for it.</a:t>
            </a:r>
          </a:p>
        </p:txBody>
      </p:sp>
    </p:spTree>
    <p:extLst>
      <p:ext uri="{BB962C8B-B14F-4D97-AF65-F5344CB8AC3E}">
        <p14:creationId xmlns:p14="http://schemas.microsoft.com/office/powerpoint/2010/main" val="191601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B050"/>
                </a:solidFill>
              </a:rPr>
              <a:t>References</a:t>
            </a:r>
          </a:p>
        </p:txBody>
      </p:sp>
      <p:sp>
        <p:nvSpPr>
          <p:cNvPr id="4" name="Content Placeholder 3"/>
          <p:cNvSpPr>
            <a:spLocks noGrp="1"/>
          </p:cNvSpPr>
          <p:nvPr>
            <p:ph idx="1"/>
          </p:nvPr>
        </p:nvSpPr>
        <p:spPr/>
        <p:txBody>
          <a:bodyPr>
            <a:normAutofit/>
          </a:bodyPr>
          <a:lstStyle/>
          <a:p>
            <a:r>
              <a:rPr lang="en-SG" dirty="0">
                <a:hlinkClick r:id="rId2"/>
              </a:rPr>
              <a:t>https://newsroom.spotify.com/company-info/</a:t>
            </a:r>
            <a:endParaRPr lang="en-SG" dirty="0"/>
          </a:p>
          <a:p>
            <a:r>
              <a:rPr lang="en-SG" dirty="0">
                <a:hlinkClick r:id="rId3"/>
              </a:rPr>
              <a:t>https://www.bbc.com/news/newsbeat-43240886#:~:text=Founded%20by%20Daniel%20Ek%20and,the%20music%20industry%20was%20facing.&amp;text=This%20cost%20the%20music%20industry,not%20paying%20for%20the%20songs</a:t>
            </a:r>
            <a:r>
              <a:rPr lang="en-SG" dirty="0"/>
              <a:t>.</a:t>
            </a:r>
          </a:p>
          <a:p>
            <a:endParaRPr lang="en-SG" dirty="0"/>
          </a:p>
        </p:txBody>
      </p:sp>
    </p:spTree>
    <p:extLst>
      <p:ext uri="{BB962C8B-B14F-4D97-AF65-F5344CB8AC3E}">
        <p14:creationId xmlns:p14="http://schemas.microsoft.com/office/powerpoint/2010/main" val="17495697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0.0&quot;&gt;&lt;object type=&quot;1&quot; unique_id=&quot;10001&quot;&gt;&lt;object type=&quot;2&quot; unique_id=&quot;10036&quot;&gt;&lt;object type=&quot;3&quot; unique_id=&quot;10037&quot;&gt;&lt;property id=&quot;20148&quot; value=&quot;5&quot;/&gt;&lt;property id=&quot;20300&quot; value=&quot;Slide 1 - &amp;quot;Heuristic Review for &amp;lt;Title of the Selected App&amp;gt;&amp;quot;&quot;/&gt;&lt;property id=&quot;20307&quot; value=&quot;256&quot;/&gt;&lt;/object&gt;&lt;object type=&quot;3&quot; unique_id=&quot;10038&quot;&gt;&lt;property id=&quot;20148&quot; value=&quot;5&quot;/&gt;&lt;property id=&quot;20300&quot; value=&quot;Slide 2 - &amp;quot;Introduction&amp;quot;&quot;/&gt;&lt;property id=&quot;20307&quot; value=&quot;259&quot;/&gt;&lt;/object&gt;&lt;object type=&quot;3&quot; unique_id=&quot;10039&quot;&gt;&lt;property id=&quot;20148&quot; value=&quot;5&quot;/&gt;&lt;property id=&quot;20300&quot; value=&quot;Slide 3&quot;/&gt;&lt;property id=&quot;20307&quot; value=&quot;257&quot;/&gt;&lt;/object&gt;&lt;object type=&quot;3&quot; unique_id=&quot;10040&quot;&gt;&lt;property id=&quot;20148&quot; value=&quot;5&quot;/&gt;&lt;property id=&quot;20300&quot; value=&quot;Slide 4&quot;/&gt;&lt;property id=&quot;20307&quot; value=&quot;258&quot;/&gt;&lt;/object&gt;&lt;object type=&quot;3&quot; unique_id=&quot;10041&quot;&gt;&lt;property id=&quot;20148&quot; value=&quot;5&quot;/&gt;&lt;property id=&quot;20300&quot; value=&quot;Slide 5 - &amp;quot;Learnability&amp;quot;&quot;/&gt;&lt;property id=&quot;20307&quot; value=&quot;260&quot;/&gt;&lt;/object&gt;&lt;object type=&quot;3&quot; unique_id=&quot;10042&quot;&gt;&lt;property id=&quot;20148&quot; value=&quot;5&quot;/&gt;&lt;property id=&quot;20300&quot; value=&quot;Slide 6 - &amp;quot;Efficiency&amp;quot;&quot;/&gt;&lt;property id=&quot;20307&quot; value=&quot;261&quot;/&gt;&lt;/object&gt;&lt;object type=&quot;3&quot; unique_id=&quot;10043&quot;&gt;&lt;property id=&quot;20148&quot; value=&quot;5&quot;/&gt;&lt;property id=&quot;20300&quot; value=&quot;Slide 7 - &amp;quot;Memorability&amp;quot;&quot;/&gt;&lt;property id=&quot;20307&quot; value=&quot;262&quot;/&gt;&lt;/object&gt;&lt;object type=&quot;3&quot; unique_id=&quot;10044&quot;&gt;&lt;property id=&quot;20148&quot; value=&quot;5&quot;/&gt;&lt;property id=&quot;20300&quot; value=&quot;Slide 8 - &amp;quot;Error-tolerance&amp;quot;&quot;/&gt;&lt;property id=&quot;20307&quot; value=&quot;263&quot;/&gt;&lt;/object&gt;&lt;object type=&quot;3&quot; unique_id=&quot;10045&quot;&gt;&lt;property id=&quot;20148&quot; value=&quot;5&quot;/&gt;&lt;property id=&quot;20300&quot; value=&quot;Slide 9 - &amp;quot;Satisfaction&amp;quot;&quot;/&gt;&lt;property id=&quot;20307&quot; value=&quot;264&quot;/&gt;&lt;/object&gt;&lt;object type=&quot;3&quot; unique_id=&quot;10046&quot;&gt;&lt;property id=&quot;20148&quot; value=&quot;5&quot;/&gt;&lt;property id=&quot;20300&quot; value=&quot;Slide 10 - &amp;quot;Conclusion&amp;quot;&quot;/&gt;&lt;property id=&quot;20307&quot; value=&quot;265&quot;/&gt;&lt;/object&gt;&lt;object type=&quot;3&quot; unique_id=&quot;10083&quot;&gt;&lt;property id=&quot;20148&quot; value=&quot;5&quot;/&gt;&lt;property id=&quot;20300&quot; value=&quot;Slide 11 - &amp;quot;Storyboard&amp;quot;&quot;/&gt;&lt;property id=&quot;20307&quot; value=&quot;266&quot;/&gt;&lt;/object&gt;&lt;/object&gt;&lt;object type=&quot;8&quot; unique_id=&quot;10058&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1299</TotalTime>
  <Words>1115</Words>
  <Application>Microsoft Office PowerPoint</Application>
  <PresentationFormat>Widescreen</PresentationFormat>
  <Paragraphs>76</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Spotify Circular</vt:lpstr>
      <vt:lpstr>Arial</vt:lpstr>
      <vt:lpstr>Calibri</vt:lpstr>
      <vt:lpstr>Calibri Light</vt:lpstr>
      <vt:lpstr>Wingdings</vt:lpstr>
      <vt:lpstr>Office Theme</vt:lpstr>
      <vt:lpstr>Heuristic Review for Spotify</vt:lpstr>
      <vt:lpstr>Introduction</vt:lpstr>
      <vt:lpstr>Introduction</vt:lpstr>
      <vt:lpstr>PowerPoint Presentation</vt:lpstr>
      <vt:lpstr>PowerPoint Presentation</vt:lpstr>
      <vt:lpstr>Learnability</vt:lpstr>
      <vt:lpstr>Efficiency</vt:lpstr>
      <vt:lpstr>Memorability</vt:lpstr>
      <vt:lpstr>Memorability</vt:lpstr>
      <vt:lpstr>Error Tolerance</vt:lpstr>
      <vt:lpstr>Satisfaction</vt:lpstr>
      <vt:lpstr>Satisfaction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Heuristic Review for &lt;Title of the Selected App&gt;</dc:title>
  <dc:creator>Lin Chou Cheng</dc:creator>
  <cp:lastModifiedBy>ISAAC TAN (CHEN EN)</cp:lastModifiedBy>
  <cp:revision>99</cp:revision>
  <dcterms:created xsi:type="dcterms:W3CDTF">2017-04-23T16:51:37Z</dcterms:created>
  <dcterms:modified xsi:type="dcterms:W3CDTF">2021-05-21T07:38:59Z</dcterms:modified>
</cp:coreProperties>
</file>